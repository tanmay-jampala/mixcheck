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AALIYA: Hi, we're El Rata Alada and this is MixCheck. Lots of us ask AI for code the way we talk: half English, half Hindi, Bengali or Kannada. We tested whether the AI still gets it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AALIYA: 314.9 million Indians are bilingual, and we type to AI the way we talk. But AI coding tools are tested in clean English: HumanEval-XL has 23 languages and none is Indian. Here's a real answer from our tests. Judges, will it pass? (Click the button they pick.) It fails: the prompt said ignore capital letters and the code didn't. Nobody measures this gap. That's what MixCheck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TANMAY: Here's one real task from our 25: indian_format, so 1234567 becomes 12,34,567. Click English: all three models pass. Click Hinglish: GPT-OSS 120B now crashes on 1000. Click Benglish: GPT-OSS 20B named it bhai_indian_format. Click Kanglish: both GPT-OSS models ignored 'only code' and wrote essays. MixCheck does this for 25 tasks, 10 versions and 3 models, and it's live at mixcheck-elrata.streamlit.app.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TANMAY: The pipeline: prompts go to 3 models through their official APIs. Our grader finds the function the AI wrote and runs it against test cases in a separate process with a 10-second limit, no API keys, and a sandbox that blocks network, file writes and running programs. It gives two scores, and the Streamlit dashboard shows everything. 48 automated checks keep the grader honest, and it's deployed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AADITYA: What's new: paired prompts, so any drop comes from the language. Grading by running code. Two scores. And statistics built in, so we can tell real gaps from chance. Existing benchmarks either test code in single languages, or test mixed Hindi-English on understanding tasks. Nobody tests code from mixed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RITOBROTO: Across 750 graded answers, the purple bars, correct code, stay in the 90s for every language. But orange, following instructions, drops to 35 percent in Kanglish against 100 in casual English, and our significance test says that's not chance, p below 0.001. 9 answers renamed the function, all from mixed prompts. The impact: tools that paste AI output straight into code break for speakers of lower-resource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AALIYA: Who needs this: AI tool builders before launching in India, colleges and edtech whose students ask in Hinglish, researchers, and every Indian developer. The market for AI coding tools is expected to grow from 4.3 to 12.6 billion dollars by 2028.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AALIYA: The benchmark stays free and open, which builds trust. Teams pay 799 rupees a month for MixCheck Pro to test their own model through an API, with private reports and alerts. Companies can buy a one-time audit before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AADITYA: We've already started: a native Kannada speaker reviewed our Kanglish prompts today, and we're testing two fixes. Next: native review of every prompt, more languages, several runs per prompt. Then a plug-in that applies the best fix automatically, and voice. The vision is a public leaderboard that re-runs on every model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AALIYA: Thank you! Scan the code to try MixCheck yourself. We'd love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 Target="slide1.xml"/><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6.xml"/><Relationship Id="rId11" Type="http://schemas.openxmlformats.org/officeDocument/2006/relationships/slide" Target="slide7.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hyperlink" Target="https://mixcheck-elrata.streamlit.app" TargetMode="External"/><Relationship Id="rId17" Type="http://schemas.openxmlformats.org/officeDocument/2006/relationships/hyperlink" Target="https://mixcheck-elrata.streamlit.app" TargetMode="External"/><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16" Type="http://schemas.openxmlformats.org/officeDocument/2006/relationships/image" Target="../media/image-1-5.png"/><Relationship Id="rId18" Type="http://schemas.openxmlformats.org/officeDocument/2006/relationships/slideLayout" Target="../slideLayouts/slideLayout1.xml"/><Relationship Id="rId1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5" Type="http://schemas.openxmlformats.org/officeDocument/2006/relationships/slide" Target="slide1.xml"/><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6.xml"/><Relationship Id="rId11" Type="http://schemas.openxmlformats.org/officeDocument/2006/relationships/slide" Target="slide7.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hyperlink" Target="https://mixcheck-elrata.streamlit.app" TargetMode="External"/><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16" Type="http://schemas.openxmlformats.org/officeDocument/2006/relationships/image" Target="../media/image-2-5.png"/><Relationship Id="rId17" Type="http://schemas.openxmlformats.org/officeDocument/2006/relationships/image" Target="../media/image-2-6.png"/><Relationship Id="rId18" Type="http://schemas.openxmlformats.org/officeDocument/2006/relationships/image" Target="../media/image-2-7.png"/><Relationship Id="rId19" Type="http://schemas.openxmlformats.org/officeDocument/2006/relationships/image" Target="../media/image-2-8.png"/><Relationship Id="rId20" Type="http://schemas.openxmlformats.org/officeDocument/2006/relationships/slideLayout" Target="../slideLayouts/slideLayout1.xml"/><Relationship Id="rId2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5" Type="http://schemas.openxmlformats.org/officeDocument/2006/relationships/slide" Target="slide1.xml"/><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6.xml"/><Relationship Id="rId11" Type="http://schemas.openxmlformats.org/officeDocument/2006/relationships/slide" Target="slide7.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hyperlink" Target="https://mixcheck-elrata.streamlit.app" TargetMode="External"/><Relationship Id="rId19" Type="http://schemas.openxmlformats.org/officeDocument/2006/relationships/hyperlink" Target="https://mixcheck-elrata.streamlit.app" TargetMode="External"/><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16" Type="http://schemas.openxmlformats.org/officeDocument/2006/relationships/image" Target="../media/image-3-5.png"/><Relationship Id="rId17" Type="http://schemas.openxmlformats.org/officeDocument/2006/relationships/image" Target="../media/image-3-6.png"/><Relationship Id="rId18" Type="http://schemas.openxmlformats.org/officeDocument/2006/relationships/image" Target="../media/image-3-7.png"/><Relationship Id="rId20" Type="http://schemas.openxmlformats.org/officeDocument/2006/relationships/slideLayout" Target="../slideLayouts/slideLayout1.xml"/><Relationship Id="rId2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5" Type="http://schemas.openxmlformats.org/officeDocument/2006/relationships/slide" Target="slide1.xml"/><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6.xml"/><Relationship Id="rId11" Type="http://schemas.openxmlformats.org/officeDocument/2006/relationships/slide" Target="slide7.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hyperlink" Target="https://mixcheck-elrata.streamlit.app" TargetMode="External"/><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16" Type="http://schemas.openxmlformats.org/officeDocument/2006/relationships/image" Target="../media/image-4-5.png"/><Relationship Id="rId17" Type="http://schemas.openxmlformats.org/officeDocument/2006/relationships/image" Target="../media/image-4-6.png"/><Relationship Id="rId18" Type="http://schemas.openxmlformats.org/officeDocument/2006/relationships/image" Target="../media/image-4-7.png"/><Relationship Id="rId19" Type="http://schemas.openxmlformats.org/officeDocument/2006/relationships/image" Target="../media/image-4-8.png"/><Relationship Id="rId20" Type="http://schemas.openxmlformats.org/officeDocument/2006/relationships/image" Target="../media/image-4-9.png"/><Relationship Id="rId21" Type="http://schemas.openxmlformats.org/officeDocument/2006/relationships/image" Target="../media/image-4-10.png"/><Relationship Id="rId22" Type="http://schemas.openxmlformats.org/officeDocument/2006/relationships/slideLayout" Target="../slideLayouts/slideLayout1.xml"/><Relationship Id="rId2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5" Type="http://schemas.openxmlformats.org/officeDocument/2006/relationships/slide" Target="slide1.xml"/><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6.xml"/><Relationship Id="rId11" Type="http://schemas.openxmlformats.org/officeDocument/2006/relationships/slide" Target="slide7.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hyperlink" Target="https://mixcheck-elrata.streamlit.app" TargetMode="External"/><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16" Type="http://schemas.openxmlformats.org/officeDocument/2006/relationships/image" Target="../media/image-5-5.png"/><Relationship Id="rId17" Type="http://schemas.openxmlformats.org/officeDocument/2006/relationships/image" Target="../media/image-5-6.png"/><Relationship Id="rId18" Type="http://schemas.openxmlformats.org/officeDocument/2006/relationships/image" Target="../media/image-5-7.png"/><Relationship Id="rId19" Type="http://schemas.openxmlformats.org/officeDocument/2006/relationships/image" Target="../media/image-5-8.png"/><Relationship Id="rId20" Type="http://schemas.openxmlformats.org/officeDocument/2006/relationships/image" Target="../media/image-5-9.png"/><Relationship Id="rId21" Type="http://schemas.openxmlformats.org/officeDocument/2006/relationships/image" Target="../media/image-5-9.png"/><Relationship Id="rId22" Type="http://schemas.openxmlformats.org/officeDocument/2006/relationships/image" Target="../media/image-5-11.png"/><Relationship Id="rId23" Type="http://schemas.openxmlformats.org/officeDocument/2006/relationships/image" Target="../media/image-5-9.png"/><Relationship Id="rId24" Type="http://schemas.openxmlformats.org/officeDocument/2006/relationships/image" Target="../media/image-5-11.png"/><Relationship Id="rId25" Type="http://schemas.openxmlformats.org/officeDocument/2006/relationships/image" Target="../media/image-5-11.png"/><Relationship Id="rId26" Type="http://schemas.openxmlformats.org/officeDocument/2006/relationships/image" Target="../media/image-5-9.png"/><Relationship Id="rId27" Type="http://schemas.openxmlformats.org/officeDocument/2006/relationships/image" Target="../media/image-5-9.png"/><Relationship Id="rId28" Type="http://schemas.openxmlformats.org/officeDocument/2006/relationships/image" Target="../media/image-5-11.png"/><Relationship Id="rId29" Type="http://schemas.openxmlformats.org/officeDocument/2006/relationships/image" Target="../media/image-5-11.png"/><Relationship Id="rId30" Type="http://schemas.openxmlformats.org/officeDocument/2006/relationships/image" Target="../media/image-5-9.png"/><Relationship Id="rId31" Type="http://schemas.openxmlformats.org/officeDocument/2006/relationships/image" Target="../media/image-5-9.png"/><Relationship Id="rId32" Type="http://schemas.openxmlformats.org/officeDocument/2006/relationships/image" Target="../media/image-5-11.png"/><Relationship Id="rId33" Type="http://schemas.openxmlformats.org/officeDocument/2006/relationships/image" Target="../media/image-5-11.png"/><Relationship Id="rId34" Type="http://schemas.openxmlformats.org/officeDocument/2006/relationships/image" Target="../media/image-5-11.png"/><Relationship Id="rId35" Type="http://schemas.openxmlformats.org/officeDocument/2006/relationships/image" Target="../media/image-5-11.png"/><Relationship Id="rId36" Type="http://schemas.openxmlformats.org/officeDocument/2006/relationships/slideLayout" Target="../slideLayouts/slideLayout1.xml"/><Relationship Id="rId3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5" Type="http://schemas.openxmlformats.org/officeDocument/2006/relationships/slide" Target="slide1.xml"/><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6.xml"/><Relationship Id="rId11" Type="http://schemas.openxmlformats.org/officeDocument/2006/relationships/slide" Target="slide7.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hyperlink" Target="https://mixcheck-elrata.streamlit.app" TargetMode="External"/><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16" Type="http://schemas.openxmlformats.org/officeDocument/2006/relationships/slideLayout" Target="../slideLayouts/slideLayout1.xml"/><Relationship Id="rId1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slide" Target="slide1.xml"/><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6.xml"/><Relationship Id="rId11" Type="http://schemas.openxmlformats.org/officeDocument/2006/relationships/slide" Target="slide7.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hyperlink" Target="https://mixcheck-elrata.streamlit.app" TargetMode="External"/><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16" Type="http://schemas.openxmlformats.org/officeDocument/2006/relationships/image" Target="../media/image-7-5.png"/><Relationship Id="rId17" Type="http://schemas.openxmlformats.org/officeDocument/2006/relationships/image" Target="../media/image-7-6.png"/><Relationship Id="rId18" Type="http://schemas.openxmlformats.org/officeDocument/2006/relationships/image" Target="../media/image-7-7.png"/><Relationship Id="rId19" Type="http://schemas.openxmlformats.org/officeDocument/2006/relationships/image" Target="../media/image-7-8.png"/><Relationship Id="rId20" Type="http://schemas.openxmlformats.org/officeDocument/2006/relationships/slideLayout" Target="../slideLayouts/slideLayout1.xml"/><Relationship Id="rId2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 Target="slide1.xml"/><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6.xml"/><Relationship Id="rId11" Type="http://schemas.openxmlformats.org/officeDocument/2006/relationships/slide" Target="slide7.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hyperlink" Target="https://mixcheck-elrata.streamlit.app" TargetMode="External"/><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16" Type="http://schemas.openxmlformats.org/officeDocument/2006/relationships/image" Target="../media/image-8-5.png"/><Relationship Id="rId17" Type="http://schemas.openxmlformats.org/officeDocument/2006/relationships/image" Target="../media/image-8-6.png"/><Relationship Id="rId18" Type="http://schemas.openxmlformats.org/officeDocument/2006/relationships/image" Target="../media/image-8-6.png"/><Relationship Id="rId19" Type="http://schemas.openxmlformats.org/officeDocument/2006/relationships/image" Target="../media/image-8-6.png"/><Relationship Id="rId20" Type="http://schemas.openxmlformats.org/officeDocument/2006/relationships/image" Target="../media/image-8-9.png"/><Relationship Id="rId21" Type="http://schemas.openxmlformats.org/officeDocument/2006/relationships/image" Target="../media/image-8-6.png"/><Relationship Id="rId22" Type="http://schemas.openxmlformats.org/officeDocument/2006/relationships/image" Target="../media/image-8-6.png"/><Relationship Id="rId23" Type="http://schemas.openxmlformats.org/officeDocument/2006/relationships/image" Target="../media/image-8-6.png"/><Relationship Id="rId24" Type="http://schemas.openxmlformats.org/officeDocument/2006/relationships/image" Target="../media/image-8-13.png"/><Relationship Id="rId25" Type="http://schemas.openxmlformats.org/officeDocument/2006/relationships/image" Target="../media/image-8-6.png"/><Relationship Id="rId26" Type="http://schemas.openxmlformats.org/officeDocument/2006/relationships/image" Target="../media/image-8-6.png"/><Relationship Id="rId27" Type="http://schemas.openxmlformats.org/officeDocument/2006/relationships/image" Target="../media/image-8-6.png"/><Relationship Id="rId28" Type="http://schemas.openxmlformats.org/officeDocument/2006/relationships/slideLayout" Target="../slideLayouts/slideLayout1.xml"/><Relationship Id="rId2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5" Type="http://schemas.openxmlformats.org/officeDocument/2006/relationships/slide" Target="slide1.xml"/><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6.xml"/><Relationship Id="rId11" Type="http://schemas.openxmlformats.org/officeDocument/2006/relationships/slide" Target="slide7.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hyperlink" Target="https://mixcheck-elrata.streamlit.app" TargetMode="External"/><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16" Type="http://schemas.openxmlformats.org/officeDocument/2006/relationships/image" Target="../media/image-9-5.png"/><Relationship Id="rId17" Type="http://schemas.openxmlformats.org/officeDocument/2006/relationships/image" Target="../media/image-9-6.png"/><Relationship Id="rId18" Type="http://schemas.openxmlformats.org/officeDocument/2006/relationships/image" Target="../media/image-9-7.png"/><Relationship Id="rId19" Type="http://schemas.openxmlformats.org/officeDocument/2006/relationships/image" Target="../media/image-9-8.png"/><Relationship Id="rId20" Type="http://schemas.openxmlformats.org/officeDocument/2006/relationships/slideLayout" Target="../slideLayouts/slideLayout1.xml"/><Relationship Id="rId2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5" Type="http://schemas.openxmlformats.org/officeDocument/2006/relationships/slide" Target="slide1.xml"/><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6.xml"/><Relationship Id="rId11" Type="http://schemas.openxmlformats.org/officeDocument/2006/relationships/slide" Target="slide7.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hyperlink" Target="https://mixcheck-elrata.streamlit.app" TargetMode="External"/><Relationship Id="rId18" Type="http://schemas.openxmlformats.org/officeDocument/2006/relationships/hyperlink" Target="https://mixcheck-elrata.streamlit.app" TargetMode="External"/><Relationship Id="rId19" Type="http://schemas.openxmlformats.org/officeDocument/2006/relationships/hyperlink" Target="https://mixcheck-elrata.streamlit.app" TargetMode="External"/><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16" Type="http://schemas.openxmlformats.org/officeDocument/2006/relationships/image" Target="../media/image-10-5.png"/><Relationship Id="rId17" Type="http://schemas.openxmlformats.org/officeDocument/2006/relationships/image" Target="../media/image-10-6.png"/><Relationship Id="rId20" Type="http://schemas.openxmlformats.org/officeDocument/2006/relationships/slideLayout" Target="../slideLayouts/slideLayout1.xml"/><Relationship Id="rId21"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EAFB"/>
        </a:solidFill>
      </p:bgPr>
    </p:bg>
    <p:spTree>
      <p:nvGrpSpPr>
        <p:cNvPr id="1" name=""/>
        <p:cNvGrpSpPr/>
        <p:nvPr/>
      </p:nvGrpSpPr>
      <p:grpSpPr>
        <a:xfrm>
          <a:off x="0" y="0"/>
          <a:ext cx="0" cy="0"/>
          <a:chOff x="0" y="0"/>
          <a:chExt cx="0" cy="0"/>
        </a:xfrm>
      </p:grpSpPr>
      <p:pic>
        <p:nvPicPr>
          <p:cNvPr id="2" name="!!bg" descr="/home/claude/pitch/a/bg_title.jpg">    </p:cNvPr>
          <p:cNvPicPr>
            <a:picLocks noChangeAspect="1"/>
          </p:cNvPicPr>
          <p:nvPr/>
        </p:nvPicPr>
        <p:blipFill>
          <a:blip r:embed="rId1"/>
          <a:stretch>
            <a:fillRect/>
          </a:stretch>
        </p:blipFill>
        <p:spPr>
          <a:xfrm>
            <a:off x="0" y="0"/>
            <a:ext cx="12191695" cy="6858000"/>
          </a:xfrm>
          <a:prstGeom prst="rect">
            <a:avLst/>
          </a:prstGeom>
        </p:spPr>
      </p:pic>
      <p:sp>
        <p:nvSpPr>
          <p:cNvPr id="3" name="!!frame"/>
          <p:cNvSpPr/>
          <p:nvPr/>
        </p:nvSpPr>
        <p:spPr>
          <a:xfrm>
            <a:off x="182880" y="182880"/>
            <a:ext cx="11823192" cy="6492240"/>
          </a:xfrm>
          <a:prstGeom prst="roundRect">
            <a:avLst>
              <a:gd name="adj" fmla="val 2817"/>
            </a:avLst>
          </a:prstGeom>
          <a:ln w="28575">
            <a:solidFill>
              <a:srgbClr val="7F79B6"/>
            </a:solidFill>
            <a:prstDash val="solid"/>
          </a:ln>
        </p:spPr>
      </p:sp>
      <p:pic>
        <p:nvPicPr>
          <p:cNvPr id="4" name="!!logo-jain" descr="/home/claude/pitch/a/logo_jain.png">    </p:cNvPr>
          <p:cNvPicPr>
            <a:picLocks noChangeAspect="1"/>
          </p:cNvPicPr>
          <p:nvPr/>
        </p:nvPicPr>
        <p:blipFill>
          <a:blip r:embed="rId2"/>
          <a:stretch>
            <a:fillRect/>
          </a:stretch>
        </p:blipFill>
        <p:spPr>
          <a:xfrm>
            <a:off x="411480" y="329184"/>
            <a:ext cx="1316736" cy="384048"/>
          </a:xfrm>
          <a:prstGeom prst="rect">
            <a:avLst/>
          </a:prstGeom>
        </p:spPr>
      </p:pic>
      <p:pic>
        <p:nvPicPr>
          <p:cNvPr id="5" name="!!logo-avi" descr="/home/claude/pitch/a/logo_avi.png">    </p:cNvPr>
          <p:cNvPicPr>
            <a:picLocks noChangeAspect="1"/>
          </p:cNvPicPr>
          <p:nvPr/>
        </p:nvPicPr>
        <p:blipFill>
          <a:blip r:embed="rId3"/>
          <a:stretch>
            <a:fillRect/>
          </a:stretch>
        </p:blipFill>
        <p:spPr>
          <a:xfrm>
            <a:off x="5304892" y="320040"/>
            <a:ext cx="1581912" cy="393192"/>
          </a:xfrm>
          <a:prstGeom prst="rect">
            <a:avLst/>
          </a:prstGeom>
        </p:spPr>
      </p:pic>
      <p:pic>
        <p:nvPicPr>
          <p:cNvPr id="6" name="!!logo-fet" descr="/home/claude/pitch/a/logo_fet.png">    </p:cNvPr>
          <p:cNvPicPr>
            <a:picLocks noChangeAspect="1"/>
          </p:cNvPicPr>
          <p:nvPr/>
        </p:nvPicPr>
        <p:blipFill>
          <a:blip r:embed="rId4"/>
          <a:stretch>
            <a:fillRect/>
          </a:stretch>
        </p:blipFill>
        <p:spPr>
          <a:xfrm>
            <a:off x="10771632" y="274320"/>
            <a:ext cx="1005840" cy="457200"/>
          </a:xfrm>
          <a:prstGeom prst="rect">
            <a:avLst/>
          </a:prstGeom>
        </p:spPr>
      </p:pic>
      <p:sp>
        <p:nvSpPr>
          <p:cNvPr id="7" name="!!foot-l"/>
          <p:cNvSpPr txBox="1"/>
          <p:nvPr/>
        </p:nvSpPr>
        <p:spPr>
          <a:xfrm>
            <a:off x="457200" y="6336792"/>
            <a:ext cx="3108960" cy="219456"/>
          </a:xfrm>
          <a:prstGeom prst="rect">
            <a:avLst/>
          </a:prstGeom>
          <a:noFill/>
          <a:ln/>
        </p:spPr>
        <p:txBody>
          <a:bodyPr wrap="square" lIns="0" tIns="0" rIns="0" bIns="0" rtlCol="0" anchor="t"/>
          <a:lstStyle/>
          <a:p>
            <a:pPr indent="0" marL="0">
              <a:buNone/>
            </a:pPr>
            <a:r>
              <a:rPr lang="en-US" sz="900" dirty="0">
                <a:solidFill>
                  <a:srgbClr val="8D88B5"/>
                </a:solidFill>
                <a:latin typeface="Poppins" pitchFamily="34" charset="0"/>
                <a:ea typeface="Poppins" pitchFamily="34" charset="-122"/>
                <a:cs typeface="Poppins" pitchFamily="34" charset="-120"/>
              </a:rPr>
              <a:t>MixCheck  ·  Team El Rata Alada</a:t>
            </a:r>
            <a:endParaRPr lang="en-US" sz="900" dirty="0"/>
          </a:p>
        </p:txBody>
      </p:sp>
      <p:sp>
        <p:nvSpPr>
          <p:cNvPr id="8" name="!!btn-nav-1">
            <a:hlinkClick r:id="rId5" action="ppaction://hlinksldjump"/>
          </p:cNvPr>
          <p:cNvSpPr/>
          <p:nvPr/>
        </p:nvSpPr>
        <p:spPr>
          <a:xfrm>
            <a:off x="4628236" y="6336792"/>
            <a:ext cx="219456" cy="219456"/>
          </a:xfrm>
          <a:prstGeom prst="ellipse">
            <a:avLst/>
          </a:prstGeom>
          <a:solidFill>
            <a:srgbClr val="6C5CE7"/>
          </a:solidFill>
          <a:ln w="9525">
            <a:solidFill>
              <a:srgbClr val="6C5CE7"/>
            </a:solid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1</a:t>
            </a:r>
            <a:endParaRPr lang="en-US" sz="750" dirty="0"/>
          </a:p>
        </p:txBody>
      </p:sp>
      <p:sp>
        <p:nvSpPr>
          <p:cNvPr id="9" name="!!btn-nav-2">
            <a:hlinkClick r:id="rId6" action="ppaction://hlinksldjump"/>
          </p:cNvPr>
          <p:cNvSpPr/>
          <p:nvPr/>
        </p:nvSpPr>
        <p:spPr>
          <a:xfrm>
            <a:off x="4929988"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2</a:t>
            </a:r>
            <a:endParaRPr lang="en-US" sz="750" dirty="0"/>
          </a:p>
        </p:txBody>
      </p:sp>
      <p:sp>
        <p:nvSpPr>
          <p:cNvPr id="10" name="!!btn-nav-3">
            <a:hlinkClick r:id="rId7" action="ppaction://hlinksldjump"/>
          </p:cNvPr>
          <p:cNvSpPr/>
          <p:nvPr/>
        </p:nvSpPr>
        <p:spPr>
          <a:xfrm>
            <a:off x="5231740"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3</a:t>
            </a:r>
            <a:endParaRPr lang="en-US" sz="750" dirty="0"/>
          </a:p>
        </p:txBody>
      </p:sp>
      <p:sp>
        <p:nvSpPr>
          <p:cNvPr id="11" name="!!btn-nav-4">
            <a:hlinkClick r:id="rId8" action="ppaction://hlinksldjump"/>
          </p:cNvPr>
          <p:cNvSpPr/>
          <p:nvPr/>
        </p:nvSpPr>
        <p:spPr>
          <a:xfrm>
            <a:off x="5533492"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4</a:t>
            </a:r>
            <a:endParaRPr lang="en-US" sz="750" dirty="0"/>
          </a:p>
        </p:txBody>
      </p:sp>
      <p:sp>
        <p:nvSpPr>
          <p:cNvPr id="12" name="!!btn-nav-5">
            <a:hlinkClick r:id="rId9" action="ppaction://hlinksldjump"/>
          </p:cNvPr>
          <p:cNvSpPr/>
          <p:nvPr/>
        </p:nvSpPr>
        <p:spPr>
          <a:xfrm>
            <a:off x="5835244"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5</a:t>
            </a:r>
            <a:endParaRPr lang="en-US" sz="750" dirty="0"/>
          </a:p>
        </p:txBody>
      </p:sp>
      <p:sp>
        <p:nvSpPr>
          <p:cNvPr id="13" name="!!btn-nav-6">
            <a:hlinkClick r:id="rId10" action="ppaction://hlinksldjump"/>
          </p:cNvPr>
          <p:cNvSpPr/>
          <p:nvPr/>
        </p:nvSpPr>
        <p:spPr>
          <a:xfrm>
            <a:off x="6136996"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6</a:t>
            </a:r>
            <a:endParaRPr lang="en-US" sz="750" dirty="0"/>
          </a:p>
        </p:txBody>
      </p:sp>
      <p:sp>
        <p:nvSpPr>
          <p:cNvPr id="14" name="!!btn-nav-7">
            <a:hlinkClick r:id="rId11" action="ppaction://hlinksldjump"/>
          </p:cNvPr>
          <p:cNvSpPr/>
          <p:nvPr/>
        </p:nvSpPr>
        <p:spPr>
          <a:xfrm>
            <a:off x="6438748"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7</a:t>
            </a:r>
            <a:endParaRPr lang="en-US" sz="750" dirty="0"/>
          </a:p>
        </p:txBody>
      </p:sp>
      <p:sp>
        <p:nvSpPr>
          <p:cNvPr id="15" name="!!btn-nav-8">
            <a:hlinkClick r:id="rId12" action="ppaction://hlinksldjump"/>
          </p:cNvPr>
          <p:cNvSpPr/>
          <p:nvPr/>
        </p:nvSpPr>
        <p:spPr>
          <a:xfrm>
            <a:off x="6740500"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8</a:t>
            </a:r>
            <a:endParaRPr lang="en-US" sz="750" dirty="0"/>
          </a:p>
        </p:txBody>
      </p:sp>
      <p:sp>
        <p:nvSpPr>
          <p:cNvPr id="16" name="!!btn-nav-9">
            <a:hlinkClick r:id="rId13" action="ppaction://hlinksldjump"/>
          </p:cNvPr>
          <p:cNvSpPr/>
          <p:nvPr/>
        </p:nvSpPr>
        <p:spPr>
          <a:xfrm>
            <a:off x="7042252"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9</a:t>
            </a:r>
            <a:endParaRPr lang="en-US" sz="750" dirty="0"/>
          </a:p>
        </p:txBody>
      </p:sp>
      <p:sp>
        <p:nvSpPr>
          <p:cNvPr id="17" name="!!btn-nav-10">
            <a:hlinkClick r:id="rId14" action="ppaction://hlinksldjump"/>
          </p:cNvPr>
          <p:cNvSpPr/>
          <p:nvPr/>
        </p:nvSpPr>
        <p:spPr>
          <a:xfrm>
            <a:off x="7344004"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10</a:t>
            </a:r>
            <a:endParaRPr lang="en-US" sz="750" dirty="0"/>
          </a:p>
        </p:txBody>
      </p:sp>
      <p:sp>
        <p:nvSpPr>
          <p:cNvPr id="18" name="!!btn-live">
            <a:hlinkClick r:id="rId15"/>
          </p:cNvPr>
          <p:cNvSpPr/>
          <p:nvPr/>
        </p:nvSpPr>
        <p:spPr>
          <a:xfrm>
            <a:off x="8503920" y="6309360"/>
            <a:ext cx="3246120" cy="274320"/>
          </a:xfrm>
          <a:prstGeom prst="rect">
            <a:avLst/>
          </a:prstGeom>
          <a:noFill/>
          <a:ln/>
        </p:spPr>
        <p:txBody>
          <a:bodyPr wrap="square" lIns="0" tIns="0" rIns="0" bIns="0" rtlCol="0" anchor="ctr"/>
          <a:lstStyle/>
          <a:p>
            <a:pPr algn="r" indent="0" marL="0">
              <a:buNone/>
            </a:pPr>
            <a:r>
              <a:rPr lang="en-US" sz="900" b="1" dirty="0">
                <a:solidFill>
                  <a:srgbClr val="6C5CE7"/>
                </a:solidFill>
                <a:latin typeface="Poppins" pitchFamily="34" charset="0"/>
                <a:ea typeface="Poppins" pitchFamily="34" charset="-122"/>
                <a:cs typeface="Poppins" pitchFamily="34" charset="-120"/>
              </a:rPr>
              <a:t>● Live: mixcheck-elrata.streamlit.app</a:t>
            </a:r>
            <a:endParaRPr lang="en-US" sz="900" dirty="0"/>
          </a:p>
        </p:txBody>
      </p:sp>
      <p:sp>
        <p:nvSpPr>
          <p:cNvPr id="19" name="pill-1"/>
          <p:cNvSpPr/>
          <p:nvPr/>
        </p:nvSpPr>
        <p:spPr>
          <a:xfrm>
            <a:off x="594360" y="1143000"/>
            <a:ext cx="2926080" cy="310896"/>
          </a:xfrm>
          <a:prstGeom prst="roundRect">
            <a:avLst>
              <a:gd name="adj" fmla="val 50000"/>
            </a:avLst>
          </a:prstGeom>
          <a:solidFill>
            <a:srgbClr val="FF9F1C"/>
          </a:solidFill>
          <a:ln/>
        </p:spPr>
        <p:txBody>
          <a:bodyPr wrap="square" lIns="0" tIns="0" rIns="0" bIns="0" rtlCol="0" anchor="ctr"/>
          <a:lstStyle/>
          <a:p>
            <a:pPr algn="ctr" indent="0" marL="0">
              <a:buNone/>
            </a:pPr>
            <a:r>
              <a:rPr lang="en-US" sz="950" b="1" spc="100" kern="0" dirty="0">
                <a:solidFill>
                  <a:srgbClr val="FFFFFF"/>
                </a:solidFill>
                <a:latin typeface="Poppins" pitchFamily="34" charset="0"/>
                <a:ea typeface="Poppins" pitchFamily="34" charset="-122"/>
                <a:cs typeface="Poppins" pitchFamily="34" charset="-120"/>
              </a:rPr>
              <a:t>AVISHKAR 2026  ·  AI &amp; IoT TRACK</a:t>
            </a:r>
            <a:endParaRPr lang="en-US" sz="950" dirty="0"/>
          </a:p>
        </p:txBody>
      </p:sp>
      <p:pic>
        <p:nvPicPr>
          <p:cNvPr id="20" name="!!wordmark" descr="/home/claude/pitch/a/wordmark.png">    </p:cNvPr>
          <p:cNvPicPr>
            <a:picLocks noChangeAspect="1"/>
          </p:cNvPicPr>
          <p:nvPr/>
        </p:nvPicPr>
        <p:blipFill>
          <a:blip r:embed="rId16"/>
          <a:stretch>
            <a:fillRect/>
          </a:stretch>
        </p:blipFill>
        <p:spPr>
          <a:xfrm>
            <a:off x="457200" y="1481328"/>
            <a:ext cx="5943600" cy="1725164"/>
          </a:xfrm>
          <a:prstGeom prst="rect">
            <a:avLst/>
          </a:prstGeom>
        </p:spPr>
      </p:pic>
      <p:sp>
        <p:nvSpPr>
          <p:cNvPr id="21" name="Text 14"/>
          <p:cNvSpPr txBox="1"/>
          <p:nvPr/>
        </p:nvSpPr>
        <p:spPr>
          <a:xfrm>
            <a:off x="594360" y="3246120"/>
            <a:ext cx="6400800" cy="914400"/>
          </a:xfrm>
          <a:prstGeom prst="rect">
            <a:avLst/>
          </a:prstGeom>
          <a:noFill/>
          <a:ln/>
        </p:spPr>
        <p:txBody>
          <a:bodyPr wrap="square" lIns="0" tIns="0" rIns="0" bIns="0" rtlCol="0" anchor="t"/>
          <a:lstStyle/>
          <a:p>
            <a:pPr indent="0" marL="0">
              <a:buNone/>
            </a:pPr>
            <a:r>
              <a:rPr lang="en-US" sz="2500" b="1" dirty="0">
                <a:solidFill>
                  <a:srgbClr val="1E1A4D"/>
                </a:solidFill>
                <a:latin typeface="Lora" pitchFamily="34" charset="0"/>
                <a:ea typeface="Lora" pitchFamily="34" charset="-122"/>
                <a:cs typeface="Lora" pitchFamily="34" charset="-120"/>
              </a:rPr>
              <a:t>Same coding task. Different language.</a:t>
            </a:r>
            <a:endParaRPr lang="en-US" sz="2500" dirty="0"/>
          </a:p>
          <a:p>
            <a:pPr indent="0" marL="0">
              <a:buNone/>
            </a:pPr>
            <a:r>
              <a:rPr lang="en-US" sz="2500" b="1" dirty="0">
                <a:solidFill>
                  <a:srgbClr val="6C5CE7"/>
                </a:solidFill>
                <a:latin typeface="Lora" pitchFamily="34" charset="0"/>
                <a:ea typeface="Lora" pitchFamily="34" charset="-122"/>
                <a:cs typeface="Lora" pitchFamily="34" charset="-120"/>
              </a:rPr>
              <a:t>Does the AI still get it right?</a:t>
            </a:r>
            <a:endParaRPr lang="en-US" sz="2500" dirty="0"/>
          </a:p>
        </p:txBody>
      </p:sp>
      <p:sp>
        <p:nvSpPr>
          <p:cNvPr id="22" name="Text 15"/>
          <p:cNvSpPr txBox="1"/>
          <p:nvPr/>
        </p:nvSpPr>
        <p:spPr>
          <a:xfrm>
            <a:off x="594360" y="4251960"/>
            <a:ext cx="5760720" cy="548640"/>
          </a:xfrm>
          <a:prstGeom prst="rect">
            <a:avLst/>
          </a:prstGeom>
          <a:noFill/>
          <a:ln/>
        </p:spPr>
        <p:txBody>
          <a:bodyPr wrap="square" lIns="0" tIns="0" rIns="0" bIns="0" rtlCol="0" anchor="t"/>
          <a:lstStyle/>
          <a:p>
            <a:pPr indent="0" marL="0">
              <a:buNone/>
            </a:pPr>
            <a:r>
              <a:rPr lang="en-US" sz="1300" dirty="0">
                <a:solidFill>
                  <a:srgbClr val="5B577E"/>
                </a:solidFill>
                <a:latin typeface="Poppins" pitchFamily="34" charset="0"/>
                <a:ea typeface="Poppins" pitchFamily="34" charset="-122"/>
                <a:cs typeface="Poppins" pitchFamily="34" charset="-120"/>
              </a:rPr>
              <a:t>A robustness tester for AI coding assistants, using prompts in code-mixed Indian languages.</a:t>
            </a:r>
            <a:endParaRPr lang="en-US" sz="1300" dirty="0"/>
          </a:p>
        </p:txBody>
      </p:sp>
      <p:sp>
        <p:nvSpPr>
          <p:cNvPr id="23" name="pill-2"/>
          <p:cNvSpPr/>
          <p:nvPr/>
        </p:nvSpPr>
        <p:spPr>
          <a:xfrm>
            <a:off x="594360" y="4919472"/>
            <a:ext cx="3977640" cy="347472"/>
          </a:xfrm>
          <a:prstGeom prst="roundRect">
            <a:avLst>
              <a:gd name="adj" fmla="val 50000"/>
            </a:avLst>
          </a:prstGeom>
          <a:solidFill>
            <a:srgbClr val="FFFFFF"/>
          </a:solidFill>
          <a:ln w="12700">
            <a:solidFill>
              <a:srgbClr val="6C5CE7"/>
            </a:solidFill>
          </a:ln>
        </p:spPr>
        <p:txBody>
          <a:bodyPr wrap="square" lIns="0" tIns="0" rIns="0" bIns="0" rtlCol="0" anchor="ctr"/>
          <a:lstStyle/>
          <a:p>
            <a:pPr algn="ctr" indent="0" marL="0">
              <a:buNone/>
            </a:pPr>
            <a:r>
              <a:rPr lang="en-US" sz="1000" b="1" dirty="0">
                <a:solidFill>
                  <a:srgbClr val="6C5CE7"/>
                </a:solidFill>
                <a:latin typeface="Poppins" pitchFamily="34" charset="0"/>
                <a:ea typeface="Poppins" pitchFamily="34" charset="-122"/>
                <a:cs typeface="Poppins" pitchFamily="34" charset="-120"/>
              </a:rPr>
              <a:t>&lt;/&gt;  Cross-lingual code-switching robustness tester</a:t>
            </a:r>
            <a:endParaRPr lang="en-US" sz="1000" dirty="0"/>
          </a:p>
        </p:txBody>
      </p:sp>
      <p:sp>
        <p:nvSpPr>
          <p:cNvPr id="24" name="btn-try1">
            <a:hlinkClick r:id="rId17"/>
          </p:cNvPr>
          <p:cNvSpPr/>
          <p:nvPr/>
        </p:nvSpPr>
        <p:spPr>
          <a:xfrm>
            <a:off x="4681728" y="4919472"/>
            <a:ext cx="1508760" cy="347472"/>
          </a:xfrm>
          <a:prstGeom prst="roundRect">
            <a:avLst>
              <a:gd name="adj" fmla="val 50000"/>
            </a:avLst>
          </a:prstGeom>
          <a:solidFill>
            <a:srgbClr val="6C5CE7"/>
          </a:solid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Try it live  →</a:t>
            </a:r>
            <a:endParaRPr lang="en-US" sz="1000" dirty="0"/>
          </a:p>
        </p:txBody>
      </p:sp>
      <p:sp>
        <p:nvSpPr>
          <p:cNvPr id="25" name="Text 18"/>
          <p:cNvSpPr txBox="1"/>
          <p:nvPr/>
        </p:nvSpPr>
        <p:spPr>
          <a:xfrm>
            <a:off x="594360" y="5532120"/>
            <a:ext cx="6583680" cy="320040"/>
          </a:xfrm>
          <a:prstGeom prst="rect">
            <a:avLst/>
          </a:prstGeom>
          <a:noFill/>
          <a:ln/>
        </p:spPr>
        <p:txBody>
          <a:bodyPr wrap="square" lIns="0" tIns="0" rIns="0" bIns="0" rtlCol="0" anchor="t"/>
          <a:lstStyle/>
          <a:p>
            <a:pPr indent="0" marL="0">
              <a:buNone/>
            </a:pPr>
            <a:r>
              <a:rPr lang="en-US" sz="1350" b="1" dirty="0">
                <a:solidFill>
                  <a:srgbClr val="1E1A4D"/>
                </a:solidFill>
                <a:latin typeface="Poppins" pitchFamily="34" charset="0"/>
                <a:ea typeface="Poppins" pitchFamily="34" charset="-122"/>
                <a:cs typeface="Poppins" pitchFamily="34" charset="-120"/>
              </a:rPr>
              <a:t>Team El Rata Alada</a:t>
            </a:r>
            <a:pPr indent="0" marL="0">
              <a:buNone/>
            </a:pPr>
            <a:r>
              <a:rPr lang="en-US" sz="1350" dirty="0">
                <a:solidFill>
                  <a:srgbClr val="5B577E"/>
                </a:solidFill>
                <a:latin typeface="Poppins" pitchFamily="34" charset="0"/>
                <a:ea typeface="Poppins" pitchFamily="34" charset="-122"/>
                <a:cs typeface="Poppins" pitchFamily="34" charset="-120"/>
              </a:rPr>
              <a:t>  —  Tanmay, Ritobroto, Aaditya, Aaliya</a:t>
            </a:r>
            <a:endParaRPr lang="en-US" sz="1350" dirty="0"/>
          </a:p>
        </p:txBody>
      </p:sp>
      <p:sp>
        <p:nvSpPr>
          <p:cNvPr id="26" name="auto150-bub0"/>
          <p:cNvSpPr/>
          <p:nvPr/>
        </p:nvSpPr>
        <p:spPr>
          <a:xfrm>
            <a:off x="7726680" y="1188720"/>
            <a:ext cx="3611880" cy="786384"/>
          </a:xfrm>
          <a:prstGeom prst="roundRect">
            <a:avLst>
              <a:gd name="adj" fmla="val 23256"/>
            </a:avLst>
          </a:prstGeom>
          <a:solidFill>
            <a:srgbClr val="FFFFFF"/>
          </a:solidFill>
          <a:ln w="15875">
            <a:solidFill>
              <a:srgbClr val="D97706"/>
            </a:solidFill>
            <a:prstDash val="solid"/>
          </a:ln>
          <a:effectLst>
            <a:outerShdw sx="100000" sy="100000" kx="0" ky="0" algn="bl" rotWithShape="0" blurRad="152400" dist="38100" dir="5400000">
              <a:srgbClr val="6C5CE7">
                <a:alpha val="16000"/>
              </a:srgbClr>
            </a:outerShdw>
          </a:effectLst>
        </p:spPr>
      </p:sp>
      <p:sp>
        <p:nvSpPr>
          <p:cNvPr id="27" name="auto150-bubl0"/>
          <p:cNvSpPr txBox="1"/>
          <p:nvPr/>
        </p:nvSpPr>
        <p:spPr>
          <a:xfrm>
            <a:off x="7927848" y="1280160"/>
            <a:ext cx="3108960" cy="201168"/>
          </a:xfrm>
          <a:prstGeom prst="rect">
            <a:avLst/>
          </a:prstGeom>
          <a:noFill/>
          <a:ln/>
        </p:spPr>
        <p:txBody>
          <a:bodyPr wrap="square" lIns="0" tIns="0" rIns="0" bIns="0" rtlCol="0" anchor="t"/>
          <a:lstStyle/>
          <a:p>
            <a:pPr indent="0" marL="0">
              <a:buNone/>
            </a:pPr>
            <a:r>
              <a:rPr lang="en-US" sz="850" b="1" spc="150" kern="0" dirty="0">
                <a:solidFill>
                  <a:srgbClr val="D97706"/>
                </a:solidFill>
                <a:latin typeface="Poppins" pitchFamily="34" charset="0"/>
                <a:ea typeface="Poppins" pitchFamily="34" charset="-122"/>
                <a:cs typeface="Poppins" pitchFamily="34" charset="-120"/>
              </a:rPr>
              <a:t>HINGLISH</a:t>
            </a:r>
            <a:endParaRPr lang="en-US" sz="850" dirty="0"/>
          </a:p>
        </p:txBody>
      </p:sp>
      <p:sp>
        <p:nvSpPr>
          <p:cNvPr id="28" name="auto150-bubt0"/>
          <p:cNvSpPr txBox="1"/>
          <p:nvPr/>
        </p:nvSpPr>
        <p:spPr>
          <a:xfrm>
            <a:off x="7927848" y="1517904"/>
            <a:ext cx="3337560" cy="365760"/>
          </a:xfrm>
          <a:prstGeom prst="rect">
            <a:avLst/>
          </a:prstGeom>
          <a:noFill/>
          <a:ln/>
        </p:spPr>
        <p:txBody>
          <a:bodyPr wrap="square" lIns="0" tIns="0" rIns="0" bIns="0" rtlCol="0" anchor="t"/>
          <a:lstStyle/>
          <a:p>
            <a:pPr indent="0" marL="0">
              <a:buNone/>
            </a:pPr>
            <a:r>
              <a:rPr lang="en-US" sz="1350" b="1" dirty="0">
                <a:solidFill>
                  <a:srgbClr val="D97706"/>
                </a:solidFill>
                <a:latin typeface="Poppins" pitchFamily="34" charset="0"/>
                <a:ea typeface="Poppins" pitchFamily="34" charset="-122"/>
                <a:cs typeface="Poppins" pitchFamily="34" charset="-120"/>
              </a:rPr>
              <a:t>yeh </a:t>
            </a:r>
            <a:pPr indent="0" marL="0">
              <a:buNone/>
            </a:pPr>
            <a:r>
              <a:rPr lang="en-US" sz="1350" dirty="0">
                <a:solidFill>
                  <a:srgbClr val="1E1A4D"/>
                </a:solidFill>
                <a:latin typeface="Poppins" pitchFamily="34" charset="0"/>
                <a:ea typeface="Poppins" pitchFamily="34" charset="-122"/>
                <a:cs typeface="Poppins" pitchFamily="34" charset="-120"/>
              </a:rPr>
              <a:t>function </a:t>
            </a:r>
            <a:pPr indent="0" marL="0">
              <a:buNone/>
            </a:pPr>
            <a:r>
              <a:rPr lang="en-US" sz="1350" dirty="0">
                <a:solidFill>
                  <a:srgbClr val="1E1A4D"/>
                </a:solidFill>
                <a:latin typeface="Poppins" pitchFamily="34" charset="0"/>
                <a:ea typeface="Poppins" pitchFamily="34" charset="-122"/>
                <a:cs typeface="Poppins" pitchFamily="34" charset="-120"/>
              </a:rPr>
              <a:t>crash </a:t>
            </a:r>
            <a:pPr indent="0" marL="0">
              <a:buNone/>
            </a:pPr>
            <a:r>
              <a:rPr lang="en-US" sz="1350" b="1" dirty="0">
                <a:solidFill>
                  <a:srgbClr val="D97706"/>
                </a:solidFill>
                <a:latin typeface="Poppins" pitchFamily="34" charset="0"/>
                <a:ea typeface="Poppins" pitchFamily="34" charset="-122"/>
                <a:cs typeface="Poppins" pitchFamily="34" charset="-120"/>
              </a:rPr>
              <a:t>kyu </a:t>
            </a:r>
            <a:pPr indent="0" marL="0">
              <a:buNone/>
            </a:pPr>
            <a:r>
              <a:rPr lang="en-US" sz="1350" b="1" dirty="0">
                <a:solidFill>
                  <a:srgbClr val="D97706"/>
                </a:solidFill>
                <a:latin typeface="Poppins" pitchFamily="34" charset="0"/>
                <a:ea typeface="Poppins" pitchFamily="34" charset="-122"/>
                <a:cs typeface="Poppins" pitchFamily="34" charset="-120"/>
              </a:rPr>
              <a:t>ho </a:t>
            </a:r>
            <a:pPr indent="0" marL="0">
              <a:buNone/>
            </a:pPr>
            <a:r>
              <a:rPr lang="en-US" sz="1350" b="1" dirty="0">
                <a:solidFill>
                  <a:srgbClr val="D97706"/>
                </a:solidFill>
                <a:latin typeface="Poppins" pitchFamily="34" charset="0"/>
                <a:ea typeface="Poppins" pitchFamily="34" charset="-122"/>
                <a:cs typeface="Poppins" pitchFamily="34" charset="-120"/>
              </a:rPr>
              <a:t>raha </a:t>
            </a:r>
            <a:pPr indent="0" marL="0">
              <a:buNone/>
            </a:pPr>
            <a:r>
              <a:rPr lang="en-US" sz="1350" b="1" dirty="0">
                <a:solidFill>
                  <a:srgbClr val="D97706"/>
                </a:solidFill>
                <a:latin typeface="Poppins" pitchFamily="34" charset="0"/>
                <a:ea typeface="Poppins" pitchFamily="34" charset="-122"/>
                <a:cs typeface="Poppins" pitchFamily="34" charset="-120"/>
              </a:rPr>
              <a:t>hai?</a:t>
            </a:r>
            <a:endParaRPr lang="en-US" sz="1300" dirty="0"/>
          </a:p>
        </p:txBody>
      </p:sp>
      <p:sp>
        <p:nvSpPr>
          <p:cNvPr id="29" name="auto310-bub1"/>
          <p:cNvSpPr/>
          <p:nvPr/>
        </p:nvSpPr>
        <p:spPr>
          <a:xfrm>
            <a:off x="8183880" y="2130552"/>
            <a:ext cx="3611880" cy="786384"/>
          </a:xfrm>
          <a:prstGeom prst="roundRect">
            <a:avLst>
              <a:gd name="adj" fmla="val 23256"/>
            </a:avLst>
          </a:prstGeom>
          <a:solidFill>
            <a:srgbClr val="FFFFFF"/>
          </a:solidFill>
          <a:ln w="15875">
            <a:solidFill>
              <a:srgbClr val="1590B8"/>
            </a:solidFill>
            <a:prstDash val="solid"/>
          </a:ln>
          <a:effectLst>
            <a:outerShdw sx="100000" sy="100000" kx="0" ky="0" algn="bl" rotWithShape="0" blurRad="152400" dist="38100" dir="5400000">
              <a:srgbClr val="6C5CE7">
                <a:alpha val="16000"/>
              </a:srgbClr>
            </a:outerShdw>
          </a:effectLst>
        </p:spPr>
      </p:sp>
      <p:sp>
        <p:nvSpPr>
          <p:cNvPr id="30" name="auto310-bubl1"/>
          <p:cNvSpPr txBox="1"/>
          <p:nvPr/>
        </p:nvSpPr>
        <p:spPr>
          <a:xfrm>
            <a:off x="8385048" y="2221992"/>
            <a:ext cx="3108960" cy="201168"/>
          </a:xfrm>
          <a:prstGeom prst="rect">
            <a:avLst/>
          </a:prstGeom>
          <a:noFill/>
          <a:ln/>
        </p:spPr>
        <p:txBody>
          <a:bodyPr wrap="square" lIns="0" tIns="0" rIns="0" bIns="0" rtlCol="0" anchor="t"/>
          <a:lstStyle/>
          <a:p>
            <a:pPr indent="0" marL="0">
              <a:buNone/>
            </a:pPr>
            <a:r>
              <a:rPr lang="en-US" sz="850" b="1" spc="150" kern="0" dirty="0">
                <a:solidFill>
                  <a:srgbClr val="1590B8"/>
                </a:solidFill>
                <a:latin typeface="Poppins" pitchFamily="34" charset="0"/>
                <a:ea typeface="Poppins" pitchFamily="34" charset="-122"/>
                <a:cs typeface="Poppins" pitchFamily="34" charset="-120"/>
              </a:rPr>
              <a:t>BENGLISH</a:t>
            </a:r>
            <a:endParaRPr lang="en-US" sz="850" dirty="0"/>
          </a:p>
        </p:txBody>
      </p:sp>
      <p:sp>
        <p:nvSpPr>
          <p:cNvPr id="31" name="auto310-bubt1"/>
          <p:cNvSpPr txBox="1"/>
          <p:nvPr/>
        </p:nvSpPr>
        <p:spPr>
          <a:xfrm>
            <a:off x="8385048" y="2459736"/>
            <a:ext cx="3337560" cy="365760"/>
          </a:xfrm>
          <a:prstGeom prst="rect">
            <a:avLst/>
          </a:prstGeom>
          <a:noFill/>
          <a:ln/>
        </p:spPr>
        <p:txBody>
          <a:bodyPr wrap="square" lIns="0" tIns="0" rIns="0" bIns="0" rtlCol="0" anchor="t"/>
          <a:lstStyle/>
          <a:p>
            <a:pPr indent="0" marL="0">
              <a:buNone/>
            </a:pPr>
            <a:r>
              <a:rPr lang="en-US" sz="1350" b="1" dirty="0">
                <a:solidFill>
                  <a:srgbClr val="1590B8"/>
                </a:solidFill>
                <a:latin typeface="Poppins" pitchFamily="34" charset="0"/>
                <a:ea typeface="Poppins" pitchFamily="34" charset="-122"/>
                <a:cs typeface="Poppins" pitchFamily="34" charset="-120"/>
              </a:rPr>
              <a:t>ei </a:t>
            </a:r>
            <a:pPr indent="0" marL="0">
              <a:buNone/>
            </a:pPr>
            <a:r>
              <a:rPr lang="en-US" sz="1350" dirty="0">
                <a:solidFill>
                  <a:srgbClr val="1E1A4D"/>
                </a:solidFill>
                <a:latin typeface="Poppins" pitchFamily="34" charset="0"/>
                <a:ea typeface="Poppins" pitchFamily="34" charset="-122"/>
                <a:cs typeface="Poppins" pitchFamily="34" charset="-120"/>
              </a:rPr>
              <a:t>list </a:t>
            </a:r>
            <a:pPr indent="0" marL="0">
              <a:buNone/>
            </a:pPr>
            <a:r>
              <a:rPr lang="en-US" sz="1350" b="1" dirty="0">
                <a:solidFill>
                  <a:srgbClr val="1590B8"/>
                </a:solidFill>
                <a:latin typeface="Poppins" pitchFamily="34" charset="0"/>
                <a:ea typeface="Poppins" pitchFamily="34" charset="-122"/>
                <a:cs typeface="Poppins" pitchFamily="34" charset="-120"/>
              </a:rPr>
              <a:t>ta </a:t>
            </a:r>
            <a:pPr indent="0" marL="0">
              <a:buNone/>
            </a:pPr>
            <a:r>
              <a:rPr lang="en-US" sz="1350" dirty="0">
                <a:solidFill>
                  <a:srgbClr val="1E1A4D"/>
                </a:solidFill>
                <a:latin typeface="Poppins" pitchFamily="34" charset="0"/>
                <a:ea typeface="Poppins" pitchFamily="34" charset="-122"/>
                <a:cs typeface="Poppins" pitchFamily="34" charset="-120"/>
              </a:rPr>
              <a:t>sort </a:t>
            </a:r>
            <a:pPr indent="0" marL="0">
              <a:buNone/>
            </a:pPr>
            <a:r>
              <a:rPr lang="en-US" sz="1350" b="1" dirty="0">
                <a:solidFill>
                  <a:srgbClr val="1590B8"/>
                </a:solidFill>
                <a:latin typeface="Poppins" pitchFamily="34" charset="0"/>
                <a:ea typeface="Poppins" pitchFamily="34" charset="-122"/>
                <a:cs typeface="Poppins" pitchFamily="34" charset="-120"/>
              </a:rPr>
              <a:t>kore </a:t>
            </a:r>
            <a:pPr indent="0" marL="0">
              <a:buNone/>
            </a:pPr>
            <a:r>
              <a:rPr lang="en-US" sz="1350" b="1" dirty="0">
                <a:solidFill>
                  <a:srgbClr val="1590B8"/>
                </a:solidFill>
                <a:latin typeface="Poppins" pitchFamily="34" charset="0"/>
                <a:ea typeface="Poppins" pitchFamily="34" charset="-122"/>
                <a:cs typeface="Poppins" pitchFamily="34" charset="-120"/>
              </a:rPr>
              <a:t>dao</a:t>
            </a:r>
            <a:endParaRPr lang="en-US" sz="1300" dirty="0"/>
          </a:p>
        </p:txBody>
      </p:sp>
      <p:sp>
        <p:nvSpPr>
          <p:cNvPr id="32" name="auto470-bub2"/>
          <p:cNvSpPr/>
          <p:nvPr/>
        </p:nvSpPr>
        <p:spPr>
          <a:xfrm>
            <a:off x="7589520" y="3072384"/>
            <a:ext cx="3611880" cy="786384"/>
          </a:xfrm>
          <a:prstGeom prst="roundRect">
            <a:avLst>
              <a:gd name="adj" fmla="val 23256"/>
            </a:avLst>
          </a:prstGeom>
          <a:solidFill>
            <a:srgbClr val="FFFFFF"/>
          </a:solidFill>
          <a:ln w="15875">
            <a:solidFill>
              <a:srgbClr val="C2477D"/>
            </a:solidFill>
            <a:prstDash val="solid"/>
          </a:ln>
          <a:effectLst>
            <a:outerShdw sx="100000" sy="100000" kx="0" ky="0" algn="bl" rotWithShape="0" blurRad="152400" dist="38100" dir="5400000">
              <a:srgbClr val="6C5CE7">
                <a:alpha val="16000"/>
              </a:srgbClr>
            </a:outerShdw>
          </a:effectLst>
        </p:spPr>
      </p:sp>
      <p:sp>
        <p:nvSpPr>
          <p:cNvPr id="33" name="auto470-bubl2"/>
          <p:cNvSpPr txBox="1"/>
          <p:nvPr/>
        </p:nvSpPr>
        <p:spPr>
          <a:xfrm>
            <a:off x="7790688" y="3163824"/>
            <a:ext cx="3108960" cy="201168"/>
          </a:xfrm>
          <a:prstGeom prst="rect">
            <a:avLst/>
          </a:prstGeom>
          <a:noFill/>
          <a:ln/>
        </p:spPr>
        <p:txBody>
          <a:bodyPr wrap="square" lIns="0" tIns="0" rIns="0" bIns="0" rtlCol="0" anchor="t"/>
          <a:lstStyle/>
          <a:p>
            <a:pPr indent="0" marL="0">
              <a:buNone/>
            </a:pPr>
            <a:r>
              <a:rPr lang="en-US" sz="850" b="1" spc="150" kern="0" dirty="0">
                <a:solidFill>
                  <a:srgbClr val="C2477D"/>
                </a:solidFill>
                <a:latin typeface="Poppins" pitchFamily="34" charset="0"/>
                <a:ea typeface="Poppins" pitchFamily="34" charset="-122"/>
                <a:cs typeface="Poppins" pitchFamily="34" charset="-120"/>
              </a:rPr>
              <a:t>KANGLISH</a:t>
            </a:r>
            <a:endParaRPr lang="en-US" sz="850" dirty="0"/>
          </a:p>
        </p:txBody>
      </p:sp>
      <p:sp>
        <p:nvSpPr>
          <p:cNvPr id="34" name="auto470-bubt2"/>
          <p:cNvSpPr txBox="1"/>
          <p:nvPr/>
        </p:nvSpPr>
        <p:spPr>
          <a:xfrm>
            <a:off x="7790688" y="3401568"/>
            <a:ext cx="3337560" cy="365760"/>
          </a:xfrm>
          <a:prstGeom prst="rect">
            <a:avLst/>
          </a:prstGeom>
          <a:noFill/>
          <a:ln/>
        </p:spPr>
        <p:txBody>
          <a:bodyPr wrap="square" lIns="0" tIns="0" rIns="0" bIns="0" rtlCol="0" anchor="t"/>
          <a:lstStyle/>
          <a:p>
            <a:pPr indent="0" marL="0">
              <a:buNone/>
            </a:pPr>
            <a:r>
              <a:rPr lang="en-US" sz="1350" b="1" dirty="0">
                <a:solidFill>
                  <a:srgbClr val="C2477D"/>
                </a:solidFill>
                <a:latin typeface="Poppins" pitchFamily="34" charset="0"/>
                <a:ea typeface="Poppins" pitchFamily="34" charset="-122"/>
                <a:cs typeface="Poppins" pitchFamily="34" charset="-120"/>
              </a:rPr>
              <a:t>bari </a:t>
            </a:r>
            <a:pPr indent="0" marL="0">
              <a:buNone/>
            </a:pPr>
            <a:r>
              <a:rPr lang="en-US" sz="1350" dirty="0">
                <a:solidFill>
                  <a:srgbClr val="1E1A4D"/>
                </a:solidFill>
                <a:latin typeface="Poppins" pitchFamily="34" charset="0"/>
                <a:ea typeface="Poppins" pitchFamily="34" charset="-122"/>
                <a:cs typeface="Poppins" pitchFamily="34" charset="-120"/>
              </a:rPr>
              <a:t>code </a:t>
            </a:r>
            <a:pPr indent="0" marL="0">
              <a:buNone/>
            </a:pPr>
            <a:r>
              <a:rPr lang="en-US" sz="1350" b="1" dirty="0">
                <a:solidFill>
                  <a:srgbClr val="C2477D"/>
                </a:solidFill>
                <a:latin typeface="Poppins" pitchFamily="34" charset="0"/>
                <a:ea typeface="Poppins" pitchFamily="34" charset="-122"/>
                <a:cs typeface="Poppins" pitchFamily="34" charset="-120"/>
              </a:rPr>
              <a:t>kodu</a:t>
            </a:r>
            <a:endParaRPr lang="en-US" sz="1300" dirty="0"/>
          </a:p>
        </p:txBody>
      </p:sp>
      <p:sp>
        <p:nvSpPr>
          <p:cNvPr id="35" name="auto630-bub3"/>
          <p:cNvSpPr/>
          <p:nvPr/>
        </p:nvSpPr>
        <p:spPr>
          <a:xfrm>
            <a:off x="8138160" y="4014216"/>
            <a:ext cx="3611880" cy="786384"/>
          </a:xfrm>
          <a:prstGeom prst="roundRect">
            <a:avLst>
              <a:gd name="adj" fmla="val 23256"/>
            </a:avLst>
          </a:prstGeom>
          <a:solidFill>
            <a:srgbClr val="FFFFFF"/>
          </a:solidFill>
          <a:ln w="15875">
            <a:solidFill>
              <a:srgbClr val="2F9E4F"/>
            </a:solidFill>
            <a:prstDash val="solid"/>
          </a:ln>
          <a:effectLst>
            <a:outerShdw sx="100000" sy="100000" kx="0" ky="0" algn="bl" rotWithShape="0" blurRad="152400" dist="38100" dir="5400000">
              <a:srgbClr val="6C5CE7">
                <a:alpha val="16000"/>
              </a:srgbClr>
            </a:outerShdw>
          </a:effectLst>
        </p:spPr>
      </p:sp>
      <p:sp>
        <p:nvSpPr>
          <p:cNvPr id="36" name="auto630-bubl3"/>
          <p:cNvSpPr txBox="1"/>
          <p:nvPr/>
        </p:nvSpPr>
        <p:spPr>
          <a:xfrm>
            <a:off x="8339328" y="4105656"/>
            <a:ext cx="3108960" cy="201168"/>
          </a:xfrm>
          <a:prstGeom prst="rect">
            <a:avLst/>
          </a:prstGeom>
          <a:noFill/>
          <a:ln/>
        </p:spPr>
        <p:txBody>
          <a:bodyPr wrap="square" lIns="0" tIns="0" rIns="0" bIns="0" rtlCol="0" anchor="t"/>
          <a:lstStyle/>
          <a:p>
            <a:pPr indent="0" marL="0">
              <a:buNone/>
            </a:pPr>
            <a:r>
              <a:rPr lang="en-US" sz="850" b="1" spc="150" kern="0" dirty="0">
                <a:solidFill>
                  <a:srgbClr val="2F9E4F"/>
                </a:solidFill>
                <a:latin typeface="Poppins" pitchFamily="34" charset="0"/>
                <a:ea typeface="Poppins" pitchFamily="34" charset="-122"/>
                <a:cs typeface="Poppins" pitchFamily="34" charset="-120"/>
              </a:rPr>
              <a:t>TANGLISH</a:t>
            </a:r>
            <a:endParaRPr lang="en-US" sz="850" dirty="0"/>
          </a:p>
        </p:txBody>
      </p:sp>
      <p:sp>
        <p:nvSpPr>
          <p:cNvPr id="37" name="auto630-bubt3"/>
          <p:cNvSpPr txBox="1"/>
          <p:nvPr/>
        </p:nvSpPr>
        <p:spPr>
          <a:xfrm>
            <a:off x="8339328" y="4343400"/>
            <a:ext cx="3337560" cy="365760"/>
          </a:xfrm>
          <a:prstGeom prst="rect">
            <a:avLst/>
          </a:prstGeom>
          <a:noFill/>
          <a:ln/>
        </p:spPr>
        <p:txBody>
          <a:bodyPr wrap="square" lIns="0" tIns="0" rIns="0" bIns="0" rtlCol="0" anchor="t"/>
          <a:lstStyle/>
          <a:p>
            <a:pPr indent="0" marL="0">
              <a:buNone/>
            </a:pPr>
            <a:r>
              <a:rPr lang="en-US" sz="1350" b="1" dirty="0">
                <a:solidFill>
                  <a:srgbClr val="2F9E4F"/>
                </a:solidFill>
                <a:latin typeface="Poppins" pitchFamily="34" charset="0"/>
                <a:ea typeface="Poppins" pitchFamily="34" charset="-122"/>
                <a:cs typeface="Poppins" pitchFamily="34" charset="-120"/>
              </a:rPr>
              <a:t>indha </a:t>
            </a:r>
            <a:pPr indent="0" marL="0">
              <a:buNone/>
            </a:pPr>
            <a:r>
              <a:rPr lang="en-US" sz="1350" b="1" dirty="0">
                <a:solidFill>
                  <a:srgbClr val="2F9E4F"/>
                </a:solidFill>
                <a:latin typeface="Poppins" pitchFamily="34" charset="0"/>
                <a:ea typeface="Poppins" pitchFamily="34" charset="-122"/>
                <a:cs typeface="Poppins" pitchFamily="34" charset="-120"/>
              </a:rPr>
              <a:t>code-la </a:t>
            </a:r>
            <a:pPr indent="0" marL="0">
              <a:buNone/>
            </a:pPr>
            <a:r>
              <a:rPr lang="en-US" sz="1350" b="1" dirty="0">
                <a:solidFill>
                  <a:srgbClr val="2F9E4F"/>
                </a:solidFill>
                <a:latin typeface="Poppins" pitchFamily="34" charset="0"/>
                <a:ea typeface="Poppins" pitchFamily="34" charset="-122"/>
                <a:cs typeface="Poppins" pitchFamily="34" charset="-120"/>
              </a:rPr>
              <a:t>enna </a:t>
            </a:r>
            <a:pPr indent="0" marL="0">
              <a:buNone/>
            </a:pPr>
            <a:r>
              <a:rPr lang="en-US" sz="1350" dirty="0">
                <a:solidFill>
                  <a:srgbClr val="1E1A4D"/>
                </a:solidFill>
                <a:latin typeface="Poppins" pitchFamily="34" charset="0"/>
                <a:ea typeface="Poppins" pitchFamily="34" charset="-122"/>
                <a:cs typeface="Poppins" pitchFamily="34" charset="-120"/>
              </a:rPr>
              <a:t>error?</a:t>
            </a:r>
            <a:endParaRPr lang="en-US" sz="1300" dirty="0"/>
          </a:p>
        </p:txBody>
      </p:sp>
      <p:sp>
        <p:nvSpPr>
          <p:cNvPr id="38" name="auto790-bub4"/>
          <p:cNvSpPr/>
          <p:nvPr/>
        </p:nvSpPr>
        <p:spPr>
          <a:xfrm>
            <a:off x="7772400" y="4956048"/>
            <a:ext cx="3611880" cy="786384"/>
          </a:xfrm>
          <a:prstGeom prst="roundRect">
            <a:avLst>
              <a:gd name="adj" fmla="val 23256"/>
            </a:avLst>
          </a:prstGeom>
          <a:solidFill>
            <a:srgbClr val="FFFFFF"/>
          </a:solidFill>
          <a:ln w="15875">
            <a:solidFill>
              <a:srgbClr val="B88300"/>
            </a:solidFill>
            <a:prstDash val="solid"/>
          </a:ln>
          <a:effectLst>
            <a:outerShdw sx="100000" sy="100000" kx="0" ky="0" algn="bl" rotWithShape="0" blurRad="152400" dist="38100" dir="5400000">
              <a:srgbClr val="6C5CE7">
                <a:alpha val="16000"/>
              </a:srgbClr>
            </a:outerShdw>
          </a:effectLst>
        </p:spPr>
      </p:sp>
      <p:sp>
        <p:nvSpPr>
          <p:cNvPr id="39" name="auto790-bubl4"/>
          <p:cNvSpPr txBox="1"/>
          <p:nvPr/>
        </p:nvSpPr>
        <p:spPr>
          <a:xfrm>
            <a:off x="7973568" y="5047488"/>
            <a:ext cx="3108960" cy="201168"/>
          </a:xfrm>
          <a:prstGeom prst="rect">
            <a:avLst/>
          </a:prstGeom>
          <a:noFill/>
          <a:ln/>
        </p:spPr>
        <p:txBody>
          <a:bodyPr wrap="square" lIns="0" tIns="0" rIns="0" bIns="0" rtlCol="0" anchor="t"/>
          <a:lstStyle/>
          <a:p>
            <a:pPr indent="0" marL="0">
              <a:buNone/>
            </a:pPr>
            <a:r>
              <a:rPr lang="en-US" sz="850" b="1" spc="150" kern="0" dirty="0">
                <a:solidFill>
                  <a:srgbClr val="B88300"/>
                </a:solidFill>
                <a:latin typeface="Poppins" pitchFamily="34" charset="0"/>
                <a:ea typeface="Poppins" pitchFamily="34" charset="-122"/>
                <a:cs typeface="Poppins" pitchFamily="34" charset="-120"/>
              </a:rPr>
              <a:t>ODIA-ENGLISH</a:t>
            </a:r>
            <a:endParaRPr lang="en-US" sz="850" dirty="0"/>
          </a:p>
        </p:txBody>
      </p:sp>
      <p:sp>
        <p:nvSpPr>
          <p:cNvPr id="40" name="auto790-bubt4"/>
          <p:cNvSpPr txBox="1"/>
          <p:nvPr/>
        </p:nvSpPr>
        <p:spPr>
          <a:xfrm>
            <a:off x="7973568" y="5285232"/>
            <a:ext cx="3337560" cy="365760"/>
          </a:xfrm>
          <a:prstGeom prst="rect">
            <a:avLst/>
          </a:prstGeom>
          <a:noFill/>
          <a:ln/>
        </p:spPr>
        <p:txBody>
          <a:bodyPr wrap="square" lIns="0" tIns="0" rIns="0" bIns="0" rtlCol="0" anchor="t"/>
          <a:lstStyle/>
          <a:p>
            <a:pPr indent="0" marL="0">
              <a:buNone/>
            </a:pPr>
            <a:r>
              <a:rPr lang="en-US" sz="1350" b="1" dirty="0">
                <a:solidFill>
                  <a:srgbClr val="B88300"/>
                </a:solidFill>
                <a:latin typeface="Poppins" pitchFamily="34" charset="0"/>
                <a:ea typeface="Poppins" pitchFamily="34" charset="-122"/>
                <a:cs typeface="Poppins" pitchFamily="34" charset="-120"/>
              </a:rPr>
              <a:t>ei </a:t>
            </a:r>
            <a:pPr indent="0" marL="0">
              <a:buNone/>
            </a:pPr>
            <a:r>
              <a:rPr lang="en-US" sz="1350" dirty="0">
                <a:solidFill>
                  <a:srgbClr val="1E1A4D"/>
                </a:solidFill>
                <a:latin typeface="Poppins" pitchFamily="34" charset="0"/>
                <a:ea typeface="Poppins" pitchFamily="34" charset="-122"/>
                <a:cs typeface="Poppins" pitchFamily="34" charset="-120"/>
              </a:rPr>
              <a:t>function </a:t>
            </a:r>
            <a:pPr indent="0" marL="0">
              <a:buNone/>
            </a:pPr>
            <a:r>
              <a:rPr lang="en-US" sz="1350" b="1" dirty="0">
                <a:solidFill>
                  <a:srgbClr val="B88300"/>
                </a:solidFill>
                <a:latin typeface="Poppins" pitchFamily="34" charset="0"/>
                <a:ea typeface="Poppins" pitchFamily="34" charset="-122"/>
                <a:cs typeface="Poppins" pitchFamily="34" charset="-120"/>
              </a:rPr>
              <a:t>ta </a:t>
            </a:r>
            <a:pPr indent="0" marL="0">
              <a:buNone/>
            </a:pPr>
            <a:r>
              <a:rPr lang="en-US" sz="1350" dirty="0">
                <a:solidFill>
                  <a:srgbClr val="1E1A4D"/>
                </a:solidFill>
                <a:latin typeface="Poppins" pitchFamily="34" charset="0"/>
                <a:ea typeface="Poppins" pitchFamily="34" charset="-122"/>
                <a:cs typeface="Poppins" pitchFamily="34" charset="-120"/>
              </a:rPr>
              <a:t>fix </a:t>
            </a:r>
            <a:pPr indent="0" marL="0">
              <a:buNone/>
            </a:pPr>
            <a:r>
              <a:rPr lang="en-US" sz="1350" b="1" dirty="0">
                <a:solidFill>
                  <a:srgbClr val="B88300"/>
                </a:solidFill>
                <a:latin typeface="Poppins" pitchFamily="34" charset="0"/>
                <a:ea typeface="Poppins" pitchFamily="34" charset="-122"/>
                <a:cs typeface="Poppins" pitchFamily="34" charset="-120"/>
              </a:rPr>
              <a:t>karida</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48" dur="indefinite" nodeType="mainSeq">
                <p:childTnLst>
                  <p:par>
                    <p:cTn id="49" fill="hold">
                      <p:stCondLst>
                        <p:cond delay="indefinite"/>
                        <p:cond evt="onBegin" delay="0">
                          <p:tn val="48"/>
                        </p:cond>
                      </p:stCondLst>
                      <p:childTnLst>
                        <p:par>
                          <p:cTn id="50" fill="hold">
                            <p:stCondLst>
                              <p:cond delay="0"/>
                            </p:stCondLst>
                            <p:childTnLst>
                              <p:par>
                                <p:cTn id="5" presetID="10" presetClass="entr" presetSubtype="0" fill="hold" grpId="0" nodeType="withEffect">
                                  <p:stCondLst>
                                    <p:cond delay="150"/>
                                  </p:stCondLst>
                                  <p:childTnLst>
                                    <p:set>
                                      <p:cBhvr>
                                        <p:cTn id="3" dur="1" fill="hold">
                                          <p:stCondLst>
                                            <p:cond delay="0"/>
                                          </p:stCondLst>
                                        </p:cTn>
                                        <p:tgtEl>
                                          <p:spTgt spid="26"/>
                                        </p:tgtEl>
                                        <p:attrNameLst>
                                          <p:attrName>style.visibility</p:attrName>
                                        </p:attrNameLst>
                                      </p:cBhvr>
                                      <p:to>
                                        <p:strVal val="visible"/>
                                      </p:to>
                                    </p:set>
                                    <p:animEffect transition="in" filter="fade">
                                      <p:cBhvr>
                                        <p:cTn id="4" dur="450"/>
                                        <p:tgtEl>
                                          <p:spTgt spid="26"/>
                                        </p:tgtEl>
                                      </p:cBhvr>
                                    </p:animEffect>
                                  </p:childTnLst>
                                </p:cTn>
                              </p:par>
                              <p:par>
                                <p:cTn id="8" presetID="10" presetClass="entr" presetSubtype="0" fill="hold" grpId="0" nodeType="withEffect">
                                  <p:stCondLst>
                                    <p:cond delay="15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50"/>
                                        <p:tgtEl>
                                          <p:spTgt spid="27"/>
                                        </p:tgtEl>
                                      </p:cBhvr>
                                    </p:animEffect>
                                  </p:childTnLst>
                                </p:cTn>
                              </p:par>
                              <p:par>
                                <p:cTn id="11" presetID="10" presetClass="entr" presetSubtype="0" fill="hold" grpId="0" nodeType="withEffect">
                                  <p:stCondLst>
                                    <p:cond delay="15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450"/>
                                        <p:tgtEl>
                                          <p:spTgt spid="28"/>
                                        </p:tgtEl>
                                      </p:cBhvr>
                                    </p:animEffect>
                                  </p:childTnLst>
                                </p:cTn>
                              </p:par>
                              <p:par>
                                <p:cTn id="14" presetID="10" presetClass="entr" presetSubtype="0" fill="hold" grpId="0" nodeType="withEffect">
                                  <p:stCondLst>
                                    <p:cond delay="31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450"/>
                                        <p:tgtEl>
                                          <p:spTgt spid="29"/>
                                        </p:tgtEl>
                                      </p:cBhvr>
                                    </p:animEffect>
                                  </p:childTnLst>
                                </p:cTn>
                              </p:par>
                              <p:par>
                                <p:cTn id="17" presetID="10" presetClass="entr" presetSubtype="0" fill="hold" grpId="0" nodeType="withEffect">
                                  <p:stCondLst>
                                    <p:cond delay="31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450"/>
                                        <p:tgtEl>
                                          <p:spTgt spid="30"/>
                                        </p:tgtEl>
                                      </p:cBhvr>
                                    </p:animEffect>
                                  </p:childTnLst>
                                </p:cTn>
                              </p:par>
                              <p:par>
                                <p:cTn id="20" presetID="10" presetClass="entr" presetSubtype="0" fill="hold" grpId="0" nodeType="withEffect">
                                  <p:stCondLst>
                                    <p:cond delay="31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450"/>
                                        <p:tgtEl>
                                          <p:spTgt spid="31"/>
                                        </p:tgtEl>
                                      </p:cBhvr>
                                    </p:animEffect>
                                  </p:childTnLst>
                                </p:cTn>
                              </p:par>
                              <p:par>
                                <p:cTn id="23" presetID="10" presetClass="entr" presetSubtype="0" fill="hold" grpId="0" nodeType="withEffect">
                                  <p:stCondLst>
                                    <p:cond delay="47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50"/>
                                        <p:tgtEl>
                                          <p:spTgt spid="32"/>
                                        </p:tgtEl>
                                      </p:cBhvr>
                                    </p:animEffect>
                                  </p:childTnLst>
                                </p:cTn>
                              </p:par>
                              <p:par>
                                <p:cTn id="26" presetID="10" presetClass="entr" presetSubtype="0" fill="hold" grpId="0" nodeType="withEffect">
                                  <p:stCondLst>
                                    <p:cond delay="47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450"/>
                                        <p:tgtEl>
                                          <p:spTgt spid="33"/>
                                        </p:tgtEl>
                                      </p:cBhvr>
                                    </p:animEffect>
                                  </p:childTnLst>
                                </p:cTn>
                              </p:par>
                              <p:par>
                                <p:cTn id="29" presetID="10" presetClass="entr" presetSubtype="0" fill="hold" grpId="0" nodeType="withEffect">
                                  <p:stCondLst>
                                    <p:cond delay="47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450"/>
                                        <p:tgtEl>
                                          <p:spTgt spid="34"/>
                                        </p:tgtEl>
                                      </p:cBhvr>
                                    </p:animEffect>
                                  </p:childTnLst>
                                </p:cTn>
                              </p:par>
                              <p:par>
                                <p:cTn id="32" presetID="10" presetClass="entr" presetSubtype="0" fill="hold" grpId="0" nodeType="withEffect">
                                  <p:stCondLst>
                                    <p:cond delay="63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450"/>
                                        <p:tgtEl>
                                          <p:spTgt spid="35"/>
                                        </p:tgtEl>
                                      </p:cBhvr>
                                    </p:animEffect>
                                  </p:childTnLst>
                                </p:cTn>
                              </p:par>
                              <p:par>
                                <p:cTn id="35" presetID="10" presetClass="entr" presetSubtype="0" fill="hold" grpId="0" nodeType="withEffect">
                                  <p:stCondLst>
                                    <p:cond delay="63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450"/>
                                        <p:tgtEl>
                                          <p:spTgt spid="36"/>
                                        </p:tgtEl>
                                      </p:cBhvr>
                                    </p:animEffect>
                                  </p:childTnLst>
                                </p:cTn>
                              </p:par>
                              <p:par>
                                <p:cTn id="38" presetID="10" presetClass="entr" presetSubtype="0" fill="hold" grpId="0" nodeType="withEffect">
                                  <p:stCondLst>
                                    <p:cond delay="63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450"/>
                                        <p:tgtEl>
                                          <p:spTgt spid="37"/>
                                        </p:tgtEl>
                                      </p:cBhvr>
                                    </p:animEffect>
                                  </p:childTnLst>
                                </p:cTn>
                              </p:par>
                              <p:par>
                                <p:cTn id="41" presetID="10" presetClass="entr" presetSubtype="0" fill="hold" grpId="0" nodeType="withEffect">
                                  <p:stCondLst>
                                    <p:cond delay="79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450"/>
                                        <p:tgtEl>
                                          <p:spTgt spid="38"/>
                                        </p:tgtEl>
                                      </p:cBhvr>
                                    </p:animEffect>
                                  </p:childTnLst>
                                </p:cTn>
                              </p:par>
                              <p:par>
                                <p:cTn id="44" presetID="10" presetClass="entr" presetSubtype="0" fill="hold" grpId="0" nodeType="withEffect">
                                  <p:stCondLst>
                                    <p:cond delay="79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450"/>
                                        <p:tgtEl>
                                          <p:spTgt spid="39"/>
                                        </p:tgtEl>
                                      </p:cBhvr>
                                    </p:animEffect>
                                  </p:childTnLst>
                                </p:cTn>
                              </p:par>
                              <p:par>
                                <p:cTn id="47" presetID="10" presetClass="entr" presetSubtype="0" fill="hold" grpId="0" nodeType="withEffect">
                                  <p:stCondLst>
                                    <p:cond delay="79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4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EAFB"/>
        </a:solidFill>
      </p:bgPr>
    </p:bg>
    <p:spTree>
      <p:nvGrpSpPr>
        <p:cNvPr id="1" name=""/>
        <p:cNvGrpSpPr/>
        <p:nvPr/>
      </p:nvGrpSpPr>
      <p:grpSpPr>
        <a:xfrm>
          <a:off x="0" y="0"/>
          <a:ext cx="0" cy="0"/>
          <a:chOff x="0" y="0"/>
          <a:chExt cx="0" cy="0"/>
        </a:xfrm>
      </p:grpSpPr>
      <p:pic>
        <p:nvPicPr>
          <p:cNvPr id="2" name="!!bg" descr="/home/claude/pitch/a/bg.jpg">    </p:cNvPr>
          <p:cNvPicPr>
            <a:picLocks noChangeAspect="1"/>
          </p:cNvPicPr>
          <p:nvPr/>
        </p:nvPicPr>
        <p:blipFill>
          <a:blip r:embed="rId1"/>
          <a:stretch>
            <a:fillRect/>
          </a:stretch>
        </p:blipFill>
        <p:spPr>
          <a:xfrm>
            <a:off x="0" y="0"/>
            <a:ext cx="12191695" cy="6858000"/>
          </a:xfrm>
          <a:prstGeom prst="rect">
            <a:avLst/>
          </a:prstGeom>
        </p:spPr>
      </p:pic>
      <p:sp>
        <p:nvSpPr>
          <p:cNvPr id="3" name="!!frame"/>
          <p:cNvSpPr/>
          <p:nvPr/>
        </p:nvSpPr>
        <p:spPr>
          <a:xfrm>
            <a:off x="182880" y="182880"/>
            <a:ext cx="11823192" cy="6492240"/>
          </a:xfrm>
          <a:prstGeom prst="roundRect">
            <a:avLst>
              <a:gd name="adj" fmla="val 2817"/>
            </a:avLst>
          </a:prstGeom>
          <a:ln w="28575">
            <a:solidFill>
              <a:srgbClr val="7F79B6"/>
            </a:solidFill>
            <a:prstDash val="solid"/>
          </a:ln>
        </p:spPr>
      </p:sp>
      <p:pic>
        <p:nvPicPr>
          <p:cNvPr id="4" name="!!logo-jain" descr="/home/claude/pitch/a/logo_jain.png">    </p:cNvPr>
          <p:cNvPicPr>
            <a:picLocks noChangeAspect="1"/>
          </p:cNvPicPr>
          <p:nvPr/>
        </p:nvPicPr>
        <p:blipFill>
          <a:blip r:embed="rId2"/>
          <a:stretch>
            <a:fillRect/>
          </a:stretch>
        </p:blipFill>
        <p:spPr>
          <a:xfrm>
            <a:off x="411480" y="329184"/>
            <a:ext cx="1316736" cy="384048"/>
          </a:xfrm>
          <a:prstGeom prst="rect">
            <a:avLst/>
          </a:prstGeom>
        </p:spPr>
      </p:pic>
      <p:pic>
        <p:nvPicPr>
          <p:cNvPr id="5" name="!!logo-avi" descr="/home/claude/pitch/a/logo_avi.png">    </p:cNvPr>
          <p:cNvPicPr>
            <a:picLocks noChangeAspect="1"/>
          </p:cNvPicPr>
          <p:nvPr/>
        </p:nvPicPr>
        <p:blipFill>
          <a:blip r:embed="rId3"/>
          <a:stretch>
            <a:fillRect/>
          </a:stretch>
        </p:blipFill>
        <p:spPr>
          <a:xfrm>
            <a:off x="5304892" y="320040"/>
            <a:ext cx="1581912" cy="393192"/>
          </a:xfrm>
          <a:prstGeom prst="rect">
            <a:avLst/>
          </a:prstGeom>
        </p:spPr>
      </p:pic>
      <p:pic>
        <p:nvPicPr>
          <p:cNvPr id="6" name="!!logo-fet" descr="/home/claude/pitch/a/logo_fet.png">    </p:cNvPr>
          <p:cNvPicPr>
            <a:picLocks noChangeAspect="1"/>
          </p:cNvPicPr>
          <p:nvPr/>
        </p:nvPicPr>
        <p:blipFill>
          <a:blip r:embed="rId4"/>
          <a:stretch>
            <a:fillRect/>
          </a:stretch>
        </p:blipFill>
        <p:spPr>
          <a:xfrm>
            <a:off x="10771632" y="274320"/>
            <a:ext cx="1005840" cy="457200"/>
          </a:xfrm>
          <a:prstGeom prst="rect">
            <a:avLst/>
          </a:prstGeom>
        </p:spPr>
      </p:pic>
      <p:sp>
        <p:nvSpPr>
          <p:cNvPr id="7" name="!!title"/>
          <p:cNvSpPr txBox="1"/>
          <p:nvPr/>
        </p:nvSpPr>
        <p:spPr>
          <a:xfrm>
            <a:off x="548640" y="841248"/>
            <a:ext cx="11094415" cy="566928"/>
          </a:xfrm>
          <a:prstGeom prst="rect">
            <a:avLst/>
          </a:prstGeom>
          <a:noFill/>
          <a:ln/>
        </p:spPr>
        <p:txBody>
          <a:bodyPr wrap="square" lIns="0" tIns="0" rIns="0" bIns="0" rtlCol="0" anchor="ctr"/>
          <a:lstStyle/>
          <a:p>
            <a:pPr algn="ctr" indent="0" marL="0">
              <a:buNone/>
            </a:pPr>
            <a:r>
              <a:rPr lang="en-US" sz="3000" b="1" dirty="0">
                <a:solidFill>
                  <a:srgbClr val="1E1A4D"/>
                </a:solidFill>
                <a:latin typeface="Lora" pitchFamily="34" charset="0"/>
                <a:ea typeface="Lora" pitchFamily="34" charset="-122"/>
                <a:cs typeface="Lora" pitchFamily="34" charset="-120"/>
              </a:rPr>
              <a:t>Problem Statement</a:t>
            </a:r>
            <a:endParaRPr lang="en-US" sz="3000" dirty="0"/>
          </a:p>
        </p:txBody>
      </p:sp>
      <p:sp>
        <p:nvSpPr>
          <p:cNvPr id="8" name="!!sub"/>
          <p:cNvSpPr txBox="1"/>
          <p:nvPr/>
        </p:nvSpPr>
        <p:spPr>
          <a:xfrm>
            <a:off x="1097280" y="1389888"/>
            <a:ext cx="9997135" cy="365760"/>
          </a:xfrm>
          <a:prstGeom prst="rect">
            <a:avLst/>
          </a:prstGeom>
          <a:noFill/>
          <a:ln/>
        </p:spPr>
        <p:txBody>
          <a:bodyPr wrap="square" lIns="0" tIns="0" rIns="0" bIns="0" rtlCol="0" anchor="ctr"/>
          <a:lstStyle/>
          <a:p>
            <a:pPr algn="ctr" indent="0" marL="0">
              <a:buNone/>
            </a:pPr>
            <a:r>
              <a:rPr lang="en-US" sz="1300" dirty="0">
                <a:solidFill>
                  <a:srgbClr val="6C5CE7"/>
                </a:solidFill>
                <a:latin typeface="Poppins" pitchFamily="34" charset="0"/>
                <a:ea typeface="Poppins" pitchFamily="34" charset="-122"/>
                <a:cs typeface="Poppins" pitchFamily="34" charset="-120"/>
              </a:rPr>
              <a:t>AI coding assistants are tested in clean English. Indians ask them in mixed languages.</a:t>
            </a:r>
            <a:endParaRPr lang="en-US" sz="1300" dirty="0"/>
          </a:p>
        </p:txBody>
      </p:sp>
      <p:sp>
        <p:nvSpPr>
          <p:cNvPr id="9" name="!!foot-l"/>
          <p:cNvSpPr txBox="1"/>
          <p:nvPr/>
        </p:nvSpPr>
        <p:spPr>
          <a:xfrm>
            <a:off x="457200" y="6336792"/>
            <a:ext cx="3108960" cy="219456"/>
          </a:xfrm>
          <a:prstGeom prst="rect">
            <a:avLst/>
          </a:prstGeom>
          <a:noFill/>
          <a:ln/>
        </p:spPr>
        <p:txBody>
          <a:bodyPr wrap="square" lIns="0" tIns="0" rIns="0" bIns="0" rtlCol="0" anchor="t"/>
          <a:lstStyle/>
          <a:p>
            <a:pPr indent="0" marL="0">
              <a:buNone/>
            </a:pPr>
            <a:r>
              <a:rPr lang="en-US" sz="900" dirty="0">
                <a:solidFill>
                  <a:srgbClr val="8D88B5"/>
                </a:solidFill>
                <a:latin typeface="Poppins" pitchFamily="34" charset="0"/>
                <a:ea typeface="Poppins" pitchFamily="34" charset="-122"/>
                <a:cs typeface="Poppins" pitchFamily="34" charset="-120"/>
              </a:rPr>
              <a:t>MixCheck  ·  Team El Rata Alada</a:t>
            </a:r>
            <a:endParaRPr lang="en-US" sz="900" dirty="0"/>
          </a:p>
        </p:txBody>
      </p:sp>
      <p:sp>
        <p:nvSpPr>
          <p:cNvPr id="10" name="!!btn-nav-1">
            <a:hlinkClick r:id="rId5" action="ppaction://hlinksldjump"/>
          </p:cNvPr>
          <p:cNvSpPr/>
          <p:nvPr/>
        </p:nvSpPr>
        <p:spPr>
          <a:xfrm>
            <a:off x="4628236"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1</a:t>
            </a:r>
            <a:endParaRPr lang="en-US" sz="750" dirty="0"/>
          </a:p>
        </p:txBody>
      </p:sp>
      <p:sp>
        <p:nvSpPr>
          <p:cNvPr id="11" name="!!btn-nav-2">
            <a:hlinkClick r:id="rId6" action="ppaction://hlinksldjump"/>
          </p:cNvPr>
          <p:cNvSpPr/>
          <p:nvPr/>
        </p:nvSpPr>
        <p:spPr>
          <a:xfrm>
            <a:off x="4929988" y="6336792"/>
            <a:ext cx="219456" cy="219456"/>
          </a:xfrm>
          <a:prstGeom prst="ellipse">
            <a:avLst/>
          </a:prstGeom>
          <a:solidFill>
            <a:srgbClr val="6C5CE7"/>
          </a:solidFill>
          <a:ln w="9525">
            <a:solidFill>
              <a:srgbClr val="6C5CE7"/>
            </a:solid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2</a:t>
            </a:r>
            <a:endParaRPr lang="en-US" sz="750" dirty="0"/>
          </a:p>
        </p:txBody>
      </p:sp>
      <p:sp>
        <p:nvSpPr>
          <p:cNvPr id="12" name="!!btn-nav-3">
            <a:hlinkClick r:id="rId7" action="ppaction://hlinksldjump"/>
          </p:cNvPr>
          <p:cNvSpPr/>
          <p:nvPr/>
        </p:nvSpPr>
        <p:spPr>
          <a:xfrm>
            <a:off x="5231740"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3</a:t>
            </a:r>
            <a:endParaRPr lang="en-US" sz="750" dirty="0"/>
          </a:p>
        </p:txBody>
      </p:sp>
      <p:sp>
        <p:nvSpPr>
          <p:cNvPr id="13" name="!!btn-nav-4">
            <a:hlinkClick r:id="rId8" action="ppaction://hlinksldjump"/>
          </p:cNvPr>
          <p:cNvSpPr/>
          <p:nvPr/>
        </p:nvSpPr>
        <p:spPr>
          <a:xfrm>
            <a:off x="5533492"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4</a:t>
            </a:r>
            <a:endParaRPr lang="en-US" sz="750" dirty="0"/>
          </a:p>
        </p:txBody>
      </p:sp>
      <p:sp>
        <p:nvSpPr>
          <p:cNvPr id="14" name="!!btn-nav-5">
            <a:hlinkClick r:id="rId9" action="ppaction://hlinksldjump"/>
          </p:cNvPr>
          <p:cNvSpPr/>
          <p:nvPr/>
        </p:nvSpPr>
        <p:spPr>
          <a:xfrm>
            <a:off x="5835244"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5</a:t>
            </a:r>
            <a:endParaRPr lang="en-US" sz="750" dirty="0"/>
          </a:p>
        </p:txBody>
      </p:sp>
      <p:sp>
        <p:nvSpPr>
          <p:cNvPr id="15" name="!!btn-nav-6">
            <a:hlinkClick r:id="rId10" action="ppaction://hlinksldjump"/>
          </p:cNvPr>
          <p:cNvSpPr/>
          <p:nvPr/>
        </p:nvSpPr>
        <p:spPr>
          <a:xfrm>
            <a:off x="6136996"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6</a:t>
            </a:r>
            <a:endParaRPr lang="en-US" sz="750" dirty="0"/>
          </a:p>
        </p:txBody>
      </p:sp>
      <p:sp>
        <p:nvSpPr>
          <p:cNvPr id="16" name="!!btn-nav-7">
            <a:hlinkClick r:id="rId11" action="ppaction://hlinksldjump"/>
          </p:cNvPr>
          <p:cNvSpPr/>
          <p:nvPr/>
        </p:nvSpPr>
        <p:spPr>
          <a:xfrm>
            <a:off x="6438748"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7</a:t>
            </a:r>
            <a:endParaRPr lang="en-US" sz="750" dirty="0"/>
          </a:p>
        </p:txBody>
      </p:sp>
      <p:sp>
        <p:nvSpPr>
          <p:cNvPr id="17" name="!!btn-nav-8">
            <a:hlinkClick r:id="rId12" action="ppaction://hlinksldjump"/>
          </p:cNvPr>
          <p:cNvSpPr/>
          <p:nvPr/>
        </p:nvSpPr>
        <p:spPr>
          <a:xfrm>
            <a:off x="6740500"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8</a:t>
            </a:r>
            <a:endParaRPr lang="en-US" sz="750" dirty="0"/>
          </a:p>
        </p:txBody>
      </p:sp>
      <p:sp>
        <p:nvSpPr>
          <p:cNvPr id="18" name="!!btn-nav-9">
            <a:hlinkClick r:id="rId13" action="ppaction://hlinksldjump"/>
          </p:cNvPr>
          <p:cNvSpPr/>
          <p:nvPr/>
        </p:nvSpPr>
        <p:spPr>
          <a:xfrm>
            <a:off x="7042252"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9</a:t>
            </a:r>
            <a:endParaRPr lang="en-US" sz="750" dirty="0"/>
          </a:p>
        </p:txBody>
      </p:sp>
      <p:sp>
        <p:nvSpPr>
          <p:cNvPr id="19" name="!!btn-nav-10">
            <a:hlinkClick r:id="rId14" action="ppaction://hlinksldjump"/>
          </p:cNvPr>
          <p:cNvSpPr/>
          <p:nvPr/>
        </p:nvSpPr>
        <p:spPr>
          <a:xfrm>
            <a:off x="7344004"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10</a:t>
            </a:r>
            <a:endParaRPr lang="en-US" sz="750" dirty="0"/>
          </a:p>
        </p:txBody>
      </p:sp>
      <p:sp>
        <p:nvSpPr>
          <p:cNvPr id="20" name="!!btn-live">
            <a:hlinkClick r:id="rId15"/>
          </p:cNvPr>
          <p:cNvSpPr/>
          <p:nvPr/>
        </p:nvSpPr>
        <p:spPr>
          <a:xfrm>
            <a:off x="8503920" y="6309360"/>
            <a:ext cx="3246120" cy="274320"/>
          </a:xfrm>
          <a:prstGeom prst="rect">
            <a:avLst/>
          </a:prstGeom>
          <a:noFill/>
          <a:ln/>
        </p:spPr>
        <p:txBody>
          <a:bodyPr wrap="square" lIns="0" tIns="0" rIns="0" bIns="0" rtlCol="0" anchor="ctr"/>
          <a:lstStyle/>
          <a:p>
            <a:pPr algn="r" indent="0" marL="0">
              <a:buNone/>
            </a:pPr>
            <a:r>
              <a:rPr lang="en-US" sz="900" b="1" dirty="0">
                <a:solidFill>
                  <a:srgbClr val="6C5CE7"/>
                </a:solidFill>
                <a:latin typeface="Poppins" pitchFamily="34" charset="0"/>
                <a:ea typeface="Poppins" pitchFamily="34" charset="-122"/>
                <a:cs typeface="Poppins" pitchFamily="34" charset="-120"/>
              </a:rPr>
              <a:t>● Live: mixcheck-elrata.streamlit.app</a:t>
            </a:r>
            <a:endParaRPr lang="en-US" sz="900" dirty="0"/>
          </a:p>
        </p:txBody>
      </p:sp>
      <p:sp>
        <p:nvSpPr>
          <p:cNvPr id="21" name="p-stat"/>
          <p:cNvSpPr/>
          <p:nvPr/>
        </p:nvSpPr>
        <p:spPr>
          <a:xfrm>
            <a:off x="548640" y="1965960"/>
            <a:ext cx="3703320" cy="2240280"/>
          </a:xfrm>
          <a:prstGeom prst="roundRect">
            <a:avLst>
              <a:gd name="adj" fmla="val 5714"/>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22" name="Text 16"/>
          <p:cNvSpPr txBox="1"/>
          <p:nvPr/>
        </p:nvSpPr>
        <p:spPr>
          <a:xfrm>
            <a:off x="804672" y="2103120"/>
            <a:ext cx="3291840" cy="777240"/>
          </a:xfrm>
          <a:prstGeom prst="rect">
            <a:avLst/>
          </a:prstGeom>
          <a:noFill/>
          <a:ln/>
        </p:spPr>
        <p:txBody>
          <a:bodyPr wrap="square" lIns="0" tIns="0" rIns="0" bIns="0" rtlCol="0" anchor="t"/>
          <a:lstStyle/>
          <a:p>
            <a:pPr indent="0" marL="0">
              <a:buNone/>
            </a:pPr>
            <a:r>
              <a:rPr lang="en-US" sz="4600" b="1" dirty="0">
                <a:solidFill>
                  <a:srgbClr val="D97706"/>
                </a:solidFill>
                <a:latin typeface="Lora" pitchFamily="34" charset="0"/>
                <a:ea typeface="Lora" pitchFamily="34" charset="-122"/>
                <a:cs typeface="Lora" pitchFamily="34" charset="-120"/>
              </a:rPr>
              <a:t>314.9M</a:t>
            </a:r>
            <a:endParaRPr lang="en-US" sz="4600" dirty="0"/>
          </a:p>
        </p:txBody>
      </p:sp>
      <p:sp>
        <p:nvSpPr>
          <p:cNvPr id="23" name="Text 17"/>
          <p:cNvSpPr txBox="1"/>
          <p:nvPr/>
        </p:nvSpPr>
        <p:spPr>
          <a:xfrm>
            <a:off x="804672" y="2880360"/>
            <a:ext cx="3291840" cy="329184"/>
          </a:xfrm>
          <a:prstGeom prst="rect">
            <a:avLst/>
          </a:prstGeom>
          <a:noFill/>
          <a:ln/>
        </p:spPr>
        <p:txBody>
          <a:bodyPr wrap="square" lIns="0" tIns="0" rIns="0" bIns="0" rtlCol="0" anchor="t"/>
          <a:lstStyle/>
          <a:p>
            <a:pPr indent="0" marL="0">
              <a:buNone/>
            </a:pPr>
            <a:r>
              <a:rPr lang="en-US" sz="1500" b="1" dirty="0">
                <a:solidFill>
                  <a:srgbClr val="1E1A4D"/>
                </a:solidFill>
                <a:latin typeface="Poppins" pitchFamily="34" charset="0"/>
                <a:ea typeface="Poppins" pitchFamily="34" charset="-122"/>
                <a:cs typeface="Poppins" pitchFamily="34" charset="-120"/>
              </a:rPr>
              <a:t>Indians are bilingual</a:t>
            </a:r>
            <a:endParaRPr lang="en-US" sz="1500" dirty="0"/>
          </a:p>
        </p:txBody>
      </p:sp>
      <p:sp>
        <p:nvSpPr>
          <p:cNvPr id="24" name="Text 18"/>
          <p:cNvSpPr txBox="1"/>
          <p:nvPr/>
        </p:nvSpPr>
        <p:spPr>
          <a:xfrm>
            <a:off x="804672" y="3200400"/>
            <a:ext cx="3291840" cy="228600"/>
          </a:xfrm>
          <a:prstGeom prst="rect">
            <a:avLst/>
          </a:prstGeom>
          <a:noFill/>
          <a:ln/>
        </p:spPr>
        <p:txBody>
          <a:bodyPr wrap="square" lIns="0" tIns="0" rIns="0" bIns="0" rtlCol="0" anchor="t"/>
          <a:lstStyle/>
          <a:p>
            <a:pPr indent="0" marL="0">
              <a:buNone/>
            </a:pPr>
            <a:r>
              <a:rPr lang="en-US" sz="950" dirty="0">
                <a:solidFill>
                  <a:srgbClr val="8D88B5"/>
                </a:solidFill>
                <a:latin typeface="Poppins" pitchFamily="34" charset="0"/>
                <a:ea typeface="Poppins" pitchFamily="34" charset="-122"/>
                <a:cs typeface="Poppins" pitchFamily="34" charset="-120"/>
              </a:rPr>
              <a:t>Census of India, 2011</a:t>
            </a:r>
            <a:endParaRPr lang="en-US" sz="950" dirty="0"/>
          </a:p>
        </p:txBody>
      </p:sp>
      <p:sp>
        <p:nvSpPr>
          <p:cNvPr id="25" name="Text 19"/>
          <p:cNvSpPr txBox="1"/>
          <p:nvPr/>
        </p:nvSpPr>
        <p:spPr>
          <a:xfrm>
            <a:off x="804672" y="3493008"/>
            <a:ext cx="3246120" cy="640080"/>
          </a:xfrm>
          <a:prstGeom prst="rect">
            <a:avLst/>
          </a:prstGeom>
          <a:noFill/>
          <a:ln/>
        </p:spPr>
        <p:txBody>
          <a:bodyPr wrap="square" lIns="0" tIns="0" rIns="0" bIns="0" rtlCol="0" anchor="t"/>
          <a:lstStyle/>
          <a:p>
            <a:pPr indent="0" marL="0">
              <a:buNone/>
            </a:pPr>
            <a:r>
              <a:rPr lang="en-US" sz="1100" dirty="0">
                <a:solidFill>
                  <a:srgbClr val="5B577E"/>
                </a:solidFill>
                <a:latin typeface="Poppins" pitchFamily="34" charset="0"/>
                <a:ea typeface="Poppins" pitchFamily="34" charset="-122"/>
                <a:cs typeface="Poppins" pitchFamily="34" charset="-120"/>
              </a:rPr>
              <a:t>Many think and type in mixed languages, including when they ask AI to write code.</a:t>
            </a:r>
            <a:endParaRPr lang="en-US" sz="1100" dirty="0"/>
          </a:p>
        </p:txBody>
      </p:sp>
      <p:sp>
        <p:nvSpPr>
          <p:cNvPr id="26" name="card-3"/>
          <p:cNvSpPr/>
          <p:nvPr/>
        </p:nvSpPr>
        <p:spPr>
          <a:xfrm>
            <a:off x="548640" y="4343400"/>
            <a:ext cx="3703320" cy="804672"/>
          </a:xfrm>
          <a:prstGeom prst="roundRect">
            <a:avLst>
              <a:gd name="adj" fmla="val 15909"/>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27" name="dot-4"/>
          <p:cNvSpPr/>
          <p:nvPr/>
        </p:nvSpPr>
        <p:spPr>
          <a:xfrm>
            <a:off x="713232" y="4507992"/>
            <a:ext cx="475488" cy="475488"/>
          </a:xfrm>
          <a:prstGeom prst="ellipse">
            <a:avLst/>
          </a:prstGeom>
          <a:solidFill>
            <a:srgbClr val="6C5CE7"/>
          </a:solidFill>
          <a:ln/>
        </p:spPr>
      </p:sp>
      <p:pic>
        <p:nvPicPr>
          <p:cNvPr id="28" name="icon-5" descr="/home/claude/pitch/a/ic/FaFlask_w.png">    </p:cNvPr>
          <p:cNvPicPr>
            <a:picLocks noChangeAspect="1"/>
          </p:cNvPicPr>
          <p:nvPr/>
        </p:nvPicPr>
        <p:blipFill>
          <a:blip r:embed="rId16"/>
          <a:stretch>
            <a:fillRect/>
          </a:stretch>
        </p:blipFill>
        <p:spPr>
          <a:xfrm>
            <a:off x="836859" y="4631619"/>
            <a:ext cx="228234" cy="228234"/>
          </a:xfrm>
          <a:prstGeom prst="rect">
            <a:avLst/>
          </a:prstGeom>
        </p:spPr>
      </p:pic>
      <p:sp>
        <p:nvSpPr>
          <p:cNvPr id="29" name="Text 22"/>
          <p:cNvSpPr txBox="1"/>
          <p:nvPr/>
        </p:nvSpPr>
        <p:spPr>
          <a:xfrm>
            <a:off x="1325880" y="4434840"/>
            <a:ext cx="2834640" cy="274320"/>
          </a:xfrm>
          <a:prstGeom prst="rect">
            <a:avLst/>
          </a:prstGeom>
          <a:noFill/>
          <a:ln/>
        </p:spPr>
        <p:txBody>
          <a:bodyPr wrap="square" lIns="0" tIns="0" rIns="0" bIns="0" rtlCol="0" anchor="t"/>
          <a:lstStyle/>
          <a:p>
            <a:pPr indent="0" marL="0">
              <a:buNone/>
            </a:pPr>
            <a:r>
              <a:rPr lang="en-US" sz="1250" b="1" dirty="0">
                <a:solidFill>
                  <a:srgbClr val="1E1A4D"/>
                </a:solidFill>
                <a:latin typeface="Poppins" pitchFamily="34" charset="0"/>
                <a:ea typeface="Poppins" pitchFamily="34" charset="-122"/>
                <a:cs typeface="Poppins" pitchFamily="34" charset="-120"/>
              </a:rPr>
              <a:t>Tested in English</a:t>
            </a:r>
            <a:endParaRPr lang="en-US" sz="1250" dirty="0"/>
          </a:p>
        </p:txBody>
      </p:sp>
      <p:sp>
        <p:nvSpPr>
          <p:cNvPr id="30" name="Text 23"/>
          <p:cNvSpPr txBox="1"/>
          <p:nvPr/>
        </p:nvSpPr>
        <p:spPr>
          <a:xfrm>
            <a:off x="1325880" y="4709160"/>
            <a:ext cx="2834640" cy="411480"/>
          </a:xfrm>
          <a:prstGeom prst="rect">
            <a:avLst/>
          </a:prstGeom>
          <a:noFill/>
          <a:ln/>
        </p:spPr>
        <p:txBody>
          <a:bodyPr wrap="square" lIns="0" tIns="0" rIns="0" bIns="0" rtlCol="0" anchor="t"/>
          <a:lstStyle/>
          <a:p>
            <a:pPr indent="0" marL="0">
              <a:buNone/>
            </a:pPr>
            <a:r>
              <a:rPr lang="en-US" sz="950" dirty="0">
                <a:solidFill>
                  <a:srgbClr val="5B577E"/>
                </a:solidFill>
                <a:latin typeface="Poppins" pitchFamily="34" charset="0"/>
                <a:ea typeface="Poppins" pitchFamily="34" charset="-122"/>
                <a:cs typeface="Poppins" pitchFamily="34" charset="-120"/>
              </a:rPr>
              <a:t>HumanEval-XL covers 23 languages. None is Indian, none mixed.</a:t>
            </a:r>
            <a:endParaRPr lang="en-US" sz="950" dirty="0"/>
          </a:p>
        </p:txBody>
      </p:sp>
      <p:sp>
        <p:nvSpPr>
          <p:cNvPr id="31" name="card-6"/>
          <p:cNvSpPr/>
          <p:nvPr/>
        </p:nvSpPr>
        <p:spPr>
          <a:xfrm>
            <a:off x="548640" y="5257800"/>
            <a:ext cx="3703320" cy="804672"/>
          </a:xfrm>
          <a:prstGeom prst="roundRect">
            <a:avLst>
              <a:gd name="adj" fmla="val 15909"/>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32" name="dot-7"/>
          <p:cNvSpPr/>
          <p:nvPr/>
        </p:nvSpPr>
        <p:spPr>
          <a:xfrm>
            <a:off x="713232" y="5422392"/>
            <a:ext cx="475488" cy="475488"/>
          </a:xfrm>
          <a:prstGeom prst="ellipse">
            <a:avLst/>
          </a:prstGeom>
          <a:solidFill>
            <a:srgbClr val="E8456B"/>
          </a:solidFill>
          <a:ln/>
        </p:spPr>
      </p:sp>
      <p:pic>
        <p:nvPicPr>
          <p:cNvPr id="33" name="icon-8" descr="/home/claude/pitch/a/ic/FaEye_w.png">    </p:cNvPr>
          <p:cNvPicPr>
            <a:picLocks noChangeAspect="1"/>
          </p:cNvPicPr>
          <p:nvPr/>
        </p:nvPicPr>
        <p:blipFill>
          <a:blip r:embed="rId17"/>
          <a:stretch>
            <a:fillRect/>
          </a:stretch>
        </p:blipFill>
        <p:spPr>
          <a:xfrm>
            <a:off x="836859" y="5546019"/>
            <a:ext cx="228234" cy="228234"/>
          </a:xfrm>
          <a:prstGeom prst="rect">
            <a:avLst/>
          </a:prstGeom>
        </p:spPr>
      </p:pic>
      <p:sp>
        <p:nvSpPr>
          <p:cNvPr id="34" name="Text 26"/>
          <p:cNvSpPr txBox="1"/>
          <p:nvPr/>
        </p:nvSpPr>
        <p:spPr>
          <a:xfrm>
            <a:off x="1325880" y="5349240"/>
            <a:ext cx="2834640" cy="274320"/>
          </a:xfrm>
          <a:prstGeom prst="rect">
            <a:avLst/>
          </a:prstGeom>
          <a:noFill/>
          <a:ln/>
        </p:spPr>
        <p:txBody>
          <a:bodyPr wrap="square" lIns="0" tIns="0" rIns="0" bIns="0" rtlCol="0" anchor="t"/>
          <a:lstStyle/>
          <a:p>
            <a:pPr indent="0" marL="0">
              <a:buNone/>
            </a:pPr>
            <a:r>
              <a:rPr lang="en-US" sz="1250" b="1" dirty="0">
                <a:solidFill>
                  <a:srgbClr val="1E1A4D"/>
                </a:solidFill>
                <a:latin typeface="Poppins" pitchFamily="34" charset="0"/>
                <a:ea typeface="Poppins" pitchFamily="34" charset="-122"/>
                <a:cs typeface="Poppins" pitchFamily="34" charset="-120"/>
              </a:rPr>
              <a:t>Nobody measures the gap</a:t>
            </a:r>
            <a:endParaRPr lang="en-US" sz="1250" dirty="0"/>
          </a:p>
        </p:txBody>
      </p:sp>
      <p:sp>
        <p:nvSpPr>
          <p:cNvPr id="35" name="Text 27"/>
          <p:cNvSpPr txBox="1"/>
          <p:nvPr/>
        </p:nvSpPr>
        <p:spPr>
          <a:xfrm>
            <a:off x="1325880" y="5623560"/>
            <a:ext cx="2834640" cy="411480"/>
          </a:xfrm>
          <a:prstGeom prst="rect">
            <a:avLst/>
          </a:prstGeom>
          <a:noFill/>
          <a:ln/>
        </p:spPr>
        <p:txBody>
          <a:bodyPr wrap="square" lIns="0" tIns="0" rIns="0" bIns="0" rtlCol="0" anchor="t"/>
          <a:lstStyle/>
          <a:p>
            <a:pPr indent="0" marL="0">
              <a:buNone/>
            </a:pPr>
            <a:r>
              <a:rPr lang="en-US" sz="950" dirty="0">
                <a:solidFill>
                  <a:srgbClr val="5B577E"/>
                </a:solidFill>
                <a:latin typeface="Poppins" pitchFamily="34" charset="0"/>
                <a:ea typeface="Poppins" pitchFamily="34" charset="-122"/>
                <a:cs typeface="Poppins" pitchFamily="34" charset="-120"/>
              </a:rPr>
              <a:t>Students get broken code from mixed prompts and never know why.</a:t>
            </a:r>
            <a:endParaRPr lang="en-US" sz="950" dirty="0"/>
          </a:p>
        </p:txBody>
      </p:sp>
      <p:sp>
        <p:nvSpPr>
          <p:cNvPr id="36" name="q-panel"/>
          <p:cNvSpPr/>
          <p:nvPr/>
        </p:nvSpPr>
        <p:spPr>
          <a:xfrm>
            <a:off x="4434840" y="1965960"/>
            <a:ext cx="7223760" cy="4160520"/>
          </a:xfrm>
          <a:prstGeom prst="roundRect">
            <a:avLst>
              <a:gd name="adj" fmla="val 3077"/>
            </a:avLst>
          </a:prstGeom>
          <a:solidFill>
            <a:srgbClr val="17132E"/>
          </a:solidFill>
          <a:ln w="12700">
            <a:solidFill>
              <a:srgbClr val="2E2759"/>
            </a:solidFill>
            <a:prstDash val="solid"/>
          </a:ln>
          <a:effectLst>
            <a:outerShdw sx="100000" sy="100000" kx="0" ky="0" algn="bl" rotWithShape="0" blurRad="152400" dist="38100" dir="5400000">
              <a:srgbClr val="000000">
                <a:alpha val="30000"/>
              </a:srgbClr>
            </a:outerShdw>
          </a:effectLst>
        </p:spPr>
      </p:sp>
      <p:sp>
        <p:nvSpPr>
          <p:cNvPr id="37" name="Text 29"/>
          <p:cNvSpPr txBox="1"/>
          <p:nvPr/>
        </p:nvSpPr>
        <p:spPr>
          <a:xfrm>
            <a:off x="4709160" y="2121408"/>
            <a:ext cx="5486400" cy="219456"/>
          </a:xfrm>
          <a:prstGeom prst="rect">
            <a:avLst/>
          </a:prstGeom>
          <a:noFill/>
          <a:ln/>
        </p:spPr>
        <p:txBody>
          <a:bodyPr wrap="square" lIns="0" tIns="0" rIns="0" bIns="0" rtlCol="0" anchor="t"/>
          <a:lstStyle/>
          <a:p>
            <a:pPr indent="0" marL="0">
              <a:buNone/>
            </a:pPr>
            <a:r>
              <a:rPr lang="en-US" sz="900" b="1" spc="150" kern="0" dirty="0">
                <a:solidFill>
                  <a:srgbClr val="FF9F1C"/>
                </a:solidFill>
                <a:latin typeface="Poppins" pitchFamily="34" charset="0"/>
                <a:ea typeface="Poppins" pitchFamily="34" charset="-122"/>
                <a:cs typeface="Poppins" pitchFamily="34" charset="-120"/>
              </a:rPr>
              <a:t>SPOT THE FAILURE  ·  A REAL ANSWER FROM OUR TESTS</a:t>
            </a:r>
            <a:endParaRPr lang="en-US" sz="900" dirty="0"/>
          </a:p>
        </p:txBody>
      </p:sp>
      <p:sp>
        <p:nvSpPr>
          <p:cNvPr id="38" name="Text 30"/>
          <p:cNvSpPr txBox="1"/>
          <p:nvPr/>
        </p:nvSpPr>
        <p:spPr>
          <a:xfrm>
            <a:off x="8961120" y="2121408"/>
            <a:ext cx="2514600" cy="219456"/>
          </a:xfrm>
          <a:prstGeom prst="rect">
            <a:avLst/>
          </a:prstGeom>
          <a:noFill/>
          <a:ln/>
        </p:spPr>
        <p:txBody>
          <a:bodyPr wrap="square" lIns="0" tIns="0" rIns="0" bIns="0" rtlCol="0" anchor="t"/>
          <a:lstStyle/>
          <a:p>
            <a:pPr algn="r" indent="0" marL="0">
              <a:buNone/>
            </a:pPr>
            <a:r>
              <a:rPr lang="en-US" sz="900" dirty="0">
                <a:solidFill>
                  <a:srgbClr val="A9A3CF"/>
                </a:solidFill>
                <a:latin typeface="Poppins" pitchFamily="34" charset="0"/>
                <a:ea typeface="Poppins" pitchFamily="34" charset="-122"/>
                <a:cs typeface="Poppins" pitchFamily="34" charset="-120"/>
              </a:rPr>
              <a:t>casual Benglish → GPT-OSS 120B</a:t>
            </a:r>
            <a:endParaRPr lang="en-US" sz="900" dirty="0"/>
          </a:p>
        </p:txBody>
      </p:sp>
      <p:sp>
        <p:nvSpPr>
          <p:cNvPr id="39" name="card-9"/>
          <p:cNvSpPr/>
          <p:nvPr/>
        </p:nvSpPr>
        <p:spPr>
          <a:xfrm>
            <a:off x="4709160" y="2450592"/>
            <a:ext cx="3337560" cy="2240280"/>
          </a:xfrm>
          <a:prstGeom prst="roundRect">
            <a:avLst>
              <a:gd name="adj" fmla="val 4898"/>
            </a:avLst>
          </a:prstGeom>
          <a:solidFill>
            <a:srgbClr val="211B42"/>
          </a:solidFill>
          <a:ln w="12700">
            <a:solidFill>
              <a:srgbClr val="2E2759"/>
            </a:solidFill>
            <a:prstDash val="solid"/>
          </a:ln>
        </p:spPr>
      </p:sp>
      <p:sp>
        <p:nvSpPr>
          <p:cNvPr id="40" name="Text 32"/>
          <p:cNvSpPr txBox="1"/>
          <p:nvPr/>
        </p:nvSpPr>
        <p:spPr>
          <a:xfrm>
            <a:off x="4873752" y="2560320"/>
            <a:ext cx="2743200" cy="182880"/>
          </a:xfrm>
          <a:prstGeom prst="rect">
            <a:avLst/>
          </a:prstGeom>
          <a:noFill/>
          <a:ln/>
        </p:spPr>
        <p:txBody>
          <a:bodyPr wrap="square" lIns="0" tIns="0" rIns="0" bIns="0" rtlCol="0" anchor="t"/>
          <a:lstStyle/>
          <a:p>
            <a:pPr indent="0" marL="0">
              <a:buNone/>
            </a:pPr>
            <a:r>
              <a:rPr lang="en-US" sz="800" b="1" spc="100" kern="0" dirty="0">
                <a:solidFill>
                  <a:srgbClr val="6F6A99"/>
                </a:solidFill>
                <a:latin typeface="Poppins" pitchFamily="34" charset="0"/>
                <a:ea typeface="Poppins" pitchFamily="34" charset="-122"/>
                <a:cs typeface="Poppins" pitchFamily="34" charset="-120"/>
              </a:rPr>
              <a:t>THE PROMPT</a:t>
            </a:r>
            <a:endParaRPr lang="en-US" sz="800" dirty="0"/>
          </a:p>
        </p:txBody>
      </p:sp>
      <p:sp>
        <p:nvSpPr>
          <p:cNvPr id="41" name="Text 33"/>
          <p:cNvSpPr txBox="1"/>
          <p:nvPr/>
        </p:nvSpPr>
        <p:spPr>
          <a:xfrm>
            <a:off x="4873752" y="2788920"/>
            <a:ext cx="3063240" cy="1828800"/>
          </a:xfrm>
          <a:prstGeom prst="rect">
            <a:avLst/>
          </a:prstGeom>
          <a:noFill/>
          <a:ln/>
        </p:spPr>
        <p:txBody>
          <a:bodyPr wrap="square" lIns="0" tIns="0" rIns="0" bIns="0" rtlCol="0" anchor="t"/>
          <a:lstStyle/>
          <a:p>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bhai </a:t>
            </a:r>
            <a:pPr indent="0" marL="0">
              <a:lnSpc>
                <a:spcPct val="108000"/>
              </a:lnSpc>
              <a:buNone/>
            </a:pPr>
            <a:r>
              <a:rPr lang="en-US" sz="1250" dirty="0">
                <a:solidFill>
                  <a:srgbClr val="F2EFFF"/>
                </a:solidFill>
                <a:latin typeface="Poppins" pitchFamily="34" charset="0"/>
                <a:ea typeface="Poppins" pitchFamily="34" charset="-122"/>
                <a:cs typeface="Poppins" pitchFamily="34" charset="-120"/>
              </a:rPr>
              <a:t>python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e </a:t>
            </a:r>
            <a:pPr indent="0" marL="0">
              <a:lnSpc>
                <a:spcPct val="108000"/>
              </a:lnSpc>
              <a:buNone/>
            </a:pPr>
            <a:r>
              <a:rPr lang="en-US" sz="1150" dirty="0">
                <a:solidFill>
                  <a:srgbClr val="C9C2FF"/>
                </a:solidFill>
                <a:latin typeface="Consolas" pitchFamily="34" charset="0"/>
                <a:ea typeface="Consolas" pitchFamily="34" charset="-122"/>
                <a:cs typeface="Consolas" pitchFamily="34" charset="-120"/>
              </a:rPr>
              <a:t>is_palindrome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naam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er </a:t>
            </a:r>
            <a:pPr indent="0" marL="0">
              <a:lnSpc>
                <a:spcPct val="108000"/>
              </a:lnSpc>
              <a:buNone/>
            </a:pPr>
            <a:r>
              <a:rPr lang="en-US" sz="1250" dirty="0">
                <a:solidFill>
                  <a:srgbClr val="F2EFFF"/>
                </a:solidFill>
                <a:latin typeface="Poppins" pitchFamily="34" charset="0"/>
                <a:ea typeface="Poppins" pitchFamily="34" charset="-122"/>
                <a:cs typeface="Poppins" pitchFamily="34" charset="-120"/>
              </a:rPr>
              <a:t>fn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bana, </a:t>
            </a:r>
            <a:pPr indent="0" marL="0">
              <a:lnSpc>
                <a:spcPct val="108000"/>
              </a:lnSpc>
              <a:buNone/>
            </a:pPr>
            <a:r>
              <a:rPr lang="en-US" sz="1250" dirty="0">
                <a:solidFill>
                  <a:srgbClr val="F2EFFF"/>
                </a:solidFill>
                <a:latin typeface="Poppins" pitchFamily="34" charset="0"/>
                <a:ea typeface="Poppins" pitchFamily="34" charset="-122"/>
                <a:cs typeface="Poppins" pitchFamily="34" charset="-120"/>
              </a:rPr>
              <a:t>string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e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kono </a:t>
            </a:r>
            <a:pPr indent="0" marL="0">
              <a:lnSpc>
                <a:spcPct val="108000"/>
              </a:lnSpc>
              <a:buNone/>
            </a:pPr>
            <a:r>
              <a:rPr lang="en-US" sz="1250" dirty="0">
                <a:solidFill>
                  <a:srgbClr val="F2EFFF"/>
                </a:solidFill>
                <a:latin typeface="Poppins" pitchFamily="34" charset="0"/>
                <a:ea typeface="Poppins" pitchFamily="34" charset="-122"/>
                <a:cs typeface="Poppins" pitchFamily="34" charset="-120"/>
              </a:rPr>
              <a:t>space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thakbe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na,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shamne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theke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aar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pichon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theke </a:t>
            </a:r>
            <a:pPr indent="0" marL="0">
              <a:lnSpc>
                <a:spcPct val="108000"/>
              </a:lnSpc>
              <a:buNone/>
            </a:pPr>
            <a:r>
              <a:rPr lang="en-US" sz="1250" dirty="0">
                <a:solidFill>
                  <a:srgbClr val="F2EFFF"/>
                </a:solidFill>
                <a:latin typeface="Poppins" pitchFamily="34" charset="0"/>
                <a:ea typeface="Poppins" pitchFamily="34" charset="-122"/>
                <a:cs typeface="Poppins" pitchFamily="34" charset="-120"/>
              </a:rPr>
              <a:t>same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porle </a:t>
            </a:r>
            <a:pPr indent="0" marL="0">
              <a:lnSpc>
                <a:spcPct val="108000"/>
              </a:lnSpc>
              <a:buNone/>
            </a:pPr>
            <a:r>
              <a:rPr lang="en-US" sz="1250" dirty="0">
                <a:solidFill>
                  <a:srgbClr val="F2EFFF"/>
                </a:solidFill>
                <a:latin typeface="Poppins" pitchFamily="34" charset="0"/>
                <a:ea typeface="Poppins" pitchFamily="34" charset="-122"/>
                <a:cs typeface="Poppins" pitchFamily="34" charset="-120"/>
              </a:rPr>
              <a:t>True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noile </a:t>
            </a:r>
            <a:pPr indent="0" marL="0">
              <a:lnSpc>
                <a:spcPct val="108000"/>
              </a:lnSpc>
              <a:buNone/>
            </a:pPr>
            <a:r>
              <a:rPr lang="en-US" sz="1250" dirty="0">
                <a:solidFill>
                  <a:srgbClr val="F2EFFF"/>
                </a:solidFill>
                <a:latin typeface="Poppins" pitchFamily="34" charset="0"/>
                <a:ea typeface="Poppins" pitchFamily="34" charset="-122"/>
                <a:cs typeface="Poppins" pitchFamily="34" charset="-120"/>
              </a:rPr>
              <a:t>False, </a:t>
            </a:r>
            <a:pPr indent="0" marL="0">
              <a:lnSpc>
                <a:spcPct val="108000"/>
              </a:lnSpc>
              <a:buNone/>
            </a:pPr>
            <a:r>
              <a:rPr lang="en-US" sz="1250" dirty="0">
                <a:solidFill>
                  <a:srgbClr val="F2EFFF"/>
                </a:solidFill>
                <a:latin typeface="Poppins" pitchFamily="34" charset="0"/>
                <a:ea typeface="Poppins" pitchFamily="34" charset="-122"/>
                <a:cs typeface="Poppins" pitchFamily="34" charset="-120"/>
              </a:rPr>
              <a:t>capital </a:t>
            </a:r>
            <a:pPr indent="0" marL="0">
              <a:lnSpc>
                <a:spcPct val="108000"/>
              </a:lnSpc>
              <a:buNone/>
            </a:pPr>
            <a:r>
              <a:rPr lang="en-US" sz="1250" dirty="0">
                <a:solidFill>
                  <a:srgbClr val="F2EFFF"/>
                </a:solidFill>
                <a:latin typeface="Poppins" pitchFamily="34" charset="0"/>
                <a:ea typeface="Poppins" pitchFamily="34" charset="-122"/>
                <a:cs typeface="Poppins" pitchFamily="34" charset="-120"/>
              </a:rPr>
              <a:t>small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er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tofat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korbi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na. </a:t>
            </a:r>
            <a:pPr indent="0" marL="0">
              <a:lnSpc>
                <a:spcPct val="108000"/>
              </a:lnSpc>
              <a:buNone/>
            </a:pPr>
            <a:r>
              <a:rPr lang="en-US" sz="1250" b="1" dirty="0">
                <a:solidFill>
                  <a:srgbClr val="4CC9F0"/>
                </a:solidFill>
                <a:latin typeface="Poppins" pitchFamily="34" charset="0"/>
                <a:ea typeface="Poppins" pitchFamily="34" charset="-122"/>
                <a:cs typeface="Poppins" pitchFamily="34" charset="-120"/>
              </a:rPr>
              <a:t>shudhu </a:t>
            </a:r>
            <a:pPr indent="0" marL="0">
              <a:lnSpc>
                <a:spcPct val="108000"/>
              </a:lnSpc>
              <a:buNone/>
            </a:pPr>
            <a:r>
              <a:rPr lang="en-US" sz="1250" dirty="0">
                <a:solidFill>
                  <a:srgbClr val="F2EFFF"/>
                </a:solidFill>
                <a:latin typeface="Poppins" pitchFamily="34" charset="0"/>
                <a:ea typeface="Poppins" pitchFamily="34" charset="-122"/>
                <a:cs typeface="Poppins" pitchFamily="34" charset="-120"/>
              </a:rPr>
              <a:t>code</a:t>
            </a:r>
            <a:endParaRPr lang="en-US" sz="1300" dirty="0"/>
          </a:p>
        </p:txBody>
      </p:sp>
      <p:sp>
        <p:nvSpPr>
          <p:cNvPr id="42" name="card-10"/>
          <p:cNvSpPr/>
          <p:nvPr/>
        </p:nvSpPr>
        <p:spPr>
          <a:xfrm>
            <a:off x="8183880" y="2450592"/>
            <a:ext cx="3291840" cy="2240280"/>
          </a:xfrm>
          <a:prstGeom prst="roundRect">
            <a:avLst>
              <a:gd name="adj" fmla="val 4898"/>
            </a:avLst>
          </a:prstGeom>
          <a:solidFill>
            <a:srgbClr val="0E0B1F"/>
          </a:solidFill>
          <a:ln w="12700">
            <a:solidFill>
              <a:srgbClr val="2E2759"/>
            </a:solidFill>
            <a:prstDash val="solid"/>
          </a:ln>
        </p:spPr>
      </p:sp>
      <p:sp>
        <p:nvSpPr>
          <p:cNvPr id="43" name="dot-11"/>
          <p:cNvSpPr/>
          <p:nvPr/>
        </p:nvSpPr>
        <p:spPr>
          <a:xfrm>
            <a:off x="8348472" y="2596896"/>
            <a:ext cx="100584" cy="100584"/>
          </a:xfrm>
          <a:prstGeom prst="ellipse">
            <a:avLst/>
          </a:prstGeom>
          <a:solidFill>
            <a:srgbClr val="FF5C7A"/>
          </a:solidFill>
          <a:ln/>
        </p:spPr>
      </p:sp>
      <p:sp>
        <p:nvSpPr>
          <p:cNvPr id="44" name="dot-12"/>
          <p:cNvSpPr/>
          <p:nvPr/>
        </p:nvSpPr>
        <p:spPr>
          <a:xfrm>
            <a:off x="8531352" y="2596896"/>
            <a:ext cx="100584" cy="100584"/>
          </a:xfrm>
          <a:prstGeom prst="ellipse">
            <a:avLst/>
          </a:prstGeom>
          <a:solidFill>
            <a:srgbClr val="FF9F1C"/>
          </a:solidFill>
          <a:ln/>
        </p:spPr>
      </p:sp>
      <p:sp>
        <p:nvSpPr>
          <p:cNvPr id="45" name="dot-13"/>
          <p:cNvSpPr/>
          <p:nvPr/>
        </p:nvSpPr>
        <p:spPr>
          <a:xfrm>
            <a:off x="8714232" y="2596896"/>
            <a:ext cx="100584" cy="100584"/>
          </a:xfrm>
          <a:prstGeom prst="ellipse">
            <a:avLst/>
          </a:prstGeom>
          <a:solidFill>
            <a:srgbClr val="2BD9A0"/>
          </a:solidFill>
          <a:ln/>
        </p:spPr>
      </p:sp>
      <p:sp>
        <p:nvSpPr>
          <p:cNvPr id="46" name="Text 38"/>
          <p:cNvSpPr txBox="1"/>
          <p:nvPr/>
        </p:nvSpPr>
        <p:spPr>
          <a:xfrm>
            <a:off x="9006840" y="2560320"/>
            <a:ext cx="2286000" cy="182880"/>
          </a:xfrm>
          <a:prstGeom prst="rect">
            <a:avLst/>
          </a:prstGeom>
          <a:noFill/>
          <a:ln/>
        </p:spPr>
        <p:txBody>
          <a:bodyPr wrap="square" lIns="0" tIns="0" rIns="0" bIns="0" rtlCol="0" anchor="t"/>
          <a:lstStyle/>
          <a:p>
            <a:pPr indent="0" marL="0">
              <a:buNone/>
            </a:pPr>
            <a:r>
              <a:rPr lang="en-US" sz="850" dirty="0">
                <a:solidFill>
                  <a:srgbClr val="6F6A99"/>
                </a:solidFill>
                <a:latin typeface="Consolas" pitchFamily="34" charset="0"/>
                <a:ea typeface="Consolas" pitchFamily="34" charset="-122"/>
                <a:cs typeface="Consolas" pitchFamily="34" charset="-120"/>
              </a:rPr>
              <a:t>the AI's reply</a:t>
            </a:r>
            <a:endParaRPr lang="en-US" sz="850" dirty="0"/>
          </a:p>
        </p:txBody>
      </p:sp>
      <p:sp>
        <p:nvSpPr>
          <p:cNvPr id="47" name="Text 39"/>
          <p:cNvSpPr txBox="1"/>
          <p:nvPr/>
        </p:nvSpPr>
        <p:spPr>
          <a:xfrm>
            <a:off x="8348472" y="2926080"/>
            <a:ext cx="3063240" cy="731520"/>
          </a:xfrm>
          <a:prstGeom prst="rect">
            <a:avLst/>
          </a:prstGeom>
          <a:noFill/>
          <a:ln/>
        </p:spPr>
        <p:txBody>
          <a:bodyPr wrap="square" lIns="0" tIns="0" rIns="0" bIns="0" rtlCol="0" anchor="t"/>
          <a:lstStyle/>
          <a:p>
            <a:pPr indent="0" marL="0">
              <a:buNone/>
            </a:pPr>
            <a:r>
              <a:rPr lang="en-US" sz="1100" dirty="0">
                <a:solidFill>
                  <a:srgbClr val="FF9F1C"/>
                </a:solidFill>
                <a:latin typeface="Consolas" pitchFamily="34" charset="0"/>
                <a:ea typeface="Consolas" pitchFamily="34" charset="-122"/>
                <a:cs typeface="Consolas" pitchFamily="34" charset="-120"/>
              </a:rPr>
              <a:t>def </a:t>
            </a:r>
            <a:pPr indent="0" marL="0">
              <a:buNone/>
            </a:pPr>
            <a:r>
              <a:rPr lang="en-US" sz="1100" dirty="0">
                <a:solidFill>
                  <a:srgbClr val="9B8CFF"/>
                </a:solidFill>
                <a:latin typeface="Consolas" pitchFamily="34" charset="0"/>
                <a:ea typeface="Consolas" pitchFamily="34" charset="-122"/>
                <a:cs typeface="Consolas" pitchFamily="34" charset="-120"/>
              </a:rPr>
              <a:t>is_palindrome</a:t>
            </a:r>
            <a:pPr indent="0" marL="0">
              <a:buNone/>
            </a:pPr>
            <a:r>
              <a:rPr lang="en-US" sz="1100" dirty="0">
                <a:solidFill>
                  <a:srgbClr val="F2EFFF"/>
                </a:solidFill>
                <a:latin typeface="Consolas" pitchFamily="34" charset="0"/>
                <a:ea typeface="Consolas" pitchFamily="34" charset="-122"/>
                <a:cs typeface="Consolas" pitchFamily="34" charset="-120"/>
              </a:rPr>
              <a:t>(s: str) -&gt; bool:</a:t>
            </a:r>
            <a:endParaRPr lang="en-US" sz="1100" dirty="0"/>
          </a:p>
          <a:p>
            <a:pPr indent="0" marL="0">
              <a:buNone/>
            </a:pPr>
            <a:r>
              <a:rPr lang="en-US" sz="1100" dirty="0">
                <a:solidFill>
                  <a:srgbClr val="FF9F1C"/>
                </a:solidFill>
                <a:latin typeface="Consolas" pitchFamily="34" charset="0"/>
                <a:ea typeface="Consolas" pitchFamily="34" charset="-122"/>
                <a:cs typeface="Consolas" pitchFamily="34" charset="-120"/>
              </a:rPr>
              <a:t>    return </a:t>
            </a:r>
            <a:pPr indent="0" marL="0">
              <a:buNone/>
            </a:pPr>
            <a:r>
              <a:rPr lang="en-US" sz="1100" dirty="0">
                <a:solidFill>
                  <a:srgbClr val="F2EFFF"/>
                </a:solidFill>
                <a:latin typeface="Consolas" pitchFamily="34" charset="0"/>
                <a:ea typeface="Consolas" pitchFamily="34" charset="-122"/>
                <a:cs typeface="Consolas" pitchFamily="34" charset="-120"/>
              </a:rPr>
              <a:t>s == s[::-1]</a:t>
            </a:r>
            <a:endParaRPr lang="en-US" sz="1100" dirty="0"/>
          </a:p>
        </p:txBody>
      </p:sp>
      <p:sp>
        <p:nvSpPr>
          <p:cNvPr id="48" name="Text 40"/>
          <p:cNvSpPr txBox="1"/>
          <p:nvPr/>
        </p:nvSpPr>
        <p:spPr>
          <a:xfrm>
            <a:off x="8348472" y="4114800"/>
            <a:ext cx="3017520" cy="457200"/>
          </a:xfrm>
          <a:prstGeom prst="rect">
            <a:avLst/>
          </a:prstGeom>
          <a:noFill/>
          <a:ln/>
        </p:spPr>
        <p:txBody>
          <a:bodyPr wrap="square" lIns="0" tIns="0" rIns="0" bIns="0" rtlCol="0" anchor="t"/>
          <a:lstStyle/>
          <a:p>
            <a:pPr indent="0" marL="0">
              <a:buNone/>
            </a:pPr>
            <a:r>
              <a:rPr lang="en-US" sz="900" dirty="0">
                <a:solidFill>
                  <a:srgbClr val="A9A3CF"/>
                </a:solidFill>
                <a:latin typeface="Poppins" pitchFamily="34" charset="0"/>
                <a:ea typeface="Poppins" pitchFamily="34" charset="-122"/>
                <a:cs typeface="Poppins" pitchFamily="34" charset="-120"/>
              </a:rPr>
              <a:t>5 hidden tests, e.g. is_palindrome("Racecar") should be True</a:t>
            </a:r>
            <a:endParaRPr lang="en-US" sz="900" dirty="0"/>
          </a:p>
        </p:txBody>
      </p:sp>
      <p:sp>
        <p:nvSpPr>
          <p:cNvPr id="49" name="Text 41"/>
          <p:cNvSpPr txBox="1"/>
          <p:nvPr/>
        </p:nvSpPr>
        <p:spPr>
          <a:xfrm>
            <a:off x="4709160" y="4956048"/>
            <a:ext cx="3291840" cy="822960"/>
          </a:xfrm>
          <a:prstGeom prst="rect">
            <a:avLst/>
          </a:prstGeom>
          <a:noFill/>
          <a:ln/>
        </p:spPr>
        <p:txBody>
          <a:bodyPr wrap="square" lIns="0" tIns="0" rIns="0" bIns="0" rtlCol="0" anchor="ctr"/>
          <a:lstStyle/>
          <a:p>
            <a:pPr indent="0" marL="0">
              <a:buNone/>
            </a:pPr>
            <a:r>
              <a:rPr lang="en-US" sz="1500" b="1" dirty="0">
                <a:solidFill>
                  <a:srgbClr val="F2EFFF"/>
                </a:solidFill>
                <a:latin typeface="Poppins" pitchFamily="34" charset="0"/>
                <a:ea typeface="Poppins" pitchFamily="34" charset="-122"/>
                <a:cs typeface="Poppins" pitchFamily="34" charset="-120"/>
              </a:rPr>
              <a:t>Will this code pass all 5 tests?</a:t>
            </a:r>
            <a:endParaRPr lang="en-US" sz="1500" dirty="0"/>
          </a:p>
        </p:txBody>
      </p:sp>
      <p:sp>
        <p:nvSpPr>
          <p:cNvPr id="50" name="Text 42"/>
          <p:cNvSpPr txBox="1"/>
          <p:nvPr/>
        </p:nvSpPr>
        <p:spPr>
          <a:xfrm>
            <a:off x="4709160" y="5650992"/>
            <a:ext cx="3291840" cy="228600"/>
          </a:xfrm>
          <a:prstGeom prst="rect">
            <a:avLst/>
          </a:prstGeom>
          <a:noFill/>
          <a:ln/>
        </p:spPr>
        <p:txBody>
          <a:bodyPr wrap="square" lIns="0" tIns="0" rIns="0" bIns="0" rtlCol="0" anchor="t"/>
          <a:lstStyle/>
          <a:p>
            <a:pPr indent="0" marL="0">
              <a:buNone/>
            </a:pPr>
            <a:r>
              <a:rPr lang="en-US" sz="900" dirty="0">
                <a:solidFill>
                  <a:srgbClr val="6F6A99"/>
                </a:solidFill>
                <a:latin typeface="Poppins" pitchFamily="34" charset="0"/>
                <a:ea typeface="Poppins" pitchFamily="34" charset="-122"/>
                <a:cs typeface="Poppins" pitchFamily="34" charset="-120"/>
              </a:rPr>
              <a:t>Click to answer</a:t>
            </a:r>
            <a:endParaRPr lang="en-US" sz="900" dirty="0"/>
          </a:p>
        </p:txBody>
      </p:sp>
      <p:sp>
        <p:nvSpPr>
          <p:cNvPr id="51" name="trig-qp"/>
          <p:cNvSpPr/>
          <p:nvPr/>
        </p:nvSpPr>
        <p:spPr>
          <a:xfrm>
            <a:off x="8183880" y="5029200"/>
            <a:ext cx="1572768" cy="566928"/>
          </a:xfrm>
          <a:prstGeom prst="roundRect">
            <a:avLst>
              <a:gd name="adj" fmla="val 50000"/>
            </a:avLst>
          </a:prstGeom>
          <a:solidFill>
            <a:srgbClr val="0F3B33"/>
          </a:solidFill>
          <a:ln w="12700">
            <a:solidFill>
              <a:srgbClr val="2BD9A0"/>
            </a:solidFill>
          </a:ln>
        </p:spPr>
        <p:txBody>
          <a:bodyPr wrap="square" lIns="0" tIns="0" rIns="0" bIns="0" rtlCol="0" anchor="ctr"/>
          <a:lstStyle/>
          <a:p>
            <a:pPr algn="ctr" indent="0" marL="0">
              <a:buNone/>
            </a:pPr>
            <a:r>
              <a:rPr lang="en-US" sz="1250" b="1" dirty="0">
                <a:solidFill>
                  <a:srgbClr val="2BD9A0"/>
                </a:solidFill>
                <a:latin typeface="Poppins" pitchFamily="34" charset="0"/>
                <a:ea typeface="Poppins" pitchFamily="34" charset="-122"/>
                <a:cs typeface="Poppins" pitchFamily="34" charset="-120"/>
              </a:rPr>
              <a:t>✓  It passes</a:t>
            </a:r>
            <a:endParaRPr lang="en-US" sz="1250" dirty="0"/>
          </a:p>
        </p:txBody>
      </p:sp>
      <p:sp>
        <p:nvSpPr>
          <p:cNvPr id="52" name="trig-qf"/>
          <p:cNvSpPr/>
          <p:nvPr/>
        </p:nvSpPr>
        <p:spPr>
          <a:xfrm>
            <a:off x="9902952" y="5029200"/>
            <a:ext cx="1572768" cy="566928"/>
          </a:xfrm>
          <a:prstGeom prst="roundRect">
            <a:avLst>
              <a:gd name="adj" fmla="val 50000"/>
            </a:avLst>
          </a:prstGeom>
          <a:solidFill>
            <a:srgbClr val="3B1424"/>
          </a:solidFill>
          <a:ln w="12700">
            <a:solidFill>
              <a:srgbClr val="FF5C7A"/>
            </a:solidFill>
          </a:ln>
        </p:spPr>
        <p:txBody>
          <a:bodyPr wrap="square" lIns="0" tIns="0" rIns="0" bIns="0" rtlCol="0" anchor="ctr"/>
          <a:lstStyle/>
          <a:p>
            <a:pPr algn="ctr" indent="0" marL="0">
              <a:buNone/>
            </a:pPr>
            <a:r>
              <a:rPr lang="en-US" sz="1250" b="1" dirty="0">
                <a:solidFill>
                  <a:srgbClr val="FF5C7A"/>
                </a:solidFill>
                <a:latin typeface="Poppins" pitchFamily="34" charset="0"/>
                <a:ea typeface="Poppins" pitchFamily="34" charset="-122"/>
                <a:cs typeface="Poppins" pitchFamily="34" charset="-120"/>
              </a:rPr>
              <a:t>✕  It fails</a:t>
            </a:r>
            <a:endParaRPr lang="en-US" sz="1250" dirty="0"/>
          </a:p>
        </p:txBody>
      </p:sp>
      <p:sp>
        <p:nvSpPr>
          <p:cNvPr id="53" name="qp-bg"/>
          <p:cNvSpPr/>
          <p:nvPr/>
        </p:nvSpPr>
        <p:spPr>
          <a:xfrm>
            <a:off x="4526280" y="4846320"/>
            <a:ext cx="6949440" cy="1143000"/>
          </a:xfrm>
          <a:prstGeom prst="roundRect">
            <a:avLst>
              <a:gd name="adj" fmla="val 11200"/>
            </a:avLst>
          </a:prstGeom>
          <a:solidFill>
            <a:srgbClr val="3B1424"/>
          </a:solidFill>
          <a:ln w="19050">
            <a:solidFill>
              <a:srgbClr val="FF5C7A"/>
            </a:solidFill>
            <a:prstDash val="solid"/>
          </a:ln>
        </p:spPr>
      </p:sp>
      <p:pic>
        <p:nvPicPr>
          <p:cNvPr id="54" name="qp-icon" descr="/home/claude/pitch/a/ic/FaTimesCircle_r.png">    </p:cNvPr>
          <p:cNvPicPr>
            <a:picLocks noChangeAspect="1"/>
          </p:cNvPicPr>
          <p:nvPr/>
        </p:nvPicPr>
        <p:blipFill>
          <a:blip r:embed="rId18"/>
          <a:stretch>
            <a:fillRect/>
          </a:stretch>
        </p:blipFill>
        <p:spPr>
          <a:xfrm>
            <a:off x="4709160" y="5010912"/>
            <a:ext cx="457200" cy="457200"/>
          </a:xfrm>
          <a:prstGeom prst="rect">
            <a:avLst/>
          </a:prstGeom>
        </p:spPr>
      </p:pic>
      <p:sp>
        <p:nvSpPr>
          <p:cNvPr id="55" name="qp-t"/>
          <p:cNvSpPr txBox="1"/>
          <p:nvPr/>
        </p:nvSpPr>
        <p:spPr>
          <a:xfrm>
            <a:off x="5303520" y="4974336"/>
            <a:ext cx="6035040" cy="347472"/>
          </a:xfrm>
          <a:prstGeom prst="rect">
            <a:avLst/>
          </a:prstGeom>
          <a:noFill/>
          <a:ln/>
        </p:spPr>
        <p:txBody>
          <a:bodyPr wrap="square" lIns="0" tIns="0" rIns="0" bIns="0" rtlCol="0" anchor="t"/>
          <a:lstStyle/>
          <a:p>
            <a:pPr indent="0" marL="0">
              <a:buNone/>
            </a:pPr>
            <a:r>
              <a:rPr lang="en-US" sz="1500" b="1" dirty="0">
                <a:solidFill>
                  <a:srgbClr val="FF5C7A"/>
                </a:solidFill>
                <a:latin typeface="Poppins" pitchFamily="34" charset="0"/>
                <a:ea typeface="Poppins" pitchFamily="34" charset="-122"/>
                <a:cs typeface="Poppins" pitchFamily="34" charset="-120"/>
              </a:rPr>
              <a:t>Not quite: it fails. Only 3 of 5 tests pass.</a:t>
            </a:r>
            <a:endParaRPr lang="en-US" sz="1500" dirty="0"/>
          </a:p>
        </p:txBody>
      </p:sp>
      <p:sp>
        <p:nvSpPr>
          <p:cNvPr id="56" name="qp-b"/>
          <p:cNvSpPr txBox="1"/>
          <p:nvPr/>
        </p:nvSpPr>
        <p:spPr>
          <a:xfrm>
            <a:off x="5303520" y="5321808"/>
            <a:ext cx="6035040" cy="603504"/>
          </a:xfrm>
          <a:prstGeom prst="rect">
            <a:avLst/>
          </a:prstGeom>
          <a:noFill/>
          <a:ln/>
        </p:spPr>
        <p:txBody>
          <a:bodyPr wrap="square" lIns="0" tIns="0" rIns="0" bIns="0" rtlCol="0" anchor="t"/>
          <a:lstStyle/>
          <a:p>
            <a:pPr indent="0" marL="0">
              <a:buNone/>
            </a:pPr>
            <a:r>
              <a:rPr lang="en-US" sz="950" dirty="0">
                <a:solidFill>
                  <a:srgbClr val="F2EFFF"/>
                </a:solidFill>
                <a:latin typeface="Poppins" pitchFamily="34" charset="0"/>
                <a:ea typeface="Poppins" pitchFamily="34" charset="-122"/>
                <a:cs typeface="Poppins" pitchFamily="34" charset="-120"/>
              </a:rPr>
              <a:t>The prompt said “capital small er tofat korbi na”: don't treat capital and small letters differently. The code compares them exactly, so is_palindrome("Racecar") returns False. Asked in English, the same model got it right.</a:t>
            </a:r>
            <a:endParaRPr lang="en-US" sz="950" dirty="0"/>
          </a:p>
        </p:txBody>
      </p:sp>
      <p:sp>
        <p:nvSpPr>
          <p:cNvPr id="57" name="qf-bg"/>
          <p:cNvSpPr/>
          <p:nvPr/>
        </p:nvSpPr>
        <p:spPr>
          <a:xfrm>
            <a:off x="4526280" y="4846320"/>
            <a:ext cx="6949440" cy="1143000"/>
          </a:xfrm>
          <a:prstGeom prst="roundRect">
            <a:avLst>
              <a:gd name="adj" fmla="val 11200"/>
            </a:avLst>
          </a:prstGeom>
          <a:solidFill>
            <a:srgbClr val="0F3B33"/>
          </a:solidFill>
          <a:ln w="19050">
            <a:solidFill>
              <a:srgbClr val="2BD9A0"/>
            </a:solidFill>
            <a:prstDash val="solid"/>
          </a:ln>
        </p:spPr>
      </p:sp>
      <p:pic>
        <p:nvPicPr>
          <p:cNvPr id="58" name="qf-icon" descr="/home/claude/pitch/a/ic/FaCheckCircle_g.png">    </p:cNvPr>
          <p:cNvPicPr>
            <a:picLocks noChangeAspect="1"/>
          </p:cNvPicPr>
          <p:nvPr/>
        </p:nvPicPr>
        <p:blipFill>
          <a:blip r:embed="rId19"/>
          <a:stretch>
            <a:fillRect/>
          </a:stretch>
        </p:blipFill>
        <p:spPr>
          <a:xfrm>
            <a:off x="4709160" y="5010912"/>
            <a:ext cx="457200" cy="457200"/>
          </a:xfrm>
          <a:prstGeom prst="rect">
            <a:avLst/>
          </a:prstGeom>
        </p:spPr>
      </p:pic>
      <p:sp>
        <p:nvSpPr>
          <p:cNvPr id="59" name="qf-t"/>
          <p:cNvSpPr txBox="1"/>
          <p:nvPr/>
        </p:nvSpPr>
        <p:spPr>
          <a:xfrm>
            <a:off x="5303520" y="4974336"/>
            <a:ext cx="6035040" cy="347472"/>
          </a:xfrm>
          <a:prstGeom prst="rect">
            <a:avLst/>
          </a:prstGeom>
          <a:noFill/>
          <a:ln/>
        </p:spPr>
        <p:txBody>
          <a:bodyPr wrap="square" lIns="0" tIns="0" rIns="0" bIns="0" rtlCol="0" anchor="t"/>
          <a:lstStyle/>
          <a:p>
            <a:pPr indent="0" marL="0">
              <a:buNone/>
            </a:pPr>
            <a:r>
              <a:rPr lang="en-US" sz="1500" b="1" dirty="0">
                <a:solidFill>
                  <a:srgbClr val="2BD9A0"/>
                </a:solidFill>
                <a:latin typeface="Poppins" pitchFamily="34" charset="0"/>
                <a:ea typeface="Poppins" pitchFamily="34" charset="-122"/>
                <a:cs typeface="Poppins" pitchFamily="34" charset="-120"/>
              </a:rPr>
              <a:t>Correct: it fails. Only 3 of 5 tests pass.</a:t>
            </a:r>
            <a:endParaRPr lang="en-US" sz="1500" dirty="0"/>
          </a:p>
        </p:txBody>
      </p:sp>
      <p:sp>
        <p:nvSpPr>
          <p:cNvPr id="60" name="qf-b"/>
          <p:cNvSpPr txBox="1"/>
          <p:nvPr/>
        </p:nvSpPr>
        <p:spPr>
          <a:xfrm>
            <a:off x="5303520" y="5321808"/>
            <a:ext cx="6035040" cy="603504"/>
          </a:xfrm>
          <a:prstGeom prst="rect">
            <a:avLst/>
          </a:prstGeom>
          <a:noFill/>
          <a:ln/>
        </p:spPr>
        <p:txBody>
          <a:bodyPr wrap="square" lIns="0" tIns="0" rIns="0" bIns="0" rtlCol="0" anchor="t"/>
          <a:lstStyle/>
          <a:p>
            <a:pPr indent="0" marL="0">
              <a:buNone/>
            </a:pPr>
            <a:r>
              <a:rPr lang="en-US" sz="950" dirty="0">
                <a:solidFill>
                  <a:srgbClr val="F2EFFF"/>
                </a:solidFill>
                <a:latin typeface="Poppins" pitchFamily="34" charset="0"/>
                <a:ea typeface="Poppins" pitchFamily="34" charset="-122"/>
                <a:cs typeface="Poppins" pitchFamily="34" charset="-120"/>
              </a:rPr>
              <a:t>The prompt said “capital small er tofat korbi na”: don't treat capital and small letters differently. The code compares them exactly, so is_palindrome("Racecar") returns False. Asked in English, the same model got it right.</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3" restart="whenNotActive" fill="hold" evtFilter="cancelBubble" nodeType="interactiveSeq">
                <p:stCondLst>
                  <p:cond evt="onClick" delay="0">
                    <p:tgtEl>
                      <p:spTgt spid="51"/>
                    </p:tgtEl>
                  </p:cond>
                </p:stCondLst>
                <p:endSync evt="end" delay="0">
                  <p:rtn val="all"/>
                </p:endSync>
                <p:childTnLst>
                  <p:par>
                    <p:cTn id="24" fill="hold">
                      <p:stCondLst>
                        <p:cond delay="0"/>
                      </p:stCondLst>
                      <p:childTnLst>
                        <p:par>
                          <p:cTn id="25" fill="hold">
                            <p:stCondLst>
                              <p:cond delay="0"/>
                            </p:stCondLst>
                            <p:childTnLst>
                              <p:par>
                                <p:cTn id="4" presetID="1" presetClass="exit" presetSubtype="0" fill="hold" grpId="0" nodeType="clickEffect">
                                  <p:stCondLst>
                                    <p:cond delay="0"/>
                                  </p:stCondLst>
                                  <p:childTnLst>
                                    <p:set>
                                      <p:cBhvr>
                                        <p:cTn id="3" dur="1" fill="hold">
                                          <p:stCondLst>
                                            <p:cond delay="0"/>
                                          </p:stCondLst>
                                        </p:cTn>
                                        <p:tgtEl>
                                          <p:spTgt spid="57"/>
                                        </p:tgtEl>
                                        <p:attrNameLst>
                                          <p:attrName>style.visibility</p:attrName>
                                        </p:attrNameLst>
                                      </p:cBhvr>
                                      <p:to>
                                        <p:strVal val="hidden"/>
                                      </p:to>
                                    </p:set>
                                  </p:childTnLst>
                                </p:cTn>
                              </p:par>
                              <p:par>
                                <p:cTn id="6" presetID="1" presetClass="exit" presetSubtype="0" fill="hold" grpId="0" nodeType="withEffect">
                                  <p:stCondLst>
                                    <p:cond delay="0"/>
                                  </p:stCondLst>
                                  <p:childTnLst>
                                    <p:set>
                                      <p:cBhvr>
                                        <p:cTn id="5" dur="1" fill="hold">
                                          <p:stCondLst>
                                            <p:cond delay="0"/>
                                          </p:stCondLst>
                                        </p:cTn>
                                        <p:tgtEl>
                                          <p:spTgt spid="58"/>
                                        </p:tgtEl>
                                        <p:attrNameLst>
                                          <p:attrName>style.visibility</p:attrName>
                                        </p:attrNameLst>
                                      </p:cBhvr>
                                      <p:to>
                                        <p:strVal val="hidden"/>
                                      </p:to>
                                    </p:set>
                                  </p:childTnLst>
                                </p:cTn>
                              </p:par>
                              <p:par>
                                <p:cTn id="8" presetID="1" presetClass="exit" presetSubtype="0" fill="hold" grpId="0" nodeType="withEffect">
                                  <p:stCondLst>
                                    <p:cond delay="0"/>
                                  </p:stCondLst>
                                  <p:childTnLst>
                                    <p:set>
                                      <p:cBhvr>
                                        <p:cTn id="7" dur="1" fill="hold">
                                          <p:stCondLst>
                                            <p:cond delay="0"/>
                                          </p:stCondLst>
                                        </p:cTn>
                                        <p:tgtEl>
                                          <p:spTgt spid="59"/>
                                        </p:tgtEl>
                                        <p:attrNameLst>
                                          <p:attrName>style.visibility</p:attrName>
                                        </p:attrNameLst>
                                      </p:cBhvr>
                                      <p:to>
                                        <p:strVal val="hidden"/>
                                      </p:to>
                                    </p:set>
                                  </p:childTnLst>
                                </p:cTn>
                              </p:par>
                              <p:par>
                                <p:cTn id="10" presetID="1" presetClass="exit" presetSubtype="0" fill="hold" grpId="0" nodeType="withEffect">
                                  <p:stCondLst>
                                    <p:cond delay="0"/>
                                  </p:stCondLst>
                                  <p:childTnLst>
                                    <p:set>
                                      <p:cBhvr>
                                        <p:cTn id="9" dur="1" fill="hold">
                                          <p:stCondLst>
                                            <p:cond delay="0"/>
                                          </p:stCondLst>
                                        </p:cTn>
                                        <p:tgtEl>
                                          <p:spTgt spid="60"/>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fade">
                                      <p:cBhvr>
                                        <p:cTn id="12" dur="450"/>
                                        <p:tgtEl>
                                          <p:spTgt spid="5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fade">
                                      <p:cBhvr>
                                        <p:cTn id="15" dur="450"/>
                                        <p:tgtEl>
                                          <p:spTgt spid="5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55"/>
                                        </p:tgtEl>
                                        <p:attrNameLst>
                                          <p:attrName>style.visibility</p:attrName>
                                        </p:attrNameLst>
                                      </p:cBhvr>
                                      <p:to>
                                        <p:strVal val="visible"/>
                                      </p:to>
                                    </p:set>
                                    <p:animEffect transition="in" filter="fade">
                                      <p:cBhvr>
                                        <p:cTn id="18" dur="450"/>
                                        <p:tgtEl>
                                          <p:spTgt spid="5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56"/>
                                        </p:tgtEl>
                                        <p:attrNameLst>
                                          <p:attrName>style.visibility</p:attrName>
                                        </p:attrNameLst>
                                      </p:cBhvr>
                                      <p:to>
                                        <p:strVal val="visible"/>
                                      </p:to>
                                    </p:set>
                                    <p:animEffect transition="in" filter="fade">
                                      <p:cBhvr>
                                        <p:cTn id="21" dur="450"/>
                                        <p:tgtEl>
                                          <p:spTgt spid="56"/>
                                        </p:tgtEl>
                                      </p:cBhvr>
                                    </p:animEffect>
                                  </p:childTnLst>
                                </p:cTn>
                              </p:par>
                            </p:childTnLst>
                          </p:cTn>
                        </p:par>
                      </p:childTnLst>
                    </p:cTn>
                  </p:par>
                </p:childTnLst>
              </p:cTn>
              <p:nextCondLst>
                <p:cond evt="onClick" delay="0">
                  <p:tgtEl>
                    <p:spTgt spid="51"/>
                  </p:tgtEl>
                </p:cond>
              </p:nextCondLst>
            </p:seq>
            <p:seq concurrent="1" nextAc="seek">
              <p:cTn id="46" restart="whenNotActive" fill="hold" evtFilter="cancelBubble" nodeType="interactiveSeq">
                <p:stCondLst>
                  <p:cond evt="onClick" delay="0">
                    <p:tgtEl>
                      <p:spTgt spid="52"/>
                    </p:tgtEl>
                  </p:cond>
                </p:stCondLst>
                <p:endSync evt="end" delay="0">
                  <p:rtn val="all"/>
                </p:endSync>
                <p:childTnLst>
                  <p:par>
                    <p:cTn id="47" fill="hold">
                      <p:stCondLst>
                        <p:cond delay="0"/>
                      </p:stCondLst>
                      <p:childTnLst>
                        <p:par>
                          <p:cTn id="48" fill="hold">
                            <p:stCondLst>
                              <p:cond delay="0"/>
                            </p:stCondLst>
                            <p:childTnLst>
                              <p:par>
                                <p:cTn id="27" presetID="1" presetClass="exit" presetSubtype="0" fill="hold" grpId="1" nodeType="clickEffect">
                                  <p:stCondLst>
                                    <p:cond delay="0"/>
                                  </p:stCondLst>
                                  <p:childTnLst>
                                    <p:set>
                                      <p:cBhvr>
                                        <p:cTn id="26" dur="1" fill="hold">
                                          <p:stCondLst>
                                            <p:cond delay="0"/>
                                          </p:stCondLst>
                                        </p:cTn>
                                        <p:tgtEl>
                                          <p:spTgt spid="53"/>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28" dur="1" fill="hold">
                                          <p:stCondLst>
                                            <p:cond delay="0"/>
                                          </p:stCondLst>
                                        </p:cTn>
                                        <p:tgtEl>
                                          <p:spTgt spid="54"/>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0" dur="1" fill="hold">
                                          <p:stCondLst>
                                            <p:cond delay="0"/>
                                          </p:stCondLst>
                                        </p:cTn>
                                        <p:tgtEl>
                                          <p:spTgt spid="55"/>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2" dur="1" fill="hold">
                                          <p:stCondLst>
                                            <p:cond delay="0"/>
                                          </p:stCondLst>
                                        </p:cTn>
                                        <p:tgtEl>
                                          <p:spTgt spid="56"/>
                                        </p:tgtEl>
                                        <p:attrNameLst>
                                          <p:attrName>style.visibility</p:attrName>
                                        </p:attrNameLst>
                                      </p:cBhvr>
                                      <p:to>
                                        <p:strVal val="hidden"/>
                                      </p:to>
                                    </p:set>
                                  </p:childTnLst>
                                </p:cTn>
                              </p:par>
                              <p:par>
                                <p:cTn id="36" presetID="10" presetClass="entr" presetSubtype="0" fill="hold" grpId="1" nodeType="withEffect">
                                  <p:stCondLst>
                                    <p:cond delay="0"/>
                                  </p:stCondLst>
                                  <p:childTnLst>
                                    <p:set>
                                      <p:cBhvr>
                                        <p:cTn id="34" dur="1" fill="hold">
                                          <p:stCondLst>
                                            <p:cond delay="0"/>
                                          </p:stCondLst>
                                        </p:cTn>
                                        <p:tgtEl>
                                          <p:spTgt spid="57"/>
                                        </p:tgtEl>
                                        <p:attrNameLst>
                                          <p:attrName>style.visibility</p:attrName>
                                        </p:attrNameLst>
                                      </p:cBhvr>
                                      <p:to>
                                        <p:strVal val="visible"/>
                                      </p:to>
                                    </p:set>
                                    <p:animEffect transition="in" filter="fade">
                                      <p:cBhvr>
                                        <p:cTn id="35" dur="450"/>
                                        <p:tgtEl>
                                          <p:spTgt spid="57"/>
                                        </p:tgtEl>
                                      </p:cBhvr>
                                    </p:animEffect>
                                  </p:childTnLst>
                                </p:cTn>
                              </p:par>
                              <p:par>
                                <p:cTn id="39" presetID="10" presetClass="entr" presetSubtype="0" fill="hold" grpId="1" nodeType="withEffect">
                                  <p:stCondLst>
                                    <p:cond delay="0"/>
                                  </p:stCondLst>
                                  <p:childTnLst>
                                    <p:set>
                                      <p:cBhvr>
                                        <p:cTn id="37" dur="1" fill="hold">
                                          <p:stCondLst>
                                            <p:cond delay="0"/>
                                          </p:stCondLst>
                                        </p:cTn>
                                        <p:tgtEl>
                                          <p:spTgt spid="58"/>
                                        </p:tgtEl>
                                        <p:attrNameLst>
                                          <p:attrName>style.visibility</p:attrName>
                                        </p:attrNameLst>
                                      </p:cBhvr>
                                      <p:to>
                                        <p:strVal val="visible"/>
                                      </p:to>
                                    </p:set>
                                    <p:animEffect transition="in" filter="fade">
                                      <p:cBhvr>
                                        <p:cTn id="38" dur="450"/>
                                        <p:tgtEl>
                                          <p:spTgt spid="58"/>
                                        </p:tgtEl>
                                      </p:cBhvr>
                                    </p:animEffect>
                                  </p:childTnLst>
                                </p:cTn>
                              </p:par>
                              <p:par>
                                <p:cTn id="42" presetID="10" presetClass="entr" presetSubtype="0" fill="hold" grpId="1" nodeType="withEffect">
                                  <p:stCondLst>
                                    <p:cond delay="0"/>
                                  </p:stCondLst>
                                  <p:childTnLst>
                                    <p:set>
                                      <p:cBhvr>
                                        <p:cTn id="40" dur="1" fill="hold">
                                          <p:stCondLst>
                                            <p:cond delay="0"/>
                                          </p:stCondLst>
                                        </p:cTn>
                                        <p:tgtEl>
                                          <p:spTgt spid="59"/>
                                        </p:tgtEl>
                                        <p:attrNameLst>
                                          <p:attrName>style.visibility</p:attrName>
                                        </p:attrNameLst>
                                      </p:cBhvr>
                                      <p:to>
                                        <p:strVal val="visible"/>
                                      </p:to>
                                    </p:set>
                                    <p:animEffect transition="in" filter="fade">
                                      <p:cBhvr>
                                        <p:cTn id="41" dur="450"/>
                                        <p:tgtEl>
                                          <p:spTgt spid="59"/>
                                        </p:tgtEl>
                                      </p:cBhvr>
                                    </p:animEffect>
                                  </p:childTnLst>
                                </p:cTn>
                              </p:par>
                              <p:par>
                                <p:cTn id="45" presetID="10" presetClass="entr" presetSubtype="0" fill="hold" grpId="1" nodeType="withEffect">
                                  <p:stCondLst>
                                    <p:cond delay="0"/>
                                  </p:stCondLst>
                                  <p:childTnLst>
                                    <p:set>
                                      <p:cBhvr>
                                        <p:cTn id="43" dur="1" fill="hold">
                                          <p:stCondLst>
                                            <p:cond delay="0"/>
                                          </p:stCondLst>
                                        </p:cTn>
                                        <p:tgtEl>
                                          <p:spTgt spid="60"/>
                                        </p:tgtEl>
                                        <p:attrNameLst>
                                          <p:attrName>style.visibility</p:attrName>
                                        </p:attrNameLst>
                                      </p:cBhvr>
                                      <p:to>
                                        <p:strVal val="visible"/>
                                      </p:to>
                                    </p:set>
                                    <p:animEffect transition="in" filter="fade">
                                      <p:cBhvr>
                                        <p:cTn id="44" dur="450"/>
                                        <p:tgtEl>
                                          <p:spTgt spid="60"/>
                                        </p:tgtEl>
                                      </p:cBhvr>
                                    </p:animEffect>
                                  </p:childTnLst>
                                </p:cTn>
                              </p:par>
                            </p:childTnLst>
                          </p:cTn>
                        </p:par>
                      </p:childTnLst>
                    </p:cTn>
                  </p:par>
                </p:childTnLst>
              </p:cTn>
              <p:nextCondLst>
                <p:cond evt="onClick" delay="0">
                  <p:tgtEl>
                    <p:spTgt spid="52"/>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AFB"/>
        </a:solidFill>
      </p:bgPr>
    </p:bg>
    <p:spTree>
      <p:nvGrpSpPr>
        <p:cNvPr id="1" name=""/>
        <p:cNvGrpSpPr/>
        <p:nvPr/>
      </p:nvGrpSpPr>
      <p:grpSpPr>
        <a:xfrm>
          <a:off x="0" y="0"/>
          <a:ext cx="0" cy="0"/>
          <a:chOff x="0" y="0"/>
          <a:chExt cx="0" cy="0"/>
        </a:xfrm>
      </p:grpSpPr>
      <p:pic>
        <p:nvPicPr>
          <p:cNvPr id="2" name="!!bg" descr="/home/claude/pitch/a/bg.jpg">    </p:cNvPr>
          <p:cNvPicPr>
            <a:picLocks noChangeAspect="1"/>
          </p:cNvPicPr>
          <p:nvPr/>
        </p:nvPicPr>
        <p:blipFill>
          <a:blip r:embed="rId1"/>
          <a:stretch>
            <a:fillRect/>
          </a:stretch>
        </p:blipFill>
        <p:spPr>
          <a:xfrm>
            <a:off x="0" y="0"/>
            <a:ext cx="12191695" cy="6858000"/>
          </a:xfrm>
          <a:prstGeom prst="rect">
            <a:avLst/>
          </a:prstGeom>
        </p:spPr>
      </p:pic>
      <p:sp>
        <p:nvSpPr>
          <p:cNvPr id="3" name="!!frame"/>
          <p:cNvSpPr/>
          <p:nvPr/>
        </p:nvSpPr>
        <p:spPr>
          <a:xfrm>
            <a:off x="182880" y="182880"/>
            <a:ext cx="11823192" cy="6492240"/>
          </a:xfrm>
          <a:prstGeom prst="roundRect">
            <a:avLst>
              <a:gd name="adj" fmla="val 2817"/>
            </a:avLst>
          </a:prstGeom>
          <a:ln w="28575">
            <a:solidFill>
              <a:srgbClr val="7F79B6"/>
            </a:solidFill>
            <a:prstDash val="solid"/>
          </a:ln>
        </p:spPr>
      </p:sp>
      <p:pic>
        <p:nvPicPr>
          <p:cNvPr id="4" name="!!logo-jain" descr="/home/claude/pitch/a/logo_jain.png">    </p:cNvPr>
          <p:cNvPicPr>
            <a:picLocks noChangeAspect="1"/>
          </p:cNvPicPr>
          <p:nvPr/>
        </p:nvPicPr>
        <p:blipFill>
          <a:blip r:embed="rId2"/>
          <a:stretch>
            <a:fillRect/>
          </a:stretch>
        </p:blipFill>
        <p:spPr>
          <a:xfrm>
            <a:off x="411480" y="329184"/>
            <a:ext cx="1316736" cy="384048"/>
          </a:xfrm>
          <a:prstGeom prst="rect">
            <a:avLst/>
          </a:prstGeom>
        </p:spPr>
      </p:pic>
      <p:pic>
        <p:nvPicPr>
          <p:cNvPr id="5" name="!!logo-avi" descr="/home/claude/pitch/a/logo_avi.png">    </p:cNvPr>
          <p:cNvPicPr>
            <a:picLocks noChangeAspect="1"/>
          </p:cNvPicPr>
          <p:nvPr/>
        </p:nvPicPr>
        <p:blipFill>
          <a:blip r:embed="rId3"/>
          <a:stretch>
            <a:fillRect/>
          </a:stretch>
        </p:blipFill>
        <p:spPr>
          <a:xfrm>
            <a:off x="5304892" y="320040"/>
            <a:ext cx="1581912" cy="393192"/>
          </a:xfrm>
          <a:prstGeom prst="rect">
            <a:avLst/>
          </a:prstGeom>
        </p:spPr>
      </p:pic>
      <p:pic>
        <p:nvPicPr>
          <p:cNvPr id="6" name="!!logo-fet" descr="/home/claude/pitch/a/logo_fet.png">    </p:cNvPr>
          <p:cNvPicPr>
            <a:picLocks noChangeAspect="1"/>
          </p:cNvPicPr>
          <p:nvPr/>
        </p:nvPicPr>
        <p:blipFill>
          <a:blip r:embed="rId4"/>
          <a:stretch>
            <a:fillRect/>
          </a:stretch>
        </p:blipFill>
        <p:spPr>
          <a:xfrm>
            <a:off x="10771632" y="274320"/>
            <a:ext cx="1005840" cy="457200"/>
          </a:xfrm>
          <a:prstGeom prst="rect">
            <a:avLst/>
          </a:prstGeom>
        </p:spPr>
      </p:pic>
      <p:sp>
        <p:nvSpPr>
          <p:cNvPr id="7" name="!!title"/>
          <p:cNvSpPr txBox="1"/>
          <p:nvPr/>
        </p:nvSpPr>
        <p:spPr>
          <a:xfrm>
            <a:off x="548640" y="841248"/>
            <a:ext cx="11094415" cy="566928"/>
          </a:xfrm>
          <a:prstGeom prst="rect">
            <a:avLst/>
          </a:prstGeom>
          <a:noFill/>
          <a:ln/>
        </p:spPr>
        <p:txBody>
          <a:bodyPr wrap="square" lIns="0" tIns="0" rIns="0" bIns="0" rtlCol="0" anchor="ctr"/>
          <a:lstStyle/>
          <a:p>
            <a:pPr algn="ctr" indent="0" marL="0">
              <a:buNone/>
            </a:pPr>
            <a:r>
              <a:rPr lang="en-US" sz="3000" b="1" dirty="0">
                <a:solidFill>
                  <a:srgbClr val="1E1A4D"/>
                </a:solidFill>
                <a:latin typeface="Lora" pitchFamily="34" charset="0"/>
                <a:ea typeface="Lora" pitchFamily="34" charset="-122"/>
                <a:cs typeface="Lora" pitchFamily="34" charset="-120"/>
              </a:rPr>
              <a:t>Solution</a:t>
            </a:r>
            <a:endParaRPr lang="en-US" sz="3000" dirty="0"/>
          </a:p>
        </p:txBody>
      </p:sp>
      <p:sp>
        <p:nvSpPr>
          <p:cNvPr id="8" name="!!sub"/>
          <p:cNvSpPr txBox="1"/>
          <p:nvPr/>
        </p:nvSpPr>
        <p:spPr>
          <a:xfrm>
            <a:off x="1097280" y="1389888"/>
            <a:ext cx="9997135" cy="365760"/>
          </a:xfrm>
          <a:prstGeom prst="rect">
            <a:avLst/>
          </a:prstGeom>
          <a:noFill/>
          <a:ln/>
        </p:spPr>
        <p:txBody>
          <a:bodyPr wrap="square" lIns="0" tIns="0" rIns="0" bIns="0" rtlCol="0" anchor="ctr"/>
          <a:lstStyle/>
          <a:p>
            <a:pPr algn="ctr" indent="0" marL="0">
              <a:buNone/>
            </a:pPr>
            <a:r>
              <a:rPr lang="en-US" sz="1300" dirty="0">
                <a:solidFill>
                  <a:srgbClr val="6C5CE7"/>
                </a:solidFill>
                <a:latin typeface="Poppins" pitchFamily="34" charset="0"/>
                <a:ea typeface="Poppins" pitchFamily="34" charset="-122"/>
                <a:cs typeface="Poppins" pitchFamily="34" charset="-120"/>
              </a:rPr>
              <a:t>Same coding task in English and in mixed Indian languages. MixCheck runs the code and measures the gap.</a:t>
            </a:r>
            <a:endParaRPr lang="en-US" sz="1300" dirty="0"/>
          </a:p>
        </p:txBody>
      </p:sp>
      <p:sp>
        <p:nvSpPr>
          <p:cNvPr id="9" name="!!foot-l"/>
          <p:cNvSpPr txBox="1"/>
          <p:nvPr/>
        </p:nvSpPr>
        <p:spPr>
          <a:xfrm>
            <a:off x="457200" y="6336792"/>
            <a:ext cx="3108960" cy="219456"/>
          </a:xfrm>
          <a:prstGeom prst="rect">
            <a:avLst/>
          </a:prstGeom>
          <a:noFill/>
          <a:ln/>
        </p:spPr>
        <p:txBody>
          <a:bodyPr wrap="square" lIns="0" tIns="0" rIns="0" bIns="0" rtlCol="0" anchor="t"/>
          <a:lstStyle/>
          <a:p>
            <a:pPr indent="0" marL="0">
              <a:buNone/>
            </a:pPr>
            <a:r>
              <a:rPr lang="en-US" sz="900" dirty="0">
                <a:solidFill>
                  <a:srgbClr val="8D88B5"/>
                </a:solidFill>
                <a:latin typeface="Poppins" pitchFamily="34" charset="0"/>
                <a:ea typeface="Poppins" pitchFamily="34" charset="-122"/>
                <a:cs typeface="Poppins" pitchFamily="34" charset="-120"/>
              </a:rPr>
              <a:t>MixCheck  ·  Team El Rata Alada</a:t>
            </a:r>
            <a:endParaRPr lang="en-US" sz="900" dirty="0"/>
          </a:p>
        </p:txBody>
      </p:sp>
      <p:sp>
        <p:nvSpPr>
          <p:cNvPr id="10" name="!!btn-nav-1">
            <a:hlinkClick r:id="rId5" action="ppaction://hlinksldjump"/>
          </p:cNvPr>
          <p:cNvSpPr/>
          <p:nvPr/>
        </p:nvSpPr>
        <p:spPr>
          <a:xfrm>
            <a:off x="4628236"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1</a:t>
            </a:r>
            <a:endParaRPr lang="en-US" sz="750" dirty="0"/>
          </a:p>
        </p:txBody>
      </p:sp>
      <p:sp>
        <p:nvSpPr>
          <p:cNvPr id="11" name="!!btn-nav-2">
            <a:hlinkClick r:id="rId6" action="ppaction://hlinksldjump"/>
          </p:cNvPr>
          <p:cNvSpPr/>
          <p:nvPr/>
        </p:nvSpPr>
        <p:spPr>
          <a:xfrm>
            <a:off x="4929988"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2</a:t>
            </a:r>
            <a:endParaRPr lang="en-US" sz="750" dirty="0"/>
          </a:p>
        </p:txBody>
      </p:sp>
      <p:sp>
        <p:nvSpPr>
          <p:cNvPr id="12" name="!!btn-nav-3">
            <a:hlinkClick r:id="rId7" action="ppaction://hlinksldjump"/>
          </p:cNvPr>
          <p:cNvSpPr/>
          <p:nvPr/>
        </p:nvSpPr>
        <p:spPr>
          <a:xfrm>
            <a:off x="5231740" y="6336792"/>
            <a:ext cx="219456" cy="219456"/>
          </a:xfrm>
          <a:prstGeom prst="ellipse">
            <a:avLst/>
          </a:prstGeom>
          <a:solidFill>
            <a:srgbClr val="6C5CE7"/>
          </a:solidFill>
          <a:ln w="9525">
            <a:solidFill>
              <a:srgbClr val="6C5CE7"/>
            </a:solid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3</a:t>
            </a:r>
            <a:endParaRPr lang="en-US" sz="750" dirty="0"/>
          </a:p>
        </p:txBody>
      </p:sp>
      <p:sp>
        <p:nvSpPr>
          <p:cNvPr id="13" name="!!btn-nav-4">
            <a:hlinkClick r:id="rId8" action="ppaction://hlinksldjump"/>
          </p:cNvPr>
          <p:cNvSpPr/>
          <p:nvPr/>
        </p:nvSpPr>
        <p:spPr>
          <a:xfrm>
            <a:off x="5533492"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4</a:t>
            </a:r>
            <a:endParaRPr lang="en-US" sz="750" dirty="0"/>
          </a:p>
        </p:txBody>
      </p:sp>
      <p:sp>
        <p:nvSpPr>
          <p:cNvPr id="14" name="!!btn-nav-5">
            <a:hlinkClick r:id="rId9" action="ppaction://hlinksldjump"/>
          </p:cNvPr>
          <p:cNvSpPr/>
          <p:nvPr/>
        </p:nvSpPr>
        <p:spPr>
          <a:xfrm>
            <a:off x="5835244"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5</a:t>
            </a:r>
            <a:endParaRPr lang="en-US" sz="750" dirty="0"/>
          </a:p>
        </p:txBody>
      </p:sp>
      <p:sp>
        <p:nvSpPr>
          <p:cNvPr id="15" name="!!btn-nav-6">
            <a:hlinkClick r:id="rId10" action="ppaction://hlinksldjump"/>
          </p:cNvPr>
          <p:cNvSpPr/>
          <p:nvPr/>
        </p:nvSpPr>
        <p:spPr>
          <a:xfrm>
            <a:off x="6136996"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6</a:t>
            </a:r>
            <a:endParaRPr lang="en-US" sz="750" dirty="0"/>
          </a:p>
        </p:txBody>
      </p:sp>
      <p:sp>
        <p:nvSpPr>
          <p:cNvPr id="16" name="!!btn-nav-7">
            <a:hlinkClick r:id="rId11" action="ppaction://hlinksldjump"/>
          </p:cNvPr>
          <p:cNvSpPr/>
          <p:nvPr/>
        </p:nvSpPr>
        <p:spPr>
          <a:xfrm>
            <a:off x="6438748"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7</a:t>
            </a:r>
            <a:endParaRPr lang="en-US" sz="750" dirty="0"/>
          </a:p>
        </p:txBody>
      </p:sp>
      <p:sp>
        <p:nvSpPr>
          <p:cNvPr id="17" name="!!btn-nav-8">
            <a:hlinkClick r:id="rId12" action="ppaction://hlinksldjump"/>
          </p:cNvPr>
          <p:cNvSpPr/>
          <p:nvPr/>
        </p:nvSpPr>
        <p:spPr>
          <a:xfrm>
            <a:off x="6740500"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8</a:t>
            </a:r>
            <a:endParaRPr lang="en-US" sz="750" dirty="0"/>
          </a:p>
        </p:txBody>
      </p:sp>
      <p:sp>
        <p:nvSpPr>
          <p:cNvPr id="18" name="!!btn-nav-9">
            <a:hlinkClick r:id="rId13" action="ppaction://hlinksldjump"/>
          </p:cNvPr>
          <p:cNvSpPr/>
          <p:nvPr/>
        </p:nvSpPr>
        <p:spPr>
          <a:xfrm>
            <a:off x="7042252"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9</a:t>
            </a:r>
            <a:endParaRPr lang="en-US" sz="750" dirty="0"/>
          </a:p>
        </p:txBody>
      </p:sp>
      <p:sp>
        <p:nvSpPr>
          <p:cNvPr id="19" name="!!btn-nav-10">
            <a:hlinkClick r:id="rId14" action="ppaction://hlinksldjump"/>
          </p:cNvPr>
          <p:cNvSpPr/>
          <p:nvPr/>
        </p:nvSpPr>
        <p:spPr>
          <a:xfrm>
            <a:off x="7344004"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10</a:t>
            </a:r>
            <a:endParaRPr lang="en-US" sz="750" dirty="0"/>
          </a:p>
        </p:txBody>
      </p:sp>
      <p:sp>
        <p:nvSpPr>
          <p:cNvPr id="20" name="!!btn-live">
            <a:hlinkClick r:id="rId15"/>
          </p:cNvPr>
          <p:cNvSpPr/>
          <p:nvPr/>
        </p:nvSpPr>
        <p:spPr>
          <a:xfrm>
            <a:off x="8503920" y="6309360"/>
            <a:ext cx="3246120" cy="274320"/>
          </a:xfrm>
          <a:prstGeom prst="rect">
            <a:avLst/>
          </a:prstGeom>
          <a:noFill/>
          <a:ln/>
        </p:spPr>
        <p:txBody>
          <a:bodyPr wrap="square" lIns="0" tIns="0" rIns="0" bIns="0" rtlCol="0" anchor="ctr"/>
          <a:lstStyle/>
          <a:p>
            <a:pPr algn="r" indent="0" marL="0">
              <a:buNone/>
            </a:pPr>
            <a:r>
              <a:rPr lang="en-US" sz="900" b="1" dirty="0">
                <a:solidFill>
                  <a:srgbClr val="6C5CE7"/>
                </a:solidFill>
                <a:latin typeface="Poppins" pitchFamily="34" charset="0"/>
                <a:ea typeface="Poppins" pitchFamily="34" charset="-122"/>
                <a:cs typeface="Poppins" pitchFamily="34" charset="-120"/>
              </a:rPr>
              <a:t>● Live: mixcheck-elrata.streamlit.app</a:t>
            </a:r>
            <a:endParaRPr lang="en-US" sz="900" dirty="0"/>
          </a:p>
        </p:txBody>
      </p:sp>
      <p:sp>
        <p:nvSpPr>
          <p:cNvPr id="21" name="card-14"/>
          <p:cNvSpPr/>
          <p:nvPr/>
        </p:nvSpPr>
        <p:spPr>
          <a:xfrm>
            <a:off x="548640" y="1965960"/>
            <a:ext cx="3611880" cy="960120"/>
          </a:xfrm>
          <a:prstGeom prst="roundRect">
            <a:avLst>
              <a:gd name="adj" fmla="val 13333"/>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22" name="dot-15"/>
          <p:cNvSpPr/>
          <p:nvPr/>
        </p:nvSpPr>
        <p:spPr>
          <a:xfrm>
            <a:off x="731520" y="2185416"/>
            <a:ext cx="512064" cy="512064"/>
          </a:xfrm>
          <a:prstGeom prst="ellipse">
            <a:avLst/>
          </a:prstGeom>
          <a:solidFill>
            <a:srgbClr val="6C5CE7"/>
          </a:solidFill>
          <a:ln/>
        </p:spPr>
      </p:sp>
      <p:pic>
        <p:nvPicPr>
          <p:cNvPr id="23" name="icon-16" descr="/home/claude/pitch/a/ic/FaLanguage_w.png">    </p:cNvPr>
          <p:cNvPicPr>
            <a:picLocks noChangeAspect="1"/>
          </p:cNvPicPr>
          <p:nvPr/>
        </p:nvPicPr>
        <p:blipFill>
          <a:blip r:embed="rId16"/>
          <a:stretch>
            <a:fillRect/>
          </a:stretch>
        </p:blipFill>
        <p:spPr>
          <a:xfrm>
            <a:off x="864657" y="2318553"/>
            <a:ext cx="245791" cy="245791"/>
          </a:xfrm>
          <a:prstGeom prst="rect">
            <a:avLst/>
          </a:prstGeom>
        </p:spPr>
      </p:pic>
      <p:sp>
        <p:nvSpPr>
          <p:cNvPr id="24" name="Text 17"/>
          <p:cNvSpPr txBox="1"/>
          <p:nvPr/>
        </p:nvSpPr>
        <p:spPr>
          <a:xfrm>
            <a:off x="1389888" y="2084832"/>
            <a:ext cx="2697480" cy="274320"/>
          </a:xfrm>
          <a:prstGeom prst="rect">
            <a:avLst/>
          </a:prstGeom>
          <a:noFill/>
          <a:ln/>
        </p:spPr>
        <p:txBody>
          <a:bodyPr wrap="square" lIns="0" tIns="0" rIns="0" bIns="0" rtlCol="0" anchor="t"/>
          <a:lstStyle/>
          <a:p>
            <a:pPr indent="0" marL="0">
              <a:buNone/>
            </a:pPr>
            <a:r>
              <a:rPr lang="en-US" sz="1300" b="1" dirty="0">
                <a:solidFill>
                  <a:srgbClr val="1E1A4D"/>
                </a:solidFill>
                <a:latin typeface="Poppins" pitchFamily="34" charset="0"/>
                <a:ea typeface="Poppins" pitchFamily="34" charset="-122"/>
                <a:cs typeface="Poppins" pitchFamily="34" charset="-120"/>
              </a:rPr>
              <a:t>1. Paired prompts</a:t>
            </a:r>
            <a:endParaRPr lang="en-US" sz="1300" dirty="0"/>
          </a:p>
        </p:txBody>
      </p:sp>
      <p:sp>
        <p:nvSpPr>
          <p:cNvPr id="25" name="Text 18"/>
          <p:cNvSpPr txBox="1"/>
          <p:nvPr/>
        </p:nvSpPr>
        <p:spPr>
          <a:xfrm>
            <a:off x="1389888" y="2377440"/>
            <a:ext cx="2697480" cy="502920"/>
          </a:xfrm>
          <a:prstGeom prst="rect">
            <a:avLst/>
          </a:prstGeom>
          <a:noFill/>
          <a:ln/>
        </p:spPr>
        <p:txBody>
          <a:bodyPr wrap="square" lIns="0" tIns="0" rIns="0" bIns="0" rtlCol="0" anchor="t"/>
          <a:lstStyle/>
          <a:p>
            <a:pPr indent="0" marL="0">
              <a:buNone/>
            </a:pPr>
            <a:r>
              <a:rPr lang="en-US" sz="950" dirty="0">
                <a:solidFill>
                  <a:srgbClr val="5B577E"/>
                </a:solidFill>
                <a:latin typeface="Poppins" pitchFamily="34" charset="0"/>
                <a:ea typeface="Poppins" pitchFamily="34" charset="-122"/>
                <a:cs typeface="Poppins" pitchFamily="34" charset="-120"/>
              </a:rPr>
              <a:t>25 tasks, each in 10 versions. Only the language changes.</a:t>
            </a:r>
            <a:endParaRPr lang="en-US" sz="950" dirty="0"/>
          </a:p>
        </p:txBody>
      </p:sp>
      <p:sp>
        <p:nvSpPr>
          <p:cNvPr id="26" name="card-17"/>
          <p:cNvSpPr/>
          <p:nvPr/>
        </p:nvSpPr>
        <p:spPr>
          <a:xfrm>
            <a:off x="548640" y="3044952"/>
            <a:ext cx="3611880" cy="960120"/>
          </a:xfrm>
          <a:prstGeom prst="roundRect">
            <a:avLst>
              <a:gd name="adj" fmla="val 13333"/>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27" name="dot-18"/>
          <p:cNvSpPr/>
          <p:nvPr/>
        </p:nvSpPr>
        <p:spPr>
          <a:xfrm>
            <a:off x="731520" y="3264408"/>
            <a:ext cx="512064" cy="512064"/>
          </a:xfrm>
          <a:prstGeom prst="ellipse">
            <a:avLst/>
          </a:prstGeom>
          <a:solidFill>
            <a:srgbClr val="1590B8"/>
          </a:solidFill>
          <a:ln/>
        </p:spPr>
      </p:sp>
      <p:pic>
        <p:nvPicPr>
          <p:cNvPr id="28" name="icon-19" descr="/home/claude/pitch/a/ic/FaRobot_w.png">    </p:cNvPr>
          <p:cNvPicPr>
            <a:picLocks noChangeAspect="1"/>
          </p:cNvPicPr>
          <p:nvPr/>
        </p:nvPicPr>
        <p:blipFill>
          <a:blip r:embed="rId17"/>
          <a:stretch>
            <a:fillRect/>
          </a:stretch>
        </p:blipFill>
        <p:spPr>
          <a:xfrm>
            <a:off x="864657" y="3397545"/>
            <a:ext cx="245791" cy="245791"/>
          </a:xfrm>
          <a:prstGeom prst="rect">
            <a:avLst/>
          </a:prstGeom>
        </p:spPr>
      </p:pic>
      <p:sp>
        <p:nvSpPr>
          <p:cNvPr id="29" name="Text 21"/>
          <p:cNvSpPr txBox="1"/>
          <p:nvPr/>
        </p:nvSpPr>
        <p:spPr>
          <a:xfrm>
            <a:off x="1389888" y="3163824"/>
            <a:ext cx="2697480" cy="274320"/>
          </a:xfrm>
          <a:prstGeom prst="rect">
            <a:avLst/>
          </a:prstGeom>
          <a:noFill/>
          <a:ln/>
        </p:spPr>
        <p:txBody>
          <a:bodyPr wrap="square" lIns="0" tIns="0" rIns="0" bIns="0" rtlCol="0" anchor="t"/>
          <a:lstStyle/>
          <a:p>
            <a:pPr indent="0" marL="0">
              <a:buNone/>
            </a:pPr>
            <a:r>
              <a:rPr lang="en-US" sz="1300" b="1" dirty="0">
                <a:solidFill>
                  <a:srgbClr val="1E1A4D"/>
                </a:solidFill>
                <a:latin typeface="Poppins" pitchFamily="34" charset="0"/>
                <a:ea typeface="Poppins" pitchFamily="34" charset="-122"/>
                <a:cs typeface="Poppins" pitchFamily="34" charset="-120"/>
              </a:rPr>
              <a:t>2. Run on 3 AI models</a:t>
            </a:r>
            <a:endParaRPr lang="en-US" sz="1300" dirty="0"/>
          </a:p>
        </p:txBody>
      </p:sp>
      <p:sp>
        <p:nvSpPr>
          <p:cNvPr id="30" name="Text 22"/>
          <p:cNvSpPr txBox="1"/>
          <p:nvPr/>
        </p:nvSpPr>
        <p:spPr>
          <a:xfrm>
            <a:off x="1389888" y="3456432"/>
            <a:ext cx="2697480" cy="502920"/>
          </a:xfrm>
          <a:prstGeom prst="rect">
            <a:avLst/>
          </a:prstGeom>
          <a:noFill/>
          <a:ln/>
        </p:spPr>
        <p:txBody>
          <a:bodyPr wrap="square" lIns="0" tIns="0" rIns="0" bIns="0" rtlCol="0" anchor="t"/>
          <a:lstStyle/>
          <a:p>
            <a:pPr indent="0" marL="0">
              <a:buNone/>
            </a:pPr>
            <a:r>
              <a:rPr lang="en-US" sz="950" dirty="0">
                <a:solidFill>
                  <a:srgbClr val="5B577E"/>
                </a:solidFill>
                <a:latin typeface="Poppins" pitchFamily="34" charset="0"/>
                <a:ea typeface="Poppins" pitchFamily="34" charset="-122"/>
                <a:cs typeface="Poppins" pitchFamily="34" charset="-120"/>
              </a:rPr>
              <a:t>Gemini, GPT-OSS 120B and GPT-OSS 20B.</a:t>
            </a:r>
            <a:endParaRPr lang="en-US" sz="950" dirty="0"/>
          </a:p>
        </p:txBody>
      </p:sp>
      <p:sp>
        <p:nvSpPr>
          <p:cNvPr id="31" name="card-20"/>
          <p:cNvSpPr/>
          <p:nvPr/>
        </p:nvSpPr>
        <p:spPr>
          <a:xfrm>
            <a:off x="548640" y="4123944"/>
            <a:ext cx="3611880" cy="960120"/>
          </a:xfrm>
          <a:prstGeom prst="roundRect">
            <a:avLst>
              <a:gd name="adj" fmla="val 13333"/>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32" name="dot-21"/>
          <p:cNvSpPr/>
          <p:nvPr/>
        </p:nvSpPr>
        <p:spPr>
          <a:xfrm>
            <a:off x="731520" y="4343400"/>
            <a:ext cx="512064" cy="512064"/>
          </a:xfrm>
          <a:prstGeom prst="ellipse">
            <a:avLst/>
          </a:prstGeom>
          <a:solidFill>
            <a:srgbClr val="D97706"/>
          </a:solidFill>
          <a:ln/>
        </p:spPr>
      </p:sp>
      <p:pic>
        <p:nvPicPr>
          <p:cNvPr id="33" name="icon-22" descr="/home/claude/pitch/a/ic/FaBalanceScale_w.png">    </p:cNvPr>
          <p:cNvPicPr>
            <a:picLocks noChangeAspect="1"/>
          </p:cNvPicPr>
          <p:nvPr/>
        </p:nvPicPr>
        <p:blipFill>
          <a:blip r:embed="rId18"/>
          <a:stretch>
            <a:fillRect/>
          </a:stretch>
        </p:blipFill>
        <p:spPr>
          <a:xfrm>
            <a:off x="864657" y="4476537"/>
            <a:ext cx="245791" cy="245791"/>
          </a:xfrm>
          <a:prstGeom prst="rect">
            <a:avLst/>
          </a:prstGeom>
        </p:spPr>
      </p:pic>
      <p:sp>
        <p:nvSpPr>
          <p:cNvPr id="34" name="Text 25"/>
          <p:cNvSpPr txBox="1"/>
          <p:nvPr/>
        </p:nvSpPr>
        <p:spPr>
          <a:xfrm>
            <a:off x="1389888" y="4242816"/>
            <a:ext cx="2697480" cy="274320"/>
          </a:xfrm>
          <a:prstGeom prst="rect">
            <a:avLst/>
          </a:prstGeom>
          <a:noFill/>
          <a:ln/>
        </p:spPr>
        <p:txBody>
          <a:bodyPr wrap="square" lIns="0" tIns="0" rIns="0" bIns="0" rtlCol="0" anchor="t"/>
          <a:lstStyle/>
          <a:p>
            <a:pPr indent="0" marL="0">
              <a:buNone/>
            </a:pPr>
            <a:r>
              <a:rPr lang="en-US" sz="1300" b="1" dirty="0">
                <a:solidFill>
                  <a:srgbClr val="1E1A4D"/>
                </a:solidFill>
                <a:latin typeface="Poppins" pitchFamily="34" charset="0"/>
                <a:ea typeface="Poppins" pitchFamily="34" charset="-122"/>
                <a:cs typeface="Poppins" pitchFamily="34" charset="-120"/>
              </a:rPr>
              <a:t>3. Two scores</a:t>
            </a:r>
            <a:endParaRPr lang="en-US" sz="1300" dirty="0"/>
          </a:p>
        </p:txBody>
      </p:sp>
      <p:sp>
        <p:nvSpPr>
          <p:cNvPr id="35" name="Text 26"/>
          <p:cNvSpPr txBox="1"/>
          <p:nvPr/>
        </p:nvSpPr>
        <p:spPr>
          <a:xfrm>
            <a:off x="1389888" y="4535424"/>
            <a:ext cx="2697480" cy="502920"/>
          </a:xfrm>
          <a:prstGeom prst="rect">
            <a:avLst/>
          </a:prstGeom>
          <a:noFill/>
          <a:ln/>
        </p:spPr>
        <p:txBody>
          <a:bodyPr wrap="square" lIns="0" tIns="0" rIns="0" bIns="0" rtlCol="0" anchor="t"/>
          <a:lstStyle/>
          <a:p>
            <a:pPr indent="0" marL="0">
              <a:buNone/>
            </a:pPr>
            <a:r>
              <a:rPr lang="en-US" sz="950" dirty="0">
                <a:solidFill>
                  <a:srgbClr val="5B577E"/>
                </a:solidFill>
                <a:latin typeface="Poppins" pitchFamily="34" charset="0"/>
                <a:ea typeface="Poppins" pitchFamily="34" charset="-122"/>
                <a:cs typeface="Poppins" pitchFamily="34" charset="-120"/>
              </a:rPr>
              <a:t>Does the code pass every test? Did it reply with only the code, as asked?</a:t>
            </a:r>
            <a:endParaRPr lang="en-US" sz="950" dirty="0"/>
          </a:p>
        </p:txBody>
      </p:sp>
      <p:sp>
        <p:nvSpPr>
          <p:cNvPr id="36" name="btn-try3">
            <a:hlinkClick r:id="rId19"/>
          </p:cNvPr>
          <p:cNvSpPr/>
          <p:nvPr/>
        </p:nvSpPr>
        <p:spPr>
          <a:xfrm>
            <a:off x="548640" y="5349240"/>
            <a:ext cx="3611880" cy="502920"/>
          </a:xfrm>
          <a:prstGeom prst="roundRect">
            <a:avLst>
              <a:gd name="adj" fmla="val 50000"/>
            </a:avLst>
          </a:prstGeom>
          <a:solidFill>
            <a:srgbClr val="6C5CE7"/>
          </a:solid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Open the live dashboard  →</a:t>
            </a:r>
            <a:endParaRPr lang="en-US" sz="1200" dirty="0"/>
          </a:p>
        </p:txBody>
      </p:sp>
      <p:sp>
        <p:nvSpPr>
          <p:cNvPr id="37" name="Text 28"/>
          <p:cNvSpPr txBox="1"/>
          <p:nvPr/>
        </p:nvSpPr>
        <p:spPr>
          <a:xfrm>
            <a:off x="548640" y="5879592"/>
            <a:ext cx="3611880" cy="228600"/>
          </a:xfrm>
          <a:prstGeom prst="rect">
            <a:avLst/>
          </a:prstGeom>
          <a:noFill/>
          <a:ln/>
        </p:spPr>
        <p:txBody>
          <a:bodyPr wrap="square" lIns="0" tIns="0" rIns="0" bIns="0" rtlCol="0" anchor="t"/>
          <a:lstStyle/>
          <a:p>
            <a:pPr algn="ctr" indent="0" marL="0">
              <a:buNone/>
            </a:pPr>
            <a:r>
              <a:rPr lang="en-US" sz="900" dirty="0">
                <a:solidFill>
                  <a:srgbClr val="6C5CE7"/>
                </a:solidFill>
                <a:latin typeface="Poppins" pitchFamily="34" charset="0"/>
                <a:ea typeface="Poppins" pitchFamily="34" charset="-122"/>
                <a:cs typeface="Poppins" pitchFamily="34" charset="-120"/>
              </a:rPr>
              <a:t>mixcheck-elrata.streamlit.app</a:t>
            </a:r>
            <a:endParaRPr lang="en-US" sz="900" dirty="0"/>
          </a:p>
        </p:txBody>
      </p:sp>
      <p:sp>
        <p:nvSpPr>
          <p:cNvPr id="38" name="d-panel"/>
          <p:cNvSpPr/>
          <p:nvPr/>
        </p:nvSpPr>
        <p:spPr>
          <a:xfrm>
            <a:off x="4251960" y="1965960"/>
            <a:ext cx="7406640" cy="4160520"/>
          </a:xfrm>
          <a:prstGeom prst="roundRect">
            <a:avLst>
              <a:gd name="adj" fmla="val 3077"/>
            </a:avLst>
          </a:prstGeom>
          <a:solidFill>
            <a:srgbClr val="17132E"/>
          </a:solidFill>
          <a:ln w="12700">
            <a:solidFill>
              <a:srgbClr val="2E2759"/>
            </a:solidFill>
            <a:prstDash val="solid"/>
          </a:ln>
          <a:effectLst>
            <a:outerShdw sx="100000" sy="100000" kx="0" ky="0" algn="bl" rotWithShape="0" blurRad="152400" dist="38100" dir="5400000">
              <a:srgbClr val="000000">
                <a:alpha val="30000"/>
              </a:srgbClr>
            </a:outerShdw>
          </a:effectLst>
        </p:spPr>
      </p:sp>
      <p:sp>
        <p:nvSpPr>
          <p:cNvPr id="39" name="Text 30"/>
          <p:cNvSpPr txBox="1"/>
          <p:nvPr/>
        </p:nvSpPr>
        <p:spPr>
          <a:xfrm>
            <a:off x="4434840" y="2103120"/>
            <a:ext cx="4114800" cy="219456"/>
          </a:xfrm>
          <a:prstGeom prst="rect">
            <a:avLst/>
          </a:prstGeom>
          <a:noFill/>
          <a:ln/>
        </p:spPr>
        <p:txBody>
          <a:bodyPr wrap="square" lIns="0" tIns="0" rIns="0" bIns="0" rtlCol="0" anchor="t"/>
          <a:lstStyle/>
          <a:p>
            <a:pPr indent="0" marL="0">
              <a:buNone/>
            </a:pPr>
            <a:r>
              <a:rPr lang="en-US" sz="900" b="1" spc="150" kern="0" dirty="0">
                <a:solidFill>
                  <a:srgbClr val="FF9F1C"/>
                </a:solidFill>
                <a:latin typeface="Poppins" pitchFamily="34" charset="0"/>
                <a:ea typeface="Poppins" pitchFamily="34" charset="-122"/>
                <a:cs typeface="Poppins" pitchFamily="34" charset="-120"/>
              </a:rPr>
              <a:t>THE MIX DIAL  ·  CLICK A LANGUAGE</a:t>
            </a:r>
            <a:endParaRPr lang="en-US" sz="900" dirty="0"/>
          </a:p>
        </p:txBody>
      </p:sp>
      <p:sp>
        <p:nvSpPr>
          <p:cNvPr id="40" name="Text 31"/>
          <p:cNvSpPr txBox="1"/>
          <p:nvPr/>
        </p:nvSpPr>
        <p:spPr>
          <a:xfrm>
            <a:off x="7223760" y="2103120"/>
            <a:ext cx="4251960" cy="219456"/>
          </a:xfrm>
          <a:prstGeom prst="rect">
            <a:avLst/>
          </a:prstGeom>
          <a:noFill/>
          <a:ln/>
        </p:spPr>
        <p:txBody>
          <a:bodyPr wrap="square" lIns="0" tIns="0" rIns="0" bIns="0" rtlCol="0" anchor="t"/>
          <a:lstStyle/>
          <a:p>
            <a:pPr algn="r" indent="0" marL="0">
              <a:buNone/>
            </a:pPr>
            <a:r>
              <a:rPr lang="en-US" sz="950" dirty="0">
                <a:solidFill>
                  <a:srgbClr val="A9A3CF"/>
                </a:solidFill>
                <a:latin typeface="Poppins" pitchFamily="34" charset="0"/>
                <a:ea typeface="Poppins" pitchFamily="34" charset="-122"/>
                <a:cs typeface="Poppins" pitchFamily="34" charset="-120"/>
              </a:rPr>
              <a:t>Task: </a:t>
            </a:r>
            <a:pPr algn="r" indent="0" marL="0">
              <a:buNone/>
            </a:pPr>
            <a:r>
              <a:rPr lang="en-US" sz="950" dirty="0">
                <a:solidFill>
                  <a:srgbClr val="C9C2FF"/>
                </a:solidFill>
                <a:latin typeface="Consolas" pitchFamily="34" charset="0"/>
                <a:ea typeface="Consolas" pitchFamily="34" charset="-122"/>
                <a:cs typeface="Consolas" pitchFamily="34" charset="-120"/>
              </a:rPr>
              <a:t>indian_format(1234567) → "12,34,567"</a:t>
            </a:r>
            <a:endParaRPr lang="en-US" sz="950" dirty="0"/>
          </a:p>
        </p:txBody>
      </p:sp>
      <p:sp>
        <p:nvSpPr>
          <p:cNvPr id="41" name="d0-ind"/>
          <p:cNvSpPr/>
          <p:nvPr/>
        </p:nvSpPr>
        <p:spPr>
          <a:xfrm>
            <a:off x="4663440" y="3172968"/>
            <a:ext cx="1143000" cy="54864"/>
          </a:xfrm>
          <a:prstGeom prst="rect">
            <a:avLst/>
          </a:prstGeom>
          <a:solidFill>
            <a:srgbClr val="FF9F1C"/>
          </a:solidFill>
          <a:ln/>
        </p:spPr>
      </p:sp>
      <p:sp>
        <p:nvSpPr>
          <p:cNvPr id="42" name="d0-cover"/>
          <p:cNvSpPr/>
          <p:nvPr/>
        </p:nvSpPr>
        <p:spPr>
          <a:xfrm>
            <a:off x="4343400" y="3291840"/>
            <a:ext cx="7223760" cy="2724912"/>
          </a:xfrm>
          <a:prstGeom prst="rect">
            <a:avLst/>
          </a:prstGeom>
          <a:solidFill>
            <a:srgbClr val="17132E"/>
          </a:solidFill>
          <a:ln/>
        </p:spPr>
      </p:sp>
      <p:sp>
        <p:nvSpPr>
          <p:cNvPr id="43" name="d0-pbox"/>
          <p:cNvSpPr/>
          <p:nvPr/>
        </p:nvSpPr>
        <p:spPr>
          <a:xfrm>
            <a:off x="4434840" y="3310128"/>
            <a:ext cx="7040880" cy="1280160"/>
          </a:xfrm>
          <a:prstGeom prst="roundRect">
            <a:avLst>
              <a:gd name="adj" fmla="val 7143"/>
            </a:avLst>
          </a:prstGeom>
          <a:solidFill>
            <a:srgbClr val="0E0B1F"/>
          </a:solidFill>
          <a:ln w="12700">
            <a:solidFill>
              <a:srgbClr val="2E2759"/>
            </a:solidFill>
            <a:prstDash val="solid"/>
          </a:ln>
        </p:spPr>
      </p:sp>
      <p:sp>
        <p:nvSpPr>
          <p:cNvPr id="44" name="d0-prompt"/>
          <p:cNvSpPr txBox="1"/>
          <p:nvPr/>
        </p:nvSpPr>
        <p:spPr>
          <a:xfrm>
            <a:off x="4599432" y="3383280"/>
            <a:ext cx="6720840" cy="1143000"/>
          </a:xfrm>
          <a:prstGeom prst="rect">
            <a:avLst/>
          </a:prstGeom>
          <a:noFill/>
          <a:ln/>
        </p:spPr>
        <p:txBody>
          <a:bodyPr wrap="square" lIns="0" tIns="0" rIns="0" bIns="0" rtlCol="0" anchor="ctr"/>
          <a:lstStyle/>
          <a:p>
            <a:pPr indent="0" marL="0">
              <a:buNone/>
            </a:pPr>
            <a:r>
              <a:rPr lang="en-US" sz="1150" dirty="0">
                <a:solidFill>
                  <a:srgbClr val="F2EFFF"/>
                </a:solidFill>
                <a:latin typeface="Poppins" pitchFamily="34" charset="0"/>
                <a:ea typeface="Poppins" pitchFamily="34" charset="-122"/>
                <a:cs typeface="Poppins" pitchFamily="34" charset="-120"/>
              </a:rPr>
              <a:t>Write </a:t>
            </a:r>
            <a:pPr indent="0" marL="0">
              <a:buNone/>
            </a:pPr>
            <a:r>
              <a:rPr lang="en-US" sz="1150" dirty="0">
                <a:solidFill>
                  <a:srgbClr val="F2EFFF"/>
                </a:solidFill>
                <a:latin typeface="Poppins" pitchFamily="34" charset="0"/>
                <a:ea typeface="Poppins" pitchFamily="34" charset="-122"/>
                <a:cs typeface="Poppins" pitchFamily="34" charset="-120"/>
              </a:rPr>
              <a:t>a </a:t>
            </a:r>
            <a:pPr indent="0" marL="0">
              <a:buNone/>
            </a:pPr>
            <a:r>
              <a:rPr lang="en-US" sz="1150" dirty="0">
                <a:solidFill>
                  <a:srgbClr val="F2EFFF"/>
                </a:solidFill>
                <a:latin typeface="Poppins" pitchFamily="34" charset="0"/>
                <a:ea typeface="Poppins" pitchFamily="34" charset="-122"/>
                <a:cs typeface="Poppins" pitchFamily="34" charset="-120"/>
              </a:rPr>
              <a:t>Python </a:t>
            </a:r>
            <a:pPr indent="0" marL="0">
              <a:buNone/>
            </a:pPr>
            <a:r>
              <a:rPr lang="en-US" sz="1150" dirty="0">
                <a:solidFill>
                  <a:srgbClr val="F2EFFF"/>
                </a:solidFill>
                <a:latin typeface="Poppins" pitchFamily="34" charset="0"/>
                <a:ea typeface="Poppins" pitchFamily="34" charset="-122"/>
                <a:cs typeface="Poppins" pitchFamily="34" charset="-120"/>
              </a:rPr>
              <a:t>function </a:t>
            </a:r>
            <a:pPr indent="0" marL="0">
              <a:buNone/>
            </a:pPr>
            <a:r>
              <a:rPr lang="en-US" sz="1150" dirty="0">
                <a:solidFill>
                  <a:srgbClr val="F2EFFF"/>
                </a:solidFill>
                <a:latin typeface="Poppins" pitchFamily="34" charset="0"/>
                <a:ea typeface="Poppins" pitchFamily="34" charset="-122"/>
                <a:cs typeface="Poppins" pitchFamily="34" charset="-120"/>
              </a:rPr>
              <a:t>named </a:t>
            </a:r>
            <a:pPr indent="0" marL="0">
              <a:buNone/>
            </a:pPr>
            <a:r>
              <a:rPr lang="en-US" sz="1050" dirty="0">
                <a:solidFill>
                  <a:srgbClr val="C9C2FF"/>
                </a:solidFill>
                <a:latin typeface="Consolas" pitchFamily="34" charset="0"/>
                <a:ea typeface="Consolas" pitchFamily="34" charset="-122"/>
                <a:cs typeface="Consolas" pitchFamily="34" charset="-120"/>
              </a:rPr>
              <a:t>indian_format </a:t>
            </a:r>
            <a:pPr indent="0" marL="0">
              <a:buNone/>
            </a:pPr>
            <a:r>
              <a:rPr lang="en-US" sz="1150" dirty="0">
                <a:solidFill>
                  <a:srgbClr val="F2EFFF"/>
                </a:solidFill>
                <a:latin typeface="Poppins" pitchFamily="34" charset="0"/>
                <a:ea typeface="Poppins" pitchFamily="34" charset="-122"/>
                <a:cs typeface="Poppins" pitchFamily="34" charset="-120"/>
              </a:rPr>
              <a:t>that </a:t>
            </a:r>
            <a:pPr indent="0" marL="0">
              <a:buNone/>
            </a:pPr>
            <a:r>
              <a:rPr lang="en-US" sz="1150" dirty="0">
                <a:solidFill>
                  <a:srgbClr val="F2EFFF"/>
                </a:solidFill>
                <a:latin typeface="Poppins" pitchFamily="34" charset="0"/>
                <a:ea typeface="Poppins" pitchFamily="34" charset="-122"/>
                <a:cs typeface="Poppins" pitchFamily="34" charset="-120"/>
              </a:rPr>
              <a:t>takes </a:t>
            </a:r>
            <a:pPr indent="0" marL="0">
              <a:buNone/>
            </a:pPr>
            <a:r>
              <a:rPr lang="en-US" sz="1150" dirty="0">
                <a:solidFill>
                  <a:srgbClr val="F2EFFF"/>
                </a:solidFill>
                <a:latin typeface="Poppins" pitchFamily="34" charset="0"/>
                <a:ea typeface="Poppins" pitchFamily="34" charset="-122"/>
                <a:cs typeface="Poppins" pitchFamily="34" charset="-120"/>
              </a:rPr>
              <a:t>a </a:t>
            </a:r>
            <a:pPr indent="0" marL="0">
              <a:buNone/>
            </a:pPr>
            <a:r>
              <a:rPr lang="en-US" sz="1150" dirty="0">
                <a:solidFill>
                  <a:srgbClr val="F2EFFF"/>
                </a:solidFill>
                <a:latin typeface="Poppins" pitchFamily="34" charset="0"/>
                <a:ea typeface="Poppins" pitchFamily="34" charset="-122"/>
                <a:cs typeface="Poppins" pitchFamily="34" charset="-120"/>
              </a:rPr>
              <a:t>non-negative </a:t>
            </a:r>
            <a:pPr indent="0" marL="0">
              <a:buNone/>
            </a:pPr>
            <a:r>
              <a:rPr lang="en-US" sz="1150" dirty="0">
                <a:solidFill>
                  <a:srgbClr val="F2EFFF"/>
                </a:solidFill>
                <a:latin typeface="Poppins" pitchFamily="34" charset="0"/>
                <a:ea typeface="Poppins" pitchFamily="34" charset="-122"/>
                <a:cs typeface="Poppins" pitchFamily="34" charset="-120"/>
              </a:rPr>
              <a:t>whole </a:t>
            </a:r>
            <a:pPr indent="0" marL="0">
              <a:buNone/>
            </a:pPr>
            <a:r>
              <a:rPr lang="en-US" sz="1150" dirty="0">
                <a:solidFill>
                  <a:srgbClr val="F2EFFF"/>
                </a:solidFill>
                <a:latin typeface="Poppins" pitchFamily="34" charset="0"/>
                <a:ea typeface="Poppins" pitchFamily="34" charset="-122"/>
                <a:cs typeface="Poppins" pitchFamily="34" charset="-120"/>
              </a:rPr>
              <a:t>number </a:t>
            </a:r>
            <a:pPr indent="0" marL="0">
              <a:buNone/>
            </a:pPr>
            <a:r>
              <a:rPr lang="en-US" sz="1150" dirty="0">
                <a:solidFill>
                  <a:srgbClr val="F2EFFF"/>
                </a:solidFill>
                <a:latin typeface="Poppins" pitchFamily="34" charset="0"/>
                <a:ea typeface="Poppins" pitchFamily="34" charset="-122"/>
                <a:cs typeface="Poppins" pitchFamily="34" charset="-120"/>
              </a:rPr>
              <a:t>and </a:t>
            </a:r>
            <a:pPr indent="0" marL="0">
              <a:buNone/>
            </a:pPr>
            <a:r>
              <a:rPr lang="en-US" sz="1150" dirty="0">
                <a:solidFill>
                  <a:srgbClr val="F2EFFF"/>
                </a:solidFill>
                <a:latin typeface="Poppins" pitchFamily="34" charset="0"/>
                <a:ea typeface="Poppins" pitchFamily="34" charset="-122"/>
                <a:cs typeface="Poppins" pitchFamily="34" charset="-120"/>
              </a:rPr>
              <a:t>returns </a:t>
            </a:r>
            <a:pPr indent="0" marL="0">
              <a:buNone/>
            </a:pPr>
            <a:r>
              <a:rPr lang="en-US" sz="1150" dirty="0">
                <a:solidFill>
                  <a:srgbClr val="F2EFFF"/>
                </a:solidFill>
                <a:latin typeface="Poppins" pitchFamily="34" charset="0"/>
                <a:ea typeface="Poppins" pitchFamily="34" charset="-122"/>
                <a:cs typeface="Poppins" pitchFamily="34" charset="-120"/>
              </a:rPr>
              <a:t>it </a:t>
            </a:r>
            <a:pPr indent="0" marL="0">
              <a:buNone/>
            </a:pPr>
            <a:r>
              <a:rPr lang="en-US" sz="1150" dirty="0">
                <a:solidFill>
                  <a:srgbClr val="F2EFFF"/>
                </a:solidFill>
                <a:latin typeface="Poppins" pitchFamily="34" charset="0"/>
                <a:ea typeface="Poppins" pitchFamily="34" charset="-122"/>
                <a:cs typeface="Poppins" pitchFamily="34" charset="-120"/>
              </a:rPr>
              <a:t>as </a:t>
            </a:r>
            <a:pPr indent="0" marL="0">
              <a:buNone/>
            </a:pPr>
            <a:r>
              <a:rPr lang="en-US" sz="1150" dirty="0">
                <a:solidFill>
                  <a:srgbClr val="F2EFFF"/>
                </a:solidFill>
                <a:latin typeface="Poppins" pitchFamily="34" charset="0"/>
                <a:ea typeface="Poppins" pitchFamily="34" charset="-122"/>
                <a:cs typeface="Poppins" pitchFamily="34" charset="-120"/>
              </a:rPr>
              <a:t>a </a:t>
            </a:r>
            <a:pPr indent="0" marL="0">
              <a:buNone/>
            </a:pPr>
            <a:r>
              <a:rPr lang="en-US" sz="1150" dirty="0">
                <a:solidFill>
                  <a:srgbClr val="F2EFFF"/>
                </a:solidFill>
                <a:latin typeface="Poppins" pitchFamily="34" charset="0"/>
                <a:ea typeface="Poppins" pitchFamily="34" charset="-122"/>
                <a:cs typeface="Poppins" pitchFamily="34" charset="-120"/>
              </a:rPr>
              <a:t>string </a:t>
            </a:r>
            <a:pPr indent="0" marL="0">
              <a:buNone/>
            </a:pPr>
            <a:r>
              <a:rPr lang="en-US" sz="1150" dirty="0">
                <a:solidFill>
                  <a:srgbClr val="F2EFFF"/>
                </a:solidFill>
                <a:latin typeface="Poppins" pitchFamily="34" charset="0"/>
                <a:ea typeface="Poppins" pitchFamily="34" charset="-122"/>
                <a:cs typeface="Poppins" pitchFamily="34" charset="-120"/>
              </a:rPr>
              <a:t>with </a:t>
            </a:r>
            <a:pPr indent="0" marL="0">
              <a:buNone/>
            </a:pPr>
            <a:r>
              <a:rPr lang="en-US" sz="1150" dirty="0">
                <a:solidFill>
                  <a:srgbClr val="F2EFFF"/>
                </a:solidFill>
                <a:latin typeface="Poppins" pitchFamily="34" charset="0"/>
                <a:ea typeface="Poppins" pitchFamily="34" charset="-122"/>
                <a:cs typeface="Poppins" pitchFamily="34" charset="-120"/>
              </a:rPr>
              <a:t>commas </a:t>
            </a:r>
            <a:pPr indent="0" marL="0">
              <a:buNone/>
            </a:pPr>
            <a:r>
              <a:rPr lang="en-US" sz="1150" dirty="0">
                <a:solidFill>
                  <a:srgbClr val="F2EFFF"/>
                </a:solidFill>
                <a:latin typeface="Poppins" pitchFamily="34" charset="0"/>
                <a:ea typeface="Poppins" pitchFamily="34" charset="-122"/>
                <a:cs typeface="Poppins" pitchFamily="34" charset="-120"/>
              </a:rPr>
              <a:t>in </a:t>
            </a:r>
            <a:pPr indent="0" marL="0">
              <a:buNone/>
            </a:pPr>
            <a:r>
              <a:rPr lang="en-US" sz="1150" dirty="0">
                <a:solidFill>
                  <a:srgbClr val="F2EFFF"/>
                </a:solidFill>
                <a:latin typeface="Poppins" pitchFamily="34" charset="0"/>
                <a:ea typeface="Poppins" pitchFamily="34" charset="-122"/>
                <a:cs typeface="Poppins" pitchFamily="34" charset="-120"/>
              </a:rPr>
              <a:t>the </a:t>
            </a:r>
            <a:pPr indent="0" marL="0">
              <a:buNone/>
            </a:pPr>
            <a:r>
              <a:rPr lang="en-US" sz="1150" dirty="0">
                <a:solidFill>
                  <a:srgbClr val="F2EFFF"/>
                </a:solidFill>
                <a:latin typeface="Poppins" pitchFamily="34" charset="0"/>
                <a:ea typeface="Poppins" pitchFamily="34" charset="-122"/>
                <a:cs typeface="Poppins" pitchFamily="34" charset="-120"/>
              </a:rPr>
              <a:t>Indian </a:t>
            </a:r>
            <a:pPr indent="0" marL="0">
              <a:buNone/>
            </a:pPr>
            <a:r>
              <a:rPr lang="en-US" sz="1150" dirty="0">
                <a:solidFill>
                  <a:srgbClr val="F2EFFF"/>
                </a:solidFill>
                <a:latin typeface="Poppins" pitchFamily="34" charset="0"/>
                <a:ea typeface="Poppins" pitchFamily="34" charset="-122"/>
                <a:cs typeface="Poppins" pitchFamily="34" charset="-120"/>
              </a:rPr>
              <a:t>style: </a:t>
            </a:r>
            <a:pPr indent="0" marL="0">
              <a:buNone/>
            </a:pPr>
            <a:r>
              <a:rPr lang="en-US" sz="1150" dirty="0">
                <a:solidFill>
                  <a:srgbClr val="F2EFFF"/>
                </a:solidFill>
                <a:latin typeface="Poppins" pitchFamily="34" charset="0"/>
                <a:ea typeface="Poppins" pitchFamily="34" charset="-122"/>
                <a:cs typeface="Poppins" pitchFamily="34" charset="-120"/>
              </a:rPr>
              <a:t>the </a:t>
            </a:r>
            <a:pPr indent="0" marL="0">
              <a:buNone/>
            </a:pPr>
            <a:r>
              <a:rPr lang="en-US" sz="1150" dirty="0">
                <a:solidFill>
                  <a:srgbClr val="F2EFFF"/>
                </a:solidFill>
                <a:latin typeface="Poppins" pitchFamily="34" charset="0"/>
                <a:ea typeface="Poppins" pitchFamily="34" charset="-122"/>
                <a:cs typeface="Poppins" pitchFamily="34" charset="-120"/>
              </a:rPr>
              <a:t>last </a:t>
            </a:r>
            <a:pPr indent="0" marL="0">
              <a:buNone/>
            </a:pPr>
            <a:r>
              <a:rPr lang="en-US" sz="1150" dirty="0">
                <a:solidFill>
                  <a:srgbClr val="F2EFFF"/>
                </a:solidFill>
                <a:latin typeface="Poppins" pitchFamily="34" charset="0"/>
                <a:ea typeface="Poppins" pitchFamily="34" charset="-122"/>
                <a:cs typeface="Poppins" pitchFamily="34" charset="-120"/>
              </a:rPr>
              <a:t>three </a:t>
            </a:r>
            <a:pPr indent="0" marL="0">
              <a:buNone/>
            </a:pPr>
            <a:r>
              <a:rPr lang="en-US" sz="1150" dirty="0">
                <a:solidFill>
                  <a:srgbClr val="F2EFFF"/>
                </a:solidFill>
                <a:latin typeface="Poppins" pitchFamily="34" charset="0"/>
                <a:ea typeface="Poppins" pitchFamily="34" charset="-122"/>
                <a:cs typeface="Poppins" pitchFamily="34" charset="-120"/>
              </a:rPr>
              <a:t>digits </a:t>
            </a:r>
            <a:pPr indent="0" marL="0">
              <a:buNone/>
            </a:pPr>
            <a:r>
              <a:rPr lang="en-US" sz="1150" dirty="0">
                <a:solidFill>
                  <a:srgbClr val="F2EFFF"/>
                </a:solidFill>
                <a:latin typeface="Poppins" pitchFamily="34" charset="0"/>
                <a:ea typeface="Poppins" pitchFamily="34" charset="-122"/>
                <a:cs typeface="Poppins" pitchFamily="34" charset="-120"/>
              </a:rPr>
              <a:t>form </a:t>
            </a:r>
            <a:pPr indent="0" marL="0">
              <a:buNone/>
            </a:pPr>
            <a:r>
              <a:rPr lang="en-US" sz="1150" dirty="0">
                <a:solidFill>
                  <a:srgbClr val="F2EFFF"/>
                </a:solidFill>
                <a:latin typeface="Poppins" pitchFamily="34" charset="0"/>
                <a:ea typeface="Poppins" pitchFamily="34" charset="-122"/>
                <a:cs typeface="Poppins" pitchFamily="34" charset="-120"/>
              </a:rPr>
              <a:t>one </a:t>
            </a:r>
            <a:pPr indent="0" marL="0">
              <a:buNone/>
            </a:pPr>
            <a:r>
              <a:rPr lang="en-US" sz="1150" dirty="0">
                <a:solidFill>
                  <a:srgbClr val="F2EFFF"/>
                </a:solidFill>
                <a:latin typeface="Poppins" pitchFamily="34" charset="0"/>
                <a:ea typeface="Poppins" pitchFamily="34" charset="-122"/>
                <a:cs typeface="Poppins" pitchFamily="34" charset="-120"/>
              </a:rPr>
              <a:t>group, </a:t>
            </a:r>
            <a:pPr indent="0" marL="0">
              <a:buNone/>
            </a:pPr>
            <a:r>
              <a:rPr lang="en-US" sz="1150" dirty="0">
                <a:solidFill>
                  <a:srgbClr val="F2EFFF"/>
                </a:solidFill>
                <a:latin typeface="Poppins" pitchFamily="34" charset="0"/>
                <a:ea typeface="Poppins" pitchFamily="34" charset="-122"/>
                <a:cs typeface="Poppins" pitchFamily="34" charset="-120"/>
              </a:rPr>
              <a:t>and </a:t>
            </a:r>
            <a:pPr indent="0" marL="0">
              <a:buNone/>
            </a:pPr>
            <a:r>
              <a:rPr lang="en-US" sz="1150" dirty="0">
                <a:solidFill>
                  <a:srgbClr val="F2EFFF"/>
                </a:solidFill>
                <a:latin typeface="Poppins" pitchFamily="34" charset="0"/>
                <a:ea typeface="Poppins" pitchFamily="34" charset="-122"/>
                <a:cs typeface="Poppins" pitchFamily="34" charset="-120"/>
              </a:rPr>
              <a:t>every </a:t>
            </a:r>
            <a:pPr indent="0" marL="0">
              <a:buNone/>
            </a:pPr>
            <a:r>
              <a:rPr lang="en-US" sz="1150" dirty="0">
                <a:solidFill>
                  <a:srgbClr val="F2EFFF"/>
                </a:solidFill>
                <a:latin typeface="Poppins" pitchFamily="34" charset="0"/>
                <a:ea typeface="Poppins" pitchFamily="34" charset="-122"/>
                <a:cs typeface="Poppins" pitchFamily="34" charset="-120"/>
              </a:rPr>
              <a:t>two </a:t>
            </a:r>
            <a:pPr indent="0" marL="0">
              <a:buNone/>
            </a:pPr>
            <a:r>
              <a:rPr lang="en-US" sz="1150" dirty="0">
                <a:solidFill>
                  <a:srgbClr val="F2EFFF"/>
                </a:solidFill>
                <a:latin typeface="Poppins" pitchFamily="34" charset="0"/>
                <a:ea typeface="Poppins" pitchFamily="34" charset="-122"/>
                <a:cs typeface="Poppins" pitchFamily="34" charset="-120"/>
              </a:rPr>
              <a:t>digits </a:t>
            </a:r>
            <a:pPr indent="0" marL="0">
              <a:buNone/>
            </a:pPr>
            <a:r>
              <a:rPr lang="en-US" sz="1150" dirty="0">
                <a:solidFill>
                  <a:srgbClr val="F2EFFF"/>
                </a:solidFill>
                <a:latin typeface="Poppins" pitchFamily="34" charset="0"/>
                <a:ea typeface="Poppins" pitchFamily="34" charset="-122"/>
                <a:cs typeface="Poppins" pitchFamily="34" charset="-120"/>
              </a:rPr>
              <a:t>before </a:t>
            </a:r>
            <a:pPr indent="0" marL="0">
              <a:buNone/>
            </a:pPr>
            <a:r>
              <a:rPr lang="en-US" sz="1150" dirty="0">
                <a:solidFill>
                  <a:srgbClr val="F2EFFF"/>
                </a:solidFill>
                <a:latin typeface="Poppins" pitchFamily="34" charset="0"/>
                <a:ea typeface="Poppins" pitchFamily="34" charset="-122"/>
                <a:cs typeface="Poppins" pitchFamily="34" charset="-120"/>
              </a:rPr>
              <a:t>that </a:t>
            </a:r>
            <a:pPr indent="0" marL="0">
              <a:buNone/>
            </a:pPr>
            <a:r>
              <a:rPr lang="en-US" sz="1150" dirty="0">
                <a:solidFill>
                  <a:srgbClr val="F2EFFF"/>
                </a:solidFill>
                <a:latin typeface="Poppins" pitchFamily="34" charset="0"/>
                <a:ea typeface="Poppins" pitchFamily="34" charset="-122"/>
                <a:cs typeface="Poppins" pitchFamily="34" charset="-120"/>
              </a:rPr>
              <a:t>form </a:t>
            </a:r>
            <a:pPr indent="0" marL="0">
              <a:buNone/>
            </a:pPr>
            <a:r>
              <a:rPr lang="en-US" sz="1150" dirty="0">
                <a:solidFill>
                  <a:srgbClr val="F2EFFF"/>
                </a:solidFill>
                <a:latin typeface="Poppins" pitchFamily="34" charset="0"/>
                <a:ea typeface="Poppins" pitchFamily="34" charset="-122"/>
                <a:cs typeface="Poppins" pitchFamily="34" charset="-120"/>
              </a:rPr>
              <a:t>a </a:t>
            </a:r>
            <a:pPr indent="0" marL="0">
              <a:buNone/>
            </a:pPr>
            <a:r>
              <a:rPr lang="en-US" sz="1150" dirty="0">
                <a:solidFill>
                  <a:srgbClr val="F2EFFF"/>
                </a:solidFill>
                <a:latin typeface="Poppins" pitchFamily="34" charset="0"/>
                <a:ea typeface="Poppins" pitchFamily="34" charset="-122"/>
                <a:cs typeface="Poppins" pitchFamily="34" charset="-120"/>
              </a:rPr>
              <a:t>group. </a:t>
            </a:r>
            <a:pPr indent="0" marL="0">
              <a:buNone/>
            </a:pPr>
            <a:r>
              <a:rPr lang="en-US" sz="1150" dirty="0">
                <a:solidFill>
                  <a:srgbClr val="F2EFFF"/>
                </a:solidFill>
                <a:latin typeface="Poppins" pitchFamily="34" charset="0"/>
                <a:ea typeface="Poppins" pitchFamily="34" charset="-122"/>
                <a:cs typeface="Poppins" pitchFamily="34" charset="-120"/>
              </a:rPr>
              <a:t>Numbers </a:t>
            </a:r>
            <a:pPr indent="0" marL="0">
              <a:buNone/>
            </a:pPr>
            <a:r>
              <a:rPr lang="en-US" sz="1150" dirty="0">
                <a:solidFill>
                  <a:srgbClr val="F2EFFF"/>
                </a:solidFill>
                <a:latin typeface="Poppins" pitchFamily="34" charset="0"/>
                <a:ea typeface="Poppins" pitchFamily="34" charset="-122"/>
                <a:cs typeface="Poppins" pitchFamily="34" charset="-120"/>
              </a:rPr>
              <a:t>below </a:t>
            </a:r>
            <a:pPr indent="0" marL="0">
              <a:buNone/>
            </a:pPr>
            <a:r>
              <a:rPr lang="en-US" sz="1050" dirty="0">
                <a:solidFill>
                  <a:srgbClr val="C9C2FF"/>
                </a:solidFill>
                <a:latin typeface="Consolas" pitchFamily="34" charset="0"/>
                <a:ea typeface="Consolas" pitchFamily="34" charset="-122"/>
                <a:cs typeface="Consolas" pitchFamily="34" charset="-120"/>
              </a:rPr>
              <a:t>1000 </a:t>
            </a:r>
            <a:pPr indent="0" marL="0">
              <a:buNone/>
            </a:pPr>
            <a:r>
              <a:rPr lang="en-US" sz="1150" dirty="0">
                <a:solidFill>
                  <a:srgbClr val="F2EFFF"/>
                </a:solidFill>
                <a:latin typeface="Poppins" pitchFamily="34" charset="0"/>
                <a:ea typeface="Poppins" pitchFamily="34" charset="-122"/>
                <a:cs typeface="Poppins" pitchFamily="34" charset="-120"/>
              </a:rPr>
              <a:t>have </a:t>
            </a:r>
            <a:pPr indent="0" marL="0">
              <a:buNone/>
            </a:pPr>
            <a:r>
              <a:rPr lang="en-US" sz="1150" dirty="0">
                <a:solidFill>
                  <a:srgbClr val="F2EFFF"/>
                </a:solidFill>
                <a:latin typeface="Poppins" pitchFamily="34" charset="0"/>
                <a:ea typeface="Poppins" pitchFamily="34" charset="-122"/>
                <a:cs typeface="Poppins" pitchFamily="34" charset="-120"/>
              </a:rPr>
              <a:t>no </a:t>
            </a:r>
            <a:pPr indent="0" marL="0">
              <a:buNone/>
            </a:pPr>
            <a:r>
              <a:rPr lang="en-US" sz="1150" dirty="0">
                <a:solidFill>
                  <a:srgbClr val="F2EFFF"/>
                </a:solidFill>
                <a:latin typeface="Poppins" pitchFamily="34" charset="0"/>
                <a:ea typeface="Poppins" pitchFamily="34" charset="-122"/>
                <a:cs typeface="Poppins" pitchFamily="34" charset="-120"/>
              </a:rPr>
              <a:t>commas. </a:t>
            </a:r>
            <a:pPr indent="0" marL="0">
              <a:buNone/>
            </a:pPr>
            <a:r>
              <a:rPr lang="en-US" sz="1150" dirty="0">
                <a:solidFill>
                  <a:srgbClr val="F2EFFF"/>
                </a:solidFill>
                <a:latin typeface="Poppins" pitchFamily="34" charset="0"/>
                <a:ea typeface="Poppins" pitchFamily="34" charset="-122"/>
                <a:cs typeface="Poppins" pitchFamily="34" charset="-120"/>
              </a:rPr>
              <a:t>Example: </a:t>
            </a:r>
            <a:pPr indent="0" marL="0">
              <a:buNone/>
            </a:pPr>
            <a:r>
              <a:rPr lang="en-US" sz="1050" dirty="0">
                <a:solidFill>
                  <a:srgbClr val="C9C2FF"/>
                </a:solidFill>
                <a:latin typeface="Consolas" pitchFamily="34" charset="0"/>
                <a:ea typeface="Consolas" pitchFamily="34" charset="-122"/>
                <a:cs typeface="Consolas" pitchFamily="34" charset="-120"/>
              </a:rPr>
              <a:t>indian_format(1234567) </a:t>
            </a:r>
            <a:pPr indent="0" marL="0">
              <a:buNone/>
            </a:pPr>
            <a:r>
              <a:rPr lang="en-US" sz="1150" dirty="0">
                <a:solidFill>
                  <a:srgbClr val="F2EFFF"/>
                </a:solidFill>
                <a:latin typeface="Poppins" pitchFamily="34" charset="0"/>
                <a:ea typeface="Poppins" pitchFamily="34" charset="-122"/>
                <a:cs typeface="Poppins" pitchFamily="34" charset="-120"/>
              </a:rPr>
              <a:t>returns </a:t>
            </a:r>
            <a:pPr indent="0" marL="0">
              <a:buNone/>
            </a:pPr>
            <a:r>
              <a:rPr lang="en-US" sz="1050" dirty="0">
                <a:solidFill>
                  <a:srgbClr val="C9C2FF"/>
                </a:solidFill>
                <a:latin typeface="Consolas" pitchFamily="34" charset="0"/>
                <a:ea typeface="Consolas" pitchFamily="34" charset="-122"/>
                <a:cs typeface="Consolas" pitchFamily="34" charset="-120"/>
              </a:rPr>
              <a:t>"12,34,567". </a:t>
            </a:r>
            <a:pPr indent="0" marL="0">
              <a:buNone/>
            </a:pPr>
            <a:r>
              <a:rPr lang="en-US" sz="1150" dirty="0">
                <a:solidFill>
                  <a:srgbClr val="F2EFFF"/>
                </a:solidFill>
                <a:latin typeface="Poppins" pitchFamily="34" charset="0"/>
                <a:ea typeface="Poppins" pitchFamily="34" charset="-122"/>
                <a:cs typeface="Poppins" pitchFamily="34" charset="-120"/>
              </a:rPr>
              <a:t>Reply </a:t>
            </a:r>
            <a:pPr indent="0" marL="0">
              <a:buNone/>
            </a:pPr>
            <a:r>
              <a:rPr lang="en-US" sz="1150" dirty="0">
                <a:solidFill>
                  <a:srgbClr val="F2EFFF"/>
                </a:solidFill>
                <a:latin typeface="Poppins" pitchFamily="34" charset="0"/>
                <a:ea typeface="Poppins" pitchFamily="34" charset="-122"/>
                <a:cs typeface="Poppins" pitchFamily="34" charset="-120"/>
              </a:rPr>
              <a:t>with </a:t>
            </a:r>
            <a:pPr indent="0" marL="0">
              <a:buNone/>
            </a:pPr>
            <a:r>
              <a:rPr lang="en-US" sz="1150" dirty="0">
                <a:solidFill>
                  <a:srgbClr val="F2EFFF"/>
                </a:solidFill>
                <a:latin typeface="Poppins" pitchFamily="34" charset="0"/>
                <a:ea typeface="Poppins" pitchFamily="34" charset="-122"/>
                <a:cs typeface="Poppins" pitchFamily="34" charset="-120"/>
              </a:rPr>
              <a:t>only </a:t>
            </a:r>
            <a:pPr indent="0" marL="0">
              <a:buNone/>
            </a:pPr>
            <a:r>
              <a:rPr lang="en-US" sz="1150" dirty="0">
                <a:solidFill>
                  <a:srgbClr val="F2EFFF"/>
                </a:solidFill>
                <a:latin typeface="Poppins" pitchFamily="34" charset="0"/>
                <a:ea typeface="Poppins" pitchFamily="34" charset="-122"/>
                <a:cs typeface="Poppins" pitchFamily="34" charset="-120"/>
              </a:rPr>
              <a:t>the </a:t>
            </a:r>
            <a:pPr indent="0" marL="0">
              <a:buNone/>
            </a:pPr>
            <a:r>
              <a:rPr lang="en-US" sz="1150" dirty="0">
                <a:solidFill>
                  <a:srgbClr val="F2EFFF"/>
                </a:solidFill>
                <a:latin typeface="Poppins" pitchFamily="34" charset="0"/>
                <a:ea typeface="Poppins" pitchFamily="34" charset="-122"/>
                <a:cs typeface="Poppins" pitchFamily="34" charset="-120"/>
              </a:rPr>
              <a:t>code.</a:t>
            </a:r>
            <a:endParaRPr lang="en-US" sz="1300" dirty="0"/>
          </a:p>
        </p:txBody>
      </p:sp>
      <p:sp>
        <p:nvSpPr>
          <p:cNvPr id="45" name="d0-mtxt"/>
          <p:cNvSpPr txBox="1"/>
          <p:nvPr/>
        </p:nvSpPr>
        <p:spPr>
          <a:xfrm>
            <a:off x="4434840" y="4663440"/>
            <a:ext cx="2926080" cy="274320"/>
          </a:xfrm>
          <a:prstGeom prst="rect">
            <a:avLst/>
          </a:prstGeom>
          <a:noFill/>
          <a:ln/>
        </p:spPr>
        <p:txBody>
          <a:bodyPr wrap="square" lIns="0" tIns="0" rIns="0" bIns="0" rtlCol="0" anchor="ctr"/>
          <a:lstStyle/>
          <a:p>
            <a:pPr indent="0" marL="0">
              <a:buNone/>
            </a:pPr>
            <a:r>
              <a:rPr lang="en-US" sz="1400" b="1" dirty="0">
                <a:solidFill>
                  <a:srgbClr val="F2EFFF"/>
                </a:solidFill>
                <a:latin typeface="Poppins" pitchFamily="34" charset="0"/>
                <a:ea typeface="Poppins" pitchFamily="34" charset="-122"/>
                <a:cs typeface="Poppins" pitchFamily="34" charset="-120"/>
              </a:rPr>
              <a:t>0%</a:t>
            </a:r>
            <a:pPr indent="0" marL="0">
              <a:buNone/>
            </a:pPr>
            <a:r>
              <a:rPr lang="en-US" sz="1000" dirty="0">
                <a:solidFill>
                  <a:srgbClr val="A9A3CF"/>
                </a:solidFill>
                <a:latin typeface="Poppins" pitchFamily="34" charset="0"/>
                <a:ea typeface="Poppins" pitchFamily="34" charset="-122"/>
                <a:cs typeface="Poppins" pitchFamily="34" charset="-120"/>
              </a:rPr>
              <a:t>  of words not in English</a:t>
            </a:r>
            <a:endParaRPr lang="en-US" sz="1300" dirty="0"/>
          </a:p>
        </p:txBody>
      </p:sp>
      <p:sp>
        <p:nvSpPr>
          <p:cNvPr id="46" name="d0-mtrack"/>
          <p:cNvSpPr/>
          <p:nvPr/>
        </p:nvSpPr>
        <p:spPr>
          <a:xfrm>
            <a:off x="7498080" y="4754880"/>
            <a:ext cx="3977640" cy="109728"/>
          </a:xfrm>
          <a:prstGeom prst="roundRect">
            <a:avLst>
              <a:gd name="adj" fmla="val 50000"/>
            </a:avLst>
          </a:prstGeom>
          <a:solidFill>
            <a:srgbClr val="211B42"/>
          </a:solidFill>
          <a:ln/>
        </p:spPr>
      </p:sp>
      <p:sp>
        <p:nvSpPr>
          <p:cNvPr id="47" name="d0-mfill"/>
          <p:cNvSpPr/>
          <p:nvPr/>
        </p:nvSpPr>
        <p:spPr>
          <a:xfrm>
            <a:off x="7498080" y="4754880"/>
            <a:ext cx="109728" cy="109728"/>
          </a:xfrm>
          <a:prstGeom prst="roundRect">
            <a:avLst>
              <a:gd name="adj" fmla="val 50000"/>
            </a:avLst>
          </a:prstGeom>
          <a:solidFill>
            <a:srgbClr val="FF9F1C"/>
          </a:solidFill>
          <a:ln/>
        </p:spPr>
      </p:sp>
      <p:sp>
        <p:nvSpPr>
          <p:cNvPr id="48" name="d0-lc0"/>
          <p:cNvSpPr/>
          <p:nvPr/>
        </p:nvSpPr>
        <p:spPr>
          <a:xfrm>
            <a:off x="4434840" y="5010912"/>
            <a:ext cx="2240280" cy="566928"/>
          </a:xfrm>
          <a:prstGeom prst="roundRect">
            <a:avLst>
              <a:gd name="adj" fmla="val 16129"/>
            </a:avLst>
          </a:prstGeom>
          <a:solidFill>
            <a:srgbClr val="0E0B1F"/>
          </a:solidFill>
          <a:ln w="12700">
            <a:solidFill>
              <a:srgbClr val="2E2759"/>
            </a:solidFill>
            <a:prstDash val="solid"/>
          </a:ln>
        </p:spPr>
      </p:sp>
      <p:sp>
        <p:nvSpPr>
          <p:cNvPr id="49" name="d0-ld0"/>
          <p:cNvSpPr/>
          <p:nvPr/>
        </p:nvSpPr>
        <p:spPr>
          <a:xfrm>
            <a:off x="4572000" y="5221224"/>
            <a:ext cx="146304" cy="146304"/>
          </a:xfrm>
          <a:prstGeom prst="ellipse">
            <a:avLst/>
          </a:prstGeom>
          <a:solidFill>
            <a:srgbClr val="2BD9A0"/>
          </a:solidFill>
          <a:ln/>
        </p:spPr>
      </p:sp>
      <p:sp>
        <p:nvSpPr>
          <p:cNvPr id="50" name="d0-lm0"/>
          <p:cNvSpPr txBox="1"/>
          <p:nvPr/>
        </p:nvSpPr>
        <p:spPr>
          <a:xfrm>
            <a:off x="4818888" y="5056632"/>
            <a:ext cx="1810512" cy="219456"/>
          </a:xfrm>
          <a:prstGeom prst="rect">
            <a:avLst/>
          </a:prstGeom>
          <a:noFill/>
          <a:ln/>
        </p:spPr>
        <p:txBody>
          <a:bodyPr wrap="square" lIns="0" tIns="0" rIns="0" bIns="0" rtlCol="0" anchor="t"/>
          <a:lstStyle/>
          <a:p>
            <a:pPr indent="0" marL="0">
              <a:buNone/>
            </a:pPr>
            <a:r>
              <a:rPr lang="en-US" sz="1050" b="1" dirty="0">
                <a:solidFill>
                  <a:srgbClr val="F2EFFF"/>
                </a:solidFill>
                <a:latin typeface="Poppins" pitchFamily="34" charset="0"/>
                <a:ea typeface="Poppins" pitchFamily="34" charset="-122"/>
                <a:cs typeface="Poppins" pitchFamily="34" charset="-120"/>
              </a:rPr>
              <a:t>Gemini</a:t>
            </a:r>
            <a:endParaRPr lang="en-US" sz="1050" dirty="0"/>
          </a:p>
        </p:txBody>
      </p:sp>
      <p:sp>
        <p:nvSpPr>
          <p:cNvPr id="51" name="d0-ls0"/>
          <p:cNvSpPr txBox="1"/>
          <p:nvPr/>
        </p:nvSpPr>
        <p:spPr>
          <a:xfrm>
            <a:off x="4818888" y="5285232"/>
            <a:ext cx="1828800" cy="237744"/>
          </a:xfrm>
          <a:prstGeom prst="rect">
            <a:avLst/>
          </a:prstGeom>
          <a:noFill/>
          <a:ln/>
        </p:spPr>
        <p:txBody>
          <a:bodyPr wrap="square" lIns="0" tIns="0" rIns="0" bIns="0" rtlCol="0" anchor="t"/>
          <a:lstStyle/>
          <a:p>
            <a:pPr indent="0" marL="0">
              <a:buNone/>
            </a:pPr>
            <a:r>
              <a:rPr lang="en-US" sz="850" dirty="0">
                <a:solidFill>
                  <a:srgbClr val="A9A3CF"/>
                </a:solidFill>
                <a:latin typeface="Poppins" pitchFamily="34" charset="0"/>
                <a:ea typeface="Poppins" pitchFamily="34" charset="-122"/>
                <a:cs typeface="Poppins" pitchFamily="34" charset="-120"/>
              </a:rPr>
              <a:t>Passed 6 of 6</a:t>
            </a:r>
            <a:endParaRPr lang="en-US" sz="850" dirty="0"/>
          </a:p>
        </p:txBody>
      </p:sp>
      <p:sp>
        <p:nvSpPr>
          <p:cNvPr id="52" name="d0-lc1"/>
          <p:cNvSpPr/>
          <p:nvPr/>
        </p:nvSpPr>
        <p:spPr>
          <a:xfrm>
            <a:off x="6812280" y="5010912"/>
            <a:ext cx="2240280" cy="566928"/>
          </a:xfrm>
          <a:prstGeom prst="roundRect">
            <a:avLst>
              <a:gd name="adj" fmla="val 16129"/>
            </a:avLst>
          </a:prstGeom>
          <a:solidFill>
            <a:srgbClr val="0E0B1F"/>
          </a:solidFill>
          <a:ln w="12700">
            <a:solidFill>
              <a:srgbClr val="2E2759"/>
            </a:solidFill>
            <a:prstDash val="solid"/>
          </a:ln>
        </p:spPr>
      </p:sp>
      <p:sp>
        <p:nvSpPr>
          <p:cNvPr id="53" name="d0-ld1"/>
          <p:cNvSpPr/>
          <p:nvPr/>
        </p:nvSpPr>
        <p:spPr>
          <a:xfrm>
            <a:off x="6949440" y="5221224"/>
            <a:ext cx="146304" cy="146304"/>
          </a:xfrm>
          <a:prstGeom prst="ellipse">
            <a:avLst/>
          </a:prstGeom>
          <a:solidFill>
            <a:srgbClr val="2BD9A0"/>
          </a:solidFill>
          <a:ln/>
        </p:spPr>
      </p:sp>
      <p:sp>
        <p:nvSpPr>
          <p:cNvPr id="54" name="d0-lm1"/>
          <p:cNvSpPr txBox="1"/>
          <p:nvPr/>
        </p:nvSpPr>
        <p:spPr>
          <a:xfrm>
            <a:off x="7196328" y="5056632"/>
            <a:ext cx="1810512" cy="219456"/>
          </a:xfrm>
          <a:prstGeom prst="rect">
            <a:avLst/>
          </a:prstGeom>
          <a:noFill/>
          <a:ln/>
        </p:spPr>
        <p:txBody>
          <a:bodyPr wrap="square" lIns="0" tIns="0" rIns="0" bIns="0" rtlCol="0" anchor="t"/>
          <a:lstStyle/>
          <a:p>
            <a:pPr indent="0" marL="0">
              <a:buNone/>
            </a:pPr>
            <a:r>
              <a:rPr lang="en-US" sz="1050" b="1" dirty="0">
                <a:solidFill>
                  <a:srgbClr val="F2EFFF"/>
                </a:solidFill>
                <a:latin typeface="Poppins" pitchFamily="34" charset="0"/>
                <a:ea typeface="Poppins" pitchFamily="34" charset="-122"/>
                <a:cs typeface="Poppins" pitchFamily="34" charset="-120"/>
              </a:rPr>
              <a:t>GPT-OSS 120B</a:t>
            </a:r>
            <a:endParaRPr lang="en-US" sz="1050" dirty="0"/>
          </a:p>
        </p:txBody>
      </p:sp>
      <p:sp>
        <p:nvSpPr>
          <p:cNvPr id="55" name="d0-ls1"/>
          <p:cNvSpPr txBox="1"/>
          <p:nvPr/>
        </p:nvSpPr>
        <p:spPr>
          <a:xfrm>
            <a:off x="7196328" y="5285232"/>
            <a:ext cx="1828800" cy="237744"/>
          </a:xfrm>
          <a:prstGeom prst="rect">
            <a:avLst/>
          </a:prstGeom>
          <a:noFill/>
          <a:ln/>
        </p:spPr>
        <p:txBody>
          <a:bodyPr wrap="square" lIns="0" tIns="0" rIns="0" bIns="0" rtlCol="0" anchor="t"/>
          <a:lstStyle/>
          <a:p>
            <a:pPr indent="0" marL="0">
              <a:buNone/>
            </a:pPr>
            <a:r>
              <a:rPr lang="en-US" sz="850" dirty="0">
                <a:solidFill>
                  <a:srgbClr val="A9A3CF"/>
                </a:solidFill>
                <a:latin typeface="Poppins" pitchFamily="34" charset="0"/>
                <a:ea typeface="Poppins" pitchFamily="34" charset="-122"/>
                <a:cs typeface="Poppins" pitchFamily="34" charset="-120"/>
              </a:rPr>
              <a:t>Passed 6 of 6</a:t>
            </a:r>
            <a:endParaRPr lang="en-US" sz="850" dirty="0"/>
          </a:p>
        </p:txBody>
      </p:sp>
      <p:sp>
        <p:nvSpPr>
          <p:cNvPr id="56" name="d0-lc2"/>
          <p:cNvSpPr/>
          <p:nvPr/>
        </p:nvSpPr>
        <p:spPr>
          <a:xfrm>
            <a:off x="9189720" y="5010912"/>
            <a:ext cx="2240280" cy="566928"/>
          </a:xfrm>
          <a:prstGeom prst="roundRect">
            <a:avLst>
              <a:gd name="adj" fmla="val 16129"/>
            </a:avLst>
          </a:prstGeom>
          <a:solidFill>
            <a:srgbClr val="0E0B1F"/>
          </a:solidFill>
          <a:ln w="12700">
            <a:solidFill>
              <a:srgbClr val="2E2759"/>
            </a:solidFill>
            <a:prstDash val="solid"/>
          </a:ln>
        </p:spPr>
      </p:sp>
      <p:sp>
        <p:nvSpPr>
          <p:cNvPr id="57" name="d0-ld2"/>
          <p:cNvSpPr/>
          <p:nvPr/>
        </p:nvSpPr>
        <p:spPr>
          <a:xfrm>
            <a:off x="9326880" y="5221224"/>
            <a:ext cx="146304" cy="146304"/>
          </a:xfrm>
          <a:prstGeom prst="ellipse">
            <a:avLst/>
          </a:prstGeom>
          <a:solidFill>
            <a:srgbClr val="2BD9A0"/>
          </a:solidFill>
          <a:ln/>
        </p:spPr>
      </p:sp>
      <p:sp>
        <p:nvSpPr>
          <p:cNvPr id="58" name="d0-lm2"/>
          <p:cNvSpPr txBox="1"/>
          <p:nvPr/>
        </p:nvSpPr>
        <p:spPr>
          <a:xfrm>
            <a:off x="9573768" y="5056632"/>
            <a:ext cx="1810512" cy="219456"/>
          </a:xfrm>
          <a:prstGeom prst="rect">
            <a:avLst/>
          </a:prstGeom>
          <a:noFill/>
          <a:ln/>
        </p:spPr>
        <p:txBody>
          <a:bodyPr wrap="square" lIns="0" tIns="0" rIns="0" bIns="0" rtlCol="0" anchor="t"/>
          <a:lstStyle/>
          <a:p>
            <a:pPr indent="0" marL="0">
              <a:buNone/>
            </a:pPr>
            <a:r>
              <a:rPr lang="en-US" sz="1050" b="1" dirty="0">
                <a:solidFill>
                  <a:srgbClr val="F2EFFF"/>
                </a:solidFill>
                <a:latin typeface="Poppins" pitchFamily="34" charset="0"/>
                <a:ea typeface="Poppins" pitchFamily="34" charset="-122"/>
                <a:cs typeface="Poppins" pitchFamily="34" charset="-120"/>
              </a:rPr>
              <a:t>GPT-OSS 20B</a:t>
            </a:r>
            <a:endParaRPr lang="en-US" sz="1050" dirty="0"/>
          </a:p>
        </p:txBody>
      </p:sp>
      <p:sp>
        <p:nvSpPr>
          <p:cNvPr id="59" name="d0-ls2"/>
          <p:cNvSpPr txBox="1"/>
          <p:nvPr/>
        </p:nvSpPr>
        <p:spPr>
          <a:xfrm>
            <a:off x="9573768" y="5285232"/>
            <a:ext cx="1828800" cy="237744"/>
          </a:xfrm>
          <a:prstGeom prst="rect">
            <a:avLst/>
          </a:prstGeom>
          <a:noFill/>
          <a:ln/>
        </p:spPr>
        <p:txBody>
          <a:bodyPr wrap="square" lIns="0" tIns="0" rIns="0" bIns="0" rtlCol="0" anchor="t"/>
          <a:lstStyle/>
          <a:p>
            <a:pPr indent="0" marL="0">
              <a:buNone/>
            </a:pPr>
            <a:r>
              <a:rPr lang="en-US" sz="850" dirty="0">
                <a:solidFill>
                  <a:srgbClr val="A9A3CF"/>
                </a:solidFill>
                <a:latin typeface="Poppins" pitchFamily="34" charset="0"/>
                <a:ea typeface="Poppins" pitchFamily="34" charset="-122"/>
                <a:cs typeface="Poppins" pitchFamily="34" charset="-120"/>
              </a:rPr>
              <a:t>Passed 6 of 6</a:t>
            </a:r>
            <a:endParaRPr lang="en-US" sz="850" dirty="0"/>
          </a:p>
        </p:txBody>
      </p:sp>
      <p:sp>
        <p:nvSpPr>
          <p:cNvPr id="60" name="d0-cap"/>
          <p:cNvSpPr txBox="1"/>
          <p:nvPr/>
        </p:nvSpPr>
        <p:spPr>
          <a:xfrm>
            <a:off x="4434840" y="5623560"/>
            <a:ext cx="7040880" cy="365760"/>
          </a:xfrm>
          <a:prstGeom prst="rect">
            <a:avLst/>
          </a:prstGeom>
          <a:noFill/>
          <a:ln/>
        </p:spPr>
        <p:txBody>
          <a:bodyPr wrap="square" lIns="0" tIns="0" rIns="0" bIns="0" rtlCol="0" anchor="ctr"/>
          <a:lstStyle/>
          <a:p>
            <a:pPr indent="0" marL="0">
              <a:buNone/>
            </a:pPr>
            <a:r>
              <a:rPr lang="en-US" sz="1050" b="1" dirty="0">
                <a:solidFill>
                  <a:srgbClr val="2BD9A0"/>
                </a:solidFill>
                <a:latin typeface="Poppins" pitchFamily="34" charset="0"/>
                <a:ea typeface="Poppins" pitchFamily="34" charset="-122"/>
                <a:cs typeface="Poppins" pitchFamily="34" charset="-120"/>
              </a:rPr>
              <a:t>Clean English: all three models pass.</a:t>
            </a:r>
            <a:endParaRPr lang="en-US" sz="1050" dirty="0"/>
          </a:p>
        </p:txBody>
      </p:sp>
      <p:sp>
        <p:nvSpPr>
          <p:cNvPr id="61" name="d1-ind"/>
          <p:cNvSpPr/>
          <p:nvPr/>
        </p:nvSpPr>
        <p:spPr>
          <a:xfrm>
            <a:off x="6446520" y="3172968"/>
            <a:ext cx="1143000" cy="54864"/>
          </a:xfrm>
          <a:prstGeom prst="rect">
            <a:avLst/>
          </a:prstGeom>
          <a:solidFill>
            <a:srgbClr val="FF9F1C"/>
          </a:solidFill>
          <a:ln/>
        </p:spPr>
      </p:sp>
      <p:sp>
        <p:nvSpPr>
          <p:cNvPr id="62" name="d1-cover"/>
          <p:cNvSpPr/>
          <p:nvPr/>
        </p:nvSpPr>
        <p:spPr>
          <a:xfrm>
            <a:off x="4343400" y="3291840"/>
            <a:ext cx="7223760" cy="2724912"/>
          </a:xfrm>
          <a:prstGeom prst="rect">
            <a:avLst/>
          </a:prstGeom>
          <a:solidFill>
            <a:srgbClr val="17132E"/>
          </a:solidFill>
          <a:ln/>
        </p:spPr>
      </p:sp>
      <p:sp>
        <p:nvSpPr>
          <p:cNvPr id="63" name="d1-pbox"/>
          <p:cNvSpPr/>
          <p:nvPr/>
        </p:nvSpPr>
        <p:spPr>
          <a:xfrm>
            <a:off x="4434840" y="3310128"/>
            <a:ext cx="7040880" cy="1280160"/>
          </a:xfrm>
          <a:prstGeom prst="roundRect">
            <a:avLst>
              <a:gd name="adj" fmla="val 7143"/>
            </a:avLst>
          </a:prstGeom>
          <a:solidFill>
            <a:srgbClr val="0E0B1F"/>
          </a:solidFill>
          <a:ln w="12700">
            <a:solidFill>
              <a:srgbClr val="2E2759"/>
            </a:solidFill>
            <a:prstDash val="solid"/>
          </a:ln>
        </p:spPr>
      </p:sp>
      <p:sp>
        <p:nvSpPr>
          <p:cNvPr id="64" name="d1-prompt"/>
          <p:cNvSpPr txBox="1"/>
          <p:nvPr/>
        </p:nvSpPr>
        <p:spPr>
          <a:xfrm>
            <a:off x="4599432" y="3383280"/>
            <a:ext cx="6720840" cy="1143000"/>
          </a:xfrm>
          <a:prstGeom prst="rect">
            <a:avLst/>
          </a:prstGeom>
          <a:noFill/>
          <a:ln/>
        </p:spPr>
        <p:txBody>
          <a:bodyPr wrap="square" lIns="0" tIns="0" rIns="0" bIns="0" rtlCol="0" anchor="ctr"/>
          <a:lstStyle/>
          <a:p>
            <a:pPr indent="0" marL="0">
              <a:buNone/>
            </a:pPr>
            <a:r>
              <a:rPr lang="en-US" sz="1150" b="1" dirty="0">
                <a:solidFill>
                  <a:srgbClr val="FF9F1C"/>
                </a:solidFill>
                <a:latin typeface="Poppins" pitchFamily="34" charset="0"/>
                <a:ea typeface="Poppins" pitchFamily="34" charset="-122"/>
                <a:cs typeface="Poppins" pitchFamily="34" charset="-120"/>
              </a:rPr>
              <a:t>bhai </a:t>
            </a:r>
            <a:pPr indent="0" marL="0">
              <a:buNone/>
            </a:pPr>
            <a:r>
              <a:rPr lang="en-US" sz="1050" dirty="0">
                <a:solidFill>
                  <a:srgbClr val="C9C2FF"/>
                </a:solidFill>
                <a:latin typeface="Consolas" pitchFamily="34" charset="0"/>
                <a:ea typeface="Consolas" pitchFamily="34" charset="-122"/>
                <a:cs typeface="Consolas" pitchFamily="34" charset="-120"/>
              </a:rPr>
              <a:t>indian_format </a:t>
            </a:r>
            <a:pPr indent="0" marL="0">
              <a:buNone/>
            </a:pPr>
            <a:r>
              <a:rPr lang="en-US" sz="1150" b="1" dirty="0">
                <a:solidFill>
                  <a:srgbClr val="FF9F1C"/>
                </a:solidFill>
                <a:latin typeface="Poppins" pitchFamily="34" charset="0"/>
                <a:ea typeface="Poppins" pitchFamily="34" charset="-122"/>
                <a:cs typeface="Poppins" pitchFamily="34" charset="-120"/>
              </a:rPr>
              <a:t>naam </a:t>
            </a:r>
            <a:pPr indent="0" marL="0">
              <a:buNone/>
            </a:pPr>
            <a:r>
              <a:rPr lang="en-US" sz="1150" b="1" dirty="0">
                <a:solidFill>
                  <a:srgbClr val="FF9F1C"/>
                </a:solidFill>
                <a:latin typeface="Poppins" pitchFamily="34" charset="0"/>
                <a:ea typeface="Poppins" pitchFamily="34" charset="-122"/>
                <a:cs typeface="Poppins" pitchFamily="34" charset="-120"/>
              </a:rPr>
              <a:t>ka </a:t>
            </a:r>
            <a:pPr indent="0" marL="0">
              <a:buNone/>
            </a:pPr>
            <a:r>
              <a:rPr lang="en-US" sz="1150" dirty="0">
                <a:solidFill>
                  <a:srgbClr val="F2EFFF"/>
                </a:solidFill>
                <a:latin typeface="Poppins" pitchFamily="34" charset="0"/>
                <a:ea typeface="Poppins" pitchFamily="34" charset="-122"/>
                <a:cs typeface="Poppins" pitchFamily="34" charset="-120"/>
              </a:rPr>
              <a:t>python </a:t>
            </a:r>
            <a:pPr indent="0" marL="0">
              <a:buNone/>
            </a:pPr>
            <a:r>
              <a:rPr lang="en-US" sz="1150" dirty="0">
                <a:solidFill>
                  <a:srgbClr val="F2EFFF"/>
                </a:solidFill>
                <a:latin typeface="Poppins" pitchFamily="34" charset="0"/>
                <a:ea typeface="Poppins" pitchFamily="34" charset="-122"/>
                <a:cs typeface="Poppins" pitchFamily="34" charset="-120"/>
              </a:rPr>
              <a:t>fn </a:t>
            </a:r>
            <a:pPr indent="0" marL="0">
              <a:buNone/>
            </a:pPr>
            <a:r>
              <a:rPr lang="en-US" sz="1150" b="1" dirty="0">
                <a:solidFill>
                  <a:srgbClr val="FF9F1C"/>
                </a:solidFill>
                <a:latin typeface="Poppins" pitchFamily="34" charset="0"/>
                <a:ea typeface="Poppins" pitchFamily="34" charset="-122"/>
                <a:cs typeface="Poppins" pitchFamily="34" charset="-120"/>
              </a:rPr>
              <a:t>bana, </a:t>
            </a:r>
            <a:pPr indent="0" marL="0">
              <a:buNone/>
            </a:pPr>
            <a:r>
              <a:rPr lang="en-US" sz="1150" dirty="0">
                <a:solidFill>
                  <a:srgbClr val="F2EFFF"/>
                </a:solidFill>
                <a:latin typeface="Poppins" pitchFamily="34" charset="0"/>
                <a:ea typeface="Poppins" pitchFamily="34" charset="-122"/>
                <a:cs typeface="Poppins" pitchFamily="34" charset="-120"/>
              </a:rPr>
              <a:t>non </a:t>
            </a:r>
            <a:pPr indent="0" marL="0">
              <a:buNone/>
            </a:pPr>
            <a:r>
              <a:rPr lang="en-US" sz="1150" dirty="0">
                <a:solidFill>
                  <a:srgbClr val="F2EFFF"/>
                </a:solidFill>
                <a:latin typeface="Poppins" pitchFamily="34" charset="0"/>
                <a:ea typeface="Poppins" pitchFamily="34" charset="-122"/>
                <a:cs typeface="Poppins" pitchFamily="34" charset="-120"/>
              </a:rPr>
              <a:t>negative </a:t>
            </a:r>
            <a:pPr indent="0" marL="0">
              <a:buNone/>
            </a:pPr>
            <a:r>
              <a:rPr lang="en-US" sz="1150" dirty="0">
                <a:solidFill>
                  <a:srgbClr val="F2EFFF"/>
                </a:solidFill>
                <a:latin typeface="Poppins" pitchFamily="34" charset="0"/>
                <a:ea typeface="Poppins" pitchFamily="34" charset="-122"/>
                <a:cs typeface="Poppins" pitchFamily="34" charset="-120"/>
              </a:rPr>
              <a:t>number </a:t>
            </a:r>
            <a:pPr indent="0" marL="0">
              <a:buNone/>
            </a:pPr>
            <a:r>
              <a:rPr lang="en-US" sz="1150" b="1" dirty="0">
                <a:solidFill>
                  <a:srgbClr val="FF9F1C"/>
                </a:solidFill>
                <a:latin typeface="Poppins" pitchFamily="34" charset="0"/>
                <a:ea typeface="Poppins" pitchFamily="34" charset="-122"/>
                <a:cs typeface="Poppins" pitchFamily="34" charset="-120"/>
              </a:rPr>
              <a:t>lega </a:t>
            </a:r>
            <a:pPr indent="0" marL="0">
              <a:buNone/>
            </a:pPr>
            <a:r>
              <a:rPr lang="en-US" sz="1150" b="1" dirty="0">
                <a:solidFill>
                  <a:srgbClr val="FF9F1C"/>
                </a:solidFill>
                <a:latin typeface="Poppins" pitchFamily="34" charset="0"/>
                <a:ea typeface="Poppins" pitchFamily="34" charset="-122"/>
                <a:cs typeface="Poppins" pitchFamily="34" charset="-120"/>
              </a:rPr>
              <a:t>aur </a:t>
            </a:r>
            <a:pPr indent="0" marL="0">
              <a:buNone/>
            </a:pPr>
            <a:r>
              <a:rPr lang="en-US" sz="1150" dirty="0">
                <a:solidFill>
                  <a:srgbClr val="F2EFFF"/>
                </a:solidFill>
                <a:latin typeface="Poppins" pitchFamily="34" charset="0"/>
                <a:ea typeface="Poppins" pitchFamily="34" charset="-122"/>
                <a:cs typeface="Poppins" pitchFamily="34" charset="-120"/>
              </a:rPr>
              <a:t>indian </a:t>
            </a:r>
            <a:pPr indent="0" marL="0">
              <a:buNone/>
            </a:pPr>
            <a:r>
              <a:rPr lang="en-US" sz="1150" dirty="0">
                <a:solidFill>
                  <a:srgbClr val="F2EFFF"/>
                </a:solidFill>
                <a:latin typeface="Poppins" pitchFamily="34" charset="0"/>
                <a:ea typeface="Poppins" pitchFamily="34" charset="-122"/>
                <a:cs typeface="Poppins" pitchFamily="34" charset="-120"/>
              </a:rPr>
              <a:t>style </a:t>
            </a:r>
            <a:pPr indent="0" marL="0">
              <a:buNone/>
            </a:pPr>
            <a:r>
              <a:rPr lang="en-US" sz="1150" dirty="0">
                <a:solidFill>
                  <a:srgbClr val="F2EFFF"/>
                </a:solidFill>
                <a:latin typeface="Poppins" pitchFamily="34" charset="0"/>
                <a:ea typeface="Poppins" pitchFamily="34" charset="-122"/>
                <a:cs typeface="Poppins" pitchFamily="34" charset="-120"/>
              </a:rPr>
              <a:t>commas </a:t>
            </a:r>
            <a:pPr indent="0" marL="0">
              <a:buNone/>
            </a:pPr>
            <a:r>
              <a:rPr lang="en-US" sz="1150" b="1" dirty="0">
                <a:solidFill>
                  <a:srgbClr val="FF9F1C"/>
                </a:solidFill>
                <a:latin typeface="Poppins" pitchFamily="34" charset="0"/>
                <a:ea typeface="Poppins" pitchFamily="34" charset="-122"/>
                <a:cs typeface="Poppins" pitchFamily="34" charset="-120"/>
              </a:rPr>
              <a:t>laga </a:t>
            </a:r>
            <a:pPr indent="0" marL="0">
              <a:buNone/>
            </a:pPr>
            <a:r>
              <a:rPr lang="en-US" sz="1150" b="1" dirty="0">
                <a:solidFill>
                  <a:srgbClr val="FF9F1C"/>
                </a:solidFill>
                <a:latin typeface="Poppins" pitchFamily="34" charset="0"/>
                <a:ea typeface="Poppins" pitchFamily="34" charset="-122"/>
                <a:cs typeface="Poppins" pitchFamily="34" charset="-120"/>
              </a:rPr>
              <a:t>ke </a:t>
            </a:r>
            <a:pPr indent="0" marL="0">
              <a:buNone/>
            </a:pPr>
            <a:r>
              <a:rPr lang="en-US" sz="1150" dirty="0">
                <a:solidFill>
                  <a:srgbClr val="F2EFFF"/>
                </a:solidFill>
                <a:latin typeface="Poppins" pitchFamily="34" charset="0"/>
                <a:ea typeface="Poppins" pitchFamily="34" charset="-122"/>
                <a:cs typeface="Poppins" pitchFamily="34" charset="-120"/>
              </a:rPr>
              <a:t>string </a:t>
            </a:r>
            <a:pPr indent="0" marL="0">
              <a:buNone/>
            </a:pPr>
            <a:r>
              <a:rPr lang="en-US" sz="1150" dirty="0">
                <a:solidFill>
                  <a:srgbClr val="F2EFFF"/>
                </a:solidFill>
                <a:latin typeface="Poppins" pitchFamily="34" charset="0"/>
                <a:ea typeface="Poppins" pitchFamily="34" charset="-122"/>
                <a:cs typeface="Poppins" pitchFamily="34" charset="-120"/>
              </a:rPr>
              <a:t>return </a:t>
            </a:r>
            <a:pPr indent="0" marL="0">
              <a:buNone/>
            </a:pPr>
            <a:r>
              <a:rPr lang="en-US" sz="1150" b="1" dirty="0">
                <a:solidFill>
                  <a:srgbClr val="FF9F1C"/>
                </a:solidFill>
                <a:latin typeface="Poppins" pitchFamily="34" charset="0"/>
                <a:ea typeface="Poppins" pitchFamily="34" charset="-122"/>
                <a:cs typeface="Poppins" pitchFamily="34" charset="-120"/>
              </a:rPr>
              <a:t>karega, </a:t>
            </a:r>
            <a:pPr indent="0" marL="0">
              <a:buNone/>
            </a:pPr>
            <a:r>
              <a:rPr lang="en-US" sz="1150" dirty="0">
                <a:solidFill>
                  <a:srgbClr val="F2EFFF"/>
                </a:solidFill>
                <a:latin typeface="Poppins" pitchFamily="34" charset="0"/>
                <a:ea typeface="Poppins" pitchFamily="34" charset="-122"/>
                <a:cs typeface="Poppins" pitchFamily="34" charset="-120"/>
              </a:rPr>
              <a:t>last </a:t>
            </a:r>
            <a:pPr indent="0" marL="0">
              <a:buNone/>
            </a:pPr>
            <a:r>
              <a:rPr lang="en-US" sz="1150" b="1" dirty="0">
                <a:solidFill>
                  <a:srgbClr val="FF9F1C"/>
                </a:solidFill>
                <a:latin typeface="Poppins" pitchFamily="34" charset="0"/>
                <a:ea typeface="Poppins" pitchFamily="34" charset="-122"/>
                <a:cs typeface="Poppins" pitchFamily="34" charset="-120"/>
              </a:rPr>
              <a:t>ke </a:t>
            </a:r>
            <a:pPr indent="0" marL="0">
              <a:buNone/>
            </a:pPr>
            <a:r>
              <a:rPr lang="en-US" sz="1050" dirty="0">
                <a:solidFill>
                  <a:srgbClr val="C9C2FF"/>
                </a:solidFill>
                <a:latin typeface="Consolas" pitchFamily="34" charset="0"/>
                <a:ea typeface="Consolas" pitchFamily="34" charset="-122"/>
                <a:cs typeface="Consolas" pitchFamily="34" charset="-120"/>
              </a:rPr>
              <a:t>3 </a:t>
            </a:r>
            <a:pPr indent="0" marL="0">
              <a:buNone/>
            </a:pPr>
            <a:r>
              <a:rPr lang="en-US" sz="1150" dirty="0">
                <a:solidFill>
                  <a:srgbClr val="F2EFFF"/>
                </a:solidFill>
                <a:latin typeface="Poppins" pitchFamily="34" charset="0"/>
                <a:ea typeface="Poppins" pitchFamily="34" charset="-122"/>
                <a:cs typeface="Poppins" pitchFamily="34" charset="-120"/>
              </a:rPr>
              <a:t>digits </a:t>
            </a:r>
            <a:pPr indent="0" marL="0">
              <a:buNone/>
            </a:pPr>
            <a:r>
              <a:rPr lang="en-US" sz="1150" b="1" dirty="0">
                <a:solidFill>
                  <a:srgbClr val="FF9F1C"/>
                </a:solidFill>
                <a:latin typeface="Poppins" pitchFamily="34" charset="0"/>
                <a:ea typeface="Poppins" pitchFamily="34" charset="-122"/>
                <a:cs typeface="Poppins" pitchFamily="34" charset="-120"/>
              </a:rPr>
              <a:t>ek </a:t>
            </a:r>
            <a:pPr indent="0" marL="0">
              <a:buNone/>
            </a:pPr>
            <a:r>
              <a:rPr lang="en-US" sz="1150" dirty="0">
                <a:solidFill>
                  <a:srgbClr val="F2EFFF"/>
                </a:solidFill>
                <a:latin typeface="Poppins" pitchFamily="34" charset="0"/>
                <a:ea typeface="Poppins" pitchFamily="34" charset="-122"/>
                <a:cs typeface="Poppins" pitchFamily="34" charset="-120"/>
              </a:rPr>
              <a:t>group </a:t>
            </a:r>
            <a:pPr indent="0" marL="0">
              <a:buNone/>
            </a:pPr>
            <a:r>
              <a:rPr lang="en-US" sz="1150" b="1" dirty="0">
                <a:solidFill>
                  <a:srgbClr val="FF9F1C"/>
                </a:solidFill>
                <a:latin typeface="Poppins" pitchFamily="34" charset="0"/>
                <a:ea typeface="Poppins" pitchFamily="34" charset="-122"/>
                <a:cs typeface="Poppins" pitchFamily="34" charset="-120"/>
              </a:rPr>
              <a:t>phir </a:t>
            </a:r>
            <a:pPr indent="0" marL="0">
              <a:buNone/>
            </a:pPr>
            <a:r>
              <a:rPr lang="en-US" sz="1150" b="1" dirty="0">
                <a:solidFill>
                  <a:srgbClr val="FF9F1C"/>
                </a:solidFill>
                <a:latin typeface="Poppins" pitchFamily="34" charset="0"/>
                <a:ea typeface="Poppins" pitchFamily="34" charset="-122"/>
                <a:cs typeface="Poppins" pitchFamily="34" charset="-120"/>
              </a:rPr>
              <a:t>usse </a:t>
            </a:r>
            <a:pPr indent="0" marL="0">
              <a:buNone/>
            </a:pPr>
            <a:r>
              <a:rPr lang="en-US" sz="1150" b="1" dirty="0">
                <a:solidFill>
                  <a:srgbClr val="FF9F1C"/>
                </a:solidFill>
                <a:latin typeface="Poppins" pitchFamily="34" charset="0"/>
                <a:ea typeface="Poppins" pitchFamily="34" charset="-122"/>
                <a:cs typeface="Poppins" pitchFamily="34" charset="-120"/>
              </a:rPr>
              <a:t>pehle </a:t>
            </a:r>
            <a:pPr indent="0" marL="0">
              <a:buNone/>
            </a:pPr>
            <a:r>
              <a:rPr lang="en-US" sz="1050" dirty="0">
                <a:solidFill>
                  <a:srgbClr val="C9C2FF"/>
                </a:solidFill>
                <a:latin typeface="Consolas" pitchFamily="34" charset="0"/>
                <a:ea typeface="Consolas" pitchFamily="34" charset="-122"/>
                <a:cs typeface="Consolas" pitchFamily="34" charset="-120"/>
              </a:rPr>
              <a:t>2-2 </a:t>
            </a:r>
            <a:pPr indent="0" marL="0">
              <a:buNone/>
            </a:pPr>
            <a:r>
              <a:rPr lang="en-US" sz="1150" dirty="0">
                <a:solidFill>
                  <a:srgbClr val="F2EFFF"/>
                </a:solidFill>
                <a:latin typeface="Poppins" pitchFamily="34" charset="0"/>
                <a:ea typeface="Poppins" pitchFamily="34" charset="-122"/>
                <a:cs typeface="Poppins" pitchFamily="34" charset="-120"/>
              </a:rPr>
              <a:t>digits </a:t>
            </a:r>
            <a:pPr indent="0" marL="0">
              <a:buNone/>
            </a:pPr>
            <a:r>
              <a:rPr lang="en-US" sz="1150" b="1" dirty="0">
                <a:solidFill>
                  <a:srgbClr val="FF9F1C"/>
                </a:solidFill>
                <a:latin typeface="Poppins" pitchFamily="34" charset="0"/>
                <a:ea typeface="Poppins" pitchFamily="34" charset="-122"/>
                <a:cs typeface="Poppins" pitchFamily="34" charset="-120"/>
              </a:rPr>
              <a:t>ke </a:t>
            </a:r>
            <a:pPr indent="0" marL="0">
              <a:buNone/>
            </a:pPr>
            <a:r>
              <a:rPr lang="en-US" sz="1150" dirty="0">
                <a:solidFill>
                  <a:srgbClr val="F2EFFF"/>
                </a:solidFill>
                <a:latin typeface="Poppins" pitchFamily="34" charset="0"/>
                <a:ea typeface="Poppins" pitchFamily="34" charset="-122"/>
                <a:cs typeface="Poppins" pitchFamily="34" charset="-120"/>
              </a:rPr>
              <a:t>group, </a:t>
            </a:r>
            <a:pPr indent="0" marL="0">
              <a:buNone/>
            </a:pPr>
            <a:r>
              <a:rPr lang="en-US" sz="1050" dirty="0">
                <a:solidFill>
                  <a:srgbClr val="C9C2FF"/>
                </a:solidFill>
                <a:latin typeface="Consolas" pitchFamily="34" charset="0"/>
                <a:ea typeface="Consolas" pitchFamily="34" charset="-122"/>
                <a:cs typeface="Consolas" pitchFamily="34" charset="-120"/>
              </a:rPr>
              <a:t>1000 </a:t>
            </a:r>
            <a:pPr indent="0" marL="0">
              <a:buNone/>
            </a:pPr>
            <a:r>
              <a:rPr lang="en-US" sz="1150" b="1" dirty="0">
                <a:solidFill>
                  <a:srgbClr val="FF9F1C"/>
                </a:solidFill>
                <a:latin typeface="Poppins" pitchFamily="34" charset="0"/>
                <a:ea typeface="Poppins" pitchFamily="34" charset="-122"/>
                <a:cs typeface="Poppins" pitchFamily="34" charset="-120"/>
              </a:rPr>
              <a:t>se </a:t>
            </a:r>
            <a:pPr indent="0" marL="0">
              <a:buNone/>
            </a:pPr>
            <a:r>
              <a:rPr lang="en-US" sz="1150" b="1" dirty="0">
                <a:solidFill>
                  <a:srgbClr val="FF9F1C"/>
                </a:solidFill>
                <a:latin typeface="Poppins" pitchFamily="34" charset="0"/>
                <a:ea typeface="Poppins" pitchFamily="34" charset="-122"/>
                <a:cs typeface="Poppins" pitchFamily="34" charset="-120"/>
              </a:rPr>
              <a:t>chhote </a:t>
            </a:r>
            <a:pPr indent="0" marL="0">
              <a:buNone/>
            </a:pPr>
            <a:r>
              <a:rPr lang="en-US" sz="1150" dirty="0">
                <a:solidFill>
                  <a:srgbClr val="F2EFFF"/>
                </a:solidFill>
                <a:latin typeface="Poppins" pitchFamily="34" charset="0"/>
                <a:ea typeface="Poppins" pitchFamily="34" charset="-122"/>
                <a:cs typeface="Poppins" pitchFamily="34" charset="-120"/>
              </a:rPr>
              <a:t>number </a:t>
            </a:r>
            <a:pPr indent="0" marL="0">
              <a:buNone/>
            </a:pPr>
            <a:r>
              <a:rPr lang="en-US" sz="1150" b="1" dirty="0">
                <a:solidFill>
                  <a:srgbClr val="FF9F1C"/>
                </a:solidFill>
                <a:latin typeface="Poppins" pitchFamily="34" charset="0"/>
                <a:ea typeface="Poppins" pitchFamily="34" charset="-122"/>
                <a:cs typeface="Poppins" pitchFamily="34" charset="-120"/>
              </a:rPr>
              <a:t>mein </a:t>
            </a:r>
            <a:pPr indent="0" marL="0">
              <a:buNone/>
            </a:pPr>
            <a:r>
              <a:rPr lang="en-US" sz="1150" b="1" dirty="0">
                <a:solidFill>
                  <a:srgbClr val="FF9F1C"/>
                </a:solidFill>
                <a:latin typeface="Poppins" pitchFamily="34" charset="0"/>
                <a:ea typeface="Poppins" pitchFamily="34" charset="-122"/>
                <a:cs typeface="Poppins" pitchFamily="34" charset="-120"/>
              </a:rPr>
              <a:t>comma </a:t>
            </a:r>
            <a:pPr indent="0" marL="0">
              <a:buNone/>
            </a:pPr>
            <a:r>
              <a:rPr lang="en-US" sz="1150" b="1" dirty="0">
                <a:solidFill>
                  <a:srgbClr val="FF9F1C"/>
                </a:solidFill>
                <a:latin typeface="Poppins" pitchFamily="34" charset="0"/>
                <a:ea typeface="Poppins" pitchFamily="34" charset="-122"/>
                <a:cs typeface="Poppins" pitchFamily="34" charset="-120"/>
              </a:rPr>
              <a:t>nahi. </a:t>
            </a:r>
            <a:pPr indent="0" marL="0">
              <a:buNone/>
            </a:pPr>
            <a:r>
              <a:rPr lang="en-US" sz="1150" b="1" dirty="0">
                <a:solidFill>
                  <a:srgbClr val="FF9F1C"/>
                </a:solidFill>
                <a:latin typeface="Poppins" pitchFamily="34" charset="0"/>
                <a:ea typeface="Poppins" pitchFamily="34" charset="-122"/>
                <a:cs typeface="Poppins" pitchFamily="34" charset="-120"/>
              </a:rPr>
              <a:t>sirf </a:t>
            </a:r>
            <a:pPr indent="0" marL="0">
              <a:buNone/>
            </a:pPr>
            <a:r>
              <a:rPr lang="en-US" sz="1150" dirty="0">
                <a:solidFill>
                  <a:srgbClr val="F2EFFF"/>
                </a:solidFill>
                <a:latin typeface="Poppins" pitchFamily="34" charset="0"/>
                <a:ea typeface="Poppins" pitchFamily="34" charset="-122"/>
                <a:cs typeface="Poppins" pitchFamily="34" charset="-120"/>
              </a:rPr>
              <a:t>code </a:t>
            </a:r>
            <a:pPr indent="0" marL="0">
              <a:buNone/>
            </a:pPr>
            <a:r>
              <a:rPr lang="en-US" sz="1150" b="1" dirty="0">
                <a:solidFill>
                  <a:srgbClr val="FF9F1C"/>
                </a:solidFill>
                <a:latin typeface="Poppins" pitchFamily="34" charset="0"/>
                <a:ea typeface="Poppins" pitchFamily="34" charset="-122"/>
                <a:cs typeface="Poppins" pitchFamily="34" charset="-120"/>
              </a:rPr>
              <a:t>de</a:t>
            </a:r>
            <a:endParaRPr lang="en-US" sz="1300" dirty="0"/>
          </a:p>
        </p:txBody>
      </p:sp>
      <p:sp>
        <p:nvSpPr>
          <p:cNvPr id="65" name="d1-mtxt"/>
          <p:cNvSpPr txBox="1"/>
          <p:nvPr/>
        </p:nvSpPr>
        <p:spPr>
          <a:xfrm>
            <a:off x="4434840" y="4663440"/>
            <a:ext cx="2926080" cy="274320"/>
          </a:xfrm>
          <a:prstGeom prst="rect">
            <a:avLst/>
          </a:prstGeom>
          <a:noFill/>
          <a:ln/>
        </p:spPr>
        <p:txBody>
          <a:bodyPr wrap="square" lIns="0" tIns="0" rIns="0" bIns="0" rtlCol="0" anchor="ctr"/>
          <a:lstStyle/>
          <a:p>
            <a:pPr indent="0" marL="0">
              <a:buNone/>
            </a:pPr>
            <a:r>
              <a:rPr lang="en-US" sz="1400" b="1" dirty="0">
                <a:solidFill>
                  <a:srgbClr val="F2EFFF"/>
                </a:solidFill>
                <a:latin typeface="Poppins" pitchFamily="34" charset="0"/>
                <a:ea typeface="Poppins" pitchFamily="34" charset="-122"/>
                <a:cs typeface="Poppins" pitchFamily="34" charset="-120"/>
              </a:rPr>
              <a:t>56%</a:t>
            </a:r>
            <a:pPr indent="0" marL="0">
              <a:buNone/>
            </a:pPr>
            <a:r>
              <a:rPr lang="en-US" sz="1000" dirty="0">
                <a:solidFill>
                  <a:srgbClr val="A9A3CF"/>
                </a:solidFill>
                <a:latin typeface="Poppins" pitchFamily="34" charset="0"/>
                <a:ea typeface="Poppins" pitchFamily="34" charset="-122"/>
                <a:cs typeface="Poppins" pitchFamily="34" charset="-120"/>
              </a:rPr>
              <a:t>  of words not in English</a:t>
            </a:r>
            <a:endParaRPr lang="en-US" sz="1300" dirty="0"/>
          </a:p>
        </p:txBody>
      </p:sp>
      <p:sp>
        <p:nvSpPr>
          <p:cNvPr id="66" name="d1-mtrack"/>
          <p:cNvSpPr/>
          <p:nvPr/>
        </p:nvSpPr>
        <p:spPr>
          <a:xfrm>
            <a:off x="7498080" y="4754880"/>
            <a:ext cx="3977640" cy="109728"/>
          </a:xfrm>
          <a:prstGeom prst="roundRect">
            <a:avLst>
              <a:gd name="adj" fmla="val 50000"/>
            </a:avLst>
          </a:prstGeom>
          <a:solidFill>
            <a:srgbClr val="211B42"/>
          </a:solidFill>
          <a:ln/>
        </p:spPr>
      </p:sp>
      <p:sp>
        <p:nvSpPr>
          <p:cNvPr id="67" name="d1-mfill"/>
          <p:cNvSpPr/>
          <p:nvPr/>
        </p:nvSpPr>
        <p:spPr>
          <a:xfrm>
            <a:off x="7498080" y="4754880"/>
            <a:ext cx="2243797" cy="109728"/>
          </a:xfrm>
          <a:prstGeom prst="roundRect">
            <a:avLst>
              <a:gd name="adj" fmla="val 50000"/>
            </a:avLst>
          </a:prstGeom>
          <a:solidFill>
            <a:srgbClr val="FF9F1C"/>
          </a:solidFill>
          <a:ln/>
        </p:spPr>
      </p:sp>
      <p:sp>
        <p:nvSpPr>
          <p:cNvPr id="68" name="d1-lc0"/>
          <p:cNvSpPr/>
          <p:nvPr/>
        </p:nvSpPr>
        <p:spPr>
          <a:xfrm>
            <a:off x="4434840" y="5010912"/>
            <a:ext cx="2240280" cy="566928"/>
          </a:xfrm>
          <a:prstGeom prst="roundRect">
            <a:avLst>
              <a:gd name="adj" fmla="val 16129"/>
            </a:avLst>
          </a:prstGeom>
          <a:solidFill>
            <a:srgbClr val="0E0B1F"/>
          </a:solidFill>
          <a:ln w="12700">
            <a:solidFill>
              <a:srgbClr val="2E2759"/>
            </a:solidFill>
            <a:prstDash val="solid"/>
          </a:ln>
        </p:spPr>
      </p:sp>
      <p:sp>
        <p:nvSpPr>
          <p:cNvPr id="69" name="d1-ld0"/>
          <p:cNvSpPr/>
          <p:nvPr/>
        </p:nvSpPr>
        <p:spPr>
          <a:xfrm>
            <a:off x="4572000" y="5221224"/>
            <a:ext cx="146304" cy="146304"/>
          </a:xfrm>
          <a:prstGeom prst="ellipse">
            <a:avLst/>
          </a:prstGeom>
          <a:solidFill>
            <a:srgbClr val="2BD9A0"/>
          </a:solidFill>
          <a:ln/>
        </p:spPr>
      </p:sp>
      <p:sp>
        <p:nvSpPr>
          <p:cNvPr id="70" name="d1-lm0"/>
          <p:cNvSpPr txBox="1"/>
          <p:nvPr/>
        </p:nvSpPr>
        <p:spPr>
          <a:xfrm>
            <a:off x="4818888" y="5056632"/>
            <a:ext cx="1810512" cy="219456"/>
          </a:xfrm>
          <a:prstGeom prst="rect">
            <a:avLst/>
          </a:prstGeom>
          <a:noFill/>
          <a:ln/>
        </p:spPr>
        <p:txBody>
          <a:bodyPr wrap="square" lIns="0" tIns="0" rIns="0" bIns="0" rtlCol="0" anchor="t"/>
          <a:lstStyle/>
          <a:p>
            <a:pPr indent="0" marL="0">
              <a:buNone/>
            </a:pPr>
            <a:r>
              <a:rPr lang="en-US" sz="1050" b="1" dirty="0">
                <a:solidFill>
                  <a:srgbClr val="F2EFFF"/>
                </a:solidFill>
                <a:latin typeface="Poppins" pitchFamily="34" charset="0"/>
                <a:ea typeface="Poppins" pitchFamily="34" charset="-122"/>
                <a:cs typeface="Poppins" pitchFamily="34" charset="-120"/>
              </a:rPr>
              <a:t>Gemini</a:t>
            </a:r>
            <a:endParaRPr lang="en-US" sz="1050" dirty="0"/>
          </a:p>
        </p:txBody>
      </p:sp>
      <p:sp>
        <p:nvSpPr>
          <p:cNvPr id="71" name="d1-ls0"/>
          <p:cNvSpPr txBox="1"/>
          <p:nvPr/>
        </p:nvSpPr>
        <p:spPr>
          <a:xfrm>
            <a:off x="4818888" y="5285232"/>
            <a:ext cx="1828800" cy="237744"/>
          </a:xfrm>
          <a:prstGeom prst="rect">
            <a:avLst/>
          </a:prstGeom>
          <a:noFill/>
          <a:ln/>
        </p:spPr>
        <p:txBody>
          <a:bodyPr wrap="square" lIns="0" tIns="0" rIns="0" bIns="0" rtlCol="0" anchor="t"/>
          <a:lstStyle/>
          <a:p>
            <a:pPr indent="0" marL="0">
              <a:buNone/>
            </a:pPr>
            <a:r>
              <a:rPr lang="en-US" sz="850" dirty="0">
                <a:solidFill>
                  <a:srgbClr val="A9A3CF"/>
                </a:solidFill>
                <a:latin typeface="Poppins" pitchFamily="34" charset="0"/>
                <a:ea typeface="Poppins" pitchFamily="34" charset="-122"/>
                <a:cs typeface="Poppins" pitchFamily="34" charset="-120"/>
              </a:rPr>
              <a:t>Passed 6 of 6</a:t>
            </a:r>
            <a:endParaRPr lang="en-US" sz="850" dirty="0"/>
          </a:p>
        </p:txBody>
      </p:sp>
      <p:sp>
        <p:nvSpPr>
          <p:cNvPr id="72" name="d1-lc1"/>
          <p:cNvSpPr/>
          <p:nvPr/>
        </p:nvSpPr>
        <p:spPr>
          <a:xfrm>
            <a:off x="6812280" y="5010912"/>
            <a:ext cx="2240280" cy="566928"/>
          </a:xfrm>
          <a:prstGeom prst="roundRect">
            <a:avLst>
              <a:gd name="adj" fmla="val 16129"/>
            </a:avLst>
          </a:prstGeom>
          <a:solidFill>
            <a:srgbClr val="0E0B1F"/>
          </a:solidFill>
          <a:ln w="12700">
            <a:solidFill>
              <a:srgbClr val="FF5C7A"/>
            </a:solidFill>
            <a:prstDash val="solid"/>
          </a:ln>
        </p:spPr>
      </p:sp>
      <p:sp>
        <p:nvSpPr>
          <p:cNvPr id="73" name="d1-ld1"/>
          <p:cNvSpPr/>
          <p:nvPr/>
        </p:nvSpPr>
        <p:spPr>
          <a:xfrm>
            <a:off x="6949440" y="5221224"/>
            <a:ext cx="146304" cy="146304"/>
          </a:xfrm>
          <a:prstGeom prst="ellipse">
            <a:avLst/>
          </a:prstGeom>
          <a:solidFill>
            <a:srgbClr val="FF5C7A"/>
          </a:solidFill>
          <a:ln/>
        </p:spPr>
      </p:sp>
      <p:sp>
        <p:nvSpPr>
          <p:cNvPr id="74" name="d1-lm1"/>
          <p:cNvSpPr txBox="1"/>
          <p:nvPr/>
        </p:nvSpPr>
        <p:spPr>
          <a:xfrm>
            <a:off x="7196328" y="5056632"/>
            <a:ext cx="1810512" cy="219456"/>
          </a:xfrm>
          <a:prstGeom prst="rect">
            <a:avLst/>
          </a:prstGeom>
          <a:noFill/>
          <a:ln/>
        </p:spPr>
        <p:txBody>
          <a:bodyPr wrap="square" lIns="0" tIns="0" rIns="0" bIns="0" rtlCol="0" anchor="t"/>
          <a:lstStyle/>
          <a:p>
            <a:pPr indent="0" marL="0">
              <a:buNone/>
            </a:pPr>
            <a:r>
              <a:rPr lang="en-US" sz="1050" b="1" dirty="0">
                <a:solidFill>
                  <a:srgbClr val="F2EFFF"/>
                </a:solidFill>
                <a:latin typeface="Poppins" pitchFamily="34" charset="0"/>
                <a:ea typeface="Poppins" pitchFamily="34" charset="-122"/>
                <a:cs typeface="Poppins" pitchFamily="34" charset="-120"/>
              </a:rPr>
              <a:t>GPT-OSS 120B</a:t>
            </a:r>
            <a:endParaRPr lang="en-US" sz="1050" dirty="0"/>
          </a:p>
        </p:txBody>
      </p:sp>
      <p:sp>
        <p:nvSpPr>
          <p:cNvPr id="75" name="d1-ls1"/>
          <p:cNvSpPr txBox="1"/>
          <p:nvPr/>
        </p:nvSpPr>
        <p:spPr>
          <a:xfrm>
            <a:off x="7196328" y="5285232"/>
            <a:ext cx="1828800" cy="237744"/>
          </a:xfrm>
          <a:prstGeom prst="rect">
            <a:avLst/>
          </a:prstGeom>
          <a:noFill/>
          <a:ln/>
        </p:spPr>
        <p:txBody>
          <a:bodyPr wrap="square" lIns="0" tIns="0" rIns="0" bIns="0" rtlCol="0" anchor="t"/>
          <a:lstStyle/>
          <a:p>
            <a:pPr indent="0" marL="0">
              <a:buNone/>
            </a:pPr>
            <a:r>
              <a:rPr lang="en-US" sz="850" dirty="0">
                <a:solidFill>
                  <a:srgbClr val="FF5C7A"/>
                </a:solidFill>
                <a:latin typeface="Poppins" pitchFamily="34" charset="0"/>
                <a:ea typeface="Poppins" pitchFamily="34" charset="-122"/>
                <a:cs typeface="Poppins" pitchFamily="34" charset="-120"/>
              </a:rPr>
              <a:t>Crashed on 1000</a:t>
            </a:r>
            <a:endParaRPr lang="en-US" sz="850" dirty="0"/>
          </a:p>
        </p:txBody>
      </p:sp>
      <p:sp>
        <p:nvSpPr>
          <p:cNvPr id="76" name="d1-lc2"/>
          <p:cNvSpPr/>
          <p:nvPr/>
        </p:nvSpPr>
        <p:spPr>
          <a:xfrm>
            <a:off x="9189720" y="5010912"/>
            <a:ext cx="2240280" cy="566928"/>
          </a:xfrm>
          <a:prstGeom prst="roundRect">
            <a:avLst>
              <a:gd name="adj" fmla="val 16129"/>
            </a:avLst>
          </a:prstGeom>
          <a:solidFill>
            <a:srgbClr val="0E0B1F"/>
          </a:solidFill>
          <a:ln w="12700">
            <a:solidFill>
              <a:srgbClr val="2E2759"/>
            </a:solidFill>
            <a:prstDash val="solid"/>
          </a:ln>
        </p:spPr>
      </p:sp>
      <p:sp>
        <p:nvSpPr>
          <p:cNvPr id="77" name="d1-ld2"/>
          <p:cNvSpPr/>
          <p:nvPr/>
        </p:nvSpPr>
        <p:spPr>
          <a:xfrm>
            <a:off x="9326880" y="5221224"/>
            <a:ext cx="146304" cy="146304"/>
          </a:xfrm>
          <a:prstGeom prst="ellipse">
            <a:avLst/>
          </a:prstGeom>
          <a:solidFill>
            <a:srgbClr val="2BD9A0"/>
          </a:solidFill>
          <a:ln/>
        </p:spPr>
      </p:sp>
      <p:sp>
        <p:nvSpPr>
          <p:cNvPr id="78" name="d1-lm2"/>
          <p:cNvSpPr txBox="1"/>
          <p:nvPr/>
        </p:nvSpPr>
        <p:spPr>
          <a:xfrm>
            <a:off x="9573768" y="5056632"/>
            <a:ext cx="1810512" cy="219456"/>
          </a:xfrm>
          <a:prstGeom prst="rect">
            <a:avLst/>
          </a:prstGeom>
          <a:noFill/>
          <a:ln/>
        </p:spPr>
        <p:txBody>
          <a:bodyPr wrap="square" lIns="0" tIns="0" rIns="0" bIns="0" rtlCol="0" anchor="t"/>
          <a:lstStyle/>
          <a:p>
            <a:pPr indent="0" marL="0">
              <a:buNone/>
            </a:pPr>
            <a:r>
              <a:rPr lang="en-US" sz="1050" b="1" dirty="0">
                <a:solidFill>
                  <a:srgbClr val="F2EFFF"/>
                </a:solidFill>
                <a:latin typeface="Poppins" pitchFamily="34" charset="0"/>
                <a:ea typeface="Poppins" pitchFamily="34" charset="-122"/>
                <a:cs typeface="Poppins" pitchFamily="34" charset="-120"/>
              </a:rPr>
              <a:t>GPT-OSS 20B</a:t>
            </a:r>
            <a:endParaRPr lang="en-US" sz="1050" dirty="0"/>
          </a:p>
        </p:txBody>
      </p:sp>
      <p:sp>
        <p:nvSpPr>
          <p:cNvPr id="79" name="d1-ls2"/>
          <p:cNvSpPr txBox="1"/>
          <p:nvPr/>
        </p:nvSpPr>
        <p:spPr>
          <a:xfrm>
            <a:off x="9573768" y="5285232"/>
            <a:ext cx="1828800" cy="237744"/>
          </a:xfrm>
          <a:prstGeom prst="rect">
            <a:avLst/>
          </a:prstGeom>
          <a:noFill/>
          <a:ln/>
        </p:spPr>
        <p:txBody>
          <a:bodyPr wrap="square" lIns="0" tIns="0" rIns="0" bIns="0" rtlCol="0" anchor="t"/>
          <a:lstStyle/>
          <a:p>
            <a:pPr indent="0" marL="0">
              <a:buNone/>
            </a:pPr>
            <a:r>
              <a:rPr lang="en-US" sz="850" dirty="0">
                <a:solidFill>
                  <a:srgbClr val="A9A3CF"/>
                </a:solidFill>
                <a:latin typeface="Poppins" pitchFamily="34" charset="0"/>
                <a:ea typeface="Poppins" pitchFamily="34" charset="-122"/>
                <a:cs typeface="Poppins" pitchFamily="34" charset="-120"/>
              </a:rPr>
              <a:t>Passed 6 of 6</a:t>
            </a:r>
            <a:endParaRPr lang="en-US" sz="850" dirty="0"/>
          </a:p>
        </p:txBody>
      </p:sp>
      <p:sp>
        <p:nvSpPr>
          <p:cNvPr id="80" name="d1-cap"/>
          <p:cNvSpPr txBox="1"/>
          <p:nvPr/>
        </p:nvSpPr>
        <p:spPr>
          <a:xfrm>
            <a:off x="4434840" y="5623560"/>
            <a:ext cx="7040880" cy="365760"/>
          </a:xfrm>
          <a:prstGeom prst="rect">
            <a:avLst/>
          </a:prstGeom>
          <a:noFill/>
          <a:ln/>
        </p:spPr>
        <p:txBody>
          <a:bodyPr wrap="square" lIns="0" tIns="0" rIns="0" bIns="0" rtlCol="0" anchor="ctr"/>
          <a:lstStyle/>
          <a:p>
            <a:pPr indent="0" marL="0">
              <a:buNone/>
            </a:pPr>
            <a:r>
              <a:rPr lang="en-US" sz="1050" b="1" dirty="0">
                <a:solidFill>
                  <a:srgbClr val="FF9F1C"/>
                </a:solidFill>
                <a:latin typeface="Poppins" pitchFamily="34" charset="0"/>
                <a:ea typeface="Poppins" pitchFamily="34" charset="-122"/>
                <a:cs typeface="Poppins" pitchFamily="34" charset="-120"/>
              </a:rPr>
              <a:t>Same task in Hinglish: GPT-OSS 120B's code now crashes on 1,000.</a:t>
            </a:r>
            <a:endParaRPr lang="en-US" sz="1050" dirty="0"/>
          </a:p>
        </p:txBody>
      </p:sp>
      <p:sp>
        <p:nvSpPr>
          <p:cNvPr id="81" name="d2-ind"/>
          <p:cNvSpPr/>
          <p:nvPr/>
        </p:nvSpPr>
        <p:spPr>
          <a:xfrm>
            <a:off x="8229600" y="3172968"/>
            <a:ext cx="1143000" cy="54864"/>
          </a:xfrm>
          <a:prstGeom prst="rect">
            <a:avLst/>
          </a:prstGeom>
          <a:solidFill>
            <a:srgbClr val="FF9F1C"/>
          </a:solidFill>
          <a:ln/>
        </p:spPr>
      </p:sp>
      <p:sp>
        <p:nvSpPr>
          <p:cNvPr id="82" name="d2-cover"/>
          <p:cNvSpPr/>
          <p:nvPr/>
        </p:nvSpPr>
        <p:spPr>
          <a:xfrm>
            <a:off x="4343400" y="3291840"/>
            <a:ext cx="7223760" cy="2724912"/>
          </a:xfrm>
          <a:prstGeom prst="rect">
            <a:avLst/>
          </a:prstGeom>
          <a:solidFill>
            <a:srgbClr val="17132E"/>
          </a:solidFill>
          <a:ln/>
        </p:spPr>
      </p:sp>
      <p:sp>
        <p:nvSpPr>
          <p:cNvPr id="83" name="d2-pbox"/>
          <p:cNvSpPr/>
          <p:nvPr/>
        </p:nvSpPr>
        <p:spPr>
          <a:xfrm>
            <a:off x="4434840" y="3310128"/>
            <a:ext cx="7040880" cy="1280160"/>
          </a:xfrm>
          <a:prstGeom prst="roundRect">
            <a:avLst>
              <a:gd name="adj" fmla="val 7143"/>
            </a:avLst>
          </a:prstGeom>
          <a:solidFill>
            <a:srgbClr val="0E0B1F"/>
          </a:solidFill>
          <a:ln w="12700">
            <a:solidFill>
              <a:srgbClr val="2E2759"/>
            </a:solidFill>
            <a:prstDash val="solid"/>
          </a:ln>
        </p:spPr>
      </p:sp>
      <p:sp>
        <p:nvSpPr>
          <p:cNvPr id="84" name="d2-prompt"/>
          <p:cNvSpPr txBox="1"/>
          <p:nvPr/>
        </p:nvSpPr>
        <p:spPr>
          <a:xfrm>
            <a:off x="4599432" y="3383280"/>
            <a:ext cx="6720840" cy="1143000"/>
          </a:xfrm>
          <a:prstGeom prst="rect">
            <a:avLst/>
          </a:prstGeom>
          <a:noFill/>
          <a:ln/>
        </p:spPr>
        <p:txBody>
          <a:bodyPr wrap="square" lIns="0" tIns="0" rIns="0" bIns="0" rtlCol="0" anchor="ctr"/>
          <a:lstStyle/>
          <a:p>
            <a:pPr indent="0" marL="0">
              <a:buNone/>
            </a:pPr>
            <a:r>
              <a:rPr lang="en-US" sz="1150" b="1" dirty="0">
                <a:solidFill>
                  <a:srgbClr val="4CC9F0"/>
                </a:solidFill>
                <a:latin typeface="Poppins" pitchFamily="34" charset="0"/>
                <a:ea typeface="Poppins" pitchFamily="34" charset="-122"/>
                <a:cs typeface="Poppins" pitchFamily="34" charset="-120"/>
              </a:rPr>
              <a:t>bhai </a:t>
            </a:r>
            <a:pPr indent="0" marL="0">
              <a:buNone/>
            </a:pPr>
            <a:r>
              <a:rPr lang="en-US" sz="1050" dirty="0">
                <a:solidFill>
                  <a:srgbClr val="C9C2FF"/>
                </a:solidFill>
                <a:latin typeface="Consolas" pitchFamily="34" charset="0"/>
                <a:ea typeface="Consolas" pitchFamily="34" charset="-122"/>
                <a:cs typeface="Consolas" pitchFamily="34" charset="-120"/>
              </a:rPr>
              <a:t>indian_format </a:t>
            </a:r>
            <a:pPr indent="0" marL="0">
              <a:buNone/>
            </a:pPr>
            <a:r>
              <a:rPr lang="en-US" sz="1150" b="1" dirty="0">
                <a:solidFill>
                  <a:srgbClr val="4CC9F0"/>
                </a:solidFill>
                <a:latin typeface="Poppins" pitchFamily="34" charset="0"/>
                <a:ea typeface="Poppins" pitchFamily="34" charset="-122"/>
                <a:cs typeface="Poppins" pitchFamily="34" charset="-120"/>
              </a:rPr>
              <a:t>naam </a:t>
            </a:r>
            <a:pPr indent="0" marL="0">
              <a:buNone/>
            </a:pPr>
            <a:r>
              <a:rPr lang="en-US" sz="1150" b="1" dirty="0">
                <a:solidFill>
                  <a:srgbClr val="4CC9F0"/>
                </a:solidFill>
                <a:latin typeface="Poppins" pitchFamily="34" charset="0"/>
                <a:ea typeface="Poppins" pitchFamily="34" charset="-122"/>
                <a:cs typeface="Poppins" pitchFamily="34" charset="-120"/>
              </a:rPr>
              <a:t>er </a:t>
            </a:r>
            <a:pPr indent="0" marL="0">
              <a:buNone/>
            </a:pPr>
            <a:r>
              <a:rPr lang="en-US" sz="1150" dirty="0">
                <a:solidFill>
                  <a:srgbClr val="F2EFFF"/>
                </a:solidFill>
                <a:latin typeface="Poppins" pitchFamily="34" charset="0"/>
                <a:ea typeface="Poppins" pitchFamily="34" charset="-122"/>
                <a:cs typeface="Poppins" pitchFamily="34" charset="-120"/>
              </a:rPr>
              <a:t>python </a:t>
            </a:r>
            <a:pPr indent="0" marL="0">
              <a:buNone/>
            </a:pPr>
            <a:r>
              <a:rPr lang="en-US" sz="1150" dirty="0">
                <a:solidFill>
                  <a:srgbClr val="F2EFFF"/>
                </a:solidFill>
                <a:latin typeface="Poppins" pitchFamily="34" charset="0"/>
                <a:ea typeface="Poppins" pitchFamily="34" charset="-122"/>
                <a:cs typeface="Poppins" pitchFamily="34" charset="-120"/>
              </a:rPr>
              <a:t>fn </a:t>
            </a:r>
            <a:pPr indent="0" marL="0">
              <a:buNone/>
            </a:pPr>
            <a:r>
              <a:rPr lang="en-US" sz="1150" b="1" dirty="0">
                <a:solidFill>
                  <a:srgbClr val="4CC9F0"/>
                </a:solidFill>
                <a:latin typeface="Poppins" pitchFamily="34" charset="0"/>
                <a:ea typeface="Poppins" pitchFamily="34" charset="-122"/>
                <a:cs typeface="Poppins" pitchFamily="34" charset="-120"/>
              </a:rPr>
              <a:t>bana, </a:t>
            </a:r>
            <a:pPr indent="0" marL="0">
              <a:buNone/>
            </a:pPr>
            <a:r>
              <a:rPr lang="en-US" sz="1150" dirty="0">
                <a:solidFill>
                  <a:srgbClr val="F2EFFF"/>
                </a:solidFill>
                <a:latin typeface="Poppins" pitchFamily="34" charset="0"/>
                <a:ea typeface="Poppins" pitchFamily="34" charset="-122"/>
                <a:cs typeface="Poppins" pitchFamily="34" charset="-120"/>
              </a:rPr>
              <a:t>non </a:t>
            </a:r>
            <a:pPr indent="0" marL="0">
              <a:buNone/>
            </a:pPr>
            <a:r>
              <a:rPr lang="en-US" sz="1150" dirty="0">
                <a:solidFill>
                  <a:srgbClr val="F2EFFF"/>
                </a:solidFill>
                <a:latin typeface="Poppins" pitchFamily="34" charset="0"/>
                <a:ea typeface="Poppins" pitchFamily="34" charset="-122"/>
                <a:cs typeface="Poppins" pitchFamily="34" charset="-120"/>
              </a:rPr>
              <a:t>negative </a:t>
            </a:r>
            <a:pPr indent="0" marL="0">
              <a:buNone/>
            </a:pPr>
            <a:r>
              <a:rPr lang="en-US" sz="1150" dirty="0">
                <a:solidFill>
                  <a:srgbClr val="F2EFFF"/>
                </a:solidFill>
                <a:latin typeface="Poppins" pitchFamily="34" charset="0"/>
                <a:ea typeface="Poppins" pitchFamily="34" charset="-122"/>
                <a:cs typeface="Poppins" pitchFamily="34" charset="-120"/>
              </a:rPr>
              <a:t>number </a:t>
            </a:r>
            <a:pPr indent="0" marL="0">
              <a:buNone/>
            </a:pPr>
            <a:r>
              <a:rPr lang="en-US" sz="1150" b="1" dirty="0">
                <a:solidFill>
                  <a:srgbClr val="4CC9F0"/>
                </a:solidFill>
                <a:latin typeface="Poppins" pitchFamily="34" charset="0"/>
                <a:ea typeface="Poppins" pitchFamily="34" charset="-122"/>
                <a:cs typeface="Poppins" pitchFamily="34" charset="-120"/>
              </a:rPr>
              <a:t>nebe </a:t>
            </a:r>
            <a:pPr indent="0" marL="0">
              <a:buNone/>
            </a:pPr>
            <a:r>
              <a:rPr lang="en-US" sz="1150" b="1" dirty="0">
                <a:solidFill>
                  <a:srgbClr val="4CC9F0"/>
                </a:solidFill>
                <a:latin typeface="Poppins" pitchFamily="34" charset="0"/>
                <a:ea typeface="Poppins" pitchFamily="34" charset="-122"/>
                <a:cs typeface="Poppins" pitchFamily="34" charset="-120"/>
              </a:rPr>
              <a:t>aar </a:t>
            </a:r>
            <a:pPr indent="0" marL="0">
              <a:buNone/>
            </a:pPr>
            <a:r>
              <a:rPr lang="en-US" sz="1150" dirty="0">
                <a:solidFill>
                  <a:srgbClr val="F2EFFF"/>
                </a:solidFill>
                <a:latin typeface="Poppins" pitchFamily="34" charset="0"/>
                <a:ea typeface="Poppins" pitchFamily="34" charset="-122"/>
                <a:cs typeface="Poppins" pitchFamily="34" charset="-120"/>
              </a:rPr>
              <a:t>indian </a:t>
            </a:r>
            <a:pPr indent="0" marL="0">
              <a:buNone/>
            </a:pPr>
            <a:r>
              <a:rPr lang="en-US" sz="1150" dirty="0">
                <a:solidFill>
                  <a:srgbClr val="F2EFFF"/>
                </a:solidFill>
                <a:latin typeface="Poppins" pitchFamily="34" charset="0"/>
                <a:ea typeface="Poppins" pitchFamily="34" charset="-122"/>
                <a:cs typeface="Poppins" pitchFamily="34" charset="-120"/>
              </a:rPr>
              <a:t>style </a:t>
            </a:r>
            <a:pPr indent="0" marL="0">
              <a:buNone/>
            </a:pPr>
            <a:r>
              <a:rPr lang="en-US" sz="1150" b="1" dirty="0">
                <a:solidFill>
                  <a:srgbClr val="4CC9F0"/>
                </a:solidFill>
                <a:latin typeface="Poppins" pitchFamily="34" charset="0"/>
                <a:ea typeface="Poppins" pitchFamily="34" charset="-122"/>
                <a:cs typeface="Poppins" pitchFamily="34" charset="-120"/>
              </a:rPr>
              <a:t>comma </a:t>
            </a:r>
            <a:pPr indent="0" marL="0">
              <a:buNone/>
            </a:pPr>
            <a:r>
              <a:rPr lang="en-US" sz="1150" b="1" dirty="0">
                <a:solidFill>
                  <a:srgbClr val="4CC9F0"/>
                </a:solidFill>
                <a:latin typeface="Poppins" pitchFamily="34" charset="0"/>
                <a:ea typeface="Poppins" pitchFamily="34" charset="-122"/>
                <a:cs typeface="Poppins" pitchFamily="34" charset="-120"/>
              </a:rPr>
              <a:t>diye </a:t>
            </a:r>
            <a:pPr indent="0" marL="0">
              <a:buNone/>
            </a:pPr>
            <a:r>
              <a:rPr lang="en-US" sz="1150" dirty="0">
                <a:solidFill>
                  <a:srgbClr val="F2EFFF"/>
                </a:solidFill>
                <a:latin typeface="Poppins" pitchFamily="34" charset="0"/>
                <a:ea typeface="Poppins" pitchFamily="34" charset="-122"/>
                <a:cs typeface="Poppins" pitchFamily="34" charset="-120"/>
              </a:rPr>
              <a:t>string </a:t>
            </a:r>
            <a:pPr indent="0" marL="0">
              <a:buNone/>
            </a:pPr>
            <a:r>
              <a:rPr lang="en-US" sz="1150" dirty="0">
                <a:solidFill>
                  <a:srgbClr val="F2EFFF"/>
                </a:solidFill>
                <a:latin typeface="Poppins" pitchFamily="34" charset="0"/>
                <a:ea typeface="Poppins" pitchFamily="34" charset="-122"/>
                <a:cs typeface="Poppins" pitchFamily="34" charset="-120"/>
              </a:rPr>
              <a:t>return </a:t>
            </a:r>
            <a:pPr indent="0" marL="0">
              <a:buNone/>
            </a:pPr>
            <a:r>
              <a:rPr lang="en-US" sz="1150" b="1" dirty="0">
                <a:solidFill>
                  <a:srgbClr val="4CC9F0"/>
                </a:solidFill>
                <a:latin typeface="Poppins" pitchFamily="34" charset="0"/>
                <a:ea typeface="Poppins" pitchFamily="34" charset="-122"/>
                <a:cs typeface="Poppins" pitchFamily="34" charset="-120"/>
              </a:rPr>
              <a:t>korbe, </a:t>
            </a:r>
            <a:pPr indent="0" marL="0">
              <a:buNone/>
            </a:pPr>
            <a:r>
              <a:rPr lang="en-US" sz="1150" b="1" dirty="0">
                <a:solidFill>
                  <a:srgbClr val="4CC9F0"/>
                </a:solidFill>
                <a:latin typeface="Poppins" pitchFamily="34" charset="0"/>
                <a:ea typeface="Poppins" pitchFamily="34" charset="-122"/>
                <a:cs typeface="Poppins" pitchFamily="34" charset="-120"/>
              </a:rPr>
              <a:t>sheshe </a:t>
            </a:r>
            <a:pPr indent="0" marL="0">
              <a:buNone/>
            </a:pPr>
            <a:r>
              <a:rPr lang="en-US" sz="1050" dirty="0">
                <a:solidFill>
                  <a:srgbClr val="C9C2FF"/>
                </a:solidFill>
                <a:latin typeface="Consolas" pitchFamily="34" charset="0"/>
                <a:ea typeface="Consolas" pitchFamily="34" charset="-122"/>
                <a:cs typeface="Consolas" pitchFamily="34" charset="-120"/>
              </a:rPr>
              <a:t>3 </a:t>
            </a:r>
            <a:pPr indent="0" marL="0">
              <a:buNone/>
            </a:pPr>
            <a:r>
              <a:rPr lang="en-US" sz="1150" b="1" dirty="0">
                <a:solidFill>
                  <a:srgbClr val="4CC9F0"/>
                </a:solidFill>
                <a:latin typeface="Poppins" pitchFamily="34" charset="0"/>
                <a:ea typeface="Poppins" pitchFamily="34" charset="-122"/>
                <a:cs typeface="Poppins" pitchFamily="34" charset="-120"/>
              </a:rPr>
              <a:t>te </a:t>
            </a:r>
            <a:pPr indent="0" marL="0">
              <a:buNone/>
            </a:pPr>
            <a:r>
              <a:rPr lang="en-US" sz="1150" dirty="0">
                <a:solidFill>
                  <a:srgbClr val="F2EFFF"/>
                </a:solidFill>
                <a:latin typeface="Poppins" pitchFamily="34" charset="0"/>
                <a:ea typeface="Poppins" pitchFamily="34" charset="-122"/>
                <a:cs typeface="Poppins" pitchFamily="34" charset="-120"/>
              </a:rPr>
              <a:t>digit </a:t>
            </a:r>
            <a:pPr indent="0" marL="0">
              <a:buNone/>
            </a:pPr>
            <a:r>
              <a:rPr lang="en-US" sz="1150" b="1" dirty="0">
                <a:solidFill>
                  <a:srgbClr val="4CC9F0"/>
                </a:solidFill>
                <a:latin typeface="Poppins" pitchFamily="34" charset="0"/>
                <a:ea typeface="Poppins" pitchFamily="34" charset="-122"/>
                <a:cs typeface="Poppins" pitchFamily="34" charset="-120"/>
              </a:rPr>
              <a:t>ek </a:t>
            </a:r>
            <a:pPr indent="0" marL="0">
              <a:buNone/>
            </a:pPr>
            <a:r>
              <a:rPr lang="en-US" sz="1150" dirty="0">
                <a:solidFill>
                  <a:srgbClr val="F2EFFF"/>
                </a:solidFill>
                <a:latin typeface="Poppins" pitchFamily="34" charset="0"/>
                <a:ea typeface="Poppins" pitchFamily="34" charset="-122"/>
                <a:cs typeface="Poppins" pitchFamily="34" charset="-120"/>
              </a:rPr>
              <a:t>group </a:t>
            </a:r>
            <a:pPr indent="0" marL="0">
              <a:buNone/>
            </a:pPr>
            <a:r>
              <a:rPr lang="en-US" sz="1150" b="1" dirty="0">
                <a:solidFill>
                  <a:srgbClr val="4CC9F0"/>
                </a:solidFill>
                <a:latin typeface="Poppins" pitchFamily="34" charset="0"/>
                <a:ea typeface="Poppins" pitchFamily="34" charset="-122"/>
                <a:cs typeface="Poppins" pitchFamily="34" charset="-120"/>
              </a:rPr>
              <a:t>tarpor </a:t>
            </a:r>
            <a:pPr indent="0" marL="0">
              <a:buNone/>
            </a:pPr>
            <a:r>
              <a:rPr lang="en-US" sz="1150" b="1" dirty="0">
                <a:solidFill>
                  <a:srgbClr val="4CC9F0"/>
                </a:solidFill>
                <a:latin typeface="Poppins" pitchFamily="34" charset="0"/>
                <a:ea typeface="Poppins" pitchFamily="34" charset="-122"/>
                <a:cs typeface="Poppins" pitchFamily="34" charset="-120"/>
              </a:rPr>
              <a:t>age </a:t>
            </a:r>
            <a:pPr indent="0" marL="0">
              <a:buNone/>
            </a:pPr>
            <a:r>
              <a:rPr lang="en-US" sz="1050" dirty="0">
                <a:solidFill>
                  <a:srgbClr val="C9C2FF"/>
                </a:solidFill>
                <a:latin typeface="Consolas" pitchFamily="34" charset="0"/>
                <a:ea typeface="Consolas" pitchFamily="34" charset="-122"/>
                <a:cs typeface="Consolas" pitchFamily="34" charset="-120"/>
              </a:rPr>
              <a:t>2-2 </a:t>
            </a:r>
            <a:pPr indent="0" marL="0">
              <a:buNone/>
            </a:pPr>
            <a:r>
              <a:rPr lang="en-US" sz="1150" dirty="0">
                <a:solidFill>
                  <a:srgbClr val="F2EFFF"/>
                </a:solidFill>
                <a:latin typeface="Poppins" pitchFamily="34" charset="0"/>
                <a:ea typeface="Poppins" pitchFamily="34" charset="-122"/>
                <a:cs typeface="Poppins" pitchFamily="34" charset="-120"/>
              </a:rPr>
              <a:t>digit </a:t>
            </a:r>
            <a:pPr indent="0" marL="0">
              <a:buNone/>
            </a:pPr>
            <a:r>
              <a:rPr lang="en-US" sz="1150" b="1" dirty="0">
                <a:solidFill>
                  <a:srgbClr val="4CC9F0"/>
                </a:solidFill>
                <a:latin typeface="Poppins" pitchFamily="34" charset="0"/>
                <a:ea typeface="Poppins" pitchFamily="34" charset="-122"/>
                <a:cs typeface="Poppins" pitchFamily="34" charset="-120"/>
              </a:rPr>
              <a:t>er </a:t>
            </a:r>
            <a:pPr indent="0" marL="0">
              <a:buNone/>
            </a:pPr>
            <a:r>
              <a:rPr lang="en-US" sz="1150" dirty="0">
                <a:solidFill>
                  <a:srgbClr val="F2EFFF"/>
                </a:solidFill>
                <a:latin typeface="Poppins" pitchFamily="34" charset="0"/>
                <a:ea typeface="Poppins" pitchFamily="34" charset="-122"/>
                <a:cs typeface="Poppins" pitchFamily="34" charset="-120"/>
              </a:rPr>
              <a:t>group, </a:t>
            </a:r>
            <a:pPr indent="0" marL="0">
              <a:buNone/>
            </a:pPr>
            <a:r>
              <a:rPr lang="en-US" sz="1050" dirty="0">
                <a:solidFill>
                  <a:srgbClr val="C9C2FF"/>
                </a:solidFill>
                <a:latin typeface="Consolas" pitchFamily="34" charset="0"/>
                <a:ea typeface="Consolas" pitchFamily="34" charset="-122"/>
                <a:cs typeface="Consolas" pitchFamily="34" charset="-120"/>
              </a:rPr>
              <a:t>1000 </a:t>
            </a:r>
            <a:pPr indent="0" marL="0">
              <a:buNone/>
            </a:pPr>
            <a:r>
              <a:rPr lang="en-US" sz="1150" b="1" dirty="0">
                <a:solidFill>
                  <a:srgbClr val="4CC9F0"/>
                </a:solidFill>
                <a:latin typeface="Poppins" pitchFamily="34" charset="0"/>
                <a:ea typeface="Poppins" pitchFamily="34" charset="-122"/>
                <a:cs typeface="Poppins" pitchFamily="34" charset="-120"/>
              </a:rPr>
              <a:t>er </a:t>
            </a:r>
            <a:pPr indent="0" marL="0">
              <a:buNone/>
            </a:pPr>
            <a:r>
              <a:rPr lang="en-US" sz="1150" b="1" dirty="0">
                <a:solidFill>
                  <a:srgbClr val="4CC9F0"/>
                </a:solidFill>
                <a:latin typeface="Poppins" pitchFamily="34" charset="0"/>
                <a:ea typeface="Poppins" pitchFamily="34" charset="-122"/>
                <a:cs typeface="Poppins" pitchFamily="34" charset="-120"/>
              </a:rPr>
              <a:t>kom </a:t>
            </a:r>
            <a:pPr indent="0" marL="0">
              <a:buNone/>
            </a:pPr>
            <a:r>
              <a:rPr lang="en-US" sz="1150" dirty="0">
                <a:solidFill>
                  <a:srgbClr val="F2EFFF"/>
                </a:solidFill>
                <a:latin typeface="Poppins" pitchFamily="34" charset="0"/>
                <a:ea typeface="Poppins" pitchFamily="34" charset="-122"/>
                <a:cs typeface="Poppins" pitchFamily="34" charset="-120"/>
              </a:rPr>
              <a:t>number </a:t>
            </a:r>
            <a:pPr indent="0" marL="0">
              <a:buNone/>
            </a:pPr>
            <a:r>
              <a:rPr lang="en-US" sz="1150" b="1" dirty="0">
                <a:solidFill>
                  <a:srgbClr val="4CC9F0"/>
                </a:solidFill>
                <a:latin typeface="Poppins" pitchFamily="34" charset="0"/>
                <a:ea typeface="Poppins" pitchFamily="34" charset="-122"/>
                <a:cs typeface="Poppins" pitchFamily="34" charset="-120"/>
              </a:rPr>
              <a:t>e </a:t>
            </a:r>
            <a:pPr indent="0" marL="0">
              <a:buNone/>
            </a:pPr>
            <a:r>
              <a:rPr lang="en-US" sz="1150" b="1" dirty="0">
                <a:solidFill>
                  <a:srgbClr val="4CC9F0"/>
                </a:solidFill>
                <a:latin typeface="Poppins" pitchFamily="34" charset="0"/>
                <a:ea typeface="Poppins" pitchFamily="34" charset="-122"/>
                <a:cs typeface="Poppins" pitchFamily="34" charset="-120"/>
              </a:rPr>
              <a:t>comma </a:t>
            </a:r>
            <a:pPr indent="0" marL="0">
              <a:buNone/>
            </a:pPr>
            <a:r>
              <a:rPr lang="en-US" sz="1150" b="1" dirty="0">
                <a:solidFill>
                  <a:srgbClr val="4CC9F0"/>
                </a:solidFill>
                <a:latin typeface="Poppins" pitchFamily="34" charset="0"/>
                <a:ea typeface="Poppins" pitchFamily="34" charset="-122"/>
                <a:cs typeface="Poppins" pitchFamily="34" charset="-120"/>
              </a:rPr>
              <a:t>lagbe </a:t>
            </a:r>
            <a:pPr indent="0" marL="0">
              <a:buNone/>
            </a:pPr>
            <a:r>
              <a:rPr lang="en-US" sz="1150" b="1" dirty="0">
                <a:solidFill>
                  <a:srgbClr val="4CC9F0"/>
                </a:solidFill>
                <a:latin typeface="Poppins" pitchFamily="34" charset="0"/>
                <a:ea typeface="Poppins" pitchFamily="34" charset="-122"/>
                <a:cs typeface="Poppins" pitchFamily="34" charset="-120"/>
              </a:rPr>
              <a:t>na. </a:t>
            </a:r>
            <a:pPr indent="0" marL="0">
              <a:buNone/>
            </a:pPr>
            <a:r>
              <a:rPr lang="en-US" sz="1150" b="1" dirty="0">
                <a:solidFill>
                  <a:srgbClr val="4CC9F0"/>
                </a:solidFill>
                <a:latin typeface="Poppins" pitchFamily="34" charset="0"/>
                <a:ea typeface="Poppins" pitchFamily="34" charset="-122"/>
                <a:cs typeface="Poppins" pitchFamily="34" charset="-120"/>
              </a:rPr>
              <a:t>shudhu </a:t>
            </a:r>
            <a:pPr indent="0" marL="0">
              <a:buNone/>
            </a:pPr>
            <a:r>
              <a:rPr lang="en-US" sz="1150" dirty="0">
                <a:solidFill>
                  <a:srgbClr val="F2EFFF"/>
                </a:solidFill>
                <a:latin typeface="Poppins" pitchFamily="34" charset="0"/>
                <a:ea typeface="Poppins" pitchFamily="34" charset="-122"/>
                <a:cs typeface="Poppins" pitchFamily="34" charset="-120"/>
              </a:rPr>
              <a:t>code </a:t>
            </a:r>
            <a:pPr indent="0" marL="0">
              <a:buNone/>
            </a:pPr>
            <a:r>
              <a:rPr lang="en-US" sz="1150" b="1" dirty="0">
                <a:solidFill>
                  <a:srgbClr val="4CC9F0"/>
                </a:solidFill>
                <a:latin typeface="Poppins" pitchFamily="34" charset="0"/>
                <a:ea typeface="Poppins" pitchFamily="34" charset="-122"/>
                <a:cs typeface="Poppins" pitchFamily="34" charset="-120"/>
              </a:rPr>
              <a:t>de</a:t>
            </a:r>
            <a:endParaRPr lang="en-US" sz="1300" dirty="0"/>
          </a:p>
        </p:txBody>
      </p:sp>
      <p:sp>
        <p:nvSpPr>
          <p:cNvPr id="85" name="d2-mtxt"/>
          <p:cNvSpPr txBox="1"/>
          <p:nvPr/>
        </p:nvSpPr>
        <p:spPr>
          <a:xfrm>
            <a:off x="4434840" y="4663440"/>
            <a:ext cx="2926080" cy="274320"/>
          </a:xfrm>
          <a:prstGeom prst="rect">
            <a:avLst/>
          </a:prstGeom>
          <a:noFill/>
          <a:ln/>
        </p:spPr>
        <p:txBody>
          <a:bodyPr wrap="square" lIns="0" tIns="0" rIns="0" bIns="0" rtlCol="0" anchor="ctr"/>
          <a:lstStyle/>
          <a:p>
            <a:pPr indent="0" marL="0">
              <a:buNone/>
            </a:pPr>
            <a:r>
              <a:rPr lang="en-US" sz="1400" b="1" dirty="0">
                <a:solidFill>
                  <a:srgbClr val="F2EFFF"/>
                </a:solidFill>
                <a:latin typeface="Poppins" pitchFamily="34" charset="0"/>
                <a:ea typeface="Poppins" pitchFamily="34" charset="-122"/>
                <a:cs typeface="Poppins" pitchFamily="34" charset="-120"/>
              </a:rPr>
              <a:t>61%</a:t>
            </a:r>
            <a:pPr indent="0" marL="0">
              <a:buNone/>
            </a:pPr>
            <a:r>
              <a:rPr lang="en-US" sz="1000" dirty="0">
                <a:solidFill>
                  <a:srgbClr val="A9A3CF"/>
                </a:solidFill>
                <a:latin typeface="Poppins" pitchFamily="34" charset="0"/>
                <a:ea typeface="Poppins" pitchFamily="34" charset="-122"/>
                <a:cs typeface="Poppins" pitchFamily="34" charset="-120"/>
              </a:rPr>
              <a:t>  of words not in English</a:t>
            </a:r>
            <a:endParaRPr lang="en-US" sz="1300" dirty="0"/>
          </a:p>
        </p:txBody>
      </p:sp>
      <p:sp>
        <p:nvSpPr>
          <p:cNvPr id="86" name="d2-mtrack"/>
          <p:cNvSpPr/>
          <p:nvPr/>
        </p:nvSpPr>
        <p:spPr>
          <a:xfrm>
            <a:off x="7498080" y="4754880"/>
            <a:ext cx="3977640" cy="109728"/>
          </a:xfrm>
          <a:prstGeom prst="roundRect">
            <a:avLst>
              <a:gd name="adj" fmla="val 50000"/>
            </a:avLst>
          </a:prstGeom>
          <a:solidFill>
            <a:srgbClr val="211B42"/>
          </a:solidFill>
          <a:ln/>
        </p:spPr>
      </p:sp>
      <p:sp>
        <p:nvSpPr>
          <p:cNvPr id="87" name="d2-mfill"/>
          <p:cNvSpPr/>
          <p:nvPr/>
        </p:nvSpPr>
        <p:spPr>
          <a:xfrm>
            <a:off x="7498080" y="4754880"/>
            <a:ext cx="2407519" cy="109728"/>
          </a:xfrm>
          <a:prstGeom prst="roundRect">
            <a:avLst>
              <a:gd name="adj" fmla="val 50000"/>
            </a:avLst>
          </a:prstGeom>
          <a:solidFill>
            <a:srgbClr val="FF9F1C"/>
          </a:solidFill>
          <a:ln/>
        </p:spPr>
      </p:sp>
      <p:sp>
        <p:nvSpPr>
          <p:cNvPr id="88" name="d2-lc0"/>
          <p:cNvSpPr/>
          <p:nvPr/>
        </p:nvSpPr>
        <p:spPr>
          <a:xfrm>
            <a:off x="4434840" y="5010912"/>
            <a:ext cx="2240280" cy="566928"/>
          </a:xfrm>
          <a:prstGeom prst="roundRect">
            <a:avLst>
              <a:gd name="adj" fmla="val 16129"/>
            </a:avLst>
          </a:prstGeom>
          <a:solidFill>
            <a:srgbClr val="0E0B1F"/>
          </a:solidFill>
          <a:ln w="12700">
            <a:solidFill>
              <a:srgbClr val="2E2759"/>
            </a:solidFill>
            <a:prstDash val="solid"/>
          </a:ln>
        </p:spPr>
      </p:sp>
      <p:sp>
        <p:nvSpPr>
          <p:cNvPr id="89" name="d2-ld0"/>
          <p:cNvSpPr/>
          <p:nvPr/>
        </p:nvSpPr>
        <p:spPr>
          <a:xfrm>
            <a:off x="4572000" y="5221224"/>
            <a:ext cx="146304" cy="146304"/>
          </a:xfrm>
          <a:prstGeom prst="ellipse">
            <a:avLst/>
          </a:prstGeom>
          <a:solidFill>
            <a:srgbClr val="2BD9A0"/>
          </a:solidFill>
          <a:ln/>
        </p:spPr>
      </p:sp>
      <p:sp>
        <p:nvSpPr>
          <p:cNvPr id="90" name="d2-lm0"/>
          <p:cNvSpPr txBox="1"/>
          <p:nvPr/>
        </p:nvSpPr>
        <p:spPr>
          <a:xfrm>
            <a:off x="4818888" y="5056632"/>
            <a:ext cx="1810512" cy="219456"/>
          </a:xfrm>
          <a:prstGeom prst="rect">
            <a:avLst/>
          </a:prstGeom>
          <a:noFill/>
          <a:ln/>
        </p:spPr>
        <p:txBody>
          <a:bodyPr wrap="square" lIns="0" tIns="0" rIns="0" bIns="0" rtlCol="0" anchor="t"/>
          <a:lstStyle/>
          <a:p>
            <a:pPr indent="0" marL="0">
              <a:buNone/>
            </a:pPr>
            <a:r>
              <a:rPr lang="en-US" sz="1050" b="1" dirty="0">
                <a:solidFill>
                  <a:srgbClr val="F2EFFF"/>
                </a:solidFill>
                <a:latin typeface="Poppins" pitchFamily="34" charset="0"/>
                <a:ea typeface="Poppins" pitchFamily="34" charset="-122"/>
                <a:cs typeface="Poppins" pitchFamily="34" charset="-120"/>
              </a:rPr>
              <a:t>Gemini</a:t>
            </a:r>
            <a:endParaRPr lang="en-US" sz="1050" dirty="0"/>
          </a:p>
        </p:txBody>
      </p:sp>
      <p:sp>
        <p:nvSpPr>
          <p:cNvPr id="91" name="d2-ls0"/>
          <p:cNvSpPr txBox="1"/>
          <p:nvPr/>
        </p:nvSpPr>
        <p:spPr>
          <a:xfrm>
            <a:off x="4818888" y="5285232"/>
            <a:ext cx="1828800" cy="237744"/>
          </a:xfrm>
          <a:prstGeom prst="rect">
            <a:avLst/>
          </a:prstGeom>
          <a:noFill/>
          <a:ln/>
        </p:spPr>
        <p:txBody>
          <a:bodyPr wrap="square" lIns="0" tIns="0" rIns="0" bIns="0" rtlCol="0" anchor="t"/>
          <a:lstStyle/>
          <a:p>
            <a:pPr indent="0" marL="0">
              <a:buNone/>
            </a:pPr>
            <a:r>
              <a:rPr lang="en-US" sz="850" dirty="0">
                <a:solidFill>
                  <a:srgbClr val="A9A3CF"/>
                </a:solidFill>
                <a:latin typeface="Poppins" pitchFamily="34" charset="0"/>
                <a:ea typeface="Poppins" pitchFamily="34" charset="-122"/>
                <a:cs typeface="Poppins" pitchFamily="34" charset="-120"/>
              </a:rPr>
              <a:t>Passed 6 of 6</a:t>
            </a:r>
            <a:endParaRPr lang="en-US" sz="850" dirty="0"/>
          </a:p>
        </p:txBody>
      </p:sp>
      <p:sp>
        <p:nvSpPr>
          <p:cNvPr id="92" name="d2-lc1"/>
          <p:cNvSpPr/>
          <p:nvPr/>
        </p:nvSpPr>
        <p:spPr>
          <a:xfrm>
            <a:off x="6812280" y="5010912"/>
            <a:ext cx="2240280" cy="566928"/>
          </a:xfrm>
          <a:prstGeom prst="roundRect">
            <a:avLst>
              <a:gd name="adj" fmla="val 16129"/>
            </a:avLst>
          </a:prstGeom>
          <a:solidFill>
            <a:srgbClr val="0E0B1F"/>
          </a:solidFill>
          <a:ln w="12700">
            <a:solidFill>
              <a:srgbClr val="FF5C7A"/>
            </a:solidFill>
            <a:prstDash val="solid"/>
          </a:ln>
        </p:spPr>
      </p:sp>
      <p:sp>
        <p:nvSpPr>
          <p:cNvPr id="93" name="d2-ld1"/>
          <p:cNvSpPr/>
          <p:nvPr/>
        </p:nvSpPr>
        <p:spPr>
          <a:xfrm>
            <a:off x="6949440" y="5221224"/>
            <a:ext cx="146304" cy="146304"/>
          </a:xfrm>
          <a:prstGeom prst="ellipse">
            <a:avLst/>
          </a:prstGeom>
          <a:solidFill>
            <a:srgbClr val="FF5C7A"/>
          </a:solidFill>
          <a:ln/>
        </p:spPr>
      </p:sp>
      <p:sp>
        <p:nvSpPr>
          <p:cNvPr id="94" name="d2-lm1"/>
          <p:cNvSpPr txBox="1"/>
          <p:nvPr/>
        </p:nvSpPr>
        <p:spPr>
          <a:xfrm>
            <a:off x="7196328" y="5056632"/>
            <a:ext cx="1810512" cy="219456"/>
          </a:xfrm>
          <a:prstGeom prst="rect">
            <a:avLst/>
          </a:prstGeom>
          <a:noFill/>
          <a:ln/>
        </p:spPr>
        <p:txBody>
          <a:bodyPr wrap="square" lIns="0" tIns="0" rIns="0" bIns="0" rtlCol="0" anchor="t"/>
          <a:lstStyle/>
          <a:p>
            <a:pPr indent="0" marL="0">
              <a:buNone/>
            </a:pPr>
            <a:r>
              <a:rPr lang="en-US" sz="1050" b="1" dirty="0">
                <a:solidFill>
                  <a:srgbClr val="F2EFFF"/>
                </a:solidFill>
                <a:latin typeface="Poppins" pitchFamily="34" charset="0"/>
                <a:ea typeface="Poppins" pitchFamily="34" charset="-122"/>
                <a:cs typeface="Poppins" pitchFamily="34" charset="-120"/>
              </a:rPr>
              <a:t>GPT-OSS 120B</a:t>
            </a:r>
            <a:endParaRPr lang="en-US" sz="1050" dirty="0"/>
          </a:p>
        </p:txBody>
      </p:sp>
      <p:sp>
        <p:nvSpPr>
          <p:cNvPr id="95" name="d2-ls1"/>
          <p:cNvSpPr txBox="1"/>
          <p:nvPr/>
        </p:nvSpPr>
        <p:spPr>
          <a:xfrm>
            <a:off x="7196328" y="5285232"/>
            <a:ext cx="1828800" cy="237744"/>
          </a:xfrm>
          <a:prstGeom prst="rect">
            <a:avLst/>
          </a:prstGeom>
          <a:noFill/>
          <a:ln/>
        </p:spPr>
        <p:txBody>
          <a:bodyPr wrap="square" lIns="0" tIns="0" rIns="0" bIns="0" rtlCol="0" anchor="t"/>
          <a:lstStyle/>
          <a:p>
            <a:pPr indent="0" marL="0">
              <a:buNone/>
            </a:pPr>
            <a:r>
              <a:rPr lang="en-US" sz="850" dirty="0">
                <a:solidFill>
                  <a:srgbClr val="FF5C7A"/>
                </a:solidFill>
                <a:latin typeface="Poppins" pitchFamily="34" charset="0"/>
                <a:ea typeface="Poppins" pitchFamily="34" charset="-122"/>
                <a:cs typeface="Poppins" pitchFamily="34" charset="-120"/>
              </a:rPr>
              <a:t>Passed 4 of 6</a:t>
            </a:r>
            <a:endParaRPr lang="en-US" sz="850" dirty="0"/>
          </a:p>
        </p:txBody>
      </p:sp>
      <p:sp>
        <p:nvSpPr>
          <p:cNvPr id="96" name="d2-lc2"/>
          <p:cNvSpPr/>
          <p:nvPr/>
        </p:nvSpPr>
        <p:spPr>
          <a:xfrm>
            <a:off x="9189720" y="5010912"/>
            <a:ext cx="2240280" cy="566928"/>
          </a:xfrm>
          <a:prstGeom prst="roundRect">
            <a:avLst>
              <a:gd name="adj" fmla="val 16129"/>
            </a:avLst>
          </a:prstGeom>
          <a:solidFill>
            <a:srgbClr val="0E0B1F"/>
          </a:solidFill>
          <a:ln w="12700">
            <a:solidFill>
              <a:srgbClr val="FF5C7A"/>
            </a:solidFill>
            <a:prstDash val="solid"/>
          </a:ln>
        </p:spPr>
      </p:sp>
      <p:sp>
        <p:nvSpPr>
          <p:cNvPr id="97" name="d2-ld2"/>
          <p:cNvSpPr/>
          <p:nvPr/>
        </p:nvSpPr>
        <p:spPr>
          <a:xfrm>
            <a:off x="9326880" y="5221224"/>
            <a:ext cx="146304" cy="146304"/>
          </a:xfrm>
          <a:prstGeom prst="ellipse">
            <a:avLst/>
          </a:prstGeom>
          <a:solidFill>
            <a:srgbClr val="FF5C7A"/>
          </a:solidFill>
          <a:ln/>
        </p:spPr>
      </p:sp>
      <p:sp>
        <p:nvSpPr>
          <p:cNvPr id="98" name="d2-lm2"/>
          <p:cNvSpPr txBox="1"/>
          <p:nvPr/>
        </p:nvSpPr>
        <p:spPr>
          <a:xfrm>
            <a:off x="9573768" y="5056632"/>
            <a:ext cx="1810512" cy="219456"/>
          </a:xfrm>
          <a:prstGeom prst="rect">
            <a:avLst/>
          </a:prstGeom>
          <a:noFill/>
          <a:ln/>
        </p:spPr>
        <p:txBody>
          <a:bodyPr wrap="square" lIns="0" tIns="0" rIns="0" bIns="0" rtlCol="0" anchor="t"/>
          <a:lstStyle/>
          <a:p>
            <a:pPr indent="0" marL="0">
              <a:buNone/>
            </a:pPr>
            <a:r>
              <a:rPr lang="en-US" sz="1050" b="1" dirty="0">
                <a:solidFill>
                  <a:srgbClr val="F2EFFF"/>
                </a:solidFill>
                <a:latin typeface="Poppins" pitchFamily="34" charset="0"/>
                <a:ea typeface="Poppins" pitchFamily="34" charset="-122"/>
                <a:cs typeface="Poppins" pitchFamily="34" charset="-120"/>
              </a:rPr>
              <a:t>GPT-OSS 20B</a:t>
            </a:r>
            <a:endParaRPr lang="en-US" sz="1050" dirty="0"/>
          </a:p>
        </p:txBody>
      </p:sp>
      <p:sp>
        <p:nvSpPr>
          <p:cNvPr id="99" name="d2-ls2"/>
          <p:cNvSpPr txBox="1"/>
          <p:nvPr/>
        </p:nvSpPr>
        <p:spPr>
          <a:xfrm>
            <a:off x="9573768" y="5285232"/>
            <a:ext cx="1828800" cy="237744"/>
          </a:xfrm>
          <a:prstGeom prst="rect">
            <a:avLst/>
          </a:prstGeom>
          <a:noFill/>
          <a:ln/>
        </p:spPr>
        <p:txBody>
          <a:bodyPr wrap="square" lIns="0" tIns="0" rIns="0" bIns="0" rtlCol="0" anchor="t"/>
          <a:lstStyle/>
          <a:p>
            <a:pPr indent="0" marL="0">
              <a:buNone/>
            </a:pPr>
            <a:r>
              <a:rPr lang="en-US" sz="850" dirty="0">
                <a:solidFill>
                  <a:srgbClr val="FF5C7A"/>
                </a:solidFill>
                <a:latin typeface="Poppins" pitchFamily="34" charset="0"/>
                <a:ea typeface="Poppins" pitchFamily="34" charset="-122"/>
                <a:cs typeface="Poppins" pitchFamily="34" charset="-120"/>
              </a:rPr>
              <a:t>Renamed the function</a:t>
            </a:r>
            <a:endParaRPr lang="en-US" sz="850" dirty="0"/>
          </a:p>
        </p:txBody>
      </p:sp>
      <p:sp>
        <p:nvSpPr>
          <p:cNvPr id="100" name="d2-cap"/>
          <p:cNvSpPr txBox="1"/>
          <p:nvPr/>
        </p:nvSpPr>
        <p:spPr>
          <a:xfrm>
            <a:off x="4434840" y="5623560"/>
            <a:ext cx="7040880" cy="365760"/>
          </a:xfrm>
          <a:prstGeom prst="rect">
            <a:avLst/>
          </a:prstGeom>
          <a:noFill/>
          <a:ln/>
        </p:spPr>
        <p:txBody>
          <a:bodyPr wrap="square" lIns="0" tIns="0" rIns="0" bIns="0" rtlCol="0" anchor="ctr"/>
          <a:lstStyle/>
          <a:p>
            <a:pPr indent="0" marL="0">
              <a:buNone/>
            </a:pPr>
            <a:r>
              <a:rPr lang="en-US" sz="1050" b="1" dirty="0">
                <a:solidFill>
                  <a:srgbClr val="FF9F1C"/>
                </a:solidFill>
                <a:latin typeface="Poppins" pitchFamily="34" charset="0"/>
                <a:ea typeface="Poppins" pitchFamily="34" charset="-122"/>
                <a:cs typeface="Poppins" pitchFamily="34" charset="-120"/>
              </a:rPr>
              <a:t>Benglish: GPT-OSS 20B named it bhai_indian_format, reading “bhai” (bro) as part of the name.</a:t>
            </a:r>
            <a:endParaRPr lang="en-US" sz="1050" dirty="0"/>
          </a:p>
        </p:txBody>
      </p:sp>
      <p:sp>
        <p:nvSpPr>
          <p:cNvPr id="101" name="d3-ind"/>
          <p:cNvSpPr/>
          <p:nvPr/>
        </p:nvSpPr>
        <p:spPr>
          <a:xfrm>
            <a:off x="10012680" y="3172968"/>
            <a:ext cx="1143000" cy="54864"/>
          </a:xfrm>
          <a:prstGeom prst="rect">
            <a:avLst/>
          </a:prstGeom>
          <a:solidFill>
            <a:srgbClr val="FF9F1C"/>
          </a:solidFill>
          <a:ln/>
        </p:spPr>
      </p:sp>
      <p:sp>
        <p:nvSpPr>
          <p:cNvPr id="102" name="d3-cover"/>
          <p:cNvSpPr/>
          <p:nvPr/>
        </p:nvSpPr>
        <p:spPr>
          <a:xfrm>
            <a:off x="4343400" y="3291840"/>
            <a:ext cx="7223760" cy="2724912"/>
          </a:xfrm>
          <a:prstGeom prst="rect">
            <a:avLst/>
          </a:prstGeom>
          <a:solidFill>
            <a:srgbClr val="17132E"/>
          </a:solidFill>
          <a:ln/>
        </p:spPr>
      </p:sp>
      <p:sp>
        <p:nvSpPr>
          <p:cNvPr id="103" name="d3-pbox"/>
          <p:cNvSpPr/>
          <p:nvPr/>
        </p:nvSpPr>
        <p:spPr>
          <a:xfrm>
            <a:off x="4434840" y="3310128"/>
            <a:ext cx="7040880" cy="1280160"/>
          </a:xfrm>
          <a:prstGeom prst="roundRect">
            <a:avLst>
              <a:gd name="adj" fmla="val 7143"/>
            </a:avLst>
          </a:prstGeom>
          <a:solidFill>
            <a:srgbClr val="0E0B1F"/>
          </a:solidFill>
          <a:ln w="12700">
            <a:solidFill>
              <a:srgbClr val="2E2759"/>
            </a:solidFill>
            <a:prstDash val="solid"/>
          </a:ln>
        </p:spPr>
      </p:sp>
      <p:sp>
        <p:nvSpPr>
          <p:cNvPr id="104" name="d3-prompt"/>
          <p:cNvSpPr txBox="1"/>
          <p:nvPr/>
        </p:nvSpPr>
        <p:spPr>
          <a:xfrm>
            <a:off x="4599432" y="3383280"/>
            <a:ext cx="6720840" cy="1143000"/>
          </a:xfrm>
          <a:prstGeom prst="rect">
            <a:avLst/>
          </a:prstGeom>
          <a:noFill/>
          <a:ln/>
        </p:spPr>
        <p:txBody>
          <a:bodyPr wrap="square" lIns="0" tIns="0" rIns="0" bIns="0" rtlCol="0" anchor="ctr"/>
          <a:lstStyle/>
          <a:p>
            <a:pPr indent="0" marL="0">
              <a:buNone/>
            </a:pPr>
            <a:r>
              <a:rPr lang="en-US" sz="1150" b="1" dirty="0">
                <a:solidFill>
                  <a:srgbClr val="E87BA4"/>
                </a:solidFill>
                <a:latin typeface="Poppins" pitchFamily="34" charset="0"/>
                <a:ea typeface="Poppins" pitchFamily="34" charset="-122"/>
                <a:cs typeface="Poppins" pitchFamily="34" charset="-120"/>
              </a:rPr>
              <a:t>guru </a:t>
            </a:r>
            <a:pPr indent="0" marL="0">
              <a:buNone/>
            </a:pPr>
            <a:r>
              <a:rPr lang="en-US" sz="1050" dirty="0">
                <a:solidFill>
                  <a:srgbClr val="C9C2FF"/>
                </a:solidFill>
                <a:latin typeface="Consolas" pitchFamily="34" charset="0"/>
                <a:ea typeface="Consolas" pitchFamily="34" charset="-122"/>
                <a:cs typeface="Consolas" pitchFamily="34" charset="-120"/>
              </a:rPr>
              <a:t>indian_format </a:t>
            </a:r>
            <a:pPr indent="0" marL="0">
              <a:buNone/>
            </a:pPr>
            <a:r>
              <a:rPr lang="en-US" sz="1150" b="1" dirty="0">
                <a:solidFill>
                  <a:srgbClr val="E87BA4"/>
                </a:solidFill>
                <a:latin typeface="Poppins" pitchFamily="34" charset="0"/>
                <a:ea typeface="Poppins" pitchFamily="34" charset="-122"/>
                <a:cs typeface="Poppins" pitchFamily="34" charset="-120"/>
              </a:rPr>
              <a:t>antha </a:t>
            </a:r>
            <a:pPr indent="0" marL="0">
              <a:buNone/>
            </a:pPr>
            <a:r>
              <a:rPr lang="en-US" sz="1150" dirty="0">
                <a:solidFill>
                  <a:srgbClr val="F2EFFF"/>
                </a:solidFill>
                <a:latin typeface="Poppins" pitchFamily="34" charset="0"/>
                <a:ea typeface="Poppins" pitchFamily="34" charset="-122"/>
                <a:cs typeface="Poppins" pitchFamily="34" charset="-120"/>
              </a:rPr>
              <a:t>python </a:t>
            </a:r>
            <a:pPr indent="0" marL="0">
              <a:buNone/>
            </a:pPr>
            <a:r>
              <a:rPr lang="en-US" sz="1150" dirty="0">
                <a:solidFill>
                  <a:srgbClr val="F2EFFF"/>
                </a:solidFill>
                <a:latin typeface="Poppins" pitchFamily="34" charset="0"/>
                <a:ea typeface="Poppins" pitchFamily="34" charset="-122"/>
                <a:cs typeface="Poppins" pitchFamily="34" charset="-120"/>
              </a:rPr>
              <a:t>fn </a:t>
            </a:r>
            <a:pPr indent="0" marL="0">
              <a:buNone/>
            </a:pPr>
            <a:r>
              <a:rPr lang="en-US" sz="1150" b="1" dirty="0">
                <a:solidFill>
                  <a:srgbClr val="E87BA4"/>
                </a:solidFill>
                <a:latin typeface="Poppins" pitchFamily="34" charset="0"/>
                <a:ea typeface="Poppins" pitchFamily="34" charset="-122"/>
                <a:cs typeface="Poppins" pitchFamily="34" charset="-120"/>
              </a:rPr>
              <a:t>maadu, </a:t>
            </a:r>
            <a:pPr indent="0" marL="0">
              <a:buNone/>
            </a:pPr>
            <a:r>
              <a:rPr lang="en-US" sz="1150" dirty="0">
                <a:solidFill>
                  <a:srgbClr val="F2EFFF"/>
                </a:solidFill>
                <a:latin typeface="Poppins" pitchFamily="34" charset="0"/>
                <a:ea typeface="Poppins" pitchFamily="34" charset="-122"/>
                <a:cs typeface="Poppins" pitchFamily="34" charset="-120"/>
              </a:rPr>
              <a:t>non </a:t>
            </a:r>
            <a:pPr indent="0" marL="0">
              <a:buNone/>
            </a:pPr>
            <a:r>
              <a:rPr lang="en-US" sz="1150" dirty="0">
                <a:solidFill>
                  <a:srgbClr val="F2EFFF"/>
                </a:solidFill>
                <a:latin typeface="Poppins" pitchFamily="34" charset="0"/>
                <a:ea typeface="Poppins" pitchFamily="34" charset="-122"/>
                <a:cs typeface="Poppins" pitchFamily="34" charset="-120"/>
              </a:rPr>
              <a:t>negative </a:t>
            </a:r>
            <a:pPr indent="0" marL="0">
              <a:buNone/>
            </a:pPr>
            <a:r>
              <a:rPr lang="en-US" sz="1150" dirty="0">
                <a:solidFill>
                  <a:srgbClr val="F2EFFF"/>
                </a:solidFill>
                <a:latin typeface="Poppins" pitchFamily="34" charset="0"/>
                <a:ea typeface="Poppins" pitchFamily="34" charset="-122"/>
                <a:cs typeface="Poppins" pitchFamily="34" charset="-120"/>
              </a:rPr>
              <a:t>number </a:t>
            </a:r>
            <a:pPr indent="0" marL="0">
              <a:buNone/>
            </a:pPr>
            <a:r>
              <a:rPr lang="en-US" sz="1150" b="1" dirty="0">
                <a:solidFill>
                  <a:srgbClr val="E87BA4"/>
                </a:solidFill>
                <a:latin typeface="Poppins" pitchFamily="34" charset="0"/>
                <a:ea typeface="Poppins" pitchFamily="34" charset="-122"/>
                <a:cs typeface="Poppins" pitchFamily="34" charset="-120"/>
              </a:rPr>
              <a:t>tagondu </a:t>
            </a:r>
            <a:pPr indent="0" marL="0">
              <a:buNone/>
            </a:pPr>
            <a:r>
              <a:rPr lang="en-US" sz="1150" dirty="0">
                <a:solidFill>
                  <a:srgbClr val="F2EFFF"/>
                </a:solidFill>
                <a:latin typeface="Poppins" pitchFamily="34" charset="0"/>
                <a:ea typeface="Poppins" pitchFamily="34" charset="-122"/>
                <a:cs typeface="Poppins" pitchFamily="34" charset="-120"/>
              </a:rPr>
              <a:t>indian </a:t>
            </a:r>
            <a:pPr indent="0" marL="0">
              <a:buNone/>
            </a:pPr>
            <a:r>
              <a:rPr lang="en-US" sz="1150" dirty="0">
                <a:solidFill>
                  <a:srgbClr val="F2EFFF"/>
                </a:solidFill>
                <a:latin typeface="Poppins" pitchFamily="34" charset="0"/>
                <a:ea typeface="Poppins" pitchFamily="34" charset="-122"/>
                <a:cs typeface="Poppins" pitchFamily="34" charset="-120"/>
              </a:rPr>
              <a:t>style </a:t>
            </a:r>
            <a:pPr indent="0" marL="0">
              <a:buNone/>
            </a:pPr>
            <a:r>
              <a:rPr lang="en-US" sz="1150" dirty="0">
                <a:solidFill>
                  <a:srgbClr val="F2EFFF"/>
                </a:solidFill>
                <a:latin typeface="Poppins" pitchFamily="34" charset="0"/>
                <a:ea typeface="Poppins" pitchFamily="34" charset="-122"/>
                <a:cs typeface="Poppins" pitchFamily="34" charset="-120"/>
              </a:rPr>
              <a:t>commas </a:t>
            </a:r>
            <a:pPr indent="0" marL="0">
              <a:buNone/>
            </a:pPr>
            <a:r>
              <a:rPr lang="en-US" sz="1150" b="1" dirty="0">
                <a:solidFill>
                  <a:srgbClr val="E87BA4"/>
                </a:solidFill>
                <a:latin typeface="Poppins" pitchFamily="34" charset="0"/>
                <a:ea typeface="Poppins" pitchFamily="34" charset="-122"/>
                <a:cs typeface="Poppins" pitchFamily="34" charset="-120"/>
              </a:rPr>
              <a:t>haaki </a:t>
            </a:r>
            <a:pPr indent="0" marL="0">
              <a:buNone/>
            </a:pPr>
            <a:r>
              <a:rPr lang="en-US" sz="1150" dirty="0">
                <a:solidFill>
                  <a:srgbClr val="F2EFFF"/>
                </a:solidFill>
                <a:latin typeface="Poppins" pitchFamily="34" charset="0"/>
                <a:ea typeface="Poppins" pitchFamily="34" charset="-122"/>
                <a:cs typeface="Poppins" pitchFamily="34" charset="-120"/>
              </a:rPr>
              <a:t>string </a:t>
            </a:r>
            <a:pPr indent="0" marL="0">
              <a:buNone/>
            </a:pPr>
            <a:r>
              <a:rPr lang="en-US" sz="1150" dirty="0">
                <a:solidFill>
                  <a:srgbClr val="F2EFFF"/>
                </a:solidFill>
                <a:latin typeface="Poppins" pitchFamily="34" charset="0"/>
                <a:ea typeface="Poppins" pitchFamily="34" charset="-122"/>
                <a:cs typeface="Poppins" pitchFamily="34" charset="-120"/>
              </a:rPr>
              <a:t>return </a:t>
            </a:r>
            <a:pPr indent="0" marL="0">
              <a:buNone/>
            </a:pPr>
            <a:r>
              <a:rPr lang="en-US" sz="1150" b="1" dirty="0">
                <a:solidFill>
                  <a:srgbClr val="E87BA4"/>
                </a:solidFill>
                <a:latin typeface="Poppins" pitchFamily="34" charset="0"/>
                <a:ea typeface="Poppins" pitchFamily="34" charset="-122"/>
                <a:cs typeface="Poppins" pitchFamily="34" charset="-120"/>
              </a:rPr>
              <a:t>maadbeku, </a:t>
            </a:r>
            <a:pPr indent="0" marL="0">
              <a:buNone/>
            </a:pPr>
            <a:r>
              <a:rPr lang="en-US" sz="1150" b="1" dirty="0">
                <a:solidFill>
                  <a:srgbClr val="E87BA4"/>
                </a:solidFill>
                <a:latin typeface="Poppins" pitchFamily="34" charset="0"/>
                <a:ea typeface="Poppins" pitchFamily="34" charset="-122"/>
                <a:cs typeface="Poppins" pitchFamily="34" charset="-120"/>
              </a:rPr>
              <a:t>koneya </a:t>
            </a:r>
            <a:pPr indent="0" marL="0">
              <a:buNone/>
            </a:pPr>
            <a:r>
              <a:rPr lang="en-US" sz="1050" dirty="0">
                <a:solidFill>
                  <a:srgbClr val="C9C2FF"/>
                </a:solidFill>
                <a:latin typeface="Consolas" pitchFamily="34" charset="0"/>
                <a:ea typeface="Consolas" pitchFamily="34" charset="-122"/>
                <a:cs typeface="Consolas" pitchFamily="34" charset="-120"/>
              </a:rPr>
              <a:t>3 </a:t>
            </a:r>
            <a:pPr indent="0" marL="0">
              <a:buNone/>
            </a:pPr>
            <a:r>
              <a:rPr lang="en-US" sz="1150" dirty="0">
                <a:solidFill>
                  <a:srgbClr val="F2EFFF"/>
                </a:solidFill>
                <a:latin typeface="Poppins" pitchFamily="34" charset="0"/>
                <a:ea typeface="Poppins" pitchFamily="34" charset="-122"/>
                <a:cs typeface="Poppins" pitchFamily="34" charset="-120"/>
              </a:rPr>
              <a:t>digits </a:t>
            </a:r>
            <a:pPr indent="0" marL="0">
              <a:buNone/>
            </a:pPr>
            <a:r>
              <a:rPr lang="en-US" sz="1150" b="1" dirty="0">
                <a:solidFill>
                  <a:srgbClr val="E87BA4"/>
                </a:solidFill>
                <a:latin typeface="Poppins" pitchFamily="34" charset="0"/>
                <a:ea typeface="Poppins" pitchFamily="34" charset="-122"/>
                <a:cs typeface="Poppins" pitchFamily="34" charset="-120"/>
              </a:rPr>
              <a:t>ondu </a:t>
            </a:r>
            <a:pPr indent="0" marL="0">
              <a:buNone/>
            </a:pPr>
            <a:r>
              <a:rPr lang="en-US" sz="1150" dirty="0">
                <a:solidFill>
                  <a:srgbClr val="F2EFFF"/>
                </a:solidFill>
                <a:latin typeface="Poppins" pitchFamily="34" charset="0"/>
                <a:ea typeface="Poppins" pitchFamily="34" charset="-122"/>
                <a:cs typeface="Poppins" pitchFamily="34" charset="-120"/>
              </a:rPr>
              <a:t>group </a:t>
            </a:r>
            <a:pPr indent="0" marL="0">
              <a:buNone/>
            </a:pPr>
            <a:r>
              <a:rPr lang="en-US" sz="1150" b="1" dirty="0">
                <a:solidFill>
                  <a:srgbClr val="E87BA4"/>
                </a:solidFill>
                <a:latin typeface="Poppins" pitchFamily="34" charset="0"/>
                <a:ea typeface="Poppins" pitchFamily="34" charset="-122"/>
                <a:cs typeface="Poppins" pitchFamily="34" charset="-120"/>
              </a:rPr>
              <a:t>aamele </a:t>
            </a:r>
            <a:pPr indent="0" marL="0">
              <a:buNone/>
            </a:pPr>
            <a:r>
              <a:rPr lang="en-US" sz="1150" b="1" dirty="0">
                <a:solidFill>
                  <a:srgbClr val="E87BA4"/>
                </a:solidFill>
                <a:latin typeface="Poppins" pitchFamily="34" charset="0"/>
                <a:ea typeface="Poppins" pitchFamily="34" charset="-122"/>
                <a:cs typeface="Poppins" pitchFamily="34" charset="-120"/>
              </a:rPr>
              <a:t>adara </a:t>
            </a:r>
            <a:pPr indent="0" marL="0">
              <a:buNone/>
            </a:pPr>
            <a:r>
              <a:rPr lang="en-US" sz="1150" b="1" dirty="0">
                <a:solidFill>
                  <a:srgbClr val="E87BA4"/>
                </a:solidFill>
                <a:latin typeface="Poppins" pitchFamily="34" charset="0"/>
                <a:ea typeface="Poppins" pitchFamily="34" charset="-122"/>
                <a:cs typeface="Poppins" pitchFamily="34" charset="-120"/>
              </a:rPr>
              <a:t>munche </a:t>
            </a:r>
            <a:pPr indent="0" marL="0">
              <a:buNone/>
            </a:pPr>
            <a:r>
              <a:rPr lang="en-US" sz="1050" dirty="0">
                <a:solidFill>
                  <a:srgbClr val="C9C2FF"/>
                </a:solidFill>
                <a:latin typeface="Consolas" pitchFamily="34" charset="0"/>
                <a:ea typeface="Consolas" pitchFamily="34" charset="-122"/>
                <a:cs typeface="Consolas" pitchFamily="34" charset="-120"/>
              </a:rPr>
              <a:t>2-2 </a:t>
            </a:r>
            <a:pPr indent="0" marL="0">
              <a:buNone/>
            </a:pPr>
            <a:r>
              <a:rPr lang="en-US" sz="1150" dirty="0">
                <a:solidFill>
                  <a:srgbClr val="F2EFFF"/>
                </a:solidFill>
                <a:latin typeface="Poppins" pitchFamily="34" charset="0"/>
                <a:ea typeface="Poppins" pitchFamily="34" charset="-122"/>
                <a:cs typeface="Poppins" pitchFamily="34" charset="-120"/>
              </a:rPr>
              <a:t>digits </a:t>
            </a:r>
            <a:pPr indent="0" marL="0">
              <a:buNone/>
            </a:pPr>
            <a:r>
              <a:rPr lang="en-US" sz="1150" dirty="0">
                <a:solidFill>
                  <a:srgbClr val="F2EFFF"/>
                </a:solidFill>
                <a:latin typeface="Poppins" pitchFamily="34" charset="0"/>
                <a:ea typeface="Poppins" pitchFamily="34" charset="-122"/>
                <a:cs typeface="Poppins" pitchFamily="34" charset="-120"/>
              </a:rPr>
              <a:t>group, </a:t>
            </a:r>
            <a:pPr indent="0" marL="0">
              <a:buNone/>
            </a:pPr>
            <a:r>
              <a:rPr lang="en-US" sz="1050" dirty="0">
                <a:solidFill>
                  <a:srgbClr val="C9C2FF"/>
                </a:solidFill>
                <a:latin typeface="Consolas" pitchFamily="34" charset="0"/>
                <a:ea typeface="Consolas" pitchFamily="34" charset="-122"/>
                <a:cs typeface="Consolas" pitchFamily="34" charset="-120"/>
              </a:rPr>
              <a:t>1000 </a:t>
            </a:r>
            <a:pPr indent="0" marL="0">
              <a:buNone/>
            </a:pPr>
            <a:r>
              <a:rPr lang="en-US" sz="1150" b="1" dirty="0">
                <a:solidFill>
                  <a:srgbClr val="E87BA4"/>
                </a:solidFill>
                <a:latin typeface="Poppins" pitchFamily="34" charset="0"/>
                <a:ea typeface="Poppins" pitchFamily="34" charset="-122"/>
                <a:cs typeface="Poppins" pitchFamily="34" charset="-120"/>
              </a:rPr>
              <a:t>kinta </a:t>
            </a:r>
            <a:pPr indent="0" marL="0">
              <a:buNone/>
            </a:pPr>
            <a:r>
              <a:rPr lang="en-US" sz="1150" b="1" dirty="0">
                <a:solidFill>
                  <a:srgbClr val="E87BA4"/>
                </a:solidFill>
                <a:latin typeface="Poppins" pitchFamily="34" charset="0"/>
                <a:ea typeface="Poppins" pitchFamily="34" charset="-122"/>
                <a:cs typeface="Poppins" pitchFamily="34" charset="-120"/>
              </a:rPr>
              <a:t>kammi </a:t>
            </a:r>
            <a:pPr indent="0" marL="0">
              <a:buNone/>
            </a:pPr>
            <a:r>
              <a:rPr lang="en-US" sz="1150" dirty="0">
                <a:solidFill>
                  <a:srgbClr val="F2EFFF"/>
                </a:solidFill>
                <a:latin typeface="Poppins" pitchFamily="34" charset="0"/>
                <a:ea typeface="Poppins" pitchFamily="34" charset="-122"/>
                <a:cs typeface="Poppins" pitchFamily="34" charset="-120"/>
              </a:rPr>
              <a:t>number </a:t>
            </a:r>
            <a:pPr indent="0" marL="0">
              <a:buNone/>
            </a:pPr>
            <a:r>
              <a:rPr lang="en-US" sz="1150" b="1" dirty="0">
                <a:solidFill>
                  <a:srgbClr val="E87BA4"/>
                </a:solidFill>
                <a:latin typeface="Poppins" pitchFamily="34" charset="0"/>
                <a:ea typeface="Poppins" pitchFamily="34" charset="-122"/>
                <a:cs typeface="Poppins" pitchFamily="34" charset="-120"/>
              </a:rPr>
              <a:t>ge </a:t>
            </a:r>
            <a:pPr indent="0" marL="0">
              <a:buNone/>
            </a:pPr>
            <a:r>
              <a:rPr lang="en-US" sz="1150" b="1" dirty="0">
                <a:solidFill>
                  <a:srgbClr val="E87BA4"/>
                </a:solidFill>
                <a:latin typeface="Poppins" pitchFamily="34" charset="0"/>
                <a:ea typeface="Poppins" pitchFamily="34" charset="-122"/>
                <a:cs typeface="Poppins" pitchFamily="34" charset="-120"/>
              </a:rPr>
              <a:t>comma </a:t>
            </a:r>
            <a:pPr indent="0" marL="0">
              <a:buNone/>
            </a:pPr>
            <a:r>
              <a:rPr lang="en-US" sz="1150" b="1" dirty="0">
                <a:solidFill>
                  <a:srgbClr val="E87BA4"/>
                </a:solidFill>
                <a:latin typeface="Poppins" pitchFamily="34" charset="0"/>
                <a:ea typeface="Poppins" pitchFamily="34" charset="-122"/>
                <a:cs typeface="Poppins" pitchFamily="34" charset="-120"/>
              </a:rPr>
              <a:t>beda. </a:t>
            </a:r>
            <a:pPr indent="0" marL="0">
              <a:buNone/>
            </a:pPr>
            <a:r>
              <a:rPr lang="en-US" sz="1150" b="1" dirty="0">
                <a:solidFill>
                  <a:srgbClr val="E87BA4"/>
                </a:solidFill>
                <a:latin typeface="Poppins" pitchFamily="34" charset="0"/>
                <a:ea typeface="Poppins" pitchFamily="34" charset="-122"/>
                <a:cs typeface="Poppins" pitchFamily="34" charset="-120"/>
              </a:rPr>
              <a:t>bari </a:t>
            </a:r>
            <a:pPr indent="0" marL="0">
              <a:buNone/>
            </a:pPr>
            <a:r>
              <a:rPr lang="en-US" sz="1150" dirty="0">
                <a:solidFill>
                  <a:srgbClr val="F2EFFF"/>
                </a:solidFill>
                <a:latin typeface="Poppins" pitchFamily="34" charset="0"/>
                <a:ea typeface="Poppins" pitchFamily="34" charset="-122"/>
                <a:cs typeface="Poppins" pitchFamily="34" charset="-120"/>
              </a:rPr>
              <a:t>code </a:t>
            </a:r>
            <a:pPr indent="0" marL="0">
              <a:buNone/>
            </a:pPr>
            <a:r>
              <a:rPr lang="en-US" sz="1150" b="1" dirty="0">
                <a:solidFill>
                  <a:srgbClr val="E87BA4"/>
                </a:solidFill>
                <a:latin typeface="Poppins" pitchFamily="34" charset="0"/>
                <a:ea typeface="Poppins" pitchFamily="34" charset="-122"/>
                <a:cs typeface="Poppins" pitchFamily="34" charset="-120"/>
              </a:rPr>
              <a:t>kodu</a:t>
            </a:r>
            <a:endParaRPr lang="en-US" sz="1300" dirty="0"/>
          </a:p>
        </p:txBody>
      </p:sp>
      <p:sp>
        <p:nvSpPr>
          <p:cNvPr id="105" name="d3-mtxt"/>
          <p:cNvSpPr txBox="1"/>
          <p:nvPr/>
        </p:nvSpPr>
        <p:spPr>
          <a:xfrm>
            <a:off x="4434840" y="4663440"/>
            <a:ext cx="2926080" cy="274320"/>
          </a:xfrm>
          <a:prstGeom prst="rect">
            <a:avLst/>
          </a:prstGeom>
          <a:noFill/>
          <a:ln/>
        </p:spPr>
        <p:txBody>
          <a:bodyPr wrap="square" lIns="0" tIns="0" rIns="0" bIns="0" rtlCol="0" anchor="ctr"/>
          <a:lstStyle/>
          <a:p>
            <a:pPr indent="0" marL="0">
              <a:buNone/>
            </a:pPr>
            <a:r>
              <a:rPr lang="en-US" sz="1400" b="1" dirty="0">
                <a:solidFill>
                  <a:srgbClr val="F2EFFF"/>
                </a:solidFill>
                <a:latin typeface="Poppins" pitchFamily="34" charset="0"/>
                <a:ea typeface="Poppins" pitchFamily="34" charset="-122"/>
                <a:cs typeface="Poppins" pitchFamily="34" charset="-120"/>
              </a:rPr>
              <a:t>53%</a:t>
            </a:r>
            <a:pPr indent="0" marL="0">
              <a:buNone/>
            </a:pPr>
            <a:r>
              <a:rPr lang="en-US" sz="1000" dirty="0">
                <a:solidFill>
                  <a:srgbClr val="A9A3CF"/>
                </a:solidFill>
                <a:latin typeface="Poppins" pitchFamily="34" charset="0"/>
                <a:ea typeface="Poppins" pitchFamily="34" charset="-122"/>
                <a:cs typeface="Poppins" pitchFamily="34" charset="-120"/>
              </a:rPr>
              <a:t>  of words not in English</a:t>
            </a:r>
            <a:endParaRPr lang="en-US" sz="1300" dirty="0"/>
          </a:p>
        </p:txBody>
      </p:sp>
      <p:sp>
        <p:nvSpPr>
          <p:cNvPr id="106" name="d3-mtrack"/>
          <p:cNvSpPr/>
          <p:nvPr/>
        </p:nvSpPr>
        <p:spPr>
          <a:xfrm>
            <a:off x="7498080" y="4754880"/>
            <a:ext cx="3977640" cy="109728"/>
          </a:xfrm>
          <a:prstGeom prst="roundRect">
            <a:avLst>
              <a:gd name="adj" fmla="val 50000"/>
            </a:avLst>
          </a:prstGeom>
          <a:solidFill>
            <a:srgbClr val="211B42"/>
          </a:solidFill>
          <a:ln/>
        </p:spPr>
      </p:sp>
      <p:sp>
        <p:nvSpPr>
          <p:cNvPr id="107" name="d3-mfill"/>
          <p:cNvSpPr/>
          <p:nvPr/>
        </p:nvSpPr>
        <p:spPr>
          <a:xfrm>
            <a:off x="7498080" y="4754880"/>
            <a:ext cx="2105809" cy="109728"/>
          </a:xfrm>
          <a:prstGeom prst="roundRect">
            <a:avLst>
              <a:gd name="adj" fmla="val 50000"/>
            </a:avLst>
          </a:prstGeom>
          <a:solidFill>
            <a:srgbClr val="FF9F1C"/>
          </a:solidFill>
          <a:ln/>
        </p:spPr>
      </p:sp>
      <p:sp>
        <p:nvSpPr>
          <p:cNvPr id="108" name="d3-lc0"/>
          <p:cNvSpPr/>
          <p:nvPr/>
        </p:nvSpPr>
        <p:spPr>
          <a:xfrm>
            <a:off x="4434840" y="5010912"/>
            <a:ext cx="2240280" cy="566928"/>
          </a:xfrm>
          <a:prstGeom prst="roundRect">
            <a:avLst>
              <a:gd name="adj" fmla="val 16129"/>
            </a:avLst>
          </a:prstGeom>
          <a:solidFill>
            <a:srgbClr val="0E0B1F"/>
          </a:solidFill>
          <a:ln w="12700">
            <a:solidFill>
              <a:srgbClr val="2E2759"/>
            </a:solidFill>
            <a:prstDash val="solid"/>
          </a:ln>
        </p:spPr>
      </p:sp>
      <p:sp>
        <p:nvSpPr>
          <p:cNvPr id="109" name="d3-ld0"/>
          <p:cNvSpPr/>
          <p:nvPr/>
        </p:nvSpPr>
        <p:spPr>
          <a:xfrm>
            <a:off x="4572000" y="5221224"/>
            <a:ext cx="146304" cy="146304"/>
          </a:xfrm>
          <a:prstGeom prst="ellipse">
            <a:avLst/>
          </a:prstGeom>
          <a:solidFill>
            <a:srgbClr val="2BD9A0"/>
          </a:solidFill>
          <a:ln/>
        </p:spPr>
      </p:sp>
      <p:sp>
        <p:nvSpPr>
          <p:cNvPr id="110" name="d3-lm0"/>
          <p:cNvSpPr txBox="1"/>
          <p:nvPr/>
        </p:nvSpPr>
        <p:spPr>
          <a:xfrm>
            <a:off x="4818888" y="5056632"/>
            <a:ext cx="1810512" cy="219456"/>
          </a:xfrm>
          <a:prstGeom prst="rect">
            <a:avLst/>
          </a:prstGeom>
          <a:noFill/>
          <a:ln/>
        </p:spPr>
        <p:txBody>
          <a:bodyPr wrap="square" lIns="0" tIns="0" rIns="0" bIns="0" rtlCol="0" anchor="t"/>
          <a:lstStyle/>
          <a:p>
            <a:pPr indent="0" marL="0">
              <a:buNone/>
            </a:pPr>
            <a:r>
              <a:rPr lang="en-US" sz="1050" b="1" dirty="0">
                <a:solidFill>
                  <a:srgbClr val="F2EFFF"/>
                </a:solidFill>
                <a:latin typeface="Poppins" pitchFamily="34" charset="0"/>
                <a:ea typeface="Poppins" pitchFamily="34" charset="-122"/>
                <a:cs typeface="Poppins" pitchFamily="34" charset="-120"/>
              </a:rPr>
              <a:t>Gemini</a:t>
            </a:r>
            <a:endParaRPr lang="en-US" sz="1050" dirty="0"/>
          </a:p>
        </p:txBody>
      </p:sp>
      <p:sp>
        <p:nvSpPr>
          <p:cNvPr id="111" name="d3-ls0"/>
          <p:cNvSpPr txBox="1"/>
          <p:nvPr/>
        </p:nvSpPr>
        <p:spPr>
          <a:xfrm>
            <a:off x="4818888" y="5285232"/>
            <a:ext cx="1828800" cy="237744"/>
          </a:xfrm>
          <a:prstGeom prst="rect">
            <a:avLst/>
          </a:prstGeom>
          <a:noFill/>
          <a:ln/>
        </p:spPr>
        <p:txBody>
          <a:bodyPr wrap="square" lIns="0" tIns="0" rIns="0" bIns="0" rtlCol="0" anchor="t"/>
          <a:lstStyle/>
          <a:p>
            <a:pPr indent="0" marL="0">
              <a:buNone/>
            </a:pPr>
            <a:r>
              <a:rPr lang="en-US" sz="850" dirty="0">
                <a:solidFill>
                  <a:srgbClr val="A9A3CF"/>
                </a:solidFill>
                <a:latin typeface="Poppins" pitchFamily="34" charset="0"/>
                <a:ea typeface="Poppins" pitchFamily="34" charset="-122"/>
                <a:cs typeface="Poppins" pitchFamily="34" charset="-120"/>
              </a:rPr>
              <a:t>Passed 6 of 6</a:t>
            </a:r>
            <a:endParaRPr lang="en-US" sz="850" dirty="0"/>
          </a:p>
        </p:txBody>
      </p:sp>
      <p:sp>
        <p:nvSpPr>
          <p:cNvPr id="112" name="d3-lc1"/>
          <p:cNvSpPr/>
          <p:nvPr/>
        </p:nvSpPr>
        <p:spPr>
          <a:xfrm>
            <a:off x="6812280" y="5010912"/>
            <a:ext cx="2240280" cy="566928"/>
          </a:xfrm>
          <a:prstGeom prst="roundRect">
            <a:avLst>
              <a:gd name="adj" fmla="val 16129"/>
            </a:avLst>
          </a:prstGeom>
          <a:solidFill>
            <a:srgbClr val="0E0B1F"/>
          </a:solidFill>
          <a:ln w="12700">
            <a:solidFill>
              <a:srgbClr val="FF5C7A"/>
            </a:solidFill>
            <a:prstDash val="solid"/>
          </a:ln>
        </p:spPr>
      </p:sp>
      <p:sp>
        <p:nvSpPr>
          <p:cNvPr id="113" name="d3-ld1"/>
          <p:cNvSpPr/>
          <p:nvPr/>
        </p:nvSpPr>
        <p:spPr>
          <a:xfrm>
            <a:off x="6949440" y="5221224"/>
            <a:ext cx="146304" cy="146304"/>
          </a:xfrm>
          <a:prstGeom prst="ellipse">
            <a:avLst/>
          </a:prstGeom>
          <a:solidFill>
            <a:srgbClr val="FF5C7A"/>
          </a:solidFill>
          <a:ln/>
        </p:spPr>
      </p:sp>
      <p:sp>
        <p:nvSpPr>
          <p:cNvPr id="114" name="d3-lm1"/>
          <p:cNvSpPr txBox="1"/>
          <p:nvPr/>
        </p:nvSpPr>
        <p:spPr>
          <a:xfrm>
            <a:off x="7196328" y="5056632"/>
            <a:ext cx="1810512" cy="219456"/>
          </a:xfrm>
          <a:prstGeom prst="rect">
            <a:avLst/>
          </a:prstGeom>
          <a:noFill/>
          <a:ln/>
        </p:spPr>
        <p:txBody>
          <a:bodyPr wrap="square" lIns="0" tIns="0" rIns="0" bIns="0" rtlCol="0" anchor="t"/>
          <a:lstStyle/>
          <a:p>
            <a:pPr indent="0" marL="0">
              <a:buNone/>
            </a:pPr>
            <a:r>
              <a:rPr lang="en-US" sz="1050" b="1" dirty="0">
                <a:solidFill>
                  <a:srgbClr val="F2EFFF"/>
                </a:solidFill>
                <a:latin typeface="Poppins" pitchFamily="34" charset="0"/>
                <a:ea typeface="Poppins" pitchFamily="34" charset="-122"/>
                <a:cs typeface="Poppins" pitchFamily="34" charset="-120"/>
              </a:rPr>
              <a:t>GPT-OSS 120B</a:t>
            </a:r>
            <a:endParaRPr lang="en-US" sz="1050" dirty="0"/>
          </a:p>
        </p:txBody>
      </p:sp>
      <p:sp>
        <p:nvSpPr>
          <p:cNvPr id="115" name="d3-ls1"/>
          <p:cNvSpPr txBox="1"/>
          <p:nvPr/>
        </p:nvSpPr>
        <p:spPr>
          <a:xfrm>
            <a:off x="7196328" y="5285232"/>
            <a:ext cx="1828800" cy="237744"/>
          </a:xfrm>
          <a:prstGeom prst="rect">
            <a:avLst/>
          </a:prstGeom>
          <a:noFill/>
          <a:ln/>
        </p:spPr>
        <p:txBody>
          <a:bodyPr wrap="square" lIns="0" tIns="0" rIns="0" bIns="0" rtlCol="0" anchor="t"/>
          <a:lstStyle/>
          <a:p>
            <a:pPr indent="0" marL="0">
              <a:buNone/>
            </a:pPr>
            <a:r>
              <a:rPr lang="en-US" sz="850" dirty="0">
                <a:solidFill>
                  <a:srgbClr val="FF5C7A"/>
                </a:solidFill>
                <a:latin typeface="Poppins" pitchFamily="34" charset="0"/>
                <a:ea typeface="Poppins" pitchFamily="34" charset="-122"/>
                <a:cs typeface="Poppins" pitchFamily="34" charset="-120"/>
              </a:rPr>
              <a:t>Crashed + ignored “only code”</a:t>
            </a:r>
            <a:endParaRPr lang="en-US" sz="850" dirty="0"/>
          </a:p>
        </p:txBody>
      </p:sp>
      <p:sp>
        <p:nvSpPr>
          <p:cNvPr id="116" name="d3-lc2"/>
          <p:cNvSpPr/>
          <p:nvPr/>
        </p:nvSpPr>
        <p:spPr>
          <a:xfrm>
            <a:off x="9189720" y="5010912"/>
            <a:ext cx="2240280" cy="566928"/>
          </a:xfrm>
          <a:prstGeom prst="roundRect">
            <a:avLst>
              <a:gd name="adj" fmla="val 16129"/>
            </a:avLst>
          </a:prstGeom>
          <a:solidFill>
            <a:srgbClr val="0E0B1F"/>
          </a:solidFill>
          <a:ln w="12700">
            <a:solidFill>
              <a:srgbClr val="FF9F1C"/>
            </a:solidFill>
            <a:prstDash val="solid"/>
          </a:ln>
        </p:spPr>
      </p:sp>
      <p:sp>
        <p:nvSpPr>
          <p:cNvPr id="117" name="d3-ld2"/>
          <p:cNvSpPr/>
          <p:nvPr/>
        </p:nvSpPr>
        <p:spPr>
          <a:xfrm>
            <a:off x="9326880" y="5221224"/>
            <a:ext cx="146304" cy="146304"/>
          </a:xfrm>
          <a:prstGeom prst="ellipse">
            <a:avLst/>
          </a:prstGeom>
          <a:solidFill>
            <a:srgbClr val="FF9F1C"/>
          </a:solidFill>
          <a:ln/>
        </p:spPr>
      </p:sp>
      <p:sp>
        <p:nvSpPr>
          <p:cNvPr id="118" name="d3-lm2"/>
          <p:cNvSpPr txBox="1"/>
          <p:nvPr/>
        </p:nvSpPr>
        <p:spPr>
          <a:xfrm>
            <a:off x="9573768" y="5056632"/>
            <a:ext cx="1810512" cy="219456"/>
          </a:xfrm>
          <a:prstGeom prst="rect">
            <a:avLst/>
          </a:prstGeom>
          <a:noFill/>
          <a:ln/>
        </p:spPr>
        <p:txBody>
          <a:bodyPr wrap="square" lIns="0" tIns="0" rIns="0" bIns="0" rtlCol="0" anchor="t"/>
          <a:lstStyle/>
          <a:p>
            <a:pPr indent="0" marL="0">
              <a:buNone/>
            </a:pPr>
            <a:r>
              <a:rPr lang="en-US" sz="1050" b="1" dirty="0">
                <a:solidFill>
                  <a:srgbClr val="F2EFFF"/>
                </a:solidFill>
                <a:latin typeface="Poppins" pitchFamily="34" charset="0"/>
                <a:ea typeface="Poppins" pitchFamily="34" charset="-122"/>
                <a:cs typeface="Poppins" pitchFamily="34" charset="-120"/>
              </a:rPr>
              <a:t>GPT-OSS 20B</a:t>
            </a:r>
            <a:endParaRPr lang="en-US" sz="1050" dirty="0"/>
          </a:p>
        </p:txBody>
      </p:sp>
      <p:sp>
        <p:nvSpPr>
          <p:cNvPr id="119" name="d3-ls2"/>
          <p:cNvSpPr txBox="1"/>
          <p:nvPr/>
        </p:nvSpPr>
        <p:spPr>
          <a:xfrm>
            <a:off x="9573768" y="5285232"/>
            <a:ext cx="1828800" cy="237744"/>
          </a:xfrm>
          <a:prstGeom prst="rect">
            <a:avLst/>
          </a:prstGeom>
          <a:noFill/>
          <a:ln/>
        </p:spPr>
        <p:txBody>
          <a:bodyPr wrap="square" lIns="0" tIns="0" rIns="0" bIns="0" rtlCol="0" anchor="t"/>
          <a:lstStyle/>
          <a:p>
            <a:pPr indent="0" marL="0">
              <a:buNone/>
            </a:pPr>
            <a:r>
              <a:rPr lang="en-US" sz="850" dirty="0">
                <a:solidFill>
                  <a:srgbClr val="FF9F1C"/>
                </a:solidFill>
                <a:latin typeface="Poppins" pitchFamily="34" charset="0"/>
                <a:ea typeface="Poppins" pitchFamily="34" charset="-122"/>
                <a:cs typeface="Poppins" pitchFamily="34" charset="-120"/>
              </a:rPr>
              <a:t>Passed, ignored “only code”</a:t>
            </a:r>
            <a:endParaRPr lang="en-US" sz="850" dirty="0"/>
          </a:p>
        </p:txBody>
      </p:sp>
      <p:sp>
        <p:nvSpPr>
          <p:cNvPr id="120" name="d3-cap"/>
          <p:cNvSpPr txBox="1"/>
          <p:nvPr/>
        </p:nvSpPr>
        <p:spPr>
          <a:xfrm>
            <a:off x="4434840" y="5623560"/>
            <a:ext cx="7040880" cy="365760"/>
          </a:xfrm>
          <a:prstGeom prst="rect">
            <a:avLst/>
          </a:prstGeom>
          <a:noFill/>
          <a:ln/>
        </p:spPr>
        <p:txBody>
          <a:bodyPr wrap="square" lIns="0" tIns="0" rIns="0" bIns="0" rtlCol="0" anchor="ctr"/>
          <a:lstStyle/>
          <a:p>
            <a:pPr indent="0" marL="0">
              <a:buNone/>
            </a:pPr>
            <a:r>
              <a:rPr lang="en-US" sz="1050" b="1" dirty="0">
                <a:solidFill>
                  <a:srgbClr val="FF9F1C"/>
                </a:solidFill>
                <a:latin typeface="Poppins" pitchFamily="34" charset="0"/>
                <a:ea typeface="Poppins" pitchFamily="34" charset="-122"/>
                <a:cs typeface="Poppins" pitchFamily="34" charset="-120"/>
              </a:rPr>
              <a:t>Kanglish: asked for “bari code kodu” (only code), both GPT-OSS models wrote essays.</a:t>
            </a:r>
            <a:endParaRPr lang="en-US" sz="1050" dirty="0"/>
          </a:p>
        </p:txBody>
      </p:sp>
      <p:sp>
        <p:nvSpPr>
          <p:cNvPr id="121" name="trig-d0"/>
          <p:cNvSpPr/>
          <p:nvPr/>
        </p:nvSpPr>
        <p:spPr>
          <a:xfrm>
            <a:off x="4434840" y="2450592"/>
            <a:ext cx="1600200" cy="658368"/>
          </a:xfrm>
          <a:prstGeom prst="roundRect">
            <a:avLst>
              <a:gd name="adj" fmla="val 50000"/>
            </a:avLst>
          </a:prstGeom>
          <a:solidFill>
            <a:srgbClr val="211B42"/>
          </a:solidFill>
          <a:ln w="12700">
            <a:solidFill>
              <a:srgbClr val="2E2759"/>
            </a:solidFill>
          </a:ln>
        </p:spPr>
        <p:txBody>
          <a:bodyPr wrap="square" lIns="0" tIns="0" rIns="0" bIns="0" rtlCol="0" anchor="ctr"/>
          <a:lstStyle/>
          <a:p>
            <a:pPr algn="ctr" indent="0" marL="0">
              <a:buNone/>
            </a:pPr>
            <a:r>
              <a:rPr lang="en-US" sz="1250" b="1" dirty="0">
                <a:solidFill>
                  <a:srgbClr val="F2EFFF"/>
                </a:solidFill>
                <a:latin typeface="Poppins" pitchFamily="34" charset="0"/>
                <a:ea typeface="Poppins" pitchFamily="34" charset="-122"/>
                <a:cs typeface="Poppins" pitchFamily="34" charset="-120"/>
              </a:rPr>
              <a:t>English</a:t>
            </a:r>
            <a:endParaRPr lang="en-US" sz="1250" dirty="0"/>
          </a:p>
        </p:txBody>
      </p:sp>
      <p:sp>
        <p:nvSpPr>
          <p:cNvPr id="122" name="trig-d1"/>
          <p:cNvSpPr/>
          <p:nvPr/>
        </p:nvSpPr>
        <p:spPr>
          <a:xfrm>
            <a:off x="6217920" y="2450592"/>
            <a:ext cx="1600200" cy="658368"/>
          </a:xfrm>
          <a:prstGeom prst="roundRect">
            <a:avLst>
              <a:gd name="adj" fmla="val 50000"/>
            </a:avLst>
          </a:prstGeom>
          <a:solidFill>
            <a:srgbClr val="211B42"/>
          </a:solidFill>
          <a:ln w="12700">
            <a:solidFill>
              <a:srgbClr val="2E2759"/>
            </a:solidFill>
          </a:ln>
        </p:spPr>
        <p:txBody>
          <a:bodyPr wrap="square" lIns="0" tIns="0" rIns="0" bIns="0" rtlCol="0" anchor="ctr"/>
          <a:lstStyle/>
          <a:p>
            <a:pPr algn="ctr" indent="0" marL="0">
              <a:buNone/>
            </a:pPr>
            <a:r>
              <a:rPr lang="en-US" sz="1250" b="1" dirty="0">
                <a:solidFill>
                  <a:srgbClr val="F2EFFF"/>
                </a:solidFill>
                <a:latin typeface="Poppins" pitchFamily="34" charset="0"/>
                <a:ea typeface="Poppins" pitchFamily="34" charset="-122"/>
                <a:cs typeface="Poppins" pitchFamily="34" charset="-120"/>
              </a:rPr>
              <a:t>Hinglish</a:t>
            </a:r>
            <a:endParaRPr lang="en-US" sz="1250" dirty="0"/>
          </a:p>
        </p:txBody>
      </p:sp>
      <p:sp>
        <p:nvSpPr>
          <p:cNvPr id="123" name="trig-d2"/>
          <p:cNvSpPr/>
          <p:nvPr/>
        </p:nvSpPr>
        <p:spPr>
          <a:xfrm>
            <a:off x="8001000" y="2450592"/>
            <a:ext cx="1600200" cy="658368"/>
          </a:xfrm>
          <a:prstGeom prst="roundRect">
            <a:avLst>
              <a:gd name="adj" fmla="val 50000"/>
            </a:avLst>
          </a:prstGeom>
          <a:solidFill>
            <a:srgbClr val="211B42"/>
          </a:solidFill>
          <a:ln w="12700">
            <a:solidFill>
              <a:srgbClr val="2E2759"/>
            </a:solidFill>
          </a:ln>
        </p:spPr>
        <p:txBody>
          <a:bodyPr wrap="square" lIns="0" tIns="0" rIns="0" bIns="0" rtlCol="0" anchor="ctr"/>
          <a:lstStyle/>
          <a:p>
            <a:pPr algn="ctr" indent="0" marL="0">
              <a:buNone/>
            </a:pPr>
            <a:r>
              <a:rPr lang="en-US" sz="1250" b="1" dirty="0">
                <a:solidFill>
                  <a:srgbClr val="F2EFFF"/>
                </a:solidFill>
                <a:latin typeface="Poppins" pitchFamily="34" charset="0"/>
                <a:ea typeface="Poppins" pitchFamily="34" charset="-122"/>
                <a:cs typeface="Poppins" pitchFamily="34" charset="-120"/>
              </a:rPr>
              <a:t>Benglish</a:t>
            </a:r>
            <a:endParaRPr lang="en-US" sz="1250" dirty="0"/>
          </a:p>
        </p:txBody>
      </p:sp>
      <p:sp>
        <p:nvSpPr>
          <p:cNvPr id="124" name="trig-d3"/>
          <p:cNvSpPr/>
          <p:nvPr/>
        </p:nvSpPr>
        <p:spPr>
          <a:xfrm>
            <a:off x="9784080" y="2450592"/>
            <a:ext cx="1600200" cy="658368"/>
          </a:xfrm>
          <a:prstGeom prst="roundRect">
            <a:avLst>
              <a:gd name="adj" fmla="val 50000"/>
            </a:avLst>
          </a:prstGeom>
          <a:solidFill>
            <a:srgbClr val="211B42"/>
          </a:solidFill>
          <a:ln w="12700">
            <a:solidFill>
              <a:srgbClr val="2E2759"/>
            </a:solidFill>
          </a:ln>
        </p:spPr>
        <p:txBody>
          <a:bodyPr wrap="square" lIns="0" tIns="0" rIns="0" bIns="0" rtlCol="0" anchor="ctr"/>
          <a:lstStyle/>
          <a:p>
            <a:pPr algn="ctr" indent="0" marL="0">
              <a:buNone/>
            </a:pPr>
            <a:r>
              <a:rPr lang="en-US" sz="1250" b="1" dirty="0">
                <a:solidFill>
                  <a:srgbClr val="F2EFFF"/>
                </a:solidFill>
                <a:latin typeface="Poppins" pitchFamily="34" charset="0"/>
                <a:ea typeface="Poppins" pitchFamily="34" charset="-122"/>
                <a:cs typeface="Poppins" pitchFamily="34" charset="-120"/>
              </a:rPr>
              <a:t>Kanglish</a:t>
            </a:r>
            <a:endParaRPr lang="en-US" sz="12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123" restart="whenNotActive" fill="hold" evtFilter="cancelBubble" nodeType="interactiveSeq">
                <p:stCondLst>
                  <p:cond evt="onClick" delay="0">
                    <p:tgtEl>
                      <p:spTgt spid="121"/>
                    </p:tgtEl>
                  </p:cond>
                </p:stCondLst>
                <p:endSync evt="end" delay="0">
                  <p:rtn val="all"/>
                </p:endSync>
                <p:childTnLst>
                  <p:par>
                    <p:cTn id="124" fill="hold">
                      <p:stCondLst>
                        <p:cond delay="0"/>
                      </p:stCondLst>
                      <p:childTnLst>
                        <p:par>
                          <p:cTn id="125" fill="hold">
                            <p:stCondLst>
                              <p:cond delay="0"/>
                            </p:stCondLst>
                            <p:childTnLst>
                              <p:par>
                                <p:cTn id="4" presetID="1" presetClass="exit" presetSubtype="0" fill="hold" grpId="0" nodeType="clickEffect">
                                  <p:stCondLst>
                                    <p:cond delay="0"/>
                                  </p:stCondLst>
                                  <p:childTnLst>
                                    <p:set>
                                      <p:cBhvr>
                                        <p:cTn id="3" dur="1" fill="hold">
                                          <p:stCondLst>
                                            <p:cond delay="0"/>
                                          </p:stCondLst>
                                        </p:cTn>
                                        <p:tgtEl>
                                          <p:spTgt spid="61"/>
                                        </p:tgtEl>
                                        <p:attrNameLst>
                                          <p:attrName>style.visibility</p:attrName>
                                        </p:attrNameLst>
                                      </p:cBhvr>
                                      <p:to>
                                        <p:strVal val="hidden"/>
                                      </p:to>
                                    </p:set>
                                  </p:childTnLst>
                                </p:cTn>
                              </p:par>
                              <p:par>
                                <p:cTn id="6" presetID="1" presetClass="exit" presetSubtype="0" fill="hold" grpId="0" nodeType="withEffect">
                                  <p:stCondLst>
                                    <p:cond delay="0"/>
                                  </p:stCondLst>
                                  <p:childTnLst>
                                    <p:set>
                                      <p:cBhvr>
                                        <p:cTn id="5" dur="1" fill="hold">
                                          <p:stCondLst>
                                            <p:cond delay="0"/>
                                          </p:stCondLst>
                                        </p:cTn>
                                        <p:tgtEl>
                                          <p:spTgt spid="62"/>
                                        </p:tgtEl>
                                        <p:attrNameLst>
                                          <p:attrName>style.visibility</p:attrName>
                                        </p:attrNameLst>
                                      </p:cBhvr>
                                      <p:to>
                                        <p:strVal val="hidden"/>
                                      </p:to>
                                    </p:set>
                                  </p:childTnLst>
                                </p:cTn>
                              </p:par>
                              <p:par>
                                <p:cTn id="8" presetID="1" presetClass="exit" presetSubtype="0" fill="hold" grpId="0" nodeType="withEffect">
                                  <p:stCondLst>
                                    <p:cond delay="0"/>
                                  </p:stCondLst>
                                  <p:childTnLst>
                                    <p:set>
                                      <p:cBhvr>
                                        <p:cTn id="7" dur="1" fill="hold">
                                          <p:stCondLst>
                                            <p:cond delay="0"/>
                                          </p:stCondLst>
                                        </p:cTn>
                                        <p:tgtEl>
                                          <p:spTgt spid="63"/>
                                        </p:tgtEl>
                                        <p:attrNameLst>
                                          <p:attrName>style.visibility</p:attrName>
                                        </p:attrNameLst>
                                      </p:cBhvr>
                                      <p:to>
                                        <p:strVal val="hidden"/>
                                      </p:to>
                                    </p:set>
                                  </p:childTnLst>
                                </p:cTn>
                              </p:par>
                              <p:par>
                                <p:cTn id="10" presetID="1" presetClass="exit" presetSubtype="0" fill="hold" grpId="0" nodeType="withEffect">
                                  <p:stCondLst>
                                    <p:cond delay="0"/>
                                  </p:stCondLst>
                                  <p:childTnLst>
                                    <p:set>
                                      <p:cBhvr>
                                        <p:cTn id="9" dur="1" fill="hold">
                                          <p:stCondLst>
                                            <p:cond delay="0"/>
                                          </p:stCondLst>
                                        </p:cTn>
                                        <p:tgtEl>
                                          <p:spTgt spid="64"/>
                                        </p:tgtEl>
                                        <p:attrNameLst>
                                          <p:attrName>style.visibility</p:attrName>
                                        </p:attrNameLst>
                                      </p:cBhvr>
                                      <p:to>
                                        <p:strVal val="hidden"/>
                                      </p:to>
                                    </p:set>
                                  </p:childTnLst>
                                </p:cTn>
                              </p:par>
                              <p:par>
                                <p:cTn id="12" presetID="1" presetClass="exit" presetSubtype="0" fill="hold" grpId="0" nodeType="withEffect">
                                  <p:stCondLst>
                                    <p:cond delay="0"/>
                                  </p:stCondLst>
                                  <p:childTnLst>
                                    <p:set>
                                      <p:cBhvr>
                                        <p:cTn id="11" dur="1" fill="hold">
                                          <p:stCondLst>
                                            <p:cond delay="0"/>
                                          </p:stCondLst>
                                        </p:cTn>
                                        <p:tgtEl>
                                          <p:spTgt spid="65"/>
                                        </p:tgtEl>
                                        <p:attrNameLst>
                                          <p:attrName>style.visibility</p:attrName>
                                        </p:attrNameLst>
                                      </p:cBhvr>
                                      <p:to>
                                        <p:strVal val="hidden"/>
                                      </p:to>
                                    </p:set>
                                  </p:childTnLst>
                                </p:cTn>
                              </p:par>
                              <p:par>
                                <p:cTn id="14" presetID="1" presetClass="exit" presetSubtype="0" fill="hold" grpId="0" nodeType="withEffect">
                                  <p:stCondLst>
                                    <p:cond delay="0"/>
                                  </p:stCondLst>
                                  <p:childTnLst>
                                    <p:set>
                                      <p:cBhvr>
                                        <p:cTn id="13" dur="1" fill="hold">
                                          <p:stCondLst>
                                            <p:cond delay="0"/>
                                          </p:stCondLst>
                                        </p:cTn>
                                        <p:tgtEl>
                                          <p:spTgt spid="66"/>
                                        </p:tgtEl>
                                        <p:attrNameLst>
                                          <p:attrName>style.visibility</p:attrName>
                                        </p:attrNameLst>
                                      </p:cBhvr>
                                      <p:to>
                                        <p:strVal val="hidden"/>
                                      </p:to>
                                    </p:set>
                                  </p:childTnLst>
                                </p:cTn>
                              </p:par>
                              <p:par>
                                <p:cTn id="16" presetID="1" presetClass="exit" presetSubtype="0" fill="hold" grpId="0" nodeType="withEffect">
                                  <p:stCondLst>
                                    <p:cond delay="0"/>
                                  </p:stCondLst>
                                  <p:childTnLst>
                                    <p:set>
                                      <p:cBhvr>
                                        <p:cTn id="15" dur="1" fill="hold">
                                          <p:stCondLst>
                                            <p:cond delay="0"/>
                                          </p:stCondLst>
                                        </p:cTn>
                                        <p:tgtEl>
                                          <p:spTgt spid="67"/>
                                        </p:tgtEl>
                                        <p:attrNameLst>
                                          <p:attrName>style.visibility</p:attrName>
                                        </p:attrNameLst>
                                      </p:cBhvr>
                                      <p:to>
                                        <p:strVal val="hidden"/>
                                      </p:to>
                                    </p:set>
                                  </p:childTnLst>
                                </p:cTn>
                              </p:par>
                              <p:par>
                                <p:cTn id="18" presetID="1" presetClass="exit" presetSubtype="0" fill="hold" grpId="0" nodeType="withEffect">
                                  <p:stCondLst>
                                    <p:cond delay="0"/>
                                  </p:stCondLst>
                                  <p:childTnLst>
                                    <p:set>
                                      <p:cBhvr>
                                        <p:cTn id="17" dur="1" fill="hold">
                                          <p:stCondLst>
                                            <p:cond delay="0"/>
                                          </p:stCondLst>
                                        </p:cTn>
                                        <p:tgtEl>
                                          <p:spTgt spid="68"/>
                                        </p:tgtEl>
                                        <p:attrNameLst>
                                          <p:attrName>style.visibility</p:attrName>
                                        </p:attrNameLst>
                                      </p:cBhvr>
                                      <p:to>
                                        <p:strVal val="hidden"/>
                                      </p:to>
                                    </p:set>
                                  </p:childTnLst>
                                </p:cTn>
                              </p:par>
                              <p:par>
                                <p:cTn id="20" presetID="1" presetClass="exit" presetSubtype="0" fill="hold" grpId="0" nodeType="withEffect">
                                  <p:stCondLst>
                                    <p:cond delay="0"/>
                                  </p:stCondLst>
                                  <p:childTnLst>
                                    <p:set>
                                      <p:cBhvr>
                                        <p:cTn id="19" dur="1" fill="hold">
                                          <p:stCondLst>
                                            <p:cond delay="0"/>
                                          </p:stCondLst>
                                        </p:cTn>
                                        <p:tgtEl>
                                          <p:spTgt spid="69"/>
                                        </p:tgtEl>
                                        <p:attrNameLst>
                                          <p:attrName>style.visibility</p:attrName>
                                        </p:attrNameLst>
                                      </p:cBhvr>
                                      <p:to>
                                        <p:strVal val="hidden"/>
                                      </p:to>
                                    </p:set>
                                  </p:childTnLst>
                                </p:cTn>
                              </p:par>
                              <p:par>
                                <p:cTn id="22" presetID="1" presetClass="exit" presetSubtype="0" fill="hold" grpId="0" nodeType="withEffect">
                                  <p:stCondLst>
                                    <p:cond delay="0"/>
                                  </p:stCondLst>
                                  <p:childTnLst>
                                    <p:set>
                                      <p:cBhvr>
                                        <p:cTn id="21" dur="1" fill="hold">
                                          <p:stCondLst>
                                            <p:cond delay="0"/>
                                          </p:stCondLst>
                                        </p:cTn>
                                        <p:tgtEl>
                                          <p:spTgt spid="70"/>
                                        </p:tgtEl>
                                        <p:attrNameLst>
                                          <p:attrName>style.visibility</p:attrName>
                                        </p:attrNameLst>
                                      </p:cBhvr>
                                      <p:to>
                                        <p:strVal val="hidden"/>
                                      </p:to>
                                    </p:set>
                                  </p:childTnLst>
                                </p:cTn>
                              </p:par>
                              <p:par>
                                <p:cTn id="24" presetID="1" presetClass="exit" presetSubtype="0" fill="hold" grpId="0" nodeType="withEffect">
                                  <p:stCondLst>
                                    <p:cond delay="0"/>
                                  </p:stCondLst>
                                  <p:childTnLst>
                                    <p:set>
                                      <p:cBhvr>
                                        <p:cTn id="23" dur="1" fill="hold">
                                          <p:stCondLst>
                                            <p:cond delay="0"/>
                                          </p:stCondLst>
                                        </p:cTn>
                                        <p:tgtEl>
                                          <p:spTgt spid="71"/>
                                        </p:tgtEl>
                                        <p:attrNameLst>
                                          <p:attrName>style.visibility</p:attrName>
                                        </p:attrNameLst>
                                      </p:cBhvr>
                                      <p:to>
                                        <p:strVal val="hidden"/>
                                      </p:to>
                                    </p:set>
                                  </p:childTnLst>
                                </p:cTn>
                              </p:par>
                              <p:par>
                                <p:cTn id="26" presetID="1" presetClass="exit" presetSubtype="0" fill="hold" grpId="0" nodeType="withEffect">
                                  <p:stCondLst>
                                    <p:cond delay="0"/>
                                  </p:stCondLst>
                                  <p:childTnLst>
                                    <p:set>
                                      <p:cBhvr>
                                        <p:cTn id="25" dur="1" fill="hold">
                                          <p:stCondLst>
                                            <p:cond delay="0"/>
                                          </p:stCondLst>
                                        </p:cTn>
                                        <p:tgtEl>
                                          <p:spTgt spid="72"/>
                                        </p:tgtEl>
                                        <p:attrNameLst>
                                          <p:attrName>style.visibility</p:attrName>
                                        </p:attrNameLst>
                                      </p:cBhvr>
                                      <p:to>
                                        <p:strVal val="hidden"/>
                                      </p:to>
                                    </p:set>
                                  </p:childTnLst>
                                </p:cTn>
                              </p:par>
                              <p:par>
                                <p:cTn id="28" presetID="1" presetClass="exit" presetSubtype="0" fill="hold" grpId="0" nodeType="withEffect">
                                  <p:stCondLst>
                                    <p:cond delay="0"/>
                                  </p:stCondLst>
                                  <p:childTnLst>
                                    <p:set>
                                      <p:cBhvr>
                                        <p:cTn id="27" dur="1" fill="hold">
                                          <p:stCondLst>
                                            <p:cond delay="0"/>
                                          </p:stCondLst>
                                        </p:cTn>
                                        <p:tgtEl>
                                          <p:spTgt spid="73"/>
                                        </p:tgtEl>
                                        <p:attrNameLst>
                                          <p:attrName>style.visibility</p:attrName>
                                        </p:attrNameLst>
                                      </p:cBhvr>
                                      <p:to>
                                        <p:strVal val="hidden"/>
                                      </p:to>
                                    </p:set>
                                  </p:childTnLst>
                                </p:cTn>
                              </p:par>
                              <p:par>
                                <p:cTn id="30" presetID="1" presetClass="exit" presetSubtype="0" fill="hold" grpId="0" nodeType="withEffect">
                                  <p:stCondLst>
                                    <p:cond delay="0"/>
                                  </p:stCondLst>
                                  <p:childTnLst>
                                    <p:set>
                                      <p:cBhvr>
                                        <p:cTn id="29" dur="1" fill="hold">
                                          <p:stCondLst>
                                            <p:cond delay="0"/>
                                          </p:stCondLst>
                                        </p:cTn>
                                        <p:tgtEl>
                                          <p:spTgt spid="74"/>
                                        </p:tgtEl>
                                        <p:attrNameLst>
                                          <p:attrName>style.visibility</p:attrName>
                                        </p:attrNameLst>
                                      </p:cBhvr>
                                      <p:to>
                                        <p:strVal val="hidden"/>
                                      </p:to>
                                    </p:set>
                                  </p:childTnLst>
                                </p:cTn>
                              </p:par>
                              <p:par>
                                <p:cTn id="32" presetID="1" presetClass="exit" presetSubtype="0" fill="hold" grpId="0" nodeType="withEffect">
                                  <p:stCondLst>
                                    <p:cond delay="0"/>
                                  </p:stCondLst>
                                  <p:childTnLst>
                                    <p:set>
                                      <p:cBhvr>
                                        <p:cTn id="31" dur="1" fill="hold">
                                          <p:stCondLst>
                                            <p:cond delay="0"/>
                                          </p:stCondLst>
                                        </p:cTn>
                                        <p:tgtEl>
                                          <p:spTgt spid="75"/>
                                        </p:tgtEl>
                                        <p:attrNameLst>
                                          <p:attrName>style.visibility</p:attrName>
                                        </p:attrNameLst>
                                      </p:cBhvr>
                                      <p:to>
                                        <p:strVal val="hidden"/>
                                      </p:to>
                                    </p:set>
                                  </p:childTnLst>
                                </p:cTn>
                              </p:par>
                              <p:par>
                                <p:cTn id="34" presetID="1" presetClass="exit" presetSubtype="0" fill="hold" grpId="0" nodeType="withEffect">
                                  <p:stCondLst>
                                    <p:cond delay="0"/>
                                  </p:stCondLst>
                                  <p:childTnLst>
                                    <p:set>
                                      <p:cBhvr>
                                        <p:cTn id="33" dur="1" fill="hold">
                                          <p:stCondLst>
                                            <p:cond delay="0"/>
                                          </p:stCondLst>
                                        </p:cTn>
                                        <p:tgtEl>
                                          <p:spTgt spid="76"/>
                                        </p:tgtEl>
                                        <p:attrNameLst>
                                          <p:attrName>style.visibility</p:attrName>
                                        </p:attrNameLst>
                                      </p:cBhvr>
                                      <p:to>
                                        <p:strVal val="hidden"/>
                                      </p:to>
                                    </p:set>
                                  </p:childTnLst>
                                </p:cTn>
                              </p:par>
                              <p:par>
                                <p:cTn id="36" presetID="1" presetClass="exit" presetSubtype="0" fill="hold" grpId="0" nodeType="withEffect">
                                  <p:stCondLst>
                                    <p:cond delay="0"/>
                                  </p:stCondLst>
                                  <p:childTnLst>
                                    <p:set>
                                      <p:cBhvr>
                                        <p:cTn id="35" dur="1" fill="hold">
                                          <p:stCondLst>
                                            <p:cond delay="0"/>
                                          </p:stCondLst>
                                        </p:cTn>
                                        <p:tgtEl>
                                          <p:spTgt spid="77"/>
                                        </p:tgtEl>
                                        <p:attrNameLst>
                                          <p:attrName>style.visibility</p:attrName>
                                        </p:attrNameLst>
                                      </p:cBhvr>
                                      <p:to>
                                        <p:strVal val="hidden"/>
                                      </p:to>
                                    </p:set>
                                  </p:childTnLst>
                                </p:cTn>
                              </p:par>
                              <p:par>
                                <p:cTn id="38" presetID="1" presetClass="exit" presetSubtype="0" fill="hold" grpId="0" nodeType="withEffect">
                                  <p:stCondLst>
                                    <p:cond delay="0"/>
                                  </p:stCondLst>
                                  <p:childTnLst>
                                    <p:set>
                                      <p:cBhvr>
                                        <p:cTn id="37" dur="1" fill="hold">
                                          <p:stCondLst>
                                            <p:cond delay="0"/>
                                          </p:stCondLst>
                                        </p:cTn>
                                        <p:tgtEl>
                                          <p:spTgt spid="78"/>
                                        </p:tgtEl>
                                        <p:attrNameLst>
                                          <p:attrName>style.visibility</p:attrName>
                                        </p:attrNameLst>
                                      </p:cBhvr>
                                      <p:to>
                                        <p:strVal val="hidden"/>
                                      </p:to>
                                    </p:set>
                                  </p:childTnLst>
                                </p:cTn>
                              </p:par>
                              <p:par>
                                <p:cTn id="40" presetID="1" presetClass="exit" presetSubtype="0" fill="hold" grpId="0" nodeType="withEffect">
                                  <p:stCondLst>
                                    <p:cond delay="0"/>
                                  </p:stCondLst>
                                  <p:childTnLst>
                                    <p:set>
                                      <p:cBhvr>
                                        <p:cTn id="39" dur="1" fill="hold">
                                          <p:stCondLst>
                                            <p:cond delay="0"/>
                                          </p:stCondLst>
                                        </p:cTn>
                                        <p:tgtEl>
                                          <p:spTgt spid="79"/>
                                        </p:tgtEl>
                                        <p:attrNameLst>
                                          <p:attrName>style.visibility</p:attrName>
                                        </p:attrNameLst>
                                      </p:cBhvr>
                                      <p:to>
                                        <p:strVal val="hidden"/>
                                      </p:to>
                                    </p:set>
                                  </p:childTnLst>
                                </p:cTn>
                              </p:par>
                              <p:par>
                                <p:cTn id="42" presetID="1" presetClass="exit" presetSubtype="0" fill="hold" grpId="0" nodeType="withEffect">
                                  <p:stCondLst>
                                    <p:cond delay="0"/>
                                  </p:stCondLst>
                                  <p:childTnLst>
                                    <p:set>
                                      <p:cBhvr>
                                        <p:cTn id="41" dur="1" fill="hold">
                                          <p:stCondLst>
                                            <p:cond delay="0"/>
                                          </p:stCondLst>
                                        </p:cTn>
                                        <p:tgtEl>
                                          <p:spTgt spid="80"/>
                                        </p:tgtEl>
                                        <p:attrNameLst>
                                          <p:attrName>style.visibility</p:attrName>
                                        </p:attrNameLst>
                                      </p:cBhvr>
                                      <p:to>
                                        <p:strVal val="hidden"/>
                                      </p:to>
                                    </p:set>
                                  </p:childTnLst>
                                </p:cTn>
                              </p:par>
                              <p:par>
                                <p:cTn id="44" presetID="1" presetClass="exit" presetSubtype="0" fill="hold" grpId="0" nodeType="withEffect">
                                  <p:stCondLst>
                                    <p:cond delay="0"/>
                                  </p:stCondLst>
                                  <p:childTnLst>
                                    <p:set>
                                      <p:cBhvr>
                                        <p:cTn id="43" dur="1" fill="hold">
                                          <p:stCondLst>
                                            <p:cond delay="0"/>
                                          </p:stCondLst>
                                        </p:cTn>
                                        <p:tgtEl>
                                          <p:spTgt spid="81"/>
                                        </p:tgtEl>
                                        <p:attrNameLst>
                                          <p:attrName>style.visibility</p:attrName>
                                        </p:attrNameLst>
                                      </p:cBhvr>
                                      <p:to>
                                        <p:strVal val="hidden"/>
                                      </p:to>
                                    </p:set>
                                  </p:childTnLst>
                                </p:cTn>
                              </p:par>
                              <p:par>
                                <p:cTn id="46" presetID="1" presetClass="exit" presetSubtype="0" fill="hold" grpId="0" nodeType="withEffect">
                                  <p:stCondLst>
                                    <p:cond delay="0"/>
                                  </p:stCondLst>
                                  <p:childTnLst>
                                    <p:set>
                                      <p:cBhvr>
                                        <p:cTn id="45" dur="1" fill="hold">
                                          <p:stCondLst>
                                            <p:cond delay="0"/>
                                          </p:stCondLst>
                                        </p:cTn>
                                        <p:tgtEl>
                                          <p:spTgt spid="82"/>
                                        </p:tgtEl>
                                        <p:attrNameLst>
                                          <p:attrName>style.visibility</p:attrName>
                                        </p:attrNameLst>
                                      </p:cBhvr>
                                      <p:to>
                                        <p:strVal val="hidden"/>
                                      </p:to>
                                    </p:set>
                                  </p:childTnLst>
                                </p:cTn>
                              </p:par>
                              <p:par>
                                <p:cTn id="48" presetID="1" presetClass="exit" presetSubtype="0" fill="hold" grpId="0" nodeType="withEffect">
                                  <p:stCondLst>
                                    <p:cond delay="0"/>
                                  </p:stCondLst>
                                  <p:childTnLst>
                                    <p:set>
                                      <p:cBhvr>
                                        <p:cTn id="47" dur="1" fill="hold">
                                          <p:stCondLst>
                                            <p:cond delay="0"/>
                                          </p:stCondLst>
                                        </p:cTn>
                                        <p:tgtEl>
                                          <p:spTgt spid="83"/>
                                        </p:tgtEl>
                                        <p:attrNameLst>
                                          <p:attrName>style.visibility</p:attrName>
                                        </p:attrNameLst>
                                      </p:cBhvr>
                                      <p:to>
                                        <p:strVal val="hidden"/>
                                      </p:to>
                                    </p:set>
                                  </p:childTnLst>
                                </p:cTn>
                              </p:par>
                              <p:par>
                                <p:cTn id="50" presetID="1" presetClass="exit" presetSubtype="0" fill="hold" grpId="0" nodeType="withEffect">
                                  <p:stCondLst>
                                    <p:cond delay="0"/>
                                  </p:stCondLst>
                                  <p:childTnLst>
                                    <p:set>
                                      <p:cBhvr>
                                        <p:cTn id="49" dur="1" fill="hold">
                                          <p:stCondLst>
                                            <p:cond delay="0"/>
                                          </p:stCondLst>
                                        </p:cTn>
                                        <p:tgtEl>
                                          <p:spTgt spid="84"/>
                                        </p:tgtEl>
                                        <p:attrNameLst>
                                          <p:attrName>style.visibility</p:attrName>
                                        </p:attrNameLst>
                                      </p:cBhvr>
                                      <p:to>
                                        <p:strVal val="hidden"/>
                                      </p:to>
                                    </p:set>
                                  </p:childTnLst>
                                </p:cTn>
                              </p:par>
                              <p:par>
                                <p:cTn id="52" presetID="1" presetClass="exit" presetSubtype="0" fill="hold" grpId="0" nodeType="withEffect">
                                  <p:stCondLst>
                                    <p:cond delay="0"/>
                                  </p:stCondLst>
                                  <p:childTnLst>
                                    <p:set>
                                      <p:cBhvr>
                                        <p:cTn id="51" dur="1" fill="hold">
                                          <p:stCondLst>
                                            <p:cond delay="0"/>
                                          </p:stCondLst>
                                        </p:cTn>
                                        <p:tgtEl>
                                          <p:spTgt spid="85"/>
                                        </p:tgtEl>
                                        <p:attrNameLst>
                                          <p:attrName>style.visibility</p:attrName>
                                        </p:attrNameLst>
                                      </p:cBhvr>
                                      <p:to>
                                        <p:strVal val="hidden"/>
                                      </p:to>
                                    </p:set>
                                  </p:childTnLst>
                                </p:cTn>
                              </p:par>
                              <p:par>
                                <p:cTn id="54" presetID="1" presetClass="exit" presetSubtype="0" fill="hold" grpId="0" nodeType="withEffect">
                                  <p:stCondLst>
                                    <p:cond delay="0"/>
                                  </p:stCondLst>
                                  <p:childTnLst>
                                    <p:set>
                                      <p:cBhvr>
                                        <p:cTn id="53" dur="1" fill="hold">
                                          <p:stCondLst>
                                            <p:cond delay="0"/>
                                          </p:stCondLst>
                                        </p:cTn>
                                        <p:tgtEl>
                                          <p:spTgt spid="86"/>
                                        </p:tgtEl>
                                        <p:attrNameLst>
                                          <p:attrName>style.visibility</p:attrName>
                                        </p:attrNameLst>
                                      </p:cBhvr>
                                      <p:to>
                                        <p:strVal val="hidden"/>
                                      </p:to>
                                    </p:set>
                                  </p:childTnLst>
                                </p:cTn>
                              </p:par>
                              <p:par>
                                <p:cTn id="56" presetID="1" presetClass="exit" presetSubtype="0" fill="hold" grpId="0" nodeType="withEffect">
                                  <p:stCondLst>
                                    <p:cond delay="0"/>
                                  </p:stCondLst>
                                  <p:childTnLst>
                                    <p:set>
                                      <p:cBhvr>
                                        <p:cTn id="55" dur="1" fill="hold">
                                          <p:stCondLst>
                                            <p:cond delay="0"/>
                                          </p:stCondLst>
                                        </p:cTn>
                                        <p:tgtEl>
                                          <p:spTgt spid="87"/>
                                        </p:tgtEl>
                                        <p:attrNameLst>
                                          <p:attrName>style.visibility</p:attrName>
                                        </p:attrNameLst>
                                      </p:cBhvr>
                                      <p:to>
                                        <p:strVal val="hidden"/>
                                      </p:to>
                                    </p:set>
                                  </p:childTnLst>
                                </p:cTn>
                              </p:par>
                              <p:par>
                                <p:cTn id="58" presetID="1" presetClass="exit" presetSubtype="0" fill="hold" grpId="0" nodeType="withEffect">
                                  <p:stCondLst>
                                    <p:cond delay="0"/>
                                  </p:stCondLst>
                                  <p:childTnLst>
                                    <p:set>
                                      <p:cBhvr>
                                        <p:cTn id="57" dur="1" fill="hold">
                                          <p:stCondLst>
                                            <p:cond delay="0"/>
                                          </p:stCondLst>
                                        </p:cTn>
                                        <p:tgtEl>
                                          <p:spTgt spid="88"/>
                                        </p:tgtEl>
                                        <p:attrNameLst>
                                          <p:attrName>style.visibility</p:attrName>
                                        </p:attrNameLst>
                                      </p:cBhvr>
                                      <p:to>
                                        <p:strVal val="hidden"/>
                                      </p:to>
                                    </p:set>
                                  </p:childTnLst>
                                </p:cTn>
                              </p:par>
                              <p:par>
                                <p:cTn id="60" presetID="1" presetClass="exit" presetSubtype="0" fill="hold" grpId="0" nodeType="withEffect">
                                  <p:stCondLst>
                                    <p:cond delay="0"/>
                                  </p:stCondLst>
                                  <p:childTnLst>
                                    <p:set>
                                      <p:cBhvr>
                                        <p:cTn id="59" dur="1" fill="hold">
                                          <p:stCondLst>
                                            <p:cond delay="0"/>
                                          </p:stCondLst>
                                        </p:cTn>
                                        <p:tgtEl>
                                          <p:spTgt spid="89"/>
                                        </p:tgtEl>
                                        <p:attrNameLst>
                                          <p:attrName>style.visibility</p:attrName>
                                        </p:attrNameLst>
                                      </p:cBhvr>
                                      <p:to>
                                        <p:strVal val="hidden"/>
                                      </p:to>
                                    </p:set>
                                  </p:childTnLst>
                                </p:cTn>
                              </p:par>
                              <p:par>
                                <p:cTn id="62" presetID="1" presetClass="exit" presetSubtype="0" fill="hold" grpId="0" nodeType="withEffect">
                                  <p:stCondLst>
                                    <p:cond delay="0"/>
                                  </p:stCondLst>
                                  <p:childTnLst>
                                    <p:set>
                                      <p:cBhvr>
                                        <p:cTn id="61" dur="1" fill="hold">
                                          <p:stCondLst>
                                            <p:cond delay="0"/>
                                          </p:stCondLst>
                                        </p:cTn>
                                        <p:tgtEl>
                                          <p:spTgt spid="90"/>
                                        </p:tgtEl>
                                        <p:attrNameLst>
                                          <p:attrName>style.visibility</p:attrName>
                                        </p:attrNameLst>
                                      </p:cBhvr>
                                      <p:to>
                                        <p:strVal val="hidden"/>
                                      </p:to>
                                    </p:set>
                                  </p:childTnLst>
                                </p:cTn>
                              </p:par>
                              <p:par>
                                <p:cTn id="64" presetID="1" presetClass="exit" presetSubtype="0" fill="hold" grpId="0" nodeType="withEffect">
                                  <p:stCondLst>
                                    <p:cond delay="0"/>
                                  </p:stCondLst>
                                  <p:childTnLst>
                                    <p:set>
                                      <p:cBhvr>
                                        <p:cTn id="63" dur="1" fill="hold">
                                          <p:stCondLst>
                                            <p:cond delay="0"/>
                                          </p:stCondLst>
                                        </p:cTn>
                                        <p:tgtEl>
                                          <p:spTgt spid="91"/>
                                        </p:tgtEl>
                                        <p:attrNameLst>
                                          <p:attrName>style.visibility</p:attrName>
                                        </p:attrNameLst>
                                      </p:cBhvr>
                                      <p:to>
                                        <p:strVal val="hidden"/>
                                      </p:to>
                                    </p:set>
                                  </p:childTnLst>
                                </p:cTn>
                              </p:par>
                              <p:par>
                                <p:cTn id="66" presetID="1" presetClass="exit" presetSubtype="0" fill="hold" grpId="0" nodeType="withEffect">
                                  <p:stCondLst>
                                    <p:cond delay="0"/>
                                  </p:stCondLst>
                                  <p:childTnLst>
                                    <p:set>
                                      <p:cBhvr>
                                        <p:cTn id="65" dur="1" fill="hold">
                                          <p:stCondLst>
                                            <p:cond delay="0"/>
                                          </p:stCondLst>
                                        </p:cTn>
                                        <p:tgtEl>
                                          <p:spTgt spid="92"/>
                                        </p:tgtEl>
                                        <p:attrNameLst>
                                          <p:attrName>style.visibility</p:attrName>
                                        </p:attrNameLst>
                                      </p:cBhvr>
                                      <p:to>
                                        <p:strVal val="hidden"/>
                                      </p:to>
                                    </p:set>
                                  </p:childTnLst>
                                </p:cTn>
                              </p:par>
                              <p:par>
                                <p:cTn id="68" presetID="1" presetClass="exit" presetSubtype="0" fill="hold" grpId="0" nodeType="withEffect">
                                  <p:stCondLst>
                                    <p:cond delay="0"/>
                                  </p:stCondLst>
                                  <p:childTnLst>
                                    <p:set>
                                      <p:cBhvr>
                                        <p:cTn id="67" dur="1" fill="hold">
                                          <p:stCondLst>
                                            <p:cond delay="0"/>
                                          </p:stCondLst>
                                        </p:cTn>
                                        <p:tgtEl>
                                          <p:spTgt spid="93"/>
                                        </p:tgtEl>
                                        <p:attrNameLst>
                                          <p:attrName>style.visibility</p:attrName>
                                        </p:attrNameLst>
                                      </p:cBhvr>
                                      <p:to>
                                        <p:strVal val="hidden"/>
                                      </p:to>
                                    </p:set>
                                  </p:childTnLst>
                                </p:cTn>
                              </p:par>
                              <p:par>
                                <p:cTn id="70" presetID="1" presetClass="exit" presetSubtype="0" fill="hold" grpId="0" nodeType="withEffect">
                                  <p:stCondLst>
                                    <p:cond delay="0"/>
                                  </p:stCondLst>
                                  <p:childTnLst>
                                    <p:set>
                                      <p:cBhvr>
                                        <p:cTn id="69" dur="1" fill="hold">
                                          <p:stCondLst>
                                            <p:cond delay="0"/>
                                          </p:stCondLst>
                                        </p:cTn>
                                        <p:tgtEl>
                                          <p:spTgt spid="94"/>
                                        </p:tgtEl>
                                        <p:attrNameLst>
                                          <p:attrName>style.visibility</p:attrName>
                                        </p:attrNameLst>
                                      </p:cBhvr>
                                      <p:to>
                                        <p:strVal val="hidden"/>
                                      </p:to>
                                    </p:set>
                                  </p:childTnLst>
                                </p:cTn>
                              </p:par>
                              <p:par>
                                <p:cTn id="72" presetID="1" presetClass="exit" presetSubtype="0" fill="hold" grpId="0" nodeType="withEffect">
                                  <p:stCondLst>
                                    <p:cond delay="0"/>
                                  </p:stCondLst>
                                  <p:childTnLst>
                                    <p:set>
                                      <p:cBhvr>
                                        <p:cTn id="71" dur="1" fill="hold">
                                          <p:stCondLst>
                                            <p:cond delay="0"/>
                                          </p:stCondLst>
                                        </p:cTn>
                                        <p:tgtEl>
                                          <p:spTgt spid="95"/>
                                        </p:tgtEl>
                                        <p:attrNameLst>
                                          <p:attrName>style.visibility</p:attrName>
                                        </p:attrNameLst>
                                      </p:cBhvr>
                                      <p:to>
                                        <p:strVal val="hidden"/>
                                      </p:to>
                                    </p:set>
                                  </p:childTnLst>
                                </p:cTn>
                              </p:par>
                              <p:par>
                                <p:cTn id="74" presetID="1" presetClass="exit" presetSubtype="0" fill="hold" grpId="0" nodeType="withEffect">
                                  <p:stCondLst>
                                    <p:cond delay="0"/>
                                  </p:stCondLst>
                                  <p:childTnLst>
                                    <p:set>
                                      <p:cBhvr>
                                        <p:cTn id="73" dur="1" fill="hold">
                                          <p:stCondLst>
                                            <p:cond delay="0"/>
                                          </p:stCondLst>
                                        </p:cTn>
                                        <p:tgtEl>
                                          <p:spTgt spid="96"/>
                                        </p:tgtEl>
                                        <p:attrNameLst>
                                          <p:attrName>style.visibility</p:attrName>
                                        </p:attrNameLst>
                                      </p:cBhvr>
                                      <p:to>
                                        <p:strVal val="hidden"/>
                                      </p:to>
                                    </p:set>
                                  </p:childTnLst>
                                </p:cTn>
                              </p:par>
                              <p:par>
                                <p:cTn id="76" presetID="1" presetClass="exit" presetSubtype="0" fill="hold" grpId="0" nodeType="withEffect">
                                  <p:stCondLst>
                                    <p:cond delay="0"/>
                                  </p:stCondLst>
                                  <p:childTnLst>
                                    <p:set>
                                      <p:cBhvr>
                                        <p:cTn id="75" dur="1" fill="hold">
                                          <p:stCondLst>
                                            <p:cond delay="0"/>
                                          </p:stCondLst>
                                        </p:cTn>
                                        <p:tgtEl>
                                          <p:spTgt spid="97"/>
                                        </p:tgtEl>
                                        <p:attrNameLst>
                                          <p:attrName>style.visibility</p:attrName>
                                        </p:attrNameLst>
                                      </p:cBhvr>
                                      <p:to>
                                        <p:strVal val="hidden"/>
                                      </p:to>
                                    </p:set>
                                  </p:childTnLst>
                                </p:cTn>
                              </p:par>
                              <p:par>
                                <p:cTn id="78" presetID="1" presetClass="exit" presetSubtype="0" fill="hold" grpId="0" nodeType="withEffect">
                                  <p:stCondLst>
                                    <p:cond delay="0"/>
                                  </p:stCondLst>
                                  <p:childTnLst>
                                    <p:set>
                                      <p:cBhvr>
                                        <p:cTn id="77" dur="1" fill="hold">
                                          <p:stCondLst>
                                            <p:cond delay="0"/>
                                          </p:stCondLst>
                                        </p:cTn>
                                        <p:tgtEl>
                                          <p:spTgt spid="98"/>
                                        </p:tgtEl>
                                        <p:attrNameLst>
                                          <p:attrName>style.visibility</p:attrName>
                                        </p:attrNameLst>
                                      </p:cBhvr>
                                      <p:to>
                                        <p:strVal val="hidden"/>
                                      </p:to>
                                    </p:set>
                                  </p:childTnLst>
                                </p:cTn>
                              </p:par>
                              <p:par>
                                <p:cTn id="80" presetID="1" presetClass="exit" presetSubtype="0" fill="hold" grpId="0" nodeType="withEffect">
                                  <p:stCondLst>
                                    <p:cond delay="0"/>
                                  </p:stCondLst>
                                  <p:childTnLst>
                                    <p:set>
                                      <p:cBhvr>
                                        <p:cTn id="79" dur="1" fill="hold">
                                          <p:stCondLst>
                                            <p:cond delay="0"/>
                                          </p:stCondLst>
                                        </p:cTn>
                                        <p:tgtEl>
                                          <p:spTgt spid="99"/>
                                        </p:tgtEl>
                                        <p:attrNameLst>
                                          <p:attrName>style.visibility</p:attrName>
                                        </p:attrNameLst>
                                      </p:cBhvr>
                                      <p:to>
                                        <p:strVal val="hidden"/>
                                      </p:to>
                                    </p:set>
                                  </p:childTnLst>
                                </p:cTn>
                              </p:par>
                              <p:par>
                                <p:cTn id="82" presetID="1" presetClass="exit" presetSubtype="0" fill="hold" grpId="0" nodeType="withEffect">
                                  <p:stCondLst>
                                    <p:cond delay="0"/>
                                  </p:stCondLst>
                                  <p:childTnLst>
                                    <p:set>
                                      <p:cBhvr>
                                        <p:cTn id="81" dur="1" fill="hold">
                                          <p:stCondLst>
                                            <p:cond delay="0"/>
                                          </p:stCondLst>
                                        </p:cTn>
                                        <p:tgtEl>
                                          <p:spTgt spid="100"/>
                                        </p:tgtEl>
                                        <p:attrNameLst>
                                          <p:attrName>style.visibility</p:attrName>
                                        </p:attrNameLst>
                                      </p:cBhvr>
                                      <p:to>
                                        <p:strVal val="hidden"/>
                                      </p:to>
                                    </p:set>
                                  </p:childTnLst>
                                </p:cTn>
                              </p:par>
                              <p:par>
                                <p:cTn id="84" presetID="1" presetClass="exit" presetSubtype="0" fill="hold" grpId="0" nodeType="withEffect">
                                  <p:stCondLst>
                                    <p:cond delay="0"/>
                                  </p:stCondLst>
                                  <p:childTnLst>
                                    <p:set>
                                      <p:cBhvr>
                                        <p:cTn id="83" dur="1" fill="hold">
                                          <p:stCondLst>
                                            <p:cond delay="0"/>
                                          </p:stCondLst>
                                        </p:cTn>
                                        <p:tgtEl>
                                          <p:spTgt spid="101"/>
                                        </p:tgtEl>
                                        <p:attrNameLst>
                                          <p:attrName>style.visibility</p:attrName>
                                        </p:attrNameLst>
                                      </p:cBhvr>
                                      <p:to>
                                        <p:strVal val="hidden"/>
                                      </p:to>
                                    </p:set>
                                  </p:childTnLst>
                                </p:cTn>
                              </p:par>
                              <p:par>
                                <p:cTn id="86" presetID="1" presetClass="exit" presetSubtype="0" fill="hold" grpId="0" nodeType="withEffect">
                                  <p:stCondLst>
                                    <p:cond delay="0"/>
                                  </p:stCondLst>
                                  <p:childTnLst>
                                    <p:set>
                                      <p:cBhvr>
                                        <p:cTn id="85" dur="1" fill="hold">
                                          <p:stCondLst>
                                            <p:cond delay="0"/>
                                          </p:stCondLst>
                                        </p:cTn>
                                        <p:tgtEl>
                                          <p:spTgt spid="102"/>
                                        </p:tgtEl>
                                        <p:attrNameLst>
                                          <p:attrName>style.visibility</p:attrName>
                                        </p:attrNameLst>
                                      </p:cBhvr>
                                      <p:to>
                                        <p:strVal val="hidden"/>
                                      </p:to>
                                    </p:set>
                                  </p:childTnLst>
                                </p:cTn>
                              </p:par>
                              <p:par>
                                <p:cTn id="88" presetID="1" presetClass="exit" presetSubtype="0" fill="hold" grpId="0" nodeType="withEffect">
                                  <p:stCondLst>
                                    <p:cond delay="0"/>
                                  </p:stCondLst>
                                  <p:childTnLst>
                                    <p:set>
                                      <p:cBhvr>
                                        <p:cTn id="87" dur="1" fill="hold">
                                          <p:stCondLst>
                                            <p:cond delay="0"/>
                                          </p:stCondLst>
                                        </p:cTn>
                                        <p:tgtEl>
                                          <p:spTgt spid="103"/>
                                        </p:tgtEl>
                                        <p:attrNameLst>
                                          <p:attrName>style.visibility</p:attrName>
                                        </p:attrNameLst>
                                      </p:cBhvr>
                                      <p:to>
                                        <p:strVal val="hidden"/>
                                      </p:to>
                                    </p:set>
                                  </p:childTnLst>
                                </p:cTn>
                              </p:par>
                              <p:par>
                                <p:cTn id="90" presetID="1" presetClass="exit" presetSubtype="0" fill="hold" grpId="0" nodeType="withEffect">
                                  <p:stCondLst>
                                    <p:cond delay="0"/>
                                  </p:stCondLst>
                                  <p:childTnLst>
                                    <p:set>
                                      <p:cBhvr>
                                        <p:cTn id="89" dur="1" fill="hold">
                                          <p:stCondLst>
                                            <p:cond delay="0"/>
                                          </p:stCondLst>
                                        </p:cTn>
                                        <p:tgtEl>
                                          <p:spTgt spid="104"/>
                                        </p:tgtEl>
                                        <p:attrNameLst>
                                          <p:attrName>style.visibility</p:attrName>
                                        </p:attrNameLst>
                                      </p:cBhvr>
                                      <p:to>
                                        <p:strVal val="hidden"/>
                                      </p:to>
                                    </p:set>
                                  </p:childTnLst>
                                </p:cTn>
                              </p:par>
                              <p:par>
                                <p:cTn id="92" presetID="1" presetClass="exit" presetSubtype="0" fill="hold" grpId="0" nodeType="withEffect">
                                  <p:stCondLst>
                                    <p:cond delay="0"/>
                                  </p:stCondLst>
                                  <p:childTnLst>
                                    <p:set>
                                      <p:cBhvr>
                                        <p:cTn id="91" dur="1" fill="hold">
                                          <p:stCondLst>
                                            <p:cond delay="0"/>
                                          </p:stCondLst>
                                        </p:cTn>
                                        <p:tgtEl>
                                          <p:spTgt spid="105"/>
                                        </p:tgtEl>
                                        <p:attrNameLst>
                                          <p:attrName>style.visibility</p:attrName>
                                        </p:attrNameLst>
                                      </p:cBhvr>
                                      <p:to>
                                        <p:strVal val="hidden"/>
                                      </p:to>
                                    </p:set>
                                  </p:childTnLst>
                                </p:cTn>
                              </p:par>
                              <p:par>
                                <p:cTn id="94" presetID="1" presetClass="exit" presetSubtype="0" fill="hold" grpId="0" nodeType="withEffect">
                                  <p:stCondLst>
                                    <p:cond delay="0"/>
                                  </p:stCondLst>
                                  <p:childTnLst>
                                    <p:set>
                                      <p:cBhvr>
                                        <p:cTn id="93" dur="1" fill="hold">
                                          <p:stCondLst>
                                            <p:cond delay="0"/>
                                          </p:stCondLst>
                                        </p:cTn>
                                        <p:tgtEl>
                                          <p:spTgt spid="106"/>
                                        </p:tgtEl>
                                        <p:attrNameLst>
                                          <p:attrName>style.visibility</p:attrName>
                                        </p:attrNameLst>
                                      </p:cBhvr>
                                      <p:to>
                                        <p:strVal val="hidden"/>
                                      </p:to>
                                    </p:set>
                                  </p:childTnLst>
                                </p:cTn>
                              </p:par>
                              <p:par>
                                <p:cTn id="96" presetID="1" presetClass="exit" presetSubtype="0" fill="hold" grpId="0" nodeType="withEffect">
                                  <p:stCondLst>
                                    <p:cond delay="0"/>
                                  </p:stCondLst>
                                  <p:childTnLst>
                                    <p:set>
                                      <p:cBhvr>
                                        <p:cTn id="95" dur="1" fill="hold">
                                          <p:stCondLst>
                                            <p:cond delay="0"/>
                                          </p:stCondLst>
                                        </p:cTn>
                                        <p:tgtEl>
                                          <p:spTgt spid="107"/>
                                        </p:tgtEl>
                                        <p:attrNameLst>
                                          <p:attrName>style.visibility</p:attrName>
                                        </p:attrNameLst>
                                      </p:cBhvr>
                                      <p:to>
                                        <p:strVal val="hidden"/>
                                      </p:to>
                                    </p:set>
                                  </p:childTnLst>
                                </p:cTn>
                              </p:par>
                              <p:par>
                                <p:cTn id="98" presetID="1" presetClass="exit" presetSubtype="0" fill="hold" grpId="0" nodeType="withEffect">
                                  <p:stCondLst>
                                    <p:cond delay="0"/>
                                  </p:stCondLst>
                                  <p:childTnLst>
                                    <p:set>
                                      <p:cBhvr>
                                        <p:cTn id="97" dur="1" fill="hold">
                                          <p:stCondLst>
                                            <p:cond delay="0"/>
                                          </p:stCondLst>
                                        </p:cTn>
                                        <p:tgtEl>
                                          <p:spTgt spid="108"/>
                                        </p:tgtEl>
                                        <p:attrNameLst>
                                          <p:attrName>style.visibility</p:attrName>
                                        </p:attrNameLst>
                                      </p:cBhvr>
                                      <p:to>
                                        <p:strVal val="hidden"/>
                                      </p:to>
                                    </p:set>
                                  </p:childTnLst>
                                </p:cTn>
                              </p:par>
                              <p:par>
                                <p:cTn id="100" presetID="1" presetClass="exit" presetSubtype="0" fill="hold" grpId="0" nodeType="withEffect">
                                  <p:stCondLst>
                                    <p:cond delay="0"/>
                                  </p:stCondLst>
                                  <p:childTnLst>
                                    <p:set>
                                      <p:cBhvr>
                                        <p:cTn id="99" dur="1" fill="hold">
                                          <p:stCondLst>
                                            <p:cond delay="0"/>
                                          </p:stCondLst>
                                        </p:cTn>
                                        <p:tgtEl>
                                          <p:spTgt spid="109"/>
                                        </p:tgtEl>
                                        <p:attrNameLst>
                                          <p:attrName>style.visibility</p:attrName>
                                        </p:attrNameLst>
                                      </p:cBhvr>
                                      <p:to>
                                        <p:strVal val="hidden"/>
                                      </p:to>
                                    </p:set>
                                  </p:childTnLst>
                                </p:cTn>
                              </p:par>
                              <p:par>
                                <p:cTn id="102" presetID="1" presetClass="exit" presetSubtype="0" fill="hold" grpId="0" nodeType="withEffect">
                                  <p:stCondLst>
                                    <p:cond delay="0"/>
                                  </p:stCondLst>
                                  <p:childTnLst>
                                    <p:set>
                                      <p:cBhvr>
                                        <p:cTn id="101" dur="1" fill="hold">
                                          <p:stCondLst>
                                            <p:cond delay="0"/>
                                          </p:stCondLst>
                                        </p:cTn>
                                        <p:tgtEl>
                                          <p:spTgt spid="110"/>
                                        </p:tgtEl>
                                        <p:attrNameLst>
                                          <p:attrName>style.visibility</p:attrName>
                                        </p:attrNameLst>
                                      </p:cBhvr>
                                      <p:to>
                                        <p:strVal val="hidden"/>
                                      </p:to>
                                    </p:set>
                                  </p:childTnLst>
                                </p:cTn>
                              </p:par>
                              <p:par>
                                <p:cTn id="104" presetID="1" presetClass="exit" presetSubtype="0" fill="hold" grpId="0" nodeType="withEffect">
                                  <p:stCondLst>
                                    <p:cond delay="0"/>
                                  </p:stCondLst>
                                  <p:childTnLst>
                                    <p:set>
                                      <p:cBhvr>
                                        <p:cTn id="103" dur="1" fill="hold">
                                          <p:stCondLst>
                                            <p:cond delay="0"/>
                                          </p:stCondLst>
                                        </p:cTn>
                                        <p:tgtEl>
                                          <p:spTgt spid="111"/>
                                        </p:tgtEl>
                                        <p:attrNameLst>
                                          <p:attrName>style.visibility</p:attrName>
                                        </p:attrNameLst>
                                      </p:cBhvr>
                                      <p:to>
                                        <p:strVal val="hidden"/>
                                      </p:to>
                                    </p:set>
                                  </p:childTnLst>
                                </p:cTn>
                              </p:par>
                              <p:par>
                                <p:cTn id="106" presetID="1" presetClass="exit" presetSubtype="0" fill="hold" grpId="0" nodeType="withEffect">
                                  <p:stCondLst>
                                    <p:cond delay="0"/>
                                  </p:stCondLst>
                                  <p:childTnLst>
                                    <p:set>
                                      <p:cBhvr>
                                        <p:cTn id="105" dur="1" fill="hold">
                                          <p:stCondLst>
                                            <p:cond delay="0"/>
                                          </p:stCondLst>
                                        </p:cTn>
                                        <p:tgtEl>
                                          <p:spTgt spid="112"/>
                                        </p:tgtEl>
                                        <p:attrNameLst>
                                          <p:attrName>style.visibility</p:attrName>
                                        </p:attrNameLst>
                                      </p:cBhvr>
                                      <p:to>
                                        <p:strVal val="hidden"/>
                                      </p:to>
                                    </p:set>
                                  </p:childTnLst>
                                </p:cTn>
                              </p:par>
                              <p:par>
                                <p:cTn id="108" presetID="1" presetClass="exit" presetSubtype="0" fill="hold" grpId="0" nodeType="withEffect">
                                  <p:stCondLst>
                                    <p:cond delay="0"/>
                                  </p:stCondLst>
                                  <p:childTnLst>
                                    <p:set>
                                      <p:cBhvr>
                                        <p:cTn id="107" dur="1" fill="hold">
                                          <p:stCondLst>
                                            <p:cond delay="0"/>
                                          </p:stCondLst>
                                        </p:cTn>
                                        <p:tgtEl>
                                          <p:spTgt spid="113"/>
                                        </p:tgtEl>
                                        <p:attrNameLst>
                                          <p:attrName>style.visibility</p:attrName>
                                        </p:attrNameLst>
                                      </p:cBhvr>
                                      <p:to>
                                        <p:strVal val="hidden"/>
                                      </p:to>
                                    </p:set>
                                  </p:childTnLst>
                                </p:cTn>
                              </p:par>
                              <p:par>
                                <p:cTn id="110" presetID="1" presetClass="exit" presetSubtype="0" fill="hold" grpId="0" nodeType="withEffect">
                                  <p:stCondLst>
                                    <p:cond delay="0"/>
                                  </p:stCondLst>
                                  <p:childTnLst>
                                    <p:set>
                                      <p:cBhvr>
                                        <p:cTn id="109" dur="1" fill="hold">
                                          <p:stCondLst>
                                            <p:cond delay="0"/>
                                          </p:stCondLst>
                                        </p:cTn>
                                        <p:tgtEl>
                                          <p:spTgt spid="114"/>
                                        </p:tgtEl>
                                        <p:attrNameLst>
                                          <p:attrName>style.visibility</p:attrName>
                                        </p:attrNameLst>
                                      </p:cBhvr>
                                      <p:to>
                                        <p:strVal val="hidden"/>
                                      </p:to>
                                    </p:set>
                                  </p:childTnLst>
                                </p:cTn>
                              </p:par>
                              <p:par>
                                <p:cTn id="112" presetID="1" presetClass="exit" presetSubtype="0" fill="hold" grpId="0" nodeType="withEffect">
                                  <p:stCondLst>
                                    <p:cond delay="0"/>
                                  </p:stCondLst>
                                  <p:childTnLst>
                                    <p:set>
                                      <p:cBhvr>
                                        <p:cTn id="111" dur="1" fill="hold">
                                          <p:stCondLst>
                                            <p:cond delay="0"/>
                                          </p:stCondLst>
                                        </p:cTn>
                                        <p:tgtEl>
                                          <p:spTgt spid="115"/>
                                        </p:tgtEl>
                                        <p:attrNameLst>
                                          <p:attrName>style.visibility</p:attrName>
                                        </p:attrNameLst>
                                      </p:cBhvr>
                                      <p:to>
                                        <p:strVal val="hidden"/>
                                      </p:to>
                                    </p:set>
                                  </p:childTnLst>
                                </p:cTn>
                              </p:par>
                              <p:par>
                                <p:cTn id="114" presetID="1" presetClass="exit" presetSubtype="0" fill="hold" grpId="0" nodeType="withEffect">
                                  <p:stCondLst>
                                    <p:cond delay="0"/>
                                  </p:stCondLst>
                                  <p:childTnLst>
                                    <p:set>
                                      <p:cBhvr>
                                        <p:cTn id="113" dur="1" fill="hold">
                                          <p:stCondLst>
                                            <p:cond delay="0"/>
                                          </p:stCondLst>
                                        </p:cTn>
                                        <p:tgtEl>
                                          <p:spTgt spid="116"/>
                                        </p:tgtEl>
                                        <p:attrNameLst>
                                          <p:attrName>style.visibility</p:attrName>
                                        </p:attrNameLst>
                                      </p:cBhvr>
                                      <p:to>
                                        <p:strVal val="hidden"/>
                                      </p:to>
                                    </p:set>
                                  </p:childTnLst>
                                </p:cTn>
                              </p:par>
                              <p:par>
                                <p:cTn id="116" presetID="1" presetClass="exit" presetSubtype="0" fill="hold" grpId="0" nodeType="withEffect">
                                  <p:stCondLst>
                                    <p:cond delay="0"/>
                                  </p:stCondLst>
                                  <p:childTnLst>
                                    <p:set>
                                      <p:cBhvr>
                                        <p:cTn id="115" dur="1" fill="hold">
                                          <p:stCondLst>
                                            <p:cond delay="0"/>
                                          </p:stCondLst>
                                        </p:cTn>
                                        <p:tgtEl>
                                          <p:spTgt spid="117"/>
                                        </p:tgtEl>
                                        <p:attrNameLst>
                                          <p:attrName>style.visibility</p:attrName>
                                        </p:attrNameLst>
                                      </p:cBhvr>
                                      <p:to>
                                        <p:strVal val="hidden"/>
                                      </p:to>
                                    </p:set>
                                  </p:childTnLst>
                                </p:cTn>
                              </p:par>
                              <p:par>
                                <p:cTn id="118" presetID="1" presetClass="exit" presetSubtype="0" fill="hold" grpId="0" nodeType="withEffect">
                                  <p:stCondLst>
                                    <p:cond delay="0"/>
                                  </p:stCondLst>
                                  <p:childTnLst>
                                    <p:set>
                                      <p:cBhvr>
                                        <p:cTn id="117" dur="1" fill="hold">
                                          <p:stCondLst>
                                            <p:cond delay="0"/>
                                          </p:stCondLst>
                                        </p:cTn>
                                        <p:tgtEl>
                                          <p:spTgt spid="118"/>
                                        </p:tgtEl>
                                        <p:attrNameLst>
                                          <p:attrName>style.visibility</p:attrName>
                                        </p:attrNameLst>
                                      </p:cBhvr>
                                      <p:to>
                                        <p:strVal val="hidden"/>
                                      </p:to>
                                    </p:set>
                                  </p:childTnLst>
                                </p:cTn>
                              </p:par>
                              <p:par>
                                <p:cTn id="120" presetID="1" presetClass="exit" presetSubtype="0" fill="hold" grpId="0" nodeType="withEffect">
                                  <p:stCondLst>
                                    <p:cond delay="0"/>
                                  </p:stCondLst>
                                  <p:childTnLst>
                                    <p:set>
                                      <p:cBhvr>
                                        <p:cTn id="119" dur="1" fill="hold">
                                          <p:stCondLst>
                                            <p:cond delay="0"/>
                                          </p:stCondLst>
                                        </p:cTn>
                                        <p:tgtEl>
                                          <p:spTgt spid="119"/>
                                        </p:tgtEl>
                                        <p:attrNameLst>
                                          <p:attrName>style.visibility</p:attrName>
                                        </p:attrNameLst>
                                      </p:cBhvr>
                                      <p:to>
                                        <p:strVal val="hidden"/>
                                      </p:to>
                                    </p:set>
                                  </p:childTnLst>
                                </p:cTn>
                              </p:par>
                              <p:par>
                                <p:cTn id="122" presetID="1" presetClass="exit" presetSubtype="0" fill="hold" grpId="0" nodeType="withEffect">
                                  <p:stCondLst>
                                    <p:cond delay="0"/>
                                  </p:stCondLst>
                                  <p:childTnLst>
                                    <p:set>
                                      <p:cBhvr>
                                        <p:cTn id="121" dur="1" fill="hold">
                                          <p:stCondLst>
                                            <p:cond delay="0"/>
                                          </p:stCondLst>
                                        </p:cTn>
                                        <p:tgtEl>
                                          <p:spTgt spid="120"/>
                                        </p:tgtEl>
                                        <p:attrNameLst>
                                          <p:attrName>style.visibility</p:attrName>
                                        </p:attrNameLst>
                                      </p:cBhvr>
                                      <p:to>
                                        <p:strVal val="hidden"/>
                                      </p:to>
                                    </p:set>
                                  </p:childTnLst>
                                </p:cTn>
                              </p:par>
                            </p:childTnLst>
                          </p:cTn>
                        </p:par>
                      </p:childTnLst>
                    </p:cTn>
                  </p:par>
                </p:childTnLst>
              </p:cTn>
              <p:nextCondLst>
                <p:cond evt="onClick" delay="0">
                  <p:tgtEl>
                    <p:spTgt spid="121"/>
                  </p:tgtEl>
                </p:cond>
              </p:nextCondLst>
            </p:seq>
            <p:seq concurrent="1" nextAc="seek">
              <p:cTn id="246" restart="whenNotActive" fill="hold" evtFilter="cancelBubble" nodeType="interactiveSeq">
                <p:stCondLst>
                  <p:cond evt="onClick" delay="0">
                    <p:tgtEl>
                      <p:spTgt spid="122"/>
                    </p:tgtEl>
                  </p:cond>
                </p:stCondLst>
                <p:endSync evt="end" delay="0">
                  <p:rtn val="all"/>
                </p:endSync>
                <p:childTnLst>
                  <p:par>
                    <p:cTn id="247" fill="hold">
                      <p:stCondLst>
                        <p:cond delay="0"/>
                      </p:stCondLst>
                      <p:childTnLst>
                        <p:par>
                          <p:cTn id="248" fill="hold">
                            <p:stCondLst>
                              <p:cond delay="0"/>
                            </p:stCondLst>
                            <p:childTnLst>
                              <p:par>
                                <p:cTn id="127" presetID="1" presetClass="entr" presetSubtype="0" fill="hold" grpId="1" nodeType="clickEffect">
                                  <p:stCondLst>
                                    <p:cond delay="0"/>
                                  </p:stCondLst>
                                  <p:childTnLst>
                                    <p:set>
                                      <p:cBhvr>
                                        <p:cTn id="126" dur="1" fill="hold">
                                          <p:stCondLst>
                                            <p:cond delay="0"/>
                                          </p:stCondLst>
                                        </p:cTn>
                                        <p:tgtEl>
                                          <p:spTgt spid="61"/>
                                        </p:tgtEl>
                                        <p:attrNameLst>
                                          <p:attrName>style.visibility</p:attrName>
                                        </p:attrNameLst>
                                      </p:cBhvr>
                                      <p:to>
                                        <p:strVal val="visible"/>
                                      </p:to>
                                    </p:set>
                                  </p:childTnLst>
                                </p:cTn>
                              </p:par>
                              <p:par>
                                <p:cTn id="129" presetID="1" presetClass="entr" presetSubtype="0" fill="hold" grpId="1" nodeType="withEffect">
                                  <p:stCondLst>
                                    <p:cond delay="0"/>
                                  </p:stCondLst>
                                  <p:childTnLst>
                                    <p:set>
                                      <p:cBhvr>
                                        <p:cTn id="128" dur="1" fill="hold">
                                          <p:stCondLst>
                                            <p:cond delay="0"/>
                                          </p:stCondLst>
                                        </p:cTn>
                                        <p:tgtEl>
                                          <p:spTgt spid="62"/>
                                        </p:tgtEl>
                                        <p:attrNameLst>
                                          <p:attrName>style.visibility</p:attrName>
                                        </p:attrNameLst>
                                      </p:cBhvr>
                                      <p:to>
                                        <p:strVal val="visible"/>
                                      </p:to>
                                    </p:set>
                                  </p:childTnLst>
                                </p:cTn>
                              </p:par>
                              <p:par>
                                <p:cTn id="131" presetID="1" presetClass="entr" presetSubtype="0" fill="hold" grpId="1" nodeType="withEffect">
                                  <p:stCondLst>
                                    <p:cond delay="0"/>
                                  </p:stCondLst>
                                  <p:childTnLst>
                                    <p:set>
                                      <p:cBhvr>
                                        <p:cTn id="130" dur="1" fill="hold">
                                          <p:stCondLst>
                                            <p:cond delay="0"/>
                                          </p:stCondLst>
                                        </p:cTn>
                                        <p:tgtEl>
                                          <p:spTgt spid="63"/>
                                        </p:tgtEl>
                                        <p:attrNameLst>
                                          <p:attrName>style.visibility</p:attrName>
                                        </p:attrNameLst>
                                      </p:cBhvr>
                                      <p:to>
                                        <p:strVal val="visible"/>
                                      </p:to>
                                    </p:set>
                                  </p:childTnLst>
                                </p:cTn>
                              </p:par>
                              <p:par>
                                <p:cTn id="133" presetID="1" presetClass="entr" presetSubtype="0" fill="hold" grpId="1" nodeType="withEffect">
                                  <p:stCondLst>
                                    <p:cond delay="0"/>
                                  </p:stCondLst>
                                  <p:childTnLst>
                                    <p:set>
                                      <p:cBhvr>
                                        <p:cTn id="132" dur="1" fill="hold">
                                          <p:stCondLst>
                                            <p:cond delay="0"/>
                                          </p:stCondLst>
                                        </p:cTn>
                                        <p:tgtEl>
                                          <p:spTgt spid="64"/>
                                        </p:tgtEl>
                                        <p:attrNameLst>
                                          <p:attrName>style.visibility</p:attrName>
                                        </p:attrNameLst>
                                      </p:cBhvr>
                                      <p:to>
                                        <p:strVal val="visible"/>
                                      </p:to>
                                    </p:set>
                                  </p:childTnLst>
                                </p:cTn>
                              </p:par>
                              <p:par>
                                <p:cTn id="135" presetID="1" presetClass="entr" presetSubtype="0" fill="hold" grpId="1" nodeType="withEffect">
                                  <p:stCondLst>
                                    <p:cond delay="0"/>
                                  </p:stCondLst>
                                  <p:childTnLst>
                                    <p:set>
                                      <p:cBhvr>
                                        <p:cTn id="134" dur="1" fill="hold">
                                          <p:stCondLst>
                                            <p:cond delay="0"/>
                                          </p:stCondLst>
                                        </p:cTn>
                                        <p:tgtEl>
                                          <p:spTgt spid="65"/>
                                        </p:tgtEl>
                                        <p:attrNameLst>
                                          <p:attrName>style.visibility</p:attrName>
                                        </p:attrNameLst>
                                      </p:cBhvr>
                                      <p:to>
                                        <p:strVal val="visible"/>
                                      </p:to>
                                    </p:set>
                                  </p:childTnLst>
                                </p:cTn>
                              </p:par>
                              <p:par>
                                <p:cTn id="137" presetID="1" presetClass="entr" presetSubtype="0" fill="hold" grpId="1" nodeType="withEffect">
                                  <p:stCondLst>
                                    <p:cond delay="0"/>
                                  </p:stCondLst>
                                  <p:childTnLst>
                                    <p:set>
                                      <p:cBhvr>
                                        <p:cTn id="136" dur="1" fill="hold">
                                          <p:stCondLst>
                                            <p:cond delay="0"/>
                                          </p:stCondLst>
                                        </p:cTn>
                                        <p:tgtEl>
                                          <p:spTgt spid="66"/>
                                        </p:tgtEl>
                                        <p:attrNameLst>
                                          <p:attrName>style.visibility</p:attrName>
                                        </p:attrNameLst>
                                      </p:cBhvr>
                                      <p:to>
                                        <p:strVal val="visible"/>
                                      </p:to>
                                    </p:set>
                                  </p:childTnLst>
                                </p:cTn>
                              </p:par>
                              <p:par>
                                <p:cTn id="139" presetID="1" presetClass="entr" presetSubtype="0" fill="hold" grpId="1" nodeType="withEffect">
                                  <p:stCondLst>
                                    <p:cond delay="0"/>
                                  </p:stCondLst>
                                  <p:childTnLst>
                                    <p:set>
                                      <p:cBhvr>
                                        <p:cTn id="138" dur="1" fill="hold">
                                          <p:stCondLst>
                                            <p:cond delay="0"/>
                                          </p:stCondLst>
                                        </p:cTn>
                                        <p:tgtEl>
                                          <p:spTgt spid="67"/>
                                        </p:tgtEl>
                                        <p:attrNameLst>
                                          <p:attrName>style.visibility</p:attrName>
                                        </p:attrNameLst>
                                      </p:cBhvr>
                                      <p:to>
                                        <p:strVal val="visible"/>
                                      </p:to>
                                    </p:set>
                                  </p:childTnLst>
                                </p:cTn>
                              </p:par>
                              <p:par>
                                <p:cTn id="141" presetID="1" presetClass="entr" presetSubtype="0" fill="hold" grpId="1" nodeType="withEffect">
                                  <p:stCondLst>
                                    <p:cond delay="0"/>
                                  </p:stCondLst>
                                  <p:childTnLst>
                                    <p:set>
                                      <p:cBhvr>
                                        <p:cTn id="140" dur="1" fill="hold">
                                          <p:stCondLst>
                                            <p:cond delay="0"/>
                                          </p:stCondLst>
                                        </p:cTn>
                                        <p:tgtEl>
                                          <p:spTgt spid="68"/>
                                        </p:tgtEl>
                                        <p:attrNameLst>
                                          <p:attrName>style.visibility</p:attrName>
                                        </p:attrNameLst>
                                      </p:cBhvr>
                                      <p:to>
                                        <p:strVal val="visible"/>
                                      </p:to>
                                    </p:set>
                                  </p:childTnLst>
                                </p:cTn>
                              </p:par>
                              <p:par>
                                <p:cTn id="143" presetID="1" presetClass="entr" presetSubtype="0" fill="hold" grpId="1" nodeType="withEffect">
                                  <p:stCondLst>
                                    <p:cond delay="0"/>
                                  </p:stCondLst>
                                  <p:childTnLst>
                                    <p:set>
                                      <p:cBhvr>
                                        <p:cTn id="142" dur="1" fill="hold">
                                          <p:stCondLst>
                                            <p:cond delay="0"/>
                                          </p:stCondLst>
                                        </p:cTn>
                                        <p:tgtEl>
                                          <p:spTgt spid="69"/>
                                        </p:tgtEl>
                                        <p:attrNameLst>
                                          <p:attrName>style.visibility</p:attrName>
                                        </p:attrNameLst>
                                      </p:cBhvr>
                                      <p:to>
                                        <p:strVal val="visible"/>
                                      </p:to>
                                    </p:set>
                                  </p:childTnLst>
                                </p:cTn>
                              </p:par>
                              <p:par>
                                <p:cTn id="145" presetID="1" presetClass="entr" presetSubtype="0" fill="hold" grpId="1" nodeType="withEffect">
                                  <p:stCondLst>
                                    <p:cond delay="0"/>
                                  </p:stCondLst>
                                  <p:childTnLst>
                                    <p:set>
                                      <p:cBhvr>
                                        <p:cTn id="144" dur="1" fill="hold">
                                          <p:stCondLst>
                                            <p:cond delay="0"/>
                                          </p:stCondLst>
                                        </p:cTn>
                                        <p:tgtEl>
                                          <p:spTgt spid="70"/>
                                        </p:tgtEl>
                                        <p:attrNameLst>
                                          <p:attrName>style.visibility</p:attrName>
                                        </p:attrNameLst>
                                      </p:cBhvr>
                                      <p:to>
                                        <p:strVal val="visible"/>
                                      </p:to>
                                    </p:set>
                                  </p:childTnLst>
                                </p:cTn>
                              </p:par>
                              <p:par>
                                <p:cTn id="147" presetID="1" presetClass="entr" presetSubtype="0" fill="hold" grpId="1" nodeType="withEffect">
                                  <p:stCondLst>
                                    <p:cond delay="0"/>
                                  </p:stCondLst>
                                  <p:childTnLst>
                                    <p:set>
                                      <p:cBhvr>
                                        <p:cTn id="146" dur="1" fill="hold">
                                          <p:stCondLst>
                                            <p:cond delay="0"/>
                                          </p:stCondLst>
                                        </p:cTn>
                                        <p:tgtEl>
                                          <p:spTgt spid="71"/>
                                        </p:tgtEl>
                                        <p:attrNameLst>
                                          <p:attrName>style.visibility</p:attrName>
                                        </p:attrNameLst>
                                      </p:cBhvr>
                                      <p:to>
                                        <p:strVal val="visible"/>
                                      </p:to>
                                    </p:set>
                                  </p:childTnLst>
                                </p:cTn>
                              </p:par>
                              <p:par>
                                <p:cTn id="149" presetID="1" presetClass="entr" presetSubtype="0" fill="hold" grpId="1" nodeType="withEffect">
                                  <p:stCondLst>
                                    <p:cond delay="0"/>
                                  </p:stCondLst>
                                  <p:childTnLst>
                                    <p:set>
                                      <p:cBhvr>
                                        <p:cTn id="148" dur="1" fill="hold">
                                          <p:stCondLst>
                                            <p:cond delay="0"/>
                                          </p:stCondLst>
                                        </p:cTn>
                                        <p:tgtEl>
                                          <p:spTgt spid="72"/>
                                        </p:tgtEl>
                                        <p:attrNameLst>
                                          <p:attrName>style.visibility</p:attrName>
                                        </p:attrNameLst>
                                      </p:cBhvr>
                                      <p:to>
                                        <p:strVal val="visible"/>
                                      </p:to>
                                    </p:set>
                                  </p:childTnLst>
                                </p:cTn>
                              </p:par>
                              <p:par>
                                <p:cTn id="151" presetID="1" presetClass="entr" presetSubtype="0" fill="hold" grpId="1" nodeType="withEffect">
                                  <p:stCondLst>
                                    <p:cond delay="0"/>
                                  </p:stCondLst>
                                  <p:childTnLst>
                                    <p:set>
                                      <p:cBhvr>
                                        <p:cTn id="150" dur="1" fill="hold">
                                          <p:stCondLst>
                                            <p:cond delay="0"/>
                                          </p:stCondLst>
                                        </p:cTn>
                                        <p:tgtEl>
                                          <p:spTgt spid="73"/>
                                        </p:tgtEl>
                                        <p:attrNameLst>
                                          <p:attrName>style.visibility</p:attrName>
                                        </p:attrNameLst>
                                      </p:cBhvr>
                                      <p:to>
                                        <p:strVal val="visible"/>
                                      </p:to>
                                    </p:set>
                                  </p:childTnLst>
                                </p:cTn>
                              </p:par>
                              <p:par>
                                <p:cTn id="153" presetID="1" presetClass="entr" presetSubtype="0" fill="hold" grpId="1" nodeType="withEffect">
                                  <p:stCondLst>
                                    <p:cond delay="0"/>
                                  </p:stCondLst>
                                  <p:childTnLst>
                                    <p:set>
                                      <p:cBhvr>
                                        <p:cTn id="152" dur="1" fill="hold">
                                          <p:stCondLst>
                                            <p:cond delay="0"/>
                                          </p:stCondLst>
                                        </p:cTn>
                                        <p:tgtEl>
                                          <p:spTgt spid="74"/>
                                        </p:tgtEl>
                                        <p:attrNameLst>
                                          <p:attrName>style.visibility</p:attrName>
                                        </p:attrNameLst>
                                      </p:cBhvr>
                                      <p:to>
                                        <p:strVal val="visible"/>
                                      </p:to>
                                    </p:set>
                                  </p:childTnLst>
                                </p:cTn>
                              </p:par>
                              <p:par>
                                <p:cTn id="155" presetID="1" presetClass="entr" presetSubtype="0" fill="hold" grpId="1" nodeType="withEffect">
                                  <p:stCondLst>
                                    <p:cond delay="0"/>
                                  </p:stCondLst>
                                  <p:childTnLst>
                                    <p:set>
                                      <p:cBhvr>
                                        <p:cTn id="154" dur="1" fill="hold">
                                          <p:stCondLst>
                                            <p:cond delay="0"/>
                                          </p:stCondLst>
                                        </p:cTn>
                                        <p:tgtEl>
                                          <p:spTgt spid="75"/>
                                        </p:tgtEl>
                                        <p:attrNameLst>
                                          <p:attrName>style.visibility</p:attrName>
                                        </p:attrNameLst>
                                      </p:cBhvr>
                                      <p:to>
                                        <p:strVal val="visible"/>
                                      </p:to>
                                    </p:set>
                                  </p:childTnLst>
                                </p:cTn>
                              </p:par>
                              <p:par>
                                <p:cTn id="157" presetID="1" presetClass="entr" presetSubtype="0" fill="hold" grpId="1" nodeType="withEffect">
                                  <p:stCondLst>
                                    <p:cond delay="0"/>
                                  </p:stCondLst>
                                  <p:childTnLst>
                                    <p:set>
                                      <p:cBhvr>
                                        <p:cTn id="156" dur="1" fill="hold">
                                          <p:stCondLst>
                                            <p:cond delay="0"/>
                                          </p:stCondLst>
                                        </p:cTn>
                                        <p:tgtEl>
                                          <p:spTgt spid="76"/>
                                        </p:tgtEl>
                                        <p:attrNameLst>
                                          <p:attrName>style.visibility</p:attrName>
                                        </p:attrNameLst>
                                      </p:cBhvr>
                                      <p:to>
                                        <p:strVal val="visible"/>
                                      </p:to>
                                    </p:set>
                                  </p:childTnLst>
                                </p:cTn>
                              </p:par>
                              <p:par>
                                <p:cTn id="159" presetID="1" presetClass="entr" presetSubtype="0" fill="hold" grpId="1" nodeType="withEffect">
                                  <p:stCondLst>
                                    <p:cond delay="0"/>
                                  </p:stCondLst>
                                  <p:childTnLst>
                                    <p:set>
                                      <p:cBhvr>
                                        <p:cTn id="158" dur="1" fill="hold">
                                          <p:stCondLst>
                                            <p:cond delay="0"/>
                                          </p:stCondLst>
                                        </p:cTn>
                                        <p:tgtEl>
                                          <p:spTgt spid="77"/>
                                        </p:tgtEl>
                                        <p:attrNameLst>
                                          <p:attrName>style.visibility</p:attrName>
                                        </p:attrNameLst>
                                      </p:cBhvr>
                                      <p:to>
                                        <p:strVal val="visible"/>
                                      </p:to>
                                    </p:set>
                                  </p:childTnLst>
                                </p:cTn>
                              </p:par>
                              <p:par>
                                <p:cTn id="161" presetID="1" presetClass="entr" presetSubtype="0" fill="hold" grpId="1" nodeType="withEffect">
                                  <p:stCondLst>
                                    <p:cond delay="0"/>
                                  </p:stCondLst>
                                  <p:childTnLst>
                                    <p:set>
                                      <p:cBhvr>
                                        <p:cTn id="160" dur="1" fill="hold">
                                          <p:stCondLst>
                                            <p:cond delay="0"/>
                                          </p:stCondLst>
                                        </p:cTn>
                                        <p:tgtEl>
                                          <p:spTgt spid="78"/>
                                        </p:tgtEl>
                                        <p:attrNameLst>
                                          <p:attrName>style.visibility</p:attrName>
                                        </p:attrNameLst>
                                      </p:cBhvr>
                                      <p:to>
                                        <p:strVal val="visible"/>
                                      </p:to>
                                    </p:set>
                                  </p:childTnLst>
                                </p:cTn>
                              </p:par>
                              <p:par>
                                <p:cTn id="163" presetID="1" presetClass="entr" presetSubtype="0" fill="hold" grpId="1" nodeType="withEffect">
                                  <p:stCondLst>
                                    <p:cond delay="0"/>
                                  </p:stCondLst>
                                  <p:childTnLst>
                                    <p:set>
                                      <p:cBhvr>
                                        <p:cTn id="162" dur="1" fill="hold">
                                          <p:stCondLst>
                                            <p:cond delay="0"/>
                                          </p:stCondLst>
                                        </p:cTn>
                                        <p:tgtEl>
                                          <p:spTgt spid="79"/>
                                        </p:tgtEl>
                                        <p:attrNameLst>
                                          <p:attrName>style.visibility</p:attrName>
                                        </p:attrNameLst>
                                      </p:cBhvr>
                                      <p:to>
                                        <p:strVal val="visible"/>
                                      </p:to>
                                    </p:set>
                                  </p:childTnLst>
                                </p:cTn>
                              </p:par>
                              <p:par>
                                <p:cTn id="165" presetID="1" presetClass="entr" presetSubtype="0" fill="hold" grpId="1" nodeType="withEffect">
                                  <p:stCondLst>
                                    <p:cond delay="0"/>
                                  </p:stCondLst>
                                  <p:childTnLst>
                                    <p:set>
                                      <p:cBhvr>
                                        <p:cTn id="164" dur="1" fill="hold">
                                          <p:stCondLst>
                                            <p:cond delay="0"/>
                                          </p:stCondLst>
                                        </p:cTn>
                                        <p:tgtEl>
                                          <p:spTgt spid="80"/>
                                        </p:tgtEl>
                                        <p:attrNameLst>
                                          <p:attrName>style.visibility</p:attrName>
                                        </p:attrNameLst>
                                      </p:cBhvr>
                                      <p:to>
                                        <p:strVal val="visible"/>
                                      </p:to>
                                    </p:set>
                                  </p:childTnLst>
                                </p:cTn>
                              </p:par>
                              <p:par>
                                <p:cTn id="167" presetID="1" presetClass="exit" presetSubtype="0" fill="hold" grpId="1" nodeType="withEffect">
                                  <p:stCondLst>
                                    <p:cond delay="0"/>
                                  </p:stCondLst>
                                  <p:childTnLst>
                                    <p:set>
                                      <p:cBhvr>
                                        <p:cTn id="166" dur="1" fill="hold">
                                          <p:stCondLst>
                                            <p:cond delay="0"/>
                                          </p:stCondLst>
                                        </p:cTn>
                                        <p:tgtEl>
                                          <p:spTgt spid="81"/>
                                        </p:tgtEl>
                                        <p:attrNameLst>
                                          <p:attrName>style.visibility</p:attrName>
                                        </p:attrNameLst>
                                      </p:cBhvr>
                                      <p:to>
                                        <p:strVal val="hidden"/>
                                      </p:to>
                                    </p:set>
                                  </p:childTnLst>
                                </p:cTn>
                              </p:par>
                              <p:par>
                                <p:cTn id="169" presetID="1" presetClass="exit" presetSubtype="0" fill="hold" grpId="1" nodeType="withEffect">
                                  <p:stCondLst>
                                    <p:cond delay="0"/>
                                  </p:stCondLst>
                                  <p:childTnLst>
                                    <p:set>
                                      <p:cBhvr>
                                        <p:cTn id="168" dur="1" fill="hold">
                                          <p:stCondLst>
                                            <p:cond delay="0"/>
                                          </p:stCondLst>
                                        </p:cTn>
                                        <p:tgtEl>
                                          <p:spTgt spid="82"/>
                                        </p:tgtEl>
                                        <p:attrNameLst>
                                          <p:attrName>style.visibility</p:attrName>
                                        </p:attrNameLst>
                                      </p:cBhvr>
                                      <p:to>
                                        <p:strVal val="hidden"/>
                                      </p:to>
                                    </p:set>
                                  </p:childTnLst>
                                </p:cTn>
                              </p:par>
                              <p:par>
                                <p:cTn id="171" presetID="1" presetClass="exit" presetSubtype="0" fill="hold" grpId="1" nodeType="withEffect">
                                  <p:stCondLst>
                                    <p:cond delay="0"/>
                                  </p:stCondLst>
                                  <p:childTnLst>
                                    <p:set>
                                      <p:cBhvr>
                                        <p:cTn id="170" dur="1" fill="hold">
                                          <p:stCondLst>
                                            <p:cond delay="0"/>
                                          </p:stCondLst>
                                        </p:cTn>
                                        <p:tgtEl>
                                          <p:spTgt spid="83"/>
                                        </p:tgtEl>
                                        <p:attrNameLst>
                                          <p:attrName>style.visibility</p:attrName>
                                        </p:attrNameLst>
                                      </p:cBhvr>
                                      <p:to>
                                        <p:strVal val="hidden"/>
                                      </p:to>
                                    </p:set>
                                  </p:childTnLst>
                                </p:cTn>
                              </p:par>
                              <p:par>
                                <p:cTn id="173" presetID="1" presetClass="exit" presetSubtype="0" fill="hold" grpId="1" nodeType="withEffect">
                                  <p:stCondLst>
                                    <p:cond delay="0"/>
                                  </p:stCondLst>
                                  <p:childTnLst>
                                    <p:set>
                                      <p:cBhvr>
                                        <p:cTn id="172" dur="1" fill="hold">
                                          <p:stCondLst>
                                            <p:cond delay="0"/>
                                          </p:stCondLst>
                                        </p:cTn>
                                        <p:tgtEl>
                                          <p:spTgt spid="84"/>
                                        </p:tgtEl>
                                        <p:attrNameLst>
                                          <p:attrName>style.visibility</p:attrName>
                                        </p:attrNameLst>
                                      </p:cBhvr>
                                      <p:to>
                                        <p:strVal val="hidden"/>
                                      </p:to>
                                    </p:set>
                                  </p:childTnLst>
                                </p:cTn>
                              </p:par>
                              <p:par>
                                <p:cTn id="175" presetID="1" presetClass="exit" presetSubtype="0" fill="hold" grpId="1" nodeType="withEffect">
                                  <p:stCondLst>
                                    <p:cond delay="0"/>
                                  </p:stCondLst>
                                  <p:childTnLst>
                                    <p:set>
                                      <p:cBhvr>
                                        <p:cTn id="174" dur="1" fill="hold">
                                          <p:stCondLst>
                                            <p:cond delay="0"/>
                                          </p:stCondLst>
                                        </p:cTn>
                                        <p:tgtEl>
                                          <p:spTgt spid="85"/>
                                        </p:tgtEl>
                                        <p:attrNameLst>
                                          <p:attrName>style.visibility</p:attrName>
                                        </p:attrNameLst>
                                      </p:cBhvr>
                                      <p:to>
                                        <p:strVal val="hidden"/>
                                      </p:to>
                                    </p:set>
                                  </p:childTnLst>
                                </p:cTn>
                              </p:par>
                              <p:par>
                                <p:cTn id="177" presetID="1" presetClass="exit" presetSubtype="0" fill="hold" grpId="1" nodeType="withEffect">
                                  <p:stCondLst>
                                    <p:cond delay="0"/>
                                  </p:stCondLst>
                                  <p:childTnLst>
                                    <p:set>
                                      <p:cBhvr>
                                        <p:cTn id="176" dur="1" fill="hold">
                                          <p:stCondLst>
                                            <p:cond delay="0"/>
                                          </p:stCondLst>
                                        </p:cTn>
                                        <p:tgtEl>
                                          <p:spTgt spid="86"/>
                                        </p:tgtEl>
                                        <p:attrNameLst>
                                          <p:attrName>style.visibility</p:attrName>
                                        </p:attrNameLst>
                                      </p:cBhvr>
                                      <p:to>
                                        <p:strVal val="hidden"/>
                                      </p:to>
                                    </p:set>
                                  </p:childTnLst>
                                </p:cTn>
                              </p:par>
                              <p:par>
                                <p:cTn id="179" presetID="1" presetClass="exit" presetSubtype="0" fill="hold" grpId="1" nodeType="withEffect">
                                  <p:stCondLst>
                                    <p:cond delay="0"/>
                                  </p:stCondLst>
                                  <p:childTnLst>
                                    <p:set>
                                      <p:cBhvr>
                                        <p:cTn id="178" dur="1" fill="hold">
                                          <p:stCondLst>
                                            <p:cond delay="0"/>
                                          </p:stCondLst>
                                        </p:cTn>
                                        <p:tgtEl>
                                          <p:spTgt spid="87"/>
                                        </p:tgtEl>
                                        <p:attrNameLst>
                                          <p:attrName>style.visibility</p:attrName>
                                        </p:attrNameLst>
                                      </p:cBhvr>
                                      <p:to>
                                        <p:strVal val="hidden"/>
                                      </p:to>
                                    </p:set>
                                  </p:childTnLst>
                                </p:cTn>
                              </p:par>
                              <p:par>
                                <p:cTn id="181" presetID="1" presetClass="exit" presetSubtype="0" fill="hold" grpId="1" nodeType="withEffect">
                                  <p:stCondLst>
                                    <p:cond delay="0"/>
                                  </p:stCondLst>
                                  <p:childTnLst>
                                    <p:set>
                                      <p:cBhvr>
                                        <p:cTn id="180" dur="1" fill="hold">
                                          <p:stCondLst>
                                            <p:cond delay="0"/>
                                          </p:stCondLst>
                                        </p:cTn>
                                        <p:tgtEl>
                                          <p:spTgt spid="88"/>
                                        </p:tgtEl>
                                        <p:attrNameLst>
                                          <p:attrName>style.visibility</p:attrName>
                                        </p:attrNameLst>
                                      </p:cBhvr>
                                      <p:to>
                                        <p:strVal val="hidden"/>
                                      </p:to>
                                    </p:set>
                                  </p:childTnLst>
                                </p:cTn>
                              </p:par>
                              <p:par>
                                <p:cTn id="183" presetID="1" presetClass="exit" presetSubtype="0" fill="hold" grpId="1" nodeType="withEffect">
                                  <p:stCondLst>
                                    <p:cond delay="0"/>
                                  </p:stCondLst>
                                  <p:childTnLst>
                                    <p:set>
                                      <p:cBhvr>
                                        <p:cTn id="182" dur="1" fill="hold">
                                          <p:stCondLst>
                                            <p:cond delay="0"/>
                                          </p:stCondLst>
                                        </p:cTn>
                                        <p:tgtEl>
                                          <p:spTgt spid="89"/>
                                        </p:tgtEl>
                                        <p:attrNameLst>
                                          <p:attrName>style.visibility</p:attrName>
                                        </p:attrNameLst>
                                      </p:cBhvr>
                                      <p:to>
                                        <p:strVal val="hidden"/>
                                      </p:to>
                                    </p:set>
                                  </p:childTnLst>
                                </p:cTn>
                              </p:par>
                              <p:par>
                                <p:cTn id="185" presetID="1" presetClass="exit" presetSubtype="0" fill="hold" grpId="1" nodeType="withEffect">
                                  <p:stCondLst>
                                    <p:cond delay="0"/>
                                  </p:stCondLst>
                                  <p:childTnLst>
                                    <p:set>
                                      <p:cBhvr>
                                        <p:cTn id="184" dur="1" fill="hold">
                                          <p:stCondLst>
                                            <p:cond delay="0"/>
                                          </p:stCondLst>
                                        </p:cTn>
                                        <p:tgtEl>
                                          <p:spTgt spid="90"/>
                                        </p:tgtEl>
                                        <p:attrNameLst>
                                          <p:attrName>style.visibility</p:attrName>
                                        </p:attrNameLst>
                                      </p:cBhvr>
                                      <p:to>
                                        <p:strVal val="hidden"/>
                                      </p:to>
                                    </p:set>
                                  </p:childTnLst>
                                </p:cTn>
                              </p:par>
                              <p:par>
                                <p:cTn id="187" presetID="1" presetClass="exit" presetSubtype="0" fill="hold" grpId="1" nodeType="withEffect">
                                  <p:stCondLst>
                                    <p:cond delay="0"/>
                                  </p:stCondLst>
                                  <p:childTnLst>
                                    <p:set>
                                      <p:cBhvr>
                                        <p:cTn id="186" dur="1" fill="hold">
                                          <p:stCondLst>
                                            <p:cond delay="0"/>
                                          </p:stCondLst>
                                        </p:cTn>
                                        <p:tgtEl>
                                          <p:spTgt spid="91"/>
                                        </p:tgtEl>
                                        <p:attrNameLst>
                                          <p:attrName>style.visibility</p:attrName>
                                        </p:attrNameLst>
                                      </p:cBhvr>
                                      <p:to>
                                        <p:strVal val="hidden"/>
                                      </p:to>
                                    </p:set>
                                  </p:childTnLst>
                                </p:cTn>
                              </p:par>
                              <p:par>
                                <p:cTn id="189" presetID="1" presetClass="exit" presetSubtype="0" fill="hold" grpId="1" nodeType="withEffect">
                                  <p:stCondLst>
                                    <p:cond delay="0"/>
                                  </p:stCondLst>
                                  <p:childTnLst>
                                    <p:set>
                                      <p:cBhvr>
                                        <p:cTn id="188" dur="1" fill="hold">
                                          <p:stCondLst>
                                            <p:cond delay="0"/>
                                          </p:stCondLst>
                                        </p:cTn>
                                        <p:tgtEl>
                                          <p:spTgt spid="92"/>
                                        </p:tgtEl>
                                        <p:attrNameLst>
                                          <p:attrName>style.visibility</p:attrName>
                                        </p:attrNameLst>
                                      </p:cBhvr>
                                      <p:to>
                                        <p:strVal val="hidden"/>
                                      </p:to>
                                    </p:set>
                                  </p:childTnLst>
                                </p:cTn>
                              </p:par>
                              <p:par>
                                <p:cTn id="191" presetID="1" presetClass="exit" presetSubtype="0" fill="hold" grpId="1" nodeType="withEffect">
                                  <p:stCondLst>
                                    <p:cond delay="0"/>
                                  </p:stCondLst>
                                  <p:childTnLst>
                                    <p:set>
                                      <p:cBhvr>
                                        <p:cTn id="190" dur="1" fill="hold">
                                          <p:stCondLst>
                                            <p:cond delay="0"/>
                                          </p:stCondLst>
                                        </p:cTn>
                                        <p:tgtEl>
                                          <p:spTgt spid="93"/>
                                        </p:tgtEl>
                                        <p:attrNameLst>
                                          <p:attrName>style.visibility</p:attrName>
                                        </p:attrNameLst>
                                      </p:cBhvr>
                                      <p:to>
                                        <p:strVal val="hidden"/>
                                      </p:to>
                                    </p:set>
                                  </p:childTnLst>
                                </p:cTn>
                              </p:par>
                              <p:par>
                                <p:cTn id="193" presetID="1" presetClass="exit" presetSubtype="0" fill="hold" grpId="1" nodeType="withEffect">
                                  <p:stCondLst>
                                    <p:cond delay="0"/>
                                  </p:stCondLst>
                                  <p:childTnLst>
                                    <p:set>
                                      <p:cBhvr>
                                        <p:cTn id="192" dur="1" fill="hold">
                                          <p:stCondLst>
                                            <p:cond delay="0"/>
                                          </p:stCondLst>
                                        </p:cTn>
                                        <p:tgtEl>
                                          <p:spTgt spid="94"/>
                                        </p:tgtEl>
                                        <p:attrNameLst>
                                          <p:attrName>style.visibility</p:attrName>
                                        </p:attrNameLst>
                                      </p:cBhvr>
                                      <p:to>
                                        <p:strVal val="hidden"/>
                                      </p:to>
                                    </p:set>
                                  </p:childTnLst>
                                </p:cTn>
                              </p:par>
                              <p:par>
                                <p:cTn id="195" presetID="1" presetClass="exit" presetSubtype="0" fill="hold" grpId="1" nodeType="withEffect">
                                  <p:stCondLst>
                                    <p:cond delay="0"/>
                                  </p:stCondLst>
                                  <p:childTnLst>
                                    <p:set>
                                      <p:cBhvr>
                                        <p:cTn id="194" dur="1" fill="hold">
                                          <p:stCondLst>
                                            <p:cond delay="0"/>
                                          </p:stCondLst>
                                        </p:cTn>
                                        <p:tgtEl>
                                          <p:spTgt spid="95"/>
                                        </p:tgtEl>
                                        <p:attrNameLst>
                                          <p:attrName>style.visibility</p:attrName>
                                        </p:attrNameLst>
                                      </p:cBhvr>
                                      <p:to>
                                        <p:strVal val="hidden"/>
                                      </p:to>
                                    </p:set>
                                  </p:childTnLst>
                                </p:cTn>
                              </p:par>
                              <p:par>
                                <p:cTn id="197" presetID="1" presetClass="exit" presetSubtype="0" fill="hold" grpId="1" nodeType="withEffect">
                                  <p:stCondLst>
                                    <p:cond delay="0"/>
                                  </p:stCondLst>
                                  <p:childTnLst>
                                    <p:set>
                                      <p:cBhvr>
                                        <p:cTn id="196" dur="1" fill="hold">
                                          <p:stCondLst>
                                            <p:cond delay="0"/>
                                          </p:stCondLst>
                                        </p:cTn>
                                        <p:tgtEl>
                                          <p:spTgt spid="96"/>
                                        </p:tgtEl>
                                        <p:attrNameLst>
                                          <p:attrName>style.visibility</p:attrName>
                                        </p:attrNameLst>
                                      </p:cBhvr>
                                      <p:to>
                                        <p:strVal val="hidden"/>
                                      </p:to>
                                    </p:set>
                                  </p:childTnLst>
                                </p:cTn>
                              </p:par>
                              <p:par>
                                <p:cTn id="199" presetID="1" presetClass="exit" presetSubtype="0" fill="hold" grpId="1" nodeType="withEffect">
                                  <p:stCondLst>
                                    <p:cond delay="0"/>
                                  </p:stCondLst>
                                  <p:childTnLst>
                                    <p:set>
                                      <p:cBhvr>
                                        <p:cTn id="198" dur="1" fill="hold">
                                          <p:stCondLst>
                                            <p:cond delay="0"/>
                                          </p:stCondLst>
                                        </p:cTn>
                                        <p:tgtEl>
                                          <p:spTgt spid="97"/>
                                        </p:tgtEl>
                                        <p:attrNameLst>
                                          <p:attrName>style.visibility</p:attrName>
                                        </p:attrNameLst>
                                      </p:cBhvr>
                                      <p:to>
                                        <p:strVal val="hidden"/>
                                      </p:to>
                                    </p:set>
                                  </p:childTnLst>
                                </p:cTn>
                              </p:par>
                              <p:par>
                                <p:cTn id="201" presetID="1" presetClass="exit" presetSubtype="0" fill="hold" grpId="1" nodeType="withEffect">
                                  <p:stCondLst>
                                    <p:cond delay="0"/>
                                  </p:stCondLst>
                                  <p:childTnLst>
                                    <p:set>
                                      <p:cBhvr>
                                        <p:cTn id="200" dur="1" fill="hold">
                                          <p:stCondLst>
                                            <p:cond delay="0"/>
                                          </p:stCondLst>
                                        </p:cTn>
                                        <p:tgtEl>
                                          <p:spTgt spid="98"/>
                                        </p:tgtEl>
                                        <p:attrNameLst>
                                          <p:attrName>style.visibility</p:attrName>
                                        </p:attrNameLst>
                                      </p:cBhvr>
                                      <p:to>
                                        <p:strVal val="hidden"/>
                                      </p:to>
                                    </p:set>
                                  </p:childTnLst>
                                </p:cTn>
                              </p:par>
                              <p:par>
                                <p:cTn id="203" presetID="1" presetClass="exit" presetSubtype="0" fill="hold" grpId="1" nodeType="withEffect">
                                  <p:stCondLst>
                                    <p:cond delay="0"/>
                                  </p:stCondLst>
                                  <p:childTnLst>
                                    <p:set>
                                      <p:cBhvr>
                                        <p:cTn id="202" dur="1" fill="hold">
                                          <p:stCondLst>
                                            <p:cond delay="0"/>
                                          </p:stCondLst>
                                        </p:cTn>
                                        <p:tgtEl>
                                          <p:spTgt spid="99"/>
                                        </p:tgtEl>
                                        <p:attrNameLst>
                                          <p:attrName>style.visibility</p:attrName>
                                        </p:attrNameLst>
                                      </p:cBhvr>
                                      <p:to>
                                        <p:strVal val="hidden"/>
                                      </p:to>
                                    </p:set>
                                  </p:childTnLst>
                                </p:cTn>
                              </p:par>
                              <p:par>
                                <p:cTn id="205" presetID="1" presetClass="exit" presetSubtype="0" fill="hold" grpId="1" nodeType="withEffect">
                                  <p:stCondLst>
                                    <p:cond delay="0"/>
                                  </p:stCondLst>
                                  <p:childTnLst>
                                    <p:set>
                                      <p:cBhvr>
                                        <p:cTn id="204" dur="1" fill="hold">
                                          <p:stCondLst>
                                            <p:cond delay="0"/>
                                          </p:stCondLst>
                                        </p:cTn>
                                        <p:tgtEl>
                                          <p:spTgt spid="100"/>
                                        </p:tgtEl>
                                        <p:attrNameLst>
                                          <p:attrName>style.visibility</p:attrName>
                                        </p:attrNameLst>
                                      </p:cBhvr>
                                      <p:to>
                                        <p:strVal val="hidden"/>
                                      </p:to>
                                    </p:set>
                                  </p:childTnLst>
                                </p:cTn>
                              </p:par>
                              <p:par>
                                <p:cTn id="207" presetID="1" presetClass="exit" presetSubtype="0" fill="hold" grpId="1" nodeType="withEffect">
                                  <p:stCondLst>
                                    <p:cond delay="0"/>
                                  </p:stCondLst>
                                  <p:childTnLst>
                                    <p:set>
                                      <p:cBhvr>
                                        <p:cTn id="206" dur="1" fill="hold">
                                          <p:stCondLst>
                                            <p:cond delay="0"/>
                                          </p:stCondLst>
                                        </p:cTn>
                                        <p:tgtEl>
                                          <p:spTgt spid="101"/>
                                        </p:tgtEl>
                                        <p:attrNameLst>
                                          <p:attrName>style.visibility</p:attrName>
                                        </p:attrNameLst>
                                      </p:cBhvr>
                                      <p:to>
                                        <p:strVal val="hidden"/>
                                      </p:to>
                                    </p:set>
                                  </p:childTnLst>
                                </p:cTn>
                              </p:par>
                              <p:par>
                                <p:cTn id="209" presetID="1" presetClass="exit" presetSubtype="0" fill="hold" grpId="1" nodeType="withEffect">
                                  <p:stCondLst>
                                    <p:cond delay="0"/>
                                  </p:stCondLst>
                                  <p:childTnLst>
                                    <p:set>
                                      <p:cBhvr>
                                        <p:cTn id="208" dur="1" fill="hold">
                                          <p:stCondLst>
                                            <p:cond delay="0"/>
                                          </p:stCondLst>
                                        </p:cTn>
                                        <p:tgtEl>
                                          <p:spTgt spid="102"/>
                                        </p:tgtEl>
                                        <p:attrNameLst>
                                          <p:attrName>style.visibility</p:attrName>
                                        </p:attrNameLst>
                                      </p:cBhvr>
                                      <p:to>
                                        <p:strVal val="hidden"/>
                                      </p:to>
                                    </p:set>
                                  </p:childTnLst>
                                </p:cTn>
                              </p:par>
                              <p:par>
                                <p:cTn id="211" presetID="1" presetClass="exit" presetSubtype="0" fill="hold" grpId="1" nodeType="withEffect">
                                  <p:stCondLst>
                                    <p:cond delay="0"/>
                                  </p:stCondLst>
                                  <p:childTnLst>
                                    <p:set>
                                      <p:cBhvr>
                                        <p:cTn id="210" dur="1" fill="hold">
                                          <p:stCondLst>
                                            <p:cond delay="0"/>
                                          </p:stCondLst>
                                        </p:cTn>
                                        <p:tgtEl>
                                          <p:spTgt spid="103"/>
                                        </p:tgtEl>
                                        <p:attrNameLst>
                                          <p:attrName>style.visibility</p:attrName>
                                        </p:attrNameLst>
                                      </p:cBhvr>
                                      <p:to>
                                        <p:strVal val="hidden"/>
                                      </p:to>
                                    </p:set>
                                  </p:childTnLst>
                                </p:cTn>
                              </p:par>
                              <p:par>
                                <p:cTn id="213" presetID="1" presetClass="exit" presetSubtype="0" fill="hold" grpId="1" nodeType="withEffect">
                                  <p:stCondLst>
                                    <p:cond delay="0"/>
                                  </p:stCondLst>
                                  <p:childTnLst>
                                    <p:set>
                                      <p:cBhvr>
                                        <p:cTn id="212" dur="1" fill="hold">
                                          <p:stCondLst>
                                            <p:cond delay="0"/>
                                          </p:stCondLst>
                                        </p:cTn>
                                        <p:tgtEl>
                                          <p:spTgt spid="104"/>
                                        </p:tgtEl>
                                        <p:attrNameLst>
                                          <p:attrName>style.visibility</p:attrName>
                                        </p:attrNameLst>
                                      </p:cBhvr>
                                      <p:to>
                                        <p:strVal val="hidden"/>
                                      </p:to>
                                    </p:set>
                                  </p:childTnLst>
                                </p:cTn>
                              </p:par>
                              <p:par>
                                <p:cTn id="215" presetID="1" presetClass="exit" presetSubtype="0" fill="hold" grpId="1" nodeType="withEffect">
                                  <p:stCondLst>
                                    <p:cond delay="0"/>
                                  </p:stCondLst>
                                  <p:childTnLst>
                                    <p:set>
                                      <p:cBhvr>
                                        <p:cTn id="214" dur="1" fill="hold">
                                          <p:stCondLst>
                                            <p:cond delay="0"/>
                                          </p:stCondLst>
                                        </p:cTn>
                                        <p:tgtEl>
                                          <p:spTgt spid="105"/>
                                        </p:tgtEl>
                                        <p:attrNameLst>
                                          <p:attrName>style.visibility</p:attrName>
                                        </p:attrNameLst>
                                      </p:cBhvr>
                                      <p:to>
                                        <p:strVal val="hidden"/>
                                      </p:to>
                                    </p:set>
                                  </p:childTnLst>
                                </p:cTn>
                              </p:par>
                              <p:par>
                                <p:cTn id="217" presetID="1" presetClass="exit" presetSubtype="0" fill="hold" grpId="1" nodeType="withEffect">
                                  <p:stCondLst>
                                    <p:cond delay="0"/>
                                  </p:stCondLst>
                                  <p:childTnLst>
                                    <p:set>
                                      <p:cBhvr>
                                        <p:cTn id="216" dur="1" fill="hold">
                                          <p:stCondLst>
                                            <p:cond delay="0"/>
                                          </p:stCondLst>
                                        </p:cTn>
                                        <p:tgtEl>
                                          <p:spTgt spid="106"/>
                                        </p:tgtEl>
                                        <p:attrNameLst>
                                          <p:attrName>style.visibility</p:attrName>
                                        </p:attrNameLst>
                                      </p:cBhvr>
                                      <p:to>
                                        <p:strVal val="hidden"/>
                                      </p:to>
                                    </p:set>
                                  </p:childTnLst>
                                </p:cTn>
                              </p:par>
                              <p:par>
                                <p:cTn id="219" presetID="1" presetClass="exit" presetSubtype="0" fill="hold" grpId="1" nodeType="withEffect">
                                  <p:stCondLst>
                                    <p:cond delay="0"/>
                                  </p:stCondLst>
                                  <p:childTnLst>
                                    <p:set>
                                      <p:cBhvr>
                                        <p:cTn id="218" dur="1" fill="hold">
                                          <p:stCondLst>
                                            <p:cond delay="0"/>
                                          </p:stCondLst>
                                        </p:cTn>
                                        <p:tgtEl>
                                          <p:spTgt spid="107"/>
                                        </p:tgtEl>
                                        <p:attrNameLst>
                                          <p:attrName>style.visibility</p:attrName>
                                        </p:attrNameLst>
                                      </p:cBhvr>
                                      <p:to>
                                        <p:strVal val="hidden"/>
                                      </p:to>
                                    </p:set>
                                  </p:childTnLst>
                                </p:cTn>
                              </p:par>
                              <p:par>
                                <p:cTn id="221" presetID="1" presetClass="exit" presetSubtype="0" fill="hold" grpId="1" nodeType="withEffect">
                                  <p:stCondLst>
                                    <p:cond delay="0"/>
                                  </p:stCondLst>
                                  <p:childTnLst>
                                    <p:set>
                                      <p:cBhvr>
                                        <p:cTn id="220" dur="1" fill="hold">
                                          <p:stCondLst>
                                            <p:cond delay="0"/>
                                          </p:stCondLst>
                                        </p:cTn>
                                        <p:tgtEl>
                                          <p:spTgt spid="108"/>
                                        </p:tgtEl>
                                        <p:attrNameLst>
                                          <p:attrName>style.visibility</p:attrName>
                                        </p:attrNameLst>
                                      </p:cBhvr>
                                      <p:to>
                                        <p:strVal val="hidden"/>
                                      </p:to>
                                    </p:set>
                                  </p:childTnLst>
                                </p:cTn>
                              </p:par>
                              <p:par>
                                <p:cTn id="223" presetID="1" presetClass="exit" presetSubtype="0" fill="hold" grpId="1" nodeType="withEffect">
                                  <p:stCondLst>
                                    <p:cond delay="0"/>
                                  </p:stCondLst>
                                  <p:childTnLst>
                                    <p:set>
                                      <p:cBhvr>
                                        <p:cTn id="222" dur="1" fill="hold">
                                          <p:stCondLst>
                                            <p:cond delay="0"/>
                                          </p:stCondLst>
                                        </p:cTn>
                                        <p:tgtEl>
                                          <p:spTgt spid="109"/>
                                        </p:tgtEl>
                                        <p:attrNameLst>
                                          <p:attrName>style.visibility</p:attrName>
                                        </p:attrNameLst>
                                      </p:cBhvr>
                                      <p:to>
                                        <p:strVal val="hidden"/>
                                      </p:to>
                                    </p:set>
                                  </p:childTnLst>
                                </p:cTn>
                              </p:par>
                              <p:par>
                                <p:cTn id="225" presetID="1" presetClass="exit" presetSubtype="0" fill="hold" grpId="1" nodeType="withEffect">
                                  <p:stCondLst>
                                    <p:cond delay="0"/>
                                  </p:stCondLst>
                                  <p:childTnLst>
                                    <p:set>
                                      <p:cBhvr>
                                        <p:cTn id="224" dur="1" fill="hold">
                                          <p:stCondLst>
                                            <p:cond delay="0"/>
                                          </p:stCondLst>
                                        </p:cTn>
                                        <p:tgtEl>
                                          <p:spTgt spid="110"/>
                                        </p:tgtEl>
                                        <p:attrNameLst>
                                          <p:attrName>style.visibility</p:attrName>
                                        </p:attrNameLst>
                                      </p:cBhvr>
                                      <p:to>
                                        <p:strVal val="hidden"/>
                                      </p:to>
                                    </p:set>
                                  </p:childTnLst>
                                </p:cTn>
                              </p:par>
                              <p:par>
                                <p:cTn id="227" presetID="1" presetClass="exit" presetSubtype="0" fill="hold" grpId="1" nodeType="withEffect">
                                  <p:stCondLst>
                                    <p:cond delay="0"/>
                                  </p:stCondLst>
                                  <p:childTnLst>
                                    <p:set>
                                      <p:cBhvr>
                                        <p:cTn id="226" dur="1" fill="hold">
                                          <p:stCondLst>
                                            <p:cond delay="0"/>
                                          </p:stCondLst>
                                        </p:cTn>
                                        <p:tgtEl>
                                          <p:spTgt spid="111"/>
                                        </p:tgtEl>
                                        <p:attrNameLst>
                                          <p:attrName>style.visibility</p:attrName>
                                        </p:attrNameLst>
                                      </p:cBhvr>
                                      <p:to>
                                        <p:strVal val="hidden"/>
                                      </p:to>
                                    </p:set>
                                  </p:childTnLst>
                                </p:cTn>
                              </p:par>
                              <p:par>
                                <p:cTn id="229" presetID="1" presetClass="exit" presetSubtype="0" fill="hold" grpId="1" nodeType="withEffect">
                                  <p:stCondLst>
                                    <p:cond delay="0"/>
                                  </p:stCondLst>
                                  <p:childTnLst>
                                    <p:set>
                                      <p:cBhvr>
                                        <p:cTn id="228" dur="1" fill="hold">
                                          <p:stCondLst>
                                            <p:cond delay="0"/>
                                          </p:stCondLst>
                                        </p:cTn>
                                        <p:tgtEl>
                                          <p:spTgt spid="112"/>
                                        </p:tgtEl>
                                        <p:attrNameLst>
                                          <p:attrName>style.visibility</p:attrName>
                                        </p:attrNameLst>
                                      </p:cBhvr>
                                      <p:to>
                                        <p:strVal val="hidden"/>
                                      </p:to>
                                    </p:set>
                                  </p:childTnLst>
                                </p:cTn>
                              </p:par>
                              <p:par>
                                <p:cTn id="231" presetID="1" presetClass="exit" presetSubtype="0" fill="hold" grpId="1" nodeType="withEffect">
                                  <p:stCondLst>
                                    <p:cond delay="0"/>
                                  </p:stCondLst>
                                  <p:childTnLst>
                                    <p:set>
                                      <p:cBhvr>
                                        <p:cTn id="230" dur="1" fill="hold">
                                          <p:stCondLst>
                                            <p:cond delay="0"/>
                                          </p:stCondLst>
                                        </p:cTn>
                                        <p:tgtEl>
                                          <p:spTgt spid="113"/>
                                        </p:tgtEl>
                                        <p:attrNameLst>
                                          <p:attrName>style.visibility</p:attrName>
                                        </p:attrNameLst>
                                      </p:cBhvr>
                                      <p:to>
                                        <p:strVal val="hidden"/>
                                      </p:to>
                                    </p:set>
                                  </p:childTnLst>
                                </p:cTn>
                              </p:par>
                              <p:par>
                                <p:cTn id="233" presetID="1" presetClass="exit" presetSubtype="0" fill="hold" grpId="1" nodeType="withEffect">
                                  <p:stCondLst>
                                    <p:cond delay="0"/>
                                  </p:stCondLst>
                                  <p:childTnLst>
                                    <p:set>
                                      <p:cBhvr>
                                        <p:cTn id="232" dur="1" fill="hold">
                                          <p:stCondLst>
                                            <p:cond delay="0"/>
                                          </p:stCondLst>
                                        </p:cTn>
                                        <p:tgtEl>
                                          <p:spTgt spid="114"/>
                                        </p:tgtEl>
                                        <p:attrNameLst>
                                          <p:attrName>style.visibility</p:attrName>
                                        </p:attrNameLst>
                                      </p:cBhvr>
                                      <p:to>
                                        <p:strVal val="hidden"/>
                                      </p:to>
                                    </p:set>
                                  </p:childTnLst>
                                </p:cTn>
                              </p:par>
                              <p:par>
                                <p:cTn id="235" presetID="1" presetClass="exit" presetSubtype="0" fill="hold" grpId="1" nodeType="withEffect">
                                  <p:stCondLst>
                                    <p:cond delay="0"/>
                                  </p:stCondLst>
                                  <p:childTnLst>
                                    <p:set>
                                      <p:cBhvr>
                                        <p:cTn id="234" dur="1" fill="hold">
                                          <p:stCondLst>
                                            <p:cond delay="0"/>
                                          </p:stCondLst>
                                        </p:cTn>
                                        <p:tgtEl>
                                          <p:spTgt spid="115"/>
                                        </p:tgtEl>
                                        <p:attrNameLst>
                                          <p:attrName>style.visibility</p:attrName>
                                        </p:attrNameLst>
                                      </p:cBhvr>
                                      <p:to>
                                        <p:strVal val="hidden"/>
                                      </p:to>
                                    </p:set>
                                  </p:childTnLst>
                                </p:cTn>
                              </p:par>
                              <p:par>
                                <p:cTn id="237" presetID="1" presetClass="exit" presetSubtype="0" fill="hold" grpId="1" nodeType="withEffect">
                                  <p:stCondLst>
                                    <p:cond delay="0"/>
                                  </p:stCondLst>
                                  <p:childTnLst>
                                    <p:set>
                                      <p:cBhvr>
                                        <p:cTn id="236" dur="1" fill="hold">
                                          <p:stCondLst>
                                            <p:cond delay="0"/>
                                          </p:stCondLst>
                                        </p:cTn>
                                        <p:tgtEl>
                                          <p:spTgt spid="116"/>
                                        </p:tgtEl>
                                        <p:attrNameLst>
                                          <p:attrName>style.visibility</p:attrName>
                                        </p:attrNameLst>
                                      </p:cBhvr>
                                      <p:to>
                                        <p:strVal val="hidden"/>
                                      </p:to>
                                    </p:set>
                                  </p:childTnLst>
                                </p:cTn>
                              </p:par>
                              <p:par>
                                <p:cTn id="239" presetID="1" presetClass="exit" presetSubtype="0" fill="hold" grpId="1" nodeType="withEffect">
                                  <p:stCondLst>
                                    <p:cond delay="0"/>
                                  </p:stCondLst>
                                  <p:childTnLst>
                                    <p:set>
                                      <p:cBhvr>
                                        <p:cTn id="238" dur="1" fill="hold">
                                          <p:stCondLst>
                                            <p:cond delay="0"/>
                                          </p:stCondLst>
                                        </p:cTn>
                                        <p:tgtEl>
                                          <p:spTgt spid="117"/>
                                        </p:tgtEl>
                                        <p:attrNameLst>
                                          <p:attrName>style.visibility</p:attrName>
                                        </p:attrNameLst>
                                      </p:cBhvr>
                                      <p:to>
                                        <p:strVal val="hidden"/>
                                      </p:to>
                                    </p:set>
                                  </p:childTnLst>
                                </p:cTn>
                              </p:par>
                              <p:par>
                                <p:cTn id="241" presetID="1" presetClass="exit" presetSubtype="0" fill="hold" grpId="1" nodeType="withEffect">
                                  <p:stCondLst>
                                    <p:cond delay="0"/>
                                  </p:stCondLst>
                                  <p:childTnLst>
                                    <p:set>
                                      <p:cBhvr>
                                        <p:cTn id="240" dur="1" fill="hold">
                                          <p:stCondLst>
                                            <p:cond delay="0"/>
                                          </p:stCondLst>
                                        </p:cTn>
                                        <p:tgtEl>
                                          <p:spTgt spid="118"/>
                                        </p:tgtEl>
                                        <p:attrNameLst>
                                          <p:attrName>style.visibility</p:attrName>
                                        </p:attrNameLst>
                                      </p:cBhvr>
                                      <p:to>
                                        <p:strVal val="hidden"/>
                                      </p:to>
                                    </p:set>
                                  </p:childTnLst>
                                </p:cTn>
                              </p:par>
                              <p:par>
                                <p:cTn id="243" presetID="1" presetClass="exit" presetSubtype="0" fill="hold" grpId="1" nodeType="withEffect">
                                  <p:stCondLst>
                                    <p:cond delay="0"/>
                                  </p:stCondLst>
                                  <p:childTnLst>
                                    <p:set>
                                      <p:cBhvr>
                                        <p:cTn id="242" dur="1" fill="hold">
                                          <p:stCondLst>
                                            <p:cond delay="0"/>
                                          </p:stCondLst>
                                        </p:cTn>
                                        <p:tgtEl>
                                          <p:spTgt spid="119"/>
                                        </p:tgtEl>
                                        <p:attrNameLst>
                                          <p:attrName>style.visibility</p:attrName>
                                        </p:attrNameLst>
                                      </p:cBhvr>
                                      <p:to>
                                        <p:strVal val="hidden"/>
                                      </p:to>
                                    </p:set>
                                  </p:childTnLst>
                                </p:cTn>
                              </p:par>
                              <p:par>
                                <p:cTn id="245" presetID="1" presetClass="exit" presetSubtype="0" fill="hold" grpId="1" nodeType="withEffect">
                                  <p:stCondLst>
                                    <p:cond delay="0"/>
                                  </p:stCondLst>
                                  <p:childTnLst>
                                    <p:set>
                                      <p:cBhvr>
                                        <p:cTn id="244" dur="1" fill="hold">
                                          <p:stCondLst>
                                            <p:cond delay="0"/>
                                          </p:stCondLst>
                                        </p:cTn>
                                        <p:tgtEl>
                                          <p:spTgt spid="120"/>
                                        </p:tgtEl>
                                        <p:attrNameLst>
                                          <p:attrName>style.visibility</p:attrName>
                                        </p:attrNameLst>
                                      </p:cBhvr>
                                      <p:to>
                                        <p:strVal val="hidden"/>
                                      </p:to>
                                    </p:set>
                                  </p:childTnLst>
                                </p:cTn>
                              </p:par>
                            </p:childTnLst>
                          </p:cTn>
                        </p:par>
                      </p:childTnLst>
                    </p:cTn>
                  </p:par>
                </p:childTnLst>
              </p:cTn>
              <p:nextCondLst>
                <p:cond evt="onClick" delay="0">
                  <p:tgtEl>
                    <p:spTgt spid="122"/>
                  </p:tgtEl>
                </p:cond>
              </p:nextCondLst>
            </p:seq>
            <p:seq concurrent="1" nextAc="seek">
              <p:cTn id="369" restart="whenNotActive" fill="hold" evtFilter="cancelBubble" nodeType="interactiveSeq">
                <p:stCondLst>
                  <p:cond evt="onClick" delay="0">
                    <p:tgtEl>
                      <p:spTgt spid="123"/>
                    </p:tgtEl>
                  </p:cond>
                </p:stCondLst>
                <p:endSync evt="end" delay="0">
                  <p:rtn val="all"/>
                </p:endSync>
                <p:childTnLst>
                  <p:par>
                    <p:cTn id="370" fill="hold">
                      <p:stCondLst>
                        <p:cond delay="0"/>
                      </p:stCondLst>
                      <p:childTnLst>
                        <p:par>
                          <p:cTn id="371" fill="hold">
                            <p:stCondLst>
                              <p:cond delay="0"/>
                            </p:stCondLst>
                            <p:childTnLst>
                              <p:par>
                                <p:cTn id="250" presetID="1" presetClass="exit" presetSubtype="0" fill="hold" grpId="2" nodeType="clickEffect">
                                  <p:stCondLst>
                                    <p:cond delay="0"/>
                                  </p:stCondLst>
                                  <p:childTnLst>
                                    <p:set>
                                      <p:cBhvr>
                                        <p:cTn id="249" dur="1" fill="hold">
                                          <p:stCondLst>
                                            <p:cond delay="0"/>
                                          </p:stCondLst>
                                        </p:cTn>
                                        <p:tgtEl>
                                          <p:spTgt spid="61"/>
                                        </p:tgtEl>
                                        <p:attrNameLst>
                                          <p:attrName>style.visibility</p:attrName>
                                        </p:attrNameLst>
                                      </p:cBhvr>
                                      <p:to>
                                        <p:strVal val="hidden"/>
                                      </p:to>
                                    </p:set>
                                  </p:childTnLst>
                                </p:cTn>
                              </p:par>
                              <p:par>
                                <p:cTn id="252" presetID="1" presetClass="exit" presetSubtype="0" fill="hold" grpId="2" nodeType="withEffect">
                                  <p:stCondLst>
                                    <p:cond delay="0"/>
                                  </p:stCondLst>
                                  <p:childTnLst>
                                    <p:set>
                                      <p:cBhvr>
                                        <p:cTn id="251" dur="1" fill="hold">
                                          <p:stCondLst>
                                            <p:cond delay="0"/>
                                          </p:stCondLst>
                                        </p:cTn>
                                        <p:tgtEl>
                                          <p:spTgt spid="62"/>
                                        </p:tgtEl>
                                        <p:attrNameLst>
                                          <p:attrName>style.visibility</p:attrName>
                                        </p:attrNameLst>
                                      </p:cBhvr>
                                      <p:to>
                                        <p:strVal val="hidden"/>
                                      </p:to>
                                    </p:set>
                                  </p:childTnLst>
                                </p:cTn>
                              </p:par>
                              <p:par>
                                <p:cTn id="254" presetID="1" presetClass="exit" presetSubtype="0" fill="hold" grpId="2" nodeType="withEffect">
                                  <p:stCondLst>
                                    <p:cond delay="0"/>
                                  </p:stCondLst>
                                  <p:childTnLst>
                                    <p:set>
                                      <p:cBhvr>
                                        <p:cTn id="253" dur="1" fill="hold">
                                          <p:stCondLst>
                                            <p:cond delay="0"/>
                                          </p:stCondLst>
                                        </p:cTn>
                                        <p:tgtEl>
                                          <p:spTgt spid="63"/>
                                        </p:tgtEl>
                                        <p:attrNameLst>
                                          <p:attrName>style.visibility</p:attrName>
                                        </p:attrNameLst>
                                      </p:cBhvr>
                                      <p:to>
                                        <p:strVal val="hidden"/>
                                      </p:to>
                                    </p:set>
                                  </p:childTnLst>
                                </p:cTn>
                              </p:par>
                              <p:par>
                                <p:cTn id="256" presetID="1" presetClass="exit" presetSubtype="0" fill="hold" grpId="2" nodeType="withEffect">
                                  <p:stCondLst>
                                    <p:cond delay="0"/>
                                  </p:stCondLst>
                                  <p:childTnLst>
                                    <p:set>
                                      <p:cBhvr>
                                        <p:cTn id="255" dur="1" fill="hold">
                                          <p:stCondLst>
                                            <p:cond delay="0"/>
                                          </p:stCondLst>
                                        </p:cTn>
                                        <p:tgtEl>
                                          <p:spTgt spid="64"/>
                                        </p:tgtEl>
                                        <p:attrNameLst>
                                          <p:attrName>style.visibility</p:attrName>
                                        </p:attrNameLst>
                                      </p:cBhvr>
                                      <p:to>
                                        <p:strVal val="hidden"/>
                                      </p:to>
                                    </p:set>
                                  </p:childTnLst>
                                </p:cTn>
                              </p:par>
                              <p:par>
                                <p:cTn id="258" presetID="1" presetClass="exit" presetSubtype="0" fill="hold" grpId="2" nodeType="withEffect">
                                  <p:stCondLst>
                                    <p:cond delay="0"/>
                                  </p:stCondLst>
                                  <p:childTnLst>
                                    <p:set>
                                      <p:cBhvr>
                                        <p:cTn id="257" dur="1" fill="hold">
                                          <p:stCondLst>
                                            <p:cond delay="0"/>
                                          </p:stCondLst>
                                        </p:cTn>
                                        <p:tgtEl>
                                          <p:spTgt spid="65"/>
                                        </p:tgtEl>
                                        <p:attrNameLst>
                                          <p:attrName>style.visibility</p:attrName>
                                        </p:attrNameLst>
                                      </p:cBhvr>
                                      <p:to>
                                        <p:strVal val="hidden"/>
                                      </p:to>
                                    </p:set>
                                  </p:childTnLst>
                                </p:cTn>
                              </p:par>
                              <p:par>
                                <p:cTn id="260" presetID="1" presetClass="exit" presetSubtype="0" fill="hold" grpId="2" nodeType="withEffect">
                                  <p:stCondLst>
                                    <p:cond delay="0"/>
                                  </p:stCondLst>
                                  <p:childTnLst>
                                    <p:set>
                                      <p:cBhvr>
                                        <p:cTn id="259" dur="1" fill="hold">
                                          <p:stCondLst>
                                            <p:cond delay="0"/>
                                          </p:stCondLst>
                                        </p:cTn>
                                        <p:tgtEl>
                                          <p:spTgt spid="66"/>
                                        </p:tgtEl>
                                        <p:attrNameLst>
                                          <p:attrName>style.visibility</p:attrName>
                                        </p:attrNameLst>
                                      </p:cBhvr>
                                      <p:to>
                                        <p:strVal val="hidden"/>
                                      </p:to>
                                    </p:set>
                                  </p:childTnLst>
                                </p:cTn>
                              </p:par>
                              <p:par>
                                <p:cTn id="262" presetID="1" presetClass="exit" presetSubtype="0" fill="hold" grpId="2" nodeType="withEffect">
                                  <p:stCondLst>
                                    <p:cond delay="0"/>
                                  </p:stCondLst>
                                  <p:childTnLst>
                                    <p:set>
                                      <p:cBhvr>
                                        <p:cTn id="261" dur="1" fill="hold">
                                          <p:stCondLst>
                                            <p:cond delay="0"/>
                                          </p:stCondLst>
                                        </p:cTn>
                                        <p:tgtEl>
                                          <p:spTgt spid="67"/>
                                        </p:tgtEl>
                                        <p:attrNameLst>
                                          <p:attrName>style.visibility</p:attrName>
                                        </p:attrNameLst>
                                      </p:cBhvr>
                                      <p:to>
                                        <p:strVal val="hidden"/>
                                      </p:to>
                                    </p:set>
                                  </p:childTnLst>
                                </p:cTn>
                              </p:par>
                              <p:par>
                                <p:cTn id="264" presetID="1" presetClass="exit" presetSubtype="0" fill="hold" grpId="2" nodeType="withEffect">
                                  <p:stCondLst>
                                    <p:cond delay="0"/>
                                  </p:stCondLst>
                                  <p:childTnLst>
                                    <p:set>
                                      <p:cBhvr>
                                        <p:cTn id="263" dur="1" fill="hold">
                                          <p:stCondLst>
                                            <p:cond delay="0"/>
                                          </p:stCondLst>
                                        </p:cTn>
                                        <p:tgtEl>
                                          <p:spTgt spid="68"/>
                                        </p:tgtEl>
                                        <p:attrNameLst>
                                          <p:attrName>style.visibility</p:attrName>
                                        </p:attrNameLst>
                                      </p:cBhvr>
                                      <p:to>
                                        <p:strVal val="hidden"/>
                                      </p:to>
                                    </p:set>
                                  </p:childTnLst>
                                </p:cTn>
                              </p:par>
                              <p:par>
                                <p:cTn id="266" presetID="1" presetClass="exit" presetSubtype="0" fill="hold" grpId="2" nodeType="withEffect">
                                  <p:stCondLst>
                                    <p:cond delay="0"/>
                                  </p:stCondLst>
                                  <p:childTnLst>
                                    <p:set>
                                      <p:cBhvr>
                                        <p:cTn id="265" dur="1" fill="hold">
                                          <p:stCondLst>
                                            <p:cond delay="0"/>
                                          </p:stCondLst>
                                        </p:cTn>
                                        <p:tgtEl>
                                          <p:spTgt spid="69"/>
                                        </p:tgtEl>
                                        <p:attrNameLst>
                                          <p:attrName>style.visibility</p:attrName>
                                        </p:attrNameLst>
                                      </p:cBhvr>
                                      <p:to>
                                        <p:strVal val="hidden"/>
                                      </p:to>
                                    </p:set>
                                  </p:childTnLst>
                                </p:cTn>
                              </p:par>
                              <p:par>
                                <p:cTn id="268" presetID="1" presetClass="exit" presetSubtype="0" fill="hold" grpId="2" nodeType="withEffect">
                                  <p:stCondLst>
                                    <p:cond delay="0"/>
                                  </p:stCondLst>
                                  <p:childTnLst>
                                    <p:set>
                                      <p:cBhvr>
                                        <p:cTn id="267" dur="1" fill="hold">
                                          <p:stCondLst>
                                            <p:cond delay="0"/>
                                          </p:stCondLst>
                                        </p:cTn>
                                        <p:tgtEl>
                                          <p:spTgt spid="70"/>
                                        </p:tgtEl>
                                        <p:attrNameLst>
                                          <p:attrName>style.visibility</p:attrName>
                                        </p:attrNameLst>
                                      </p:cBhvr>
                                      <p:to>
                                        <p:strVal val="hidden"/>
                                      </p:to>
                                    </p:set>
                                  </p:childTnLst>
                                </p:cTn>
                              </p:par>
                              <p:par>
                                <p:cTn id="270" presetID="1" presetClass="exit" presetSubtype="0" fill="hold" grpId="2" nodeType="withEffect">
                                  <p:stCondLst>
                                    <p:cond delay="0"/>
                                  </p:stCondLst>
                                  <p:childTnLst>
                                    <p:set>
                                      <p:cBhvr>
                                        <p:cTn id="269" dur="1" fill="hold">
                                          <p:stCondLst>
                                            <p:cond delay="0"/>
                                          </p:stCondLst>
                                        </p:cTn>
                                        <p:tgtEl>
                                          <p:spTgt spid="71"/>
                                        </p:tgtEl>
                                        <p:attrNameLst>
                                          <p:attrName>style.visibility</p:attrName>
                                        </p:attrNameLst>
                                      </p:cBhvr>
                                      <p:to>
                                        <p:strVal val="hidden"/>
                                      </p:to>
                                    </p:set>
                                  </p:childTnLst>
                                </p:cTn>
                              </p:par>
                              <p:par>
                                <p:cTn id="272" presetID="1" presetClass="exit" presetSubtype="0" fill="hold" grpId="2" nodeType="withEffect">
                                  <p:stCondLst>
                                    <p:cond delay="0"/>
                                  </p:stCondLst>
                                  <p:childTnLst>
                                    <p:set>
                                      <p:cBhvr>
                                        <p:cTn id="271" dur="1" fill="hold">
                                          <p:stCondLst>
                                            <p:cond delay="0"/>
                                          </p:stCondLst>
                                        </p:cTn>
                                        <p:tgtEl>
                                          <p:spTgt spid="72"/>
                                        </p:tgtEl>
                                        <p:attrNameLst>
                                          <p:attrName>style.visibility</p:attrName>
                                        </p:attrNameLst>
                                      </p:cBhvr>
                                      <p:to>
                                        <p:strVal val="hidden"/>
                                      </p:to>
                                    </p:set>
                                  </p:childTnLst>
                                </p:cTn>
                              </p:par>
                              <p:par>
                                <p:cTn id="274" presetID="1" presetClass="exit" presetSubtype="0" fill="hold" grpId="2" nodeType="withEffect">
                                  <p:stCondLst>
                                    <p:cond delay="0"/>
                                  </p:stCondLst>
                                  <p:childTnLst>
                                    <p:set>
                                      <p:cBhvr>
                                        <p:cTn id="273" dur="1" fill="hold">
                                          <p:stCondLst>
                                            <p:cond delay="0"/>
                                          </p:stCondLst>
                                        </p:cTn>
                                        <p:tgtEl>
                                          <p:spTgt spid="73"/>
                                        </p:tgtEl>
                                        <p:attrNameLst>
                                          <p:attrName>style.visibility</p:attrName>
                                        </p:attrNameLst>
                                      </p:cBhvr>
                                      <p:to>
                                        <p:strVal val="hidden"/>
                                      </p:to>
                                    </p:set>
                                  </p:childTnLst>
                                </p:cTn>
                              </p:par>
                              <p:par>
                                <p:cTn id="276" presetID="1" presetClass="exit" presetSubtype="0" fill="hold" grpId="2" nodeType="withEffect">
                                  <p:stCondLst>
                                    <p:cond delay="0"/>
                                  </p:stCondLst>
                                  <p:childTnLst>
                                    <p:set>
                                      <p:cBhvr>
                                        <p:cTn id="275" dur="1" fill="hold">
                                          <p:stCondLst>
                                            <p:cond delay="0"/>
                                          </p:stCondLst>
                                        </p:cTn>
                                        <p:tgtEl>
                                          <p:spTgt spid="74"/>
                                        </p:tgtEl>
                                        <p:attrNameLst>
                                          <p:attrName>style.visibility</p:attrName>
                                        </p:attrNameLst>
                                      </p:cBhvr>
                                      <p:to>
                                        <p:strVal val="hidden"/>
                                      </p:to>
                                    </p:set>
                                  </p:childTnLst>
                                </p:cTn>
                              </p:par>
                              <p:par>
                                <p:cTn id="278" presetID="1" presetClass="exit" presetSubtype="0" fill="hold" grpId="2" nodeType="withEffect">
                                  <p:stCondLst>
                                    <p:cond delay="0"/>
                                  </p:stCondLst>
                                  <p:childTnLst>
                                    <p:set>
                                      <p:cBhvr>
                                        <p:cTn id="277" dur="1" fill="hold">
                                          <p:stCondLst>
                                            <p:cond delay="0"/>
                                          </p:stCondLst>
                                        </p:cTn>
                                        <p:tgtEl>
                                          <p:spTgt spid="75"/>
                                        </p:tgtEl>
                                        <p:attrNameLst>
                                          <p:attrName>style.visibility</p:attrName>
                                        </p:attrNameLst>
                                      </p:cBhvr>
                                      <p:to>
                                        <p:strVal val="hidden"/>
                                      </p:to>
                                    </p:set>
                                  </p:childTnLst>
                                </p:cTn>
                              </p:par>
                              <p:par>
                                <p:cTn id="280" presetID="1" presetClass="exit" presetSubtype="0" fill="hold" grpId="2" nodeType="withEffect">
                                  <p:stCondLst>
                                    <p:cond delay="0"/>
                                  </p:stCondLst>
                                  <p:childTnLst>
                                    <p:set>
                                      <p:cBhvr>
                                        <p:cTn id="279" dur="1" fill="hold">
                                          <p:stCondLst>
                                            <p:cond delay="0"/>
                                          </p:stCondLst>
                                        </p:cTn>
                                        <p:tgtEl>
                                          <p:spTgt spid="76"/>
                                        </p:tgtEl>
                                        <p:attrNameLst>
                                          <p:attrName>style.visibility</p:attrName>
                                        </p:attrNameLst>
                                      </p:cBhvr>
                                      <p:to>
                                        <p:strVal val="hidden"/>
                                      </p:to>
                                    </p:set>
                                  </p:childTnLst>
                                </p:cTn>
                              </p:par>
                              <p:par>
                                <p:cTn id="282" presetID="1" presetClass="exit" presetSubtype="0" fill="hold" grpId="2" nodeType="withEffect">
                                  <p:stCondLst>
                                    <p:cond delay="0"/>
                                  </p:stCondLst>
                                  <p:childTnLst>
                                    <p:set>
                                      <p:cBhvr>
                                        <p:cTn id="281" dur="1" fill="hold">
                                          <p:stCondLst>
                                            <p:cond delay="0"/>
                                          </p:stCondLst>
                                        </p:cTn>
                                        <p:tgtEl>
                                          <p:spTgt spid="77"/>
                                        </p:tgtEl>
                                        <p:attrNameLst>
                                          <p:attrName>style.visibility</p:attrName>
                                        </p:attrNameLst>
                                      </p:cBhvr>
                                      <p:to>
                                        <p:strVal val="hidden"/>
                                      </p:to>
                                    </p:set>
                                  </p:childTnLst>
                                </p:cTn>
                              </p:par>
                              <p:par>
                                <p:cTn id="284" presetID="1" presetClass="exit" presetSubtype="0" fill="hold" grpId="2" nodeType="withEffect">
                                  <p:stCondLst>
                                    <p:cond delay="0"/>
                                  </p:stCondLst>
                                  <p:childTnLst>
                                    <p:set>
                                      <p:cBhvr>
                                        <p:cTn id="283" dur="1" fill="hold">
                                          <p:stCondLst>
                                            <p:cond delay="0"/>
                                          </p:stCondLst>
                                        </p:cTn>
                                        <p:tgtEl>
                                          <p:spTgt spid="78"/>
                                        </p:tgtEl>
                                        <p:attrNameLst>
                                          <p:attrName>style.visibility</p:attrName>
                                        </p:attrNameLst>
                                      </p:cBhvr>
                                      <p:to>
                                        <p:strVal val="hidden"/>
                                      </p:to>
                                    </p:set>
                                  </p:childTnLst>
                                </p:cTn>
                              </p:par>
                              <p:par>
                                <p:cTn id="286" presetID="1" presetClass="exit" presetSubtype="0" fill="hold" grpId="2" nodeType="withEffect">
                                  <p:stCondLst>
                                    <p:cond delay="0"/>
                                  </p:stCondLst>
                                  <p:childTnLst>
                                    <p:set>
                                      <p:cBhvr>
                                        <p:cTn id="285" dur="1" fill="hold">
                                          <p:stCondLst>
                                            <p:cond delay="0"/>
                                          </p:stCondLst>
                                        </p:cTn>
                                        <p:tgtEl>
                                          <p:spTgt spid="79"/>
                                        </p:tgtEl>
                                        <p:attrNameLst>
                                          <p:attrName>style.visibility</p:attrName>
                                        </p:attrNameLst>
                                      </p:cBhvr>
                                      <p:to>
                                        <p:strVal val="hidden"/>
                                      </p:to>
                                    </p:set>
                                  </p:childTnLst>
                                </p:cTn>
                              </p:par>
                              <p:par>
                                <p:cTn id="288" presetID="1" presetClass="exit" presetSubtype="0" fill="hold" grpId="2" nodeType="withEffect">
                                  <p:stCondLst>
                                    <p:cond delay="0"/>
                                  </p:stCondLst>
                                  <p:childTnLst>
                                    <p:set>
                                      <p:cBhvr>
                                        <p:cTn id="287" dur="1" fill="hold">
                                          <p:stCondLst>
                                            <p:cond delay="0"/>
                                          </p:stCondLst>
                                        </p:cTn>
                                        <p:tgtEl>
                                          <p:spTgt spid="80"/>
                                        </p:tgtEl>
                                        <p:attrNameLst>
                                          <p:attrName>style.visibility</p:attrName>
                                        </p:attrNameLst>
                                      </p:cBhvr>
                                      <p:to>
                                        <p:strVal val="hidden"/>
                                      </p:to>
                                    </p:set>
                                  </p:childTnLst>
                                </p:cTn>
                              </p:par>
                              <p:par>
                                <p:cTn id="290" presetID="1" presetClass="entr" presetSubtype="0" fill="hold" grpId="2" nodeType="withEffect">
                                  <p:stCondLst>
                                    <p:cond delay="0"/>
                                  </p:stCondLst>
                                  <p:childTnLst>
                                    <p:set>
                                      <p:cBhvr>
                                        <p:cTn id="289" dur="1" fill="hold">
                                          <p:stCondLst>
                                            <p:cond delay="0"/>
                                          </p:stCondLst>
                                        </p:cTn>
                                        <p:tgtEl>
                                          <p:spTgt spid="81"/>
                                        </p:tgtEl>
                                        <p:attrNameLst>
                                          <p:attrName>style.visibility</p:attrName>
                                        </p:attrNameLst>
                                      </p:cBhvr>
                                      <p:to>
                                        <p:strVal val="visible"/>
                                      </p:to>
                                    </p:set>
                                  </p:childTnLst>
                                </p:cTn>
                              </p:par>
                              <p:par>
                                <p:cTn id="292" presetID="1" presetClass="entr" presetSubtype="0" fill="hold" grpId="2" nodeType="withEffect">
                                  <p:stCondLst>
                                    <p:cond delay="0"/>
                                  </p:stCondLst>
                                  <p:childTnLst>
                                    <p:set>
                                      <p:cBhvr>
                                        <p:cTn id="291" dur="1" fill="hold">
                                          <p:stCondLst>
                                            <p:cond delay="0"/>
                                          </p:stCondLst>
                                        </p:cTn>
                                        <p:tgtEl>
                                          <p:spTgt spid="82"/>
                                        </p:tgtEl>
                                        <p:attrNameLst>
                                          <p:attrName>style.visibility</p:attrName>
                                        </p:attrNameLst>
                                      </p:cBhvr>
                                      <p:to>
                                        <p:strVal val="visible"/>
                                      </p:to>
                                    </p:set>
                                  </p:childTnLst>
                                </p:cTn>
                              </p:par>
                              <p:par>
                                <p:cTn id="294" presetID="1" presetClass="entr" presetSubtype="0" fill="hold" grpId="2" nodeType="withEffect">
                                  <p:stCondLst>
                                    <p:cond delay="0"/>
                                  </p:stCondLst>
                                  <p:childTnLst>
                                    <p:set>
                                      <p:cBhvr>
                                        <p:cTn id="293" dur="1" fill="hold">
                                          <p:stCondLst>
                                            <p:cond delay="0"/>
                                          </p:stCondLst>
                                        </p:cTn>
                                        <p:tgtEl>
                                          <p:spTgt spid="83"/>
                                        </p:tgtEl>
                                        <p:attrNameLst>
                                          <p:attrName>style.visibility</p:attrName>
                                        </p:attrNameLst>
                                      </p:cBhvr>
                                      <p:to>
                                        <p:strVal val="visible"/>
                                      </p:to>
                                    </p:set>
                                  </p:childTnLst>
                                </p:cTn>
                              </p:par>
                              <p:par>
                                <p:cTn id="296" presetID="1" presetClass="entr" presetSubtype="0" fill="hold" grpId="2" nodeType="withEffect">
                                  <p:stCondLst>
                                    <p:cond delay="0"/>
                                  </p:stCondLst>
                                  <p:childTnLst>
                                    <p:set>
                                      <p:cBhvr>
                                        <p:cTn id="295" dur="1" fill="hold">
                                          <p:stCondLst>
                                            <p:cond delay="0"/>
                                          </p:stCondLst>
                                        </p:cTn>
                                        <p:tgtEl>
                                          <p:spTgt spid="84"/>
                                        </p:tgtEl>
                                        <p:attrNameLst>
                                          <p:attrName>style.visibility</p:attrName>
                                        </p:attrNameLst>
                                      </p:cBhvr>
                                      <p:to>
                                        <p:strVal val="visible"/>
                                      </p:to>
                                    </p:set>
                                  </p:childTnLst>
                                </p:cTn>
                              </p:par>
                              <p:par>
                                <p:cTn id="298" presetID="1" presetClass="entr" presetSubtype="0" fill="hold" grpId="2" nodeType="withEffect">
                                  <p:stCondLst>
                                    <p:cond delay="0"/>
                                  </p:stCondLst>
                                  <p:childTnLst>
                                    <p:set>
                                      <p:cBhvr>
                                        <p:cTn id="297" dur="1" fill="hold">
                                          <p:stCondLst>
                                            <p:cond delay="0"/>
                                          </p:stCondLst>
                                        </p:cTn>
                                        <p:tgtEl>
                                          <p:spTgt spid="85"/>
                                        </p:tgtEl>
                                        <p:attrNameLst>
                                          <p:attrName>style.visibility</p:attrName>
                                        </p:attrNameLst>
                                      </p:cBhvr>
                                      <p:to>
                                        <p:strVal val="visible"/>
                                      </p:to>
                                    </p:set>
                                  </p:childTnLst>
                                </p:cTn>
                              </p:par>
                              <p:par>
                                <p:cTn id="300" presetID="1" presetClass="entr" presetSubtype="0" fill="hold" grpId="2" nodeType="withEffect">
                                  <p:stCondLst>
                                    <p:cond delay="0"/>
                                  </p:stCondLst>
                                  <p:childTnLst>
                                    <p:set>
                                      <p:cBhvr>
                                        <p:cTn id="299" dur="1" fill="hold">
                                          <p:stCondLst>
                                            <p:cond delay="0"/>
                                          </p:stCondLst>
                                        </p:cTn>
                                        <p:tgtEl>
                                          <p:spTgt spid="86"/>
                                        </p:tgtEl>
                                        <p:attrNameLst>
                                          <p:attrName>style.visibility</p:attrName>
                                        </p:attrNameLst>
                                      </p:cBhvr>
                                      <p:to>
                                        <p:strVal val="visible"/>
                                      </p:to>
                                    </p:set>
                                  </p:childTnLst>
                                </p:cTn>
                              </p:par>
                              <p:par>
                                <p:cTn id="302" presetID="1" presetClass="entr" presetSubtype="0" fill="hold" grpId="2" nodeType="withEffect">
                                  <p:stCondLst>
                                    <p:cond delay="0"/>
                                  </p:stCondLst>
                                  <p:childTnLst>
                                    <p:set>
                                      <p:cBhvr>
                                        <p:cTn id="301" dur="1" fill="hold">
                                          <p:stCondLst>
                                            <p:cond delay="0"/>
                                          </p:stCondLst>
                                        </p:cTn>
                                        <p:tgtEl>
                                          <p:spTgt spid="87"/>
                                        </p:tgtEl>
                                        <p:attrNameLst>
                                          <p:attrName>style.visibility</p:attrName>
                                        </p:attrNameLst>
                                      </p:cBhvr>
                                      <p:to>
                                        <p:strVal val="visible"/>
                                      </p:to>
                                    </p:set>
                                  </p:childTnLst>
                                </p:cTn>
                              </p:par>
                              <p:par>
                                <p:cTn id="304" presetID="1" presetClass="entr" presetSubtype="0" fill="hold" grpId="2" nodeType="withEffect">
                                  <p:stCondLst>
                                    <p:cond delay="0"/>
                                  </p:stCondLst>
                                  <p:childTnLst>
                                    <p:set>
                                      <p:cBhvr>
                                        <p:cTn id="303" dur="1" fill="hold">
                                          <p:stCondLst>
                                            <p:cond delay="0"/>
                                          </p:stCondLst>
                                        </p:cTn>
                                        <p:tgtEl>
                                          <p:spTgt spid="88"/>
                                        </p:tgtEl>
                                        <p:attrNameLst>
                                          <p:attrName>style.visibility</p:attrName>
                                        </p:attrNameLst>
                                      </p:cBhvr>
                                      <p:to>
                                        <p:strVal val="visible"/>
                                      </p:to>
                                    </p:set>
                                  </p:childTnLst>
                                </p:cTn>
                              </p:par>
                              <p:par>
                                <p:cTn id="306" presetID="1" presetClass="entr" presetSubtype="0" fill="hold" grpId="2" nodeType="withEffect">
                                  <p:stCondLst>
                                    <p:cond delay="0"/>
                                  </p:stCondLst>
                                  <p:childTnLst>
                                    <p:set>
                                      <p:cBhvr>
                                        <p:cTn id="305" dur="1" fill="hold">
                                          <p:stCondLst>
                                            <p:cond delay="0"/>
                                          </p:stCondLst>
                                        </p:cTn>
                                        <p:tgtEl>
                                          <p:spTgt spid="89"/>
                                        </p:tgtEl>
                                        <p:attrNameLst>
                                          <p:attrName>style.visibility</p:attrName>
                                        </p:attrNameLst>
                                      </p:cBhvr>
                                      <p:to>
                                        <p:strVal val="visible"/>
                                      </p:to>
                                    </p:set>
                                  </p:childTnLst>
                                </p:cTn>
                              </p:par>
                              <p:par>
                                <p:cTn id="308" presetID="1" presetClass="entr" presetSubtype="0" fill="hold" grpId="2" nodeType="withEffect">
                                  <p:stCondLst>
                                    <p:cond delay="0"/>
                                  </p:stCondLst>
                                  <p:childTnLst>
                                    <p:set>
                                      <p:cBhvr>
                                        <p:cTn id="307" dur="1" fill="hold">
                                          <p:stCondLst>
                                            <p:cond delay="0"/>
                                          </p:stCondLst>
                                        </p:cTn>
                                        <p:tgtEl>
                                          <p:spTgt spid="90"/>
                                        </p:tgtEl>
                                        <p:attrNameLst>
                                          <p:attrName>style.visibility</p:attrName>
                                        </p:attrNameLst>
                                      </p:cBhvr>
                                      <p:to>
                                        <p:strVal val="visible"/>
                                      </p:to>
                                    </p:set>
                                  </p:childTnLst>
                                </p:cTn>
                              </p:par>
                              <p:par>
                                <p:cTn id="310" presetID="1" presetClass="entr" presetSubtype="0" fill="hold" grpId="2" nodeType="withEffect">
                                  <p:stCondLst>
                                    <p:cond delay="0"/>
                                  </p:stCondLst>
                                  <p:childTnLst>
                                    <p:set>
                                      <p:cBhvr>
                                        <p:cTn id="309" dur="1" fill="hold">
                                          <p:stCondLst>
                                            <p:cond delay="0"/>
                                          </p:stCondLst>
                                        </p:cTn>
                                        <p:tgtEl>
                                          <p:spTgt spid="91"/>
                                        </p:tgtEl>
                                        <p:attrNameLst>
                                          <p:attrName>style.visibility</p:attrName>
                                        </p:attrNameLst>
                                      </p:cBhvr>
                                      <p:to>
                                        <p:strVal val="visible"/>
                                      </p:to>
                                    </p:set>
                                  </p:childTnLst>
                                </p:cTn>
                              </p:par>
                              <p:par>
                                <p:cTn id="312" presetID="1" presetClass="entr" presetSubtype="0" fill="hold" grpId="2" nodeType="withEffect">
                                  <p:stCondLst>
                                    <p:cond delay="0"/>
                                  </p:stCondLst>
                                  <p:childTnLst>
                                    <p:set>
                                      <p:cBhvr>
                                        <p:cTn id="311" dur="1" fill="hold">
                                          <p:stCondLst>
                                            <p:cond delay="0"/>
                                          </p:stCondLst>
                                        </p:cTn>
                                        <p:tgtEl>
                                          <p:spTgt spid="92"/>
                                        </p:tgtEl>
                                        <p:attrNameLst>
                                          <p:attrName>style.visibility</p:attrName>
                                        </p:attrNameLst>
                                      </p:cBhvr>
                                      <p:to>
                                        <p:strVal val="visible"/>
                                      </p:to>
                                    </p:set>
                                  </p:childTnLst>
                                </p:cTn>
                              </p:par>
                              <p:par>
                                <p:cTn id="314" presetID="1" presetClass="entr" presetSubtype="0" fill="hold" grpId="2" nodeType="withEffect">
                                  <p:stCondLst>
                                    <p:cond delay="0"/>
                                  </p:stCondLst>
                                  <p:childTnLst>
                                    <p:set>
                                      <p:cBhvr>
                                        <p:cTn id="313" dur="1" fill="hold">
                                          <p:stCondLst>
                                            <p:cond delay="0"/>
                                          </p:stCondLst>
                                        </p:cTn>
                                        <p:tgtEl>
                                          <p:spTgt spid="93"/>
                                        </p:tgtEl>
                                        <p:attrNameLst>
                                          <p:attrName>style.visibility</p:attrName>
                                        </p:attrNameLst>
                                      </p:cBhvr>
                                      <p:to>
                                        <p:strVal val="visible"/>
                                      </p:to>
                                    </p:set>
                                  </p:childTnLst>
                                </p:cTn>
                              </p:par>
                              <p:par>
                                <p:cTn id="316" presetID="1" presetClass="entr" presetSubtype="0" fill="hold" grpId="2" nodeType="withEffect">
                                  <p:stCondLst>
                                    <p:cond delay="0"/>
                                  </p:stCondLst>
                                  <p:childTnLst>
                                    <p:set>
                                      <p:cBhvr>
                                        <p:cTn id="315" dur="1" fill="hold">
                                          <p:stCondLst>
                                            <p:cond delay="0"/>
                                          </p:stCondLst>
                                        </p:cTn>
                                        <p:tgtEl>
                                          <p:spTgt spid="94"/>
                                        </p:tgtEl>
                                        <p:attrNameLst>
                                          <p:attrName>style.visibility</p:attrName>
                                        </p:attrNameLst>
                                      </p:cBhvr>
                                      <p:to>
                                        <p:strVal val="visible"/>
                                      </p:to>
                                    </p:set>
                                  </p:childTnLst>
                                </p:cTn>
                              </p:par>
                              <p:par>
                                <p:cTn id="318" presetID="1" presetClass="entr" presetSubtype="0" fill="hold" grpId="2" nodeType="withEffect">
                                  <p:stCondLst>
                                    <p:cond delay="0"/>
                                  </p:stCondLst>
                                  <p:childTnLst>
                                    <p:set>
                                      <p:cBhvr>
                                        <p:cTn id="317" dur="1" fill="hold">
                                          <p:stCondLst>
                                            <p:cond delay="0"/>
                                          </p:stCondLst>
                                        </p:cTn>
                                        <p:tgtEl>
                                          <p:spTgt spid="95"/>
                                        </p:tgtEl>
                                        <p:attrNameLst>
                                          <p:attrName>style.visibility</p:attrName>
                                        </p:attrNameLst>
                                      </p:cBhvr>
                                      <p:to>
                                        <p:strVal val="visible"/>
                                      </p:to>
                                    </p:set>
                                  </p:childTnLst>
                                </p:cTn>
                              </p:par>
                              <p:par>
                                <p:cTn id="320" presetID="1" presetClass="entr" presetSubtype="0" fill="hold" grpId="2" nodeType="withEffect">
                                  <p:stCondLst>
                                    <p:cond delay="0"/>
                                  </p:stCondLst>
                                  <p:childTnLst>
                                    <p:set>
                                      <p:cBhvr>
                                        <p:cTn id="319" dur="1" fill="hold">
                                          <p:stCondLst>
                                            <p:cond delay="0"/>
                                          </p:stCondLst>
                                        </p:cTn>
                                        <p:tgtEl>
                                          <p:spTgt spid="96"/>
                                        </p:tgtEl>
                                        <p:attrNameLst>
                                          <p:attrName>style.visibility</p:attrName>
                                        </p:attrNameLst>
                                      </p:cBhvr>
                                      <p:to>
                                        <p:strVal val="visible"/>
                                      </p:to>
                                    </p:set>
                                  </p:childTnLst>
                                </p:cTn>
                              </p:par>
                              <p:par>
                                <p:cTn id="322" presetID="1" presetClass="entr" presetSubtype="0" fill="hold" grpId="2" nodeType="withEffect">
                                  <p:stCondLst>
                                    <p:cond delay="0"/>
                                  </p:stCondLst>
                                  <p:childTnLst>
                                    <p:set>
                                      <p:cBhvr>
                                        <p:cTn id="321" dur="1" fill="hold">
                                          <p:stCondLst>
                                            <p:cond delay="0"/>
                                          </p:stCondLst>
                                        </p:cTn>
                                        <p:tgtEl>
                                          <p:spTgt spid="97"/>
                                        </p:tgtEl>
                                        <p:attrNameLst>
                                          <p:attrName>style.visibility</p:attrName>
                                        </p:attrNameLst>
                                      </p:cBhvr>
                                      <p:to>
                                        <p:strVal val="visible"/>
                                      </p:to>
                                    </p:set>
                                  </p:childTnLst>
                                </p:cTn>
                              </p:par>
                              <p:par>
                                <p:cTn id="324" presetID="1" presetClass="entr" presetSubtype="0" fill="hold" grpId="2" nodeType="withEffect">
                                  <p:stCondLst>
                                    <p:cond delay="0"/>
                                  </p:stCondLst>
                                  <p:childTnLst>
                                    <p:set>
                                      <p:cBhvr>
                                        <p:cTn id="323" dur="1" fill="hold">
                                          <p:stCondLst>
                                            <p:cond delay="0"/>
                                          </p:stCondLst>
                                        </p:cTn>
                                        <p:tgtEl>
                                          <p:spTgt spid="98"/>
                                        </p:tgtEl>
                                        <p:attrNameLst>
                                          <p:attrName>style.visibility</p:attrName>
                                        </p:attrNameLst>
                                      </p:cBhvr>
                                      <p:to>
                                        <p:strVal val="visible"/>
                                      </p:to>
                                    </p:set>
                                  </p:childTnLst>
                                </p:cTn>
                              </p:par>
                              <p:par>
                                <p:cTn id="326" presetID="1" presetClass="entr" presetSubtype="0" fill="hold" grpId="2" nodeType="withEffect">
                                  <p:stCondLst>
                                    <p:cond delay="0"/>
                                  </p:stCondLst>
                                  <p:childTnLst>
                                    <p:set>
                                      <p:cBhvr>
                                        <p:cTn id="325" dur="1" fill="hold">
                                          <p:stCondLst>
                                            <p:cond delay="0"/>
                                          </p:stCondLst>
                                        </p:cTn>
                                        <p:tgtEl>
                                          <p:spTgt spid="99"/>
                                        </p:tgtEl>
                                        <p:attrNameLst>
                                          <p:attrName>style.visibility</p:attrName>
                                        </p:attrNameLst>
                                      </p:cBhvr>
                                      <p:to>
                                        <p:strVal val="visible"/>
                                      </p:to>
                                    </p:set>
                                  </p:childTnLst>
                                </p:cTn>
                              </p:par>
                              <p:par>
                                <p:cTn id="328" presetID="1" presetClass="entr" presetSubtype="0" fill="hold" grpId="2" nodeType="withEffect">
                                  <p:stCondLst>
                                    <p:cond delay="0"/>
                                  </p:stCondLst>
                                  <p:childTnLst>
                                    <p:set>
                                      <p:cBhvr>
                                        <p:cTn id="327" dur="1" fill="hold">
                                          <p:stCondLst>
                                            <p:cond delay="0"/>
                                          </p:stCondLst>
                                        </p:cTn>
                                        <p:tgtEl>
                                          <p:spTgt spid="100"/>
                                        </p:tgtEl>
                                        <p:attrNameLst>
                                          <p:attrName>style.visibility</p:attrName>
                                        </p:attrNameLst>
                                      </p:cBhvr>
                                      <p:to>
                                        <p:strVal val="visible"/>
                                      </p:to>
                                    </p:set>
                                  </p:childTnLst>
                                </p:cTn>
                              </p:par>
                              <p:par>
                                <p:cTn id="330" presetID="1" presetClass="exit" presetSubtype="0" fill="hold" grpId="2" nodeType="withEffect">
                                  <p:stCondLst>
                                    <p:cond delay="0"/>
                                  </p:stCondLst>
                                  <p:childTnLst>
                                    <p:set>
                                      <p:cBhvr>
                                        <p:cTn id="329" dur="1" fill="hold">
                                          <p:stCondLst>
                                            <p:cond delay="0"/>
                                          </p:stCondLst>
                                        </p:cTn>
                                        <p:tgtEl>
                                          <p:spTgt spid="101"/>
                                        </p:tgtEl>
                                        <p:attrNameLst>
                                          <p:attrName>style.visibility</p:attrName>
                                        </p:attrNameLst>
                                      </p:cBhvr>
                                      <p:to>
                                        <p:strVal val="hidden"/>
                                      </p:to>
                                    </p:set>
                                  </p:childTnLst>
                                </p:cTn>
                              </p:par>
                              <p:par>
                                <p:cTn id="332" presetID="1" presetClass="exit" presetSubtype="0" fill="hold" grpId="2" nodeType="withEffect">
                                  <p:stCondLst>
                                    <p:cond delay="0"/>
                                  </p:stCondLst>
                                  <p:childTnLst>
                                    <p:set>
                                      <p:cBhvr>
                                        <p:cTn id="331" dur="1" fill="hold">
                                          <p:stCondLst>
                                            <p:cond delay="0"/>
                                          </p:stCondLst>
                                        </p:cTn>
                                        <p:tgtEl>
                                          <p:spTgt spid="102"/>
                                        </p:tgtEl>
                                        <p:attrNameLst>
                                          <p:attrName>style.visibility</p:attrName>
                                        </p:attrNameLst>
                                      </p:cBhvr>
                                      <p:to>
                                        <p:strVal val="hidden"/>
                                      </p:to>
                                    </p:set>
                                  </p:childTnLst>
                                </p:cTn>
                              </p:par>
                              <p:par>
                                <p:cTn id="334" presetID="1" presetClass="exit" presetSubtype="0" fill="hold" grpId="2" nodeType="withEffect">
                                  <p:stCondLst>
                                    <p:cond delay="0"/>
                                  </p:stCondLst>
                                  <p:childTnLst>
                                    <p:set>
                                      <p:cBhvr>
                                        <p:cTn id="333" dur="1" fill="hold">
                                          <p:stCondLst>
                                            <p:cond delay="0"/>
                                          </p:stCondLst>
                                        </p:cTn>
                                        <p:tgtEl>
                                          <p:spTgt spid="103"/>
                                        </p:tgtEl>
                                        <p:attrNameLst>
                                          <p:attrName>style.visibility</p:attrName>
                                        </p:attrNameLst>
                                      </p:cBhvr>
                                      <p:to>
                                        <p:strVal val="hidden"/>
                                      </p:to>
                                    </p:set>
                                  </p:childTnLst>
                                </p:cTn>
                              </p:par>
                              <p:par>
                                <p:cTn id="336" presetID="1" presetClass="exit" presetSubtype="0" fill="hold" grpId="2" nodeType="withEffect">
                                  <p:stCondLst>
                                    <p:cond delay="0"/>
                                  </p:stCondLst>
                                  <p:childTnLst>
                                    <p:set>
                                      <p:cBhvr>
                                        <p:cTn id="335" dur="1" fill="hold">
                                          <p:stCondLst>
                                            <p:cond delay="0"/>
                                          </p:stCondLst>
                                        </p:cTn>
                                        <p:tgtEl>
                                          <p:spTgt spid="104"/>
                                        </p:tgtEl>
                                        <p:attrNameLst>
                                          <p:attrName>style.visibility</p:attrName>
                                        </p:attrNameLst>
                                      </p:cBhvr>
                                      <p:to>
                                        <p:strVal val="hidden"/>
                                      </p:to>
                                    </p:set>
                                  </p:childTnLst>
                                </p:cTn>
                              </p:par>
                              <p:par>
                                <p:cTn id="338" presetID="1" presetClass="exit" presetSubtype="0" fill="hold" grpId="2" nodeType="withEffect">
                                  <p:stCondLst>
                                    <p:cond delay="0"/>
                                  </p:stCondLst>
                                  <p:childTnLst>
                                    <p:set>
                                      <p:cBhvr>
                                        <p:cTn id="337" dur="1" fill="hold">
                                          <p:stCondLst>
                                            <p:cond delay="0"/>
                                          </p:stCondLst>
                                        </p:cTn>
                                        <p:tgtEl>
                                          <p:spTgt spid="105"/>
                                        </p:tgtEl>
                                        <p:attrNameLst>
                                          <p:attrName>style.visibility</p:attrName>
                                        </p:attrNameLst>
                                      </p:cBhvr>
                                      <p:to>
                                        <p:strVal val="hidden"/>
                                      </p:to>
                                    </p:set>
                                  </p:childTnLst>
                                </p:cTn>
                              </p:par>
                              <p:par>
                                <p:cTn id="340" presetID="1" presetClass="exit" presetSubtype="0" fill="hold" grpId="2" nodeType="withEffect">
                                  <p:stCondLst>
                                    <p:cond delay="0"/>
                                  </p:stCondLst>
                                  <p:childTnLst>
                                    <p:set>
                                      <p:cBhvr>
                                        <p:cTn id="339" dur="1" fill="hold">
                                          <p:stCondLst>
                                            <p:cond delay="0"/>
                                          </p:stCondLst>
                                        </p:cTn>
                                        <p:tgtEl>
                                          <p:spTgt spid="106"/>
                                        </p:tgtEl>
                                        <p:attrNameLst>
                                          <p:attrName>style.visibility</p:attrName>
                                        </p:attrNameLst>
                                      </p:cBhvr>
                                      <p:to>
                                        <p:strVal val="hidden"/>
                                      </p:to>
                                    </p:set>
                                  </p:childTnLst>
                                </p:cTn>
                              </p:par>
                              <p:par>
                                <p:cTn id="342" presetID="1" presetClass="exit" presetSubtype="0" fill="hold" grpId="2" nodeType="withEffect">
                                  <p:stCondLst>
                                    <p:cond delay="0"/>
                                  </p:stCondLst>
                                  <p:childTnLst>
                                    <p:set>
                                      <p:cBhvr>
                                        <p:cTn id="341" dur="1" fill="hold">
                                          <p:stCondLst>
                                            <p:cond delay="0"/>
                                          </p:stCondLst>
                                        </p:cTn>
                                        <p:tgtEl>
                                          <p:spTgt spid="107"/>
                                        </p:tgtEl>
                                        <p:attrNameLst>
                                          <p:attrName>style.visibility</p:attrName>
                                        </p:attrNameLst>
                                      </p:cBhvr>
                                      <p:to>
                                        <p:strVal val="hidden"/>
                                      </p:to>
                                    </p:set>
                                  </p:childTnLst>
                                </p:cTn>
                              </p:par>
                              <p:par>
                                <p:cTn id="344" presetID="1" presetClass="exit" presetSubtype="0" fill="hold" grpId="2" nodeType="withEffect">
                                  <p:stCondLst>
                                    <p:cond delay="0"/>
                                  </p:stCondLst>
                                  <p:childTnLst>
                                    <p:set>
                                      <p:cBhvr>
                                        <p:cTn id="343" dur="1" fill="hold">
                                          <p:stCondLst>
                                            <p:cond delay="0"/>
                                          </p:stCondLst>
                                        </p:cTn>
                                        <p:tgtEl>
                                          <p:spTgt spid="108"/>
                                        </p:tgtEl>
                                        <p:attrNameLst>
                                          <p:attrName>style.visibility</p:attrName>
                                        </p:attrNameLst>
                                      </p:cBhvr>
                                      <p:to>
                                        <p:strVal val="hidden"/>
                                      </p:to>
                                    </p:set>
                                  </p:childTnLst>
                                </p:cTn>
                              </p:par>
                              <p:par>
                                <p:cTn id="346" presetID="1" presetClass="exit" presetSubtype="0" fill="hold" grpId="2" nodeType="withEffect">
                                  <p:stCondLst>
                                    <p:cond delay="0"/>
                                  </p:stCondLst>
                                  <p:childTnLst>
                                    <p:set>
                                      <p:cBhvr>
                                        <p:cTn id="345" dur="1" fill="hold">
                                          <p:stCondLst>
                                            <p:cond delay="0"/>
                                          </p:stCondLst>
                                        </p:cTn>
                                        <p:tgtEl>
                                          <p:spTgt spid="109"/>
                                        </p:tgtEl>
                                        <p:attrNameLst>
                                          <p:attrName>style.visibility</p:attrName>
                                        </p:attrNameLst>
                                      </p:cBhvr>
                                      <p:to>
                                        <p:strVal val="hidden"/>
                                      </p:to>
                                    </p:set>
                                  </p:childTnLst>
                                </p:cTn>
                              </p:par>
                              <p:par>
                                <p:cTn id="348" presetID="1" presetClass="exit" presetSubtype="0" fill="hold" grpId="2" nodeType="withEffect">
                                  <p:stCondLst>
                                    <p:cond delay="0"/>
                                  </p:stCondLst>
                                  <p:childTnLst>
                                    <p:set>
                                      <p:cBhvr>
                                        <p:cTn id="347" dur="1" fill="hold">
                                          <p:stCondLst>
                                            <p:cond delay="0"/>
                                          </p:stCondLst>
                                        </p:cTn>
                                        <p:tgtEl>
                                          <p:spTgt spid="110"/>
                                        </p:tgtEl>
                                        <p:attrNameLst>
                                          <p:attrName>style.visibility</p:attrName>
                                        </p:attrNameLst>
                                      </p:cBhvr>
                                      <p:to>
                                        <p:strVal val="hidden"/>
                                      </p:to>
                                    </p:set>
                                  </p:childTnLst>
                                </p:cTn>
                              </p:par>
                              <p:par>
                                <p:cTn id="350" presetID="1" presetClass="exit" presetSubtype="0" fill="hold" grpId="2" nodeType="withEffect">
                                  <p:stCondLst>
                                    <p:cond delay="0"/>
                                  </p:stCondLst>
                                  <p:childTnLst>
                                    <p:set>
                                      <p:cBhvr>
                                        <p:cTn id="349" dur="1" fill="hold">
                                          <p:stCondLst>
                                            <p:cond delay="0"/>
                                          </p:stCondLst>
                                        </p:cTn>
                                        <p:tgtEl>
                                          <p:spTgt spid="111"/>
                                        </p:tgtEl>
                                        <p:attrNameLst>
                                          <p:attrName>style.visibility</p:attrName>
                                        </p:attrNameLst>
                                      </p:cBhvr>
                                      <p:to>
                                        <p:strVal val="hidden"/>
                                      </p:to>
                                    </p:set>
                                  </p:childTnLst>
                                </p:cTn>
                              </p:par>
                              <p:par>
                                <p:cTn id="352" presetID="1" presetClass="exit" presetSubtype="0" fill="hold" grpId="2" nodeType="withEffect">
                                  <p:stCondLst>
                                    <p:cond delay="0"/>
                                  </p:stCondLst>
                                  <p:childTnLst>
                                    <p:set>
                                      <p:cBhvr>
                                        <p:cTn id="351" dur="1" fill="hold">
                                          <p:stCondLst>
                                            <p:cond delay="0"/>
                                          </p:stCondLst>
                                        </p:cTn>
                                        <p:tgtEl>
                                          <p:spTgt spid="112"/>
                                        </p:tgtEl>
                                        <p:attrNameLst>
                                          <p:attrName>style.visibility</p:attrName>
                                        </p:attrNameLst>
                                      </p:cBhvr>
                                      <p:to>
                                        <p:strVal val="hidden"/>
                                      </p:to>
                                    </p:set>
                                  </p:childTnLst>
                                </p:cTn>
                              </p:par>
                              <p:par>
                                <p:cTn id="354" presetID="1" presetClass="exit" presetSubtype="0" fill="hold" grpId="2" nodeType="withEffect">
                                  <p:stCondLst>
                                    <p:cond delay="0"/>
                                  </p:stCondLst>
                                  <p:childTnLst>
                                    <p:set>
                                      <p:cBhvr>
                                        <p:cTn id="353" dur="1" fill="hold">
                                          <p:stCondLst>
                                            <p:cond delay="0"/>
                                          </p:stCondLst>
                                        </p:cTn>
                                        <p:tgtEl>
                                          <p:spTgt spid="113"/>
                                        </p:tgtEl>
                                        <p:attrNameLst>
                                          <p:attrName>style.visibility</p:attrName>
                                        </p:attrNameLst>
                                      </p:cBhvr>
                                      <p:to>
                                        <p:strVal val="hidden"/>
                                      </p:to>
                                    </p:set>
                                  </p:childTnLst>
                                </p:cTn>
                              </p:par>
                              <p:par>
                                <p:cTn id="356" presetID="1" presetClass="exit" presetSubtype="0" fill="hold" grpId="2" nodeType="withEffect">
                                  <p:stCondLst>
                                    <p:cond delay="0"/>
                                  </p:stCondLst>
                                  <p:childTnLst>
                                    <p:set>
                                      <p:cBhvr>
                                        <p:cTn id="355" dur="1" fill="hold">
                                          <p:stCondLst>
                                            <p:cond delay="0"/>
                                          </p:stCondLst>
                                        </p:cTn>
                                        <p:tgtEl>
                                          <p:spTgt spid="114"/>
                                        </p:tgtEl>
                                        <p:attrNameLst>
                                          <p:attrName>style.visibility</p:attrName>
                                        </p:attrNameLst>
                                      </p:cBhvr>
                                      <p:to>
                                        <p:strVal val="hidden"/>
                                      </p:to>
                                    </p:set>
                                  </p:childTnLst>
                                </p:cTn>
                              </p:par>
                              <p:par>
                                <p:cTn id="358" presetID="1" presetClass="exit" presetSubtype="0" fill="hold" grpId="2" nodeType="withEffect">
                                  <p:stCondLst>
                                    <p:cond delay="0"/>
                                  </p:stCondLst>
                                  <p:childTnLst>
                                    <p:set>
                                      <p:cBhvr>
                                        <p:cTn id="357" dur="1" fill="hold">
                                          <p:stCondLst>
                                            <p:cond delay="0"/>
                                          </p:stCondLst>
                                        </p:cTn>
                                        <p:tgtEl>
                                          <p:spTgt spid="115"/>
                                        </p:tgtEl>
                                        <p:attrNameLst>
                                          <p:attrName>style.visibility</p:attrName>
                                        </p:attrNameLst>
                                      </p:cBhvr>
                                      <p:to>
                                        <p:strVal val="hidden"/>
                                      </p:to>
                                    </p:set>
                                  </p:childTnLst>
                                </p:cTn>
                              </p:par>
                              <p:par>
                                <p:cTn id="360" presetID="1" presetClass="exit" presetSubtype="0" fill="hold" grpId="2" nodeType="withEffect">
                                  <p:stCondLst>
                                    <p:cond delay="0"/>
                                  </p:stCondLst>
                                  <p:childTnLst>
                                    <p:set>
                                      <p:cBhvr>
                                        <p:cTn id="359" dur="1" fill="hold">
                                          <p:stCondLst>
                                            <p:cond delay="0"/>
                                          </p:stCondLst>
                                        </p:cTn>
                                        <p:tgtEl>
                                          <p:spTgt spid="116"/>
                                        </p:tgtEl>
                                        <p:attrNameLst>
                                          <p:attrName>style.visibility</p:attrName>
                                        </p:attrNameLst>
                                      </p:cBhvr>
                                      <p:to>
                                        <p:strVal val="hidden"/>
                                      </p:to>
                                    </p:set>
                                  </p:childTnLst>
                                </p:cTn>
                              </p:par>
                              <p:par>
                                <p:cTn id="362" presetID="1" presetClass="exit" presetSubtype="0" fill="hold" grpId="2" nodeType="withEffect">
                                  <p:stCondLst>
                                    <p:cond delay="0"/>
                                  </p:stCondLst>
                                  <p:childTnLst>
                                    <p:set>
                                      <p:cBhvr>
                                        <p:cTn id="361" dur="1" fill="hold">
                                          <p:stCondLst>
                                            <p:cond delay="0"/>
                                          </p:stCondLst>
                                        </p:cTn>
                                        <p:tgtEl>
                                          <p:spTgt spid="117"/>
                                        </p:tgtEl>
                                        <p:attrNameLst>
                                          <p:attrName>style.visibility</p:attrName>
                                        </p:attrNameLst>
                                      </p:cBhvr>
                                      <p:to>
                                        <p:strVal val="hidden"/>
                                      </p:to>
                                    </p:set>
                                  </p:childTnLst>
                                </p:cTn>
                              </p:par>
                              <p:par>
                                <p:cTn id="364" presetID="1" presetClass="exit" presetSubtype="0" fill="hold" grpId="2" nodeType="withEffect">
                                  <p:stCondLst>
                                    <p:cond delay="0"/>
                                  </p:stCondLst>
                                  <p:childTnLst>
                                    <p:set>
                                      <p:cBhvr>
                                        <p:cTn id="363" dur="1" fill="hold">
                                          <p:stCondLst>
                                            <p:cond delay="0"/>
                                          </p:stCondLst>
                                        </p:cTn>
                                        <p:tgtEl>
                                          <p:spTgt spid="118"/>
                                        </p:tgtEl>
                                        <p:attrNameLst>
                                          <p:attrName>style.visibility</p:attrName>
                                        </p:attrNameLst>
                                      </p:cBhvr>
                                      <p:to>
                                        <p:strVal val="hidden"/>
                                      </p:to>
                                    </p:set>
                                  </p:childTnLst>
                                </p:cTn>
                              </p:par>
                              <p:par>
                                <p:cTn id="366" presetID="1" presetClass="exit" presetSubtype="0" fill="hold" grpId="2" nodeType="withEffect">
                                  <p:stCondLst>
                                    <p:cond delay="0"/>
                                  </p:stCondLst>
                                  <p:childTnLst>
                                    <p:set>
                                      <p:cBhvr>
                                        <p:cTn id="365" dur="1" fill="hold">
                                          <p:stCondLst>
                                            <p:cond delay="0"/>
                                          </p:stCondLst>
                                        </p:cTn>
                                        <p:tgtEl>
                                          <p:spTgt spid="119"/>
                                        </p:tgtEl>
                                        <p:attrNameLst>
                                          <p:attrName>style.visibility</p:attrName>
                                        </p:attrNameLst>
                                      </p:cBhvr>
                                      <p:to>
                                        <p:strVal val="hidden"/>
                                      </p:to>
                                    </p:set>
                                  </p:childTnLst>
                                </p:cTn>
                              </p:par>
                              <p:par>
                                <p:cTn id="368" presetID="1" presetClass="exit" presetSubtype="0" fill="hold" grpId="2" nodeType="withEffect">
                                  <p:stCondLst>
                                    <p:cond delay="0"/>
                                  </p:stCondLst>
                                  <p:childTnLst>
                                    <p:set>
                                      <p:cBhvr>
                                        <p:cTn id="367" dur="1" fill="hold">
                                          <p:stCondLst>
                                            <p:cond delay="0"/>
                                          </p:stCondLst>
                                        </p:cTn>
                                        <p:tgtEl>
                                          <p:spTgt spid="120"/>
                                        </p:tgtEl>
                                        <p:attrNameLst>
                                          <p:attrName>style.visibility</p:attrName>
                                        </p:attrNameLst>
                                      </p:cBhvr>
                                      <p:to>
                                        <p:strVal val="hidden"/>
                                      </p:to>
                                    </p:set>
                                  </p:childTnLst>
                                </p:cTn>
                              </p:par>
                            </p:childTnLst>
                          </p:cTn>
                        </p:par>
                      </p:childTnLst>
                    </p:cTn>
                  </p:par>
                </p:childTnLst>
              </p:cTn>
              <p:nextCondLst>
                <p:cond evt="onClick" delay="0">
                  <p:tgtEl>
                    <p:spTgt spid="123"/>
                  </p:tgtEl>
                </p:cond>
              </p:nextCondLst>
            </p:seq>
            <p:seq concurrent="1" nextAc="seek">
              <p:cTn id="492" restart="whenNotActive" fill="hold" evtFilter="cancelBubble" nodeType="interactiveSeq">
                <p:stCondLst>
                  <p:cond evt="onClick" delay="0">
                    <p:tgtEl>
                      <p:spTgt spid="124"/>
                    </p:tgtEl>
                  </p:cond>
                </p:stCondLst>
                <p:endSync evt="end" delay="0">
                  <p:rtn val="all"/>
                </p:endSync>
                <p:childTnLst>
                  <p:par>
                    <p:cTn id="493" fill="hold">
                      <p:stCondLst>
                        <p:cond delay="0"/>
                      </p:stCondLst>
                      <p:childTnLst>
                        <p:par>
                          <p:cTn id="494" fill="hold">
                            <p:stCondLst>
                              <p:cond delay="0"/>
                            </p:stCondLst>
                            <p:childTnLst>
                              <p:par>
                                <p:cTn id="373" presetID="1" presetClass="exit" presetSubtype="0" fill="hold" grpId="3" nodeType="clickEffect">
                                  <p:stCondLst>
                                    <p:cond delay="0"/>
                                  </p:stCondLst>
                                  <p:childTnLst>
                                    <p:set>
                                      <p:cBhvr>
                                        <p:cTn id="372" dur="1" fill="hold">
                                          <p:stCondLst>
                                            <p:cond delay="0"/>
                                          </p:stCondLst>
                                        </p:cTn>
                                        <p:tgtEl>
                                          <p:spTgt spid="61"/>
                                        </p:tgtEl>
                                        <p:attrNameLst>
                                          <p:attrName>style.visibility</p:attrName>
                                        </p:attrNameLst>
                                      </p:cBhvr>
                                      <p:to>
                                        <p:strVal val="hidden"/>
                                      </p:to>
                                    </p:set>
                                  </p:childTnLst>
                                </p:cTn>
                              </p:par>
                              <p:par>
                                <p:cTn id="375" presetID="1" presetClass="exit" presetSubtype="0" fill="hold" grpId="3" nodeType="withEffect">
                                  <p:stCondLst>
                                    <p:cond delay="0"/>
                                  </p:stCondLst>
                                  <p:childTnLst>
                                    <p:set>
                                      <p:cBhvr>
                                        <p:cTn id="374" dur="1" fill="hold">
                                          <p:stCondLst>
                                            <p:cond delay="0"/>
                                          </p:stCondLst>
                                        </p:cTn>
                                        <p:tgtEl>
                                          <p:spTgt spid="62"/>
                                        </p:tgtEl>
                                        <p:attrNameLst>
                                          <p:attrName>style.visibility</p:attrName>
                                        </p:attrNameLst>
                                      </p:cBhvr>
                                      <p:to>
                                        <p:strVal val="hidden"/>
                                      </p:to>
                                    </p:set>
                                  </p:childTnLst>
                                </p:cTn>
                              </p:par>
                              <p:par>
                                <p:cTn id="377" presetID="1" presetClass="exit" presetSubtype="0" fill="hold" grpId="3" nodeType="withEffect">
                                  <p:stCondLst>
                                    <p:cond delay="0"/>
                                  </p:stCondLst>
                                  <p:childTnLst>
                                    <p:set>
                                      <p:cBhvr>
                                        <p:cTn id="376" dur="1" fill="hold">
                                          <p:stCondLst>
                                            <p:cond delay="0"/>
                                          </p:stCondLst>
                                        </p:cTn>
                                        <p:tgtEl>
                                          <p:spTgt spid="63"/>
                                        </p:tgtEl>
                                        <p:attrNameLst>
                                          <p:attrName>style.visibility</p:attrName>
                                        </p:attrNameLst>
                                      </p:cBhvr>
                                      <p:to>
                                        <p:strVal val="hidden"/>
                                      </p:to>
                                    </p:set>
                                  </p:childTnLst>
                                </p:cTn>
                              </p:par>
                              <p:par>
                                <p:cTn id="379" presetID="1" presetClass="exit" presetSubtype="0" fill="hold" grpId="3" nodeType="withEffect">
                                  <p:stCondLst>
                                    <p:cond delay="0"/>
                                  </p:stCondLst>
                                  <p:childTnLst>
                                    <p:set>
                                      <p:cBhvr>
                                        <p:cTn id="378" dur="1" fill="hold">
                                          <p:stCondLst>
                                            <p:cond delay="0"/>
                                          </p:stCondLst>
                                        </p:cTn>
                                        <p:tgtEl>
                                          <p:spTgt spid="64"/>
                                        </p:tgtEl>
                                        <p:attrNameLst>
                                          <p:attrName>style.visibility</p:attrName>
                                        </p:attrNameLst>
                                      </p:cBhvr>
                                      <p:to>
                                        <p:strVal val="hidden"/>
                                      </p:to>
                                    </p:set>
                                  </p:childTnLst>
                                </p:cTn>
                              </p:par>
                              <p:par>
                                <p:cTn id="381" presetID="1" presetClass="exit" presetSubtype="0" fill="hold" grpId="3" nodeType="withEffect">
                                  <p:stCondLst>
                                    <p:cond delay="0"/>
                                  </p:stCondLst>
                                  <p:childTnLst>
                                    <p:set>
                                      <p:cBhvr>
                                        <p:cTn id="380" dur="1" fill="hold">
                                          <p:stCondLst>
                                            <p:cond delay="0"/>
                                          </p:stCondLst>
                                        </p:cTn>
                                        <p:tgtEl>
                                          <p:spTgt spid="65"/>
                                        </p:tgtEl>
                                        <p:attrNameLst>
                                          <p:attrName>style.visibility</p:attrName>
                                        </p:attrNameLst>
                                      </p:cBhvr>
                                      <p:to>
                                        <p:strVal val="hidden"/>
                                      </p:to>
                                    </p:set>
                                  </p:childTnLst>
                                </p:cTn>
                              </p:par>
                              <p:par>
                                <p:cTn id="383" presetID="1" presetClass="exit" presetSubtype="0" fill="hold" grpId="3" nodeType="withEffect">
                                  <p:stCondLst>
                                    <p:cond delay="0"/>
                                  </p:stCondLst>
                                  <p:childTnLst>
                                    <p:set>
                                      <p:cBhvr>
                                        <p:cTn id="382" dur="1" fill="hold">
                                          <p:stCondLst>
                                            <p:cond delay="0"/>
                                          </p:stCondLst>
                                        </p:cTn>
                                        <p:tgtEl>
                                          <p:spTgt spid="66"/>
                                        </p:tgtEl>
                                        <p:attrNameLst>
                                          <p:attrName>style.visibility</p:attrName>
                                        </p:attrNameLst>
                                      </p:cBhvr>
                                      <p:to>
                                        <p:strVal val="hidden"/>
                                      </p:to>
                                    </p:set>
                                  </p:childTnLst>
                                </p:cTn>
                              </p:par>
                              <p:par>
                                <p:cTn id="385" presetID="1" presetClass="exit" presetSubtype="0" fill="hold" grpId="3" nodeType="withEffect">
                                  <p:stCondLst>
                                    <p:cond delay="0"/>
                                  </p:stCondLst>
                                  <p:childTnLst>
                                    <p:set>
                                      <p:cBhvr>
                                        <p:cTn id="384" dur="1" fill="hold">
                                          <p:stCondLst>
                                            <p:cond delay="0"/>
                                          </p:stCondLst>
                                        </p:cTn>
                                        <p:tgtEl>
                                          <p:spTgt spid="67"/>
                                        </p:tgtEl>
                                        <p:attrNameLst>
                                          <p:attrName>style.visibility</p:attrName>
                                        </p:attrNameLst>
                                      </p:cBhvr>
                                      <p:to>
                                        <p:strVal val="hidden"/>
                                      </p:to>
                                    </p:set>
                                  </p:childTnLst>
                                </p:cTn>
                              </p:par>
                              <p:par>
                                <p:cTn id="387" presetID="1" presetClass="exit" presetSubtype="0" fill="hold" grpId="3" nodeType="withEffect">
                                  <p:stCondLst>
                                    <p:cond delay="0"/>
                                  </p:stCondLst>
                                  <p:childTnLst>
                                    <p:set>
                                      <p:cBhvr>
                                        <p:cTn id="386" dur="1" fill="hold">
                                          <p:stCondLst>
                                            <p:cond delay="0"/>
                                          </p:stCondLst>
                                        </p:cTn>
                                        <p:tgtEl>
                                          <p:spTgt spid="68"/>
                                        </p:tgtEl>
                                        <p:attrNameLst>
                                          <p:attrName>style.visibility</p:attrName>
                                        </p:attrNameLst>
                                      </p:cBhvr>
                                      <p:to>
                                        <p:strVal val="hidden"/>
                                      </p:to>
                                    </p:set>
                                  </p:childTnLst>
                                </p:cTn>
                              </p:par>
                              <p:par>
                                <p:cTn id="389" presetID="1" presetClass="exit" presetSubtype="0" fill="hold" grpId="3" nodeType="withEffect">
                                  <p:stCondLst>
                                    <p:cond delay="0"/>
                                  </p:stCondLst>
                                  <p:childTnLst>
                                    <p:set>
                                      <p:cBhvr>
                                        <p:cTn id="388" dur="1" fill="hold">
                                          <p:stCondLst>
                                            <p:cond delay="0"/>
                                          </p:stCondLst>
                                        </p:cTn>
                                        <p:tgtEl>
                                          <p:spTgt spid="69"/>
                                        </p:tgtEl>
                                        <p:attrNameLst>
                                          <p:attrName>style.visibility</p:attrName>
                                        </p:attrNameLst>
                                      </p:cBhvr>
                                      <p:to>
                                        <p:strVal val="hidden"/>
                                      </p:to>
                                    </p:set>
                                  </p:childTnLst>
                                </p:cTn>
                              </p:par>
                              <p:par>
                                <p:cTn id="391" presetID="1" presetClass="exit" presetSubtype="0" fill="hold" grpId="3" nodeType="withEffect">
                                  <p:stCondLst>
                                    <p:cond delay="0"/>
                                  </p:stCondLst>
                                  <p:childTnLst>
                                    <p:set>
                                      <p:cBhvr>
                                        <p:cTn id="390" dur="1" fill="hold">
                                          <p:stCondLst>
                                            <p:cond delay="0"/>
                                          </p:stCondLst>
                                        </p:cTn>
                                        <p:tgtEl>
                                          <p:spTgt spid="70"/>
                                        </p:tgtEl>
                                        <p:attrNameLst>
                                          <p:attrName>style.visibility</p:attrName>
                                        </p:attrNameLst>
                                      </p:cBhvr>
                                      <p:to>
                                        <p:strVal val="hidden"/>
                                      </p:to>
                                    </p:set>
                                  </p:childTnLst>
                                </p:cTn>
                              </p:par>
                              <p:par>
                                <p:cTn id="393" presetID="1" presetClass="exit" presetSubtype="0" fill="hold" grpId="3" nodeType="withEffect">
                                  <p:stCondLst>
                                    <p:cond delay="0"/>
                                  </p:stCondLst>
                                  <p:childTnLst>
                                    <p:set>
                                      <p:cBhvr>
                                        <p:cTn id="392" dur="1" fill="hold">
                                          <p:stCondLst>
                                            <p:cond delay="0"/>
                                          </p:stCondLst>
                                        </p:cTn>
                                        <p:tgtEl>
                                          <p:spTgt spid="71"/>
                                        </p:tgtEl>
                                        <p:attrNameLst>
                                          <p:attrName>style.visibility</p:attrName>
                                        </p:attrNameLst>
                                      </p:cBhvr>
                                      <p:to>
                                        <p:strVal val="hidden"/>
                                      </p:to>
                                    </p:set>
                                  </p:childTnLst>
                                </p:cTn>
                              </p:par>
                              <p:par>
                                <p:cTn id="395" presetID="1" presetClass="exit" presetSubtype="0" fill="hold" grpId="3" nodeType="withEffect">
                                  <p:stCondLst>
                                    <p:cond delay="0"/>
                                  </p:stCondLst>
                                  <p:childTnLst>
                                    <p:set>
                                      <p:cBhvr>
                                        <p:cTn id="394" dur="1" fill="hold">
                                          <p:stCondLst>
                                            <p:cond delay="0"/>
                                          </p:stCondLst>
                                        </p:cTn>
                                        <p:tgtEl>
                                          <p:spTgt spid="72"/>
                                        </p:tgtEl>
                                        <p:attrNameLst>
                                          <p:attrName>style.visibility</p:attrName>
                                        </p:attrNameLst>
                                      </p:cBhvr>
                                      <p:to>
                                        <p:strVal val="hidden"/>
                                      </p:to>
                                    </p:set>
                                  </p:childTnLst>
                                </p:cTn>
                              </p:par>
                              <p:par>
                                <p:cTn id="397" presetID="1" presetClass="exit" presetSubtype="0" fill="hold" grpId="3" nodeType="withEffect">
                                  <p:stCondLst>
                                    <p:cond delay="0"/>
                                  </p:stCondLst>
                                  <p:childTnLst>
                                    <p:set>
                                      <p:cBhvr>
                                        <p:cTn id="396" dur="1" fill="hold">
                                          <p:stCondLst>
                                            <p:cond delay="0"/>
                                          </p:stCondLst>
                                        </p:cTn>
                                        <p:tgtEl>
                                          <p:spTgt spid="73"/>
                                        </p:tgtEl>
                                        <p:attrNameLst>
                                          <p:attrName>style.visibility</p:attrName>
                                        </p:attrNameLst>
                                      </p:cBhvr>
                                      <p:to>
                                        <p:strVal val="hidden"/>
                                      </p:to>
                                    </p:set>
                                  </p:childTnLst>
                                </p:cTn>
                              </p:par>
                              <p:par>
                                <p:cTn id="399" presetID="1" presetClass="exit" presetSubtype="0" fill="hold" grpId="3" nodeType="withEffect">
                                  <p:stCondLst>
                                    <p:cond delay="0"/>
                                  </p:stCondLst>
                                  <p:childTnLst>
                                    <p:set>
                                      <p:cBhvr>
                                        <p:cTn id="398" dur="1" fill="hold">
                                          <p:stCondLst>
                                            <p:cond delay="0"/>
                                          </p:stCondLst>
                                        </p:cTn>
                                        <p:tgtEl>
                                          <p:spTgt spid="74"/>
                                        </p:tgtEl>
                                        <p:attrNameLst>
                                          <p:attrName>style.visibility</p:attrName>
                                        </p:attrNameLst>
                                      </p:cBhvr>
                                      <p:to>
                                        <p:strVal val="hidden"/>
                                      </p:to>
                                    </p:set>
                                  </p:childTnLst>
                                </p:cTn>
                              </p:par>
                              <p:par>
                                <p:cTn id="401" presetID="1" presetClass="exit" presetSubtype="0" fill="hold" grpId="3" nodeType="withEffect">
                                  <p:stCondLst>
                                    <p:cond delay="0"/>
                                  </p:stCondLst>
                                  <p:childTnLst>
                                    <p:set>
                                      <p:cBhvr>
                                        <p:cTn id="400" dur="1" fill="hold">
                                          <p:stCondLst>
                                            <p:cond delay="0"/>
                                          </p:stCondLst>
                                        </p:cTn>
                                        <p:tgtEl>
                                          <p:spTgt spid="75"/>
                                        </p:tgtEl>
                                        <p:attrNameLst>
                                          <p:attrName>style.visibility</p:attrName>
                                        </p:attrNameLst>
                                      </p:cBhvr>
                                      <p:to>
                                        <p:strVal val="hidden"/>
                                      </p:to>
                                    </p:set>
                                  </p:childTnLst>
                                </p:cTn>
                              </p:par>
                              <p:par>
                                <p:cTn id="403" presetID="1" presetClass="exit" presetSubtype="0" fill="hold" grpId="3" nodeType="withEffect">
                                  <p:stCondLst>
                                    <p:cond delay="0"/>
                                  </p:stCondLst>
                                  <p:childTnLst>
                                    <p:set>
                                      <p:cBhvr>
                                        <p:cTn id="402" dur="1" fill="hold">
                                          <p:stCondLst>
                                            <p:cond delay="0"/>
                                          </p:stCondLst>
                                        </p:cTn>
                                        <p:tgtEl>
                                          <p:spTgt spid="76"/>
                                        </p:tgtEl>
                                        <p:attrNameLst>
                                          <p:attrName>style.visibility</p:attrName>
                                        </p:attrNameLst>
                                      </p:cBhvr>
                                      <p:to>
                                        <p:strVal val="hidden"/>
                                      </p:to>
                                    </p:set>
                                  </p:childTnLst>
                                </p:cTn>
                              </p:par>
                              <p:par>
                                <p:cTn id="405" presetID="1" presetClass="exit" presetSubtype="0" fill="hold" grpId="3" nodeType="withEffect">
                                  <p:stCondLst>
                                    <p:cond delay="0"/>
                                  </p:stCondLst>
                                  <p:childTnLst>
                                    <p:set>
                                      <p:cBhvr>
                                        <p:cTn id="404" dur="1" fill="hold">
                                          <p:stCondLst>
                                            <p:cond delay="0"/>
                                          </p:stCondLst>
                                        </p:cTn>
                                        <p:tgtEl>
                                          <p:spTgt spid="77"/>
                                        </p:tgtEl>
                                        <p:attrNameLst>
                                          <p:attrName>style.visibility</p:attrName>
                                        </p:attrNameLst>
                                      </p:cBhvr>
                                      <p:to>
                                        <p:strVal val="hidden"/>
                                      </p:to>
                                    </p:set>
                                  </p:childTnLst>
                                </p:cTn>
                              </p:par>
                              <p:par>
                                <p:cTn id="407" presetID="1" presetClass="exit" presetSubtype="0" fill="hold" grpId="3" nodeType="withEffect">
                                  <p:stCondLst>
                                    <p:cond delay="0"/>
                                  </p:stCondLst>
                                  <p:childTnLst>
                                    <p:set>
                                      <p:cBhvr>
                                        <p:cTn id="406" dur="1" fill="hold">
                                          <p:stCondLst>
                                            <p:cond delay="0"/>
                                          </p:stCondLst>
                                        </p:cTn>
                                        <p:tgtEl>
                                          <p:spTgt spid="78"/>
                                        </p:tgtEl>
                                        <p:attrNameLst>
                                          <p:attrName>style.visibility</p:attrName>
                                        </p:attrNameLst>
                                      </p:cBhvr>
                                      <p:to>
                                        <p:strVal val="hidden"/>
                                      </p:to>
                                    </p:set>
                                  </p:childTnLst>
                                </p:cTn>
                              </p:par>
                              <p:par>
                                <p:cTn id="409" presetID="1" presetClass="exit" presetSubtype="0" fill="hold" grpId="3" nodeType="withEffect">
                                  <p:stCondLst>
                                    <p:cond delay="0"/>
                                  </p:stCondLst>
                                  <p:childTnLst>
                                    <p:set>
                                      <p:cBhvr>
                                        <p:cTn id="408" dur="1" fill="hold">
                                          <p:stCondLst>
                                            <p:cond delay="0"/>
                                          </p:stCondLst>
                                        </p:cTn>
                                        <p:tgtEl>
                                          <p:spTgt spid="79"/>
                                        </p:tgtEl>
                                        <p:attrNameLst>
                                          <p:attrName>style.visibility</p:attrName>
                                        </p:attrNameLst>
                                      </p:cBhvr>
                                      <p:to>
                                        <p:strVal val="hidden"/>
                                      </p:to>
                                    </p:set>
                                  </p:childTnLst>
                                </p:cTn>
                              </p:par>
                              <p:par>
                                <p:cTn id="411" presetID="1" presetClass="exit" presetSubtype="0" fill="hold" grpId="3" nodeType="withEffect">
                                  <p:stCondLst>
                                    <p:cond delay="0"/>
                                  </p:stCondLst>
                                  <p:childTnLst>
                                    <p:set>
                                      <p:cBhvr>
                                        <p:cTn id="410" dur="1" fill="hold">
                                          <p:stCondLst>
                                            <p:cond delay="0"/>
                                          </p:stCondLst>
                                        </p:cTn>
                                        <p:tgtEl>
                                          <p:spTgt spid="80"/>
                                        </p:tgtEl>
                                        <p:attrNameLst>
                                          <p:attrName>style.visibility</p:attrName>
                                        </p:attrNameLst>
                                      </p:cBhvr>
                                      <p:to>
                                        <p:strVal val="hidden"/>
                                      </p:to>
                                    </p:set>
                                  </p:childTnLst>
                                </p:cTn>
                              </p:par>
                              <p:par>
                                <p:cTn id="413" presetID="1" presetClass="exit" presetSubtype="0" fill="hold" grpId="3" nodeType="withEffect">
                                  <p:stCondLst>
                                    <p:cond delay="0"/>
                                  </p:stCondLst>
                                  <p:childTnLst>
                                    <p:set>
                                      <p:cBhvr>
                                        <p:cTn id="412" dur="1" fill="hold">
                                          <p:stCondLst>
                                            <p:cond delay="0"/>
                                          </p:stCondLst>
                                        </p:cTn>
                                        <p:tgtEl>
                                          <p:spTgt spid="81"/>
                                        </p:tgtEl>
                                        <p:attrNameLst>
                                          <p:attrName>style.visibility</p:attrName>
                                        </p:attrNameLst>
                                      </p:cBhvr>
                                      <p:to>
                                        <p:strVal val="hidden"/>
                                      </p:to>
                                    </p:set>
                                  </p:childTnLst>
                                </p:cTn>
                              </p:par>
                              <p:par>
                                <p:cTn id="415" presetID="1" presetClass="exit" presetSubtype="0" fill="hold" grpId="3" nodeType="withEffect">
                                  <p:stCondLst>
                                    <p:cond delay="0"/>
                                  </p:stCondLst>
                                  <p:childTnLst>
                                    <p:set>
                                      <p:cBhvr>
                                        <p:cTn id="414" dur="1" fill="hold">
                                          <p:stCondLst>
                                            <p:cond delay="0"/>
                                          </p:stCondLst>
                                        </p:cTn>
                                        <p:tgtEl>
                                          <p:spTgt spid="82"/>
                                        </p:tgtEl>
                                        <p:attrNameLst>
                                          <p:attrName>style.visibility</p:attrName>
                                        </p:attrNameLst>
                                      </p:cBhvr>
                                      <p:to>
                                        <p:strVal val="hidden"/>
                                      </p:to>
                                    </p:set>
                                  </p:childTnLst>
                                </p:cTn>
                              </p:par>
                              <p:par>
                                <p:cTn id="417" presetID="1" presetClass="exit" presetSubtype="0" fill="hold" grpId="3" nodeType="withEffect">
                                  <p:stCondLst>
                                    <p:cond delay="0"/>
                                  </p:stCondLst>
                                  <p:childTnLst>
                                    <p:set>
                                      <p:cBhvr>
                                        <p:cTn id="416" dur="1" fill="hold">
                                          <p:stCondLst>
                                            <p:cond delay="0"/>
                                          </p:stCondLst>
                                        </p:cTn>
                                        <p:tgtEl>
                                          <p:spTgt spid="83"/>
                                        </p:tgtEl>
                                        <p:attrNameLst>
                                          <p:attrName>style.visibility</p:attrName>
                                        </p:attrNameLst>
                                      </p:cBhvr>
                                      <p:to>
                                        <p:strVal val="hidden"/>
                                      </p:to>
                                    </p:set>
                                  </p:childTnLst>
                                </p:cTn>
                              </p:par>
                              <p:par>
                                <p:cTn id="419" presetID="1" presetClass="exit" presetSubtype="0" fill="hold" grpId="3" nodeType="withEffect">
                                  <p:stCondLst>
                                    <p:cond delay="0"/>
                                  </p:stCondLst>
                                  <p:childTnLst>
                                    <p:set>
                                      <p:cBhvr>
                                        <p:cTn id="418" dur="1" fill="hold">
                                          <p:stCondLst>
                                            <p:cond delay="0"/>
                                          </p:stCondLst>
                                        </p:cTn>
                                        <p:tgtEl>
                                          <p:spTgt spid="84"/>
                                        </p:tgtEl>
                                        <p:attrNameLst>
                                          <p:attrName>style.visibility</p:attrName>
                                        </p:attrNameLst>
                                      </p:cBhvr>
                                      <p:to>
                                        <p:strVal val="hidden"/>
                                      </p:to>
                                    </p:set>
                                  </p:childTnLst>
                                </p:cTn>
                              </p:par>
                              <p:par>
                                <p:cTn id="421" presetID="1" presetClass="exit" presetSubtype="0" fill="hold" grpId="3" nodeType="withEffect">
                                  <p:stCondLst>
                                    <p:cond delay="0"/>
                                  </p:stCondLst>
                                  <p:childTnLst>
                                    <p:set>
                                      <p:cBhvr>
                                        <p:cTn id="420" dur="1" fill="hold">
                                          <p:stCondLst>
                                            <p:cond delay="0"/>
                                          </p:stCondLst>
                                        </p:cTn>
                                        <p:tgtEl>
                                          <p:spTgt spid="85"/>
                                        </p:tgtEl>
                                        <p:attrNameLst>
                                          <p:attrName>style.visibility</p:attrName>
                                        </p:attrNameLst>
                                      </p:cBhvr>
                                      <p:to>
                                        <p:strVal val="hidden"/>
                                      </p:to>
                                    </p:set>
                                  </p:childTnLst>
                                </p:cTn>
                              </p:par>
                              <p:par>
                                <p:cTn id="423" presetID="1" presetClass="exit" presetSubtype="0" fill="hold" grpId="3" nodeType="withEffect">
                                  <p:stCondLst>
                                    <p:cond delay="0"/>
                                  </p:stCondLst>
                                  <p:childTnLst>
                                    <p:set>
                                      <p:cBhvr>
                                        <p:cTn id="422" dur="1" fill="hold">
                                          <p:stCondLst>
                                            <p:cond delay="0"/>
                                          </p:stCondLst>
                                        </p:cTn>
                                        <p:tgtEl>
                                          <p:spTgt spid="86"/>
                                        </p:tgtEl>
                                        <p:attrNameLst>
                                          <p:attrName>style.visibility</p:attrName>
                                        </p:attrNameLst>
                                      </p:cBhvr>
                                      <p:to>
                                        <p:strVal val="hidden"/>
                                      </p:to>
                                    </p:set>
                                  </p:childTnLst>
                                </p:cTn>
                              </p:par>
                              <p:par>
                                <p:cTn id="425" presetID="1" presetClass="exit" presetSubtype="0" fill="hold" grpId="3" nodeType="withEffect">
                                  <p:stCondLst>
                                    <p:cond delay="0"/>
                                  </p:stCondLst>
                                  <p:childTnLst>
                                    <p:set>
                                      <p:cBhvr>
                                        <p:cTn id="424" dur="1" fill="hold">
                                          <p:stCondLst>
                                            <p:cond delay="0"/>
                                          </p:stCondLst>
                                        </p:cTn>
                                        <p:tgtEl>
                                          <p:spTgt spid="87"/>
                                        </p:tgtEl>
                                        <p:attrNameLst>
                                          <p:attrName>style.visibility</p:attrName>
                                        </p:attrNameLst>
                                      </p:cBhvr>
                                      <p:to>
                                        <p:strVal val="hidden"/>
                                      </p:to>
                                    </p:set>
                                  </p:childTnLst>
                                </p:cTn>
                              </p:par>
                              <p:par>
                                <p:cTn id="427" presetID="1" presetClass="exit" presetSubtype="0" fill="hold" grpId="3" nodeType="withEffect">
                                  <p:stCondLst>
                                    <p:cond delay="0"/>
                                  </p:stCondLst>
                                  <p:childTnLst>
                                    <p:set>
                                      <p:cBhvr>
                                        <p:cTn id="426" dur="1" fill="hold">
                                          <p:stCondLst>
                                            <p:cond delay="0"/>
                                          </p:stCondLst>
                                        </p:cTn>
                                        <p:tgtEl>
                                          <p:spTgt spid="88"/>
                                        </p:tgtEl>
                                        <p:attrNameLst>
                                          <p:attrName>style.visibility</p:attrName>
                                        </p:attrNameLst>
                                      </p:cBhvr>
                                      <p:to>
                                        <p:strVal val="hidden"/>
                                      </p:to>
                                    </p:set>
                                  </p:childTnLst>
                                </p:cTn>
                              </p:par>
                              <p:par>
                                <p:cTn id="429" presetID="1" presetClass="exit" presetSubtype="0" fill="hold" grpId="3" nodeType="withEffect">
                                  <p:stCondLst>
                                    <p:cond delay="0"/>
                                  </p:stCondLst>
                                  <p:childTnLst>
                                    <p:set>
                                      <p:cBhvr>
                                        <p:cTn id="428" dur="1" fill="hold">
                                          <p:stCondLst>
                                            <p:cond delay="0"/>
                                          </p:stCondLst>
                                        </p:cTn>
                                        <p:tgtEl>
                                          <p:spTgt spid="89"/>
                                        </p:tgtEl>
                                        <p:attrNameLst>
                                          <p:attrName>style.visibility</p:attrName>
                                        </p:attrNameLst>
                                      </p:cBhvr>
                                      <p:to>
                                        <p:strVal val="hidden"/>
                                      </p:to>
                                    </p:set>
                                  </p:childTnLst>
                                </p:cTn>
                              </p:par>
                              <p:par>
                                <p:cTn id="431" presetID="1" presetClass="exit" presetSubtype="0" fill="hold" grpId="3" nodeType="withEffect">
                                  <p:stCondLst>
                                    <p:cond delay="0"/>
                                  </p:stCondLst>
                                  <p:childTnLst>
                                    <p:set>
                                      <p:cBhvr>
                                        <p:cTn id="430" dur="1" fill="hold">
                                          <p:stCondLst>
                                            <p:cond delay="0"/>
                                          </p:stCondLst>
                                        </p:cTn>
                                        <p:tgtEl>
                                          <p:spTgt spid="90"/>
                                        </p:tgtEl>
                                        <p:attrNameLst>
                                          <p:attrName>style.visibility</p:attrName>
                                        </p:attrNameLst>
                                      </p:cBhvr>
                                      <p:to>
                                        <p:strVal val="hidden"/>
                                      </p:to>
                                    </p:set>
                                  </p:childTnLst>
                                </p:cTn>
                              </p:par>
                              <p:par>
                                <p:cTn id="433" presetID="1" presetClass="exit" presetSubtype="0" fill="hold" grpId="3" nodeType="withEffect">
                                  <p:stCondLst>
                                    <p:cond delay="0"/>
                                  </p:stCondLst>
                                  <p:childTnLst>
                                    <p:set>
                                      <p:cBhvr>
                                        <p:cTn id="432" dur="1" fill="hold">
                                          <p:stCondLst>
                                            <p:cond delay="0"/>
                                          </p:stCondLst>
                                        </p:cTn>
                                        <p:tgtEl>
                                          <p:spTgt spid="91"/>
                                        </p:tgtEl>
                                        <p:attrNameLst>
                                          <p:attrName>style.visibility</p:attrName>
                                        </p:attrNameLst>
                                      </p:cBhvr>
                                      <p:to>
                                        <p:strVal val="hidden"/>
                                      </p:to>
                                    </p:set>
                                  </p:childTnLst>
                                </p:cTn>
                              </p:par>
                              <p:par>
                                <p:cTn id="435" presetID="1" presetClass="exit" presetSubtype="0" fill="hold" grpId="3" nodeType="withEffect">
                                  <p:stCondLst>
                                    <p:cond delay="0"/>
                                  </p:stCondLst>
                                  <p:childTnLst>
                                    <p:set>
                                      <p:cBhvr>
                                        <p:cTn id="434" dur="1" fill="hold">
                                          <p:stCondLst>
                                            <p:cond delay="0"/>
                                          </p:stCondLst>
                                        </p:cTn>
                                        <p:tgtEl>
                                          <p:spTgt spid="92"/>
                                        </p:tgtEl>
                                        <p:attrNameLst>
                                          <p:attrName>style.visibility</p:attrName>
                                        </p:attrNameLst>
                                      </p:cBhvr>
                                      <p:to>
                                        <p:strVal val="hidden"/>
                                      </p:to>
                                    </p:set>
                                  </p:childTnLst>
                                </p:cTn>
                              </p:par>
                              <p:par>
                                <p:cTn id="437" presetID="1" presetClass="exit" presetSubtype="0" fill="hold" grpId="3" nodeType="withEffect">
                                  <p:stCondLst>
                                    <p:cond delay="0"/>
                                  </p:stCondLst>
                                  <p:childTnLst>
                                    <p:set>
                                      <p:cBhvr>
                                        <p:cTn id="436" dur="1" fill="hold">
                                          <p:stCondLst>
                                            <p:cond delay="0"/>
                                          </p:stCondLst>
                                        </p:cTn>
                                        <p:tgtEl>
                                          <p:spTgt spid="93"/>
                                        </p:tgtEl>
                                        <p:attrNameLst>
                                          <p:attrName>style.visibility</p:attrName>
                                        </p:attrNameLst>
                                      </p:cBhvr>
                                      <p:to>
                                        <p:strVal val="hidden"/>
                                      </p:to>
                                    </p:set>
                                  </p:childTnLst>
                                </p:cTn>
                              </p:par>
                              <p:par>
                                <p:cTn id="439" presetID="1" presetClass="exit" presetSubtype="0" fill="hold" grpId="3" nodeType="withEffect">
                                  <p:stCondLst>
                                    <p:cond delay="0"/>
                                  </p:stCondLst>
                                  <p:childTnLst>
                                    <p:set>
                                      <p:cBhvr>
                                        <p:cTn id="438" dur="1" fill="hold">
                                          <p:stCondLst>
                                            <p:cond delay="0"/>
                                          </p:stCondLst>
                                        </p:cTn>
                                        <p:tgtEl>
                                          <p:spTgt spid="94"/>
                                        </p:tgtEl>
                                        <p:attrNameLst>
                                          <p:attrName>style.visibility</p:attrName>
                                        </p:attrNameLst>
                                      </p:cBhvr>
                                      <p:to>
                                        <p:strVal val="hidden"/>
                                      </p:to>
                                    </p:set>
                                  </p:childTnLst>
                                </p:cTn>
                              </p:par>
                              <p:par>
                                <p:cTn id="441" presetID="1" presetClass="exit" presetSubtype="0" fill="hold" grpId="3" nodeType="withEffect">
                                  <p:stCondLst>
                                    <p:cond delay="0"/>
                                  </p:stCondLst>
                                  <p:childTnLst>
                                    <p:set>
                                      <p:cBhvr>
                                        <p:cTn id="440" dur="1" fill="hold">
                                          <p:stCondLst>
                                            <p:cond delay="0"/>
                                          </p:stCondLst>
                                        </p:cTn>
                                        <p:tgtEl>
                                          <p:spTgt spid="95"/>
                                        </p:tgtEl>
                                        <p:attrNameLst>
                                          <p:attrName>style.visibility</p:attrName>
                                        </p:attrNameLst>
                                      </p:cBhvr>
                                      <p:to>
                                        <p:strVal val="hidden"/>
                                      </p:to>
                                    </p:set>
                                  </p:childTnLst>
                                </p:cTn>
                              </p:par>
                              <p:par>
                                <p:cTn id="443" presetID="1" presetClass="exit" presetSubtype="0" fill="hold" grpId="3" nodeType="withEffect">
                                  <p:stCondLst>
                                    <p:cond delay="0"/>
                                  </p:stCondLst>
                                  <p:childTnLst>
                                    <p:set>
                                      <p:cBhvr>
                                        <p:cTn id="442" dur="1" fill="hold">
                                          <p:stCondLst>
                                            <p:cond delay="0"/>
                                          </p:stCondLst>
                                        </p:cTn>
                                        <p:tgtEl>
                                          <p:spTgt spid="96"/>
                                        </p:tgtEl>
                                        <p:attrNameLst>
                                          <p:attrName>style.visibility</p:attrName>
                                        </p:attrNameLst>
                                      </p:cBhvr>
                                      <p:to>
                                        <p:strVal val="hidden"/>
                                      </p:to>
                                    </p:set>
                                  </p:childTnLst>
                                </p:cTn>
                              </p:par>
                              <p:par>
                                <p:cTn id="445" presetID="1" presetClass="exit" presetSubtype="0" fill="hold" grpId="3" nodeType="withEffect">
                                  <p:stCondLst>
                                    <p:cond delay="0"/>
                                  </p:stCondLst>
                                  <p:childTnLst>
                                    <p:set>
                                      <p:cBhvr>
                                        <p:cTn id="444" dur="1" fill="hold">
                                          <p:stCondLst>
                                            <p:cond delay="0"/>
                                          </p:stCondLst>
                                        </p:cTn>
                                        <p:tgtEl>
                                          <p:spTgt spid="97"/>
                                        </p:tgtEl>
                                        <p:attrNameLst>
                                          <p:attrName>style.visibility</p:attrName>
                                        </p:attrNameLst>
                                      </p:cBhvr>
                                      <p:to>
                                        <p:strVal val="hidden"/>
                                      </p:to>
                                    </p:set>
                                  </p:childTnLst>
                                </p:cTn>
                              </p:par>
                              <p:par>
                                <p:cTn id="447" presetID="1" presetClass="exit" presetSubtype="0" fill="hold" grpId="3" nodeType="withEffect">
                                  <p:stCondLst>
                                    <p:cond delay="0"/>
                                  </p:stCondLst>
                                  <p:childTnLst>
                                    <p:set>
                                      <p:cBhvr>
                                        <p:cTn id="446" dur="1" fill="hold">
                                          <p:stCondLst>
                                            <p:cond delay="0"/>
                                          </p:stCondLst>
                                        </p:cTn>
                                        <p:tgtEl>
                                          <p:spTgt spid="98"/>
                                        </p:tgtEl>
                                        <p:attrNameLst>
                                          <p:attrName>style.visibility</p:attrName>
                                        </p:attrNameLst>
                                      </p:cBhvr>
                                      <p:to>
                                        <p:strVal val="hidden"/>
                                      </p:to>
                                    </p:set>
                                  </p:childTnLst>
                                </p:cTn>
                              </p:par>
                              <p:par>
                                <p:cTn id="449" presetID="1" presetClass="exit" presetSubtype="0" fill="hold" grpId="3" nodeType="withEffect">
                                  <p:stCondLst>
                                    <p:cond delay="0"/>
                                  </p:stCondLst>
                                  <p:childTnLst>
                                    <p:set>
                                      <p:cBhvr>
                                        <p:cTn id="448" dur="1" fill="hold">
                                          <p:stCondLst>
                                            <p:cond delay="0"/>
                                          </p:stCondLst>
                                        </p:cTn>
                                        <p:tgtEl>
                                          <p:spTgt spid="99"/>
                                        </p:tgtEl>
                                        <p:attrNameLst>
                                          <p:attrName>style.visibility</p:attrName>
                                        </p:attrNameLst>
                                      </p:cBhvr>
                                      <p:to>
                                        <p:strVal val="hidden"/>
                                      </p:to>
                                    </p:set>
                                  </p:childTnLst>
                                </p:cTn>
                              </p:par>
                              <p:par>
                                <p:cTn id="451" presetID="1" presetClass="exit" presetSubtype="0" fill="hold" grpId="3" nodeType="withEffect">
                                  <p:stCondLst>
                                    <p:cond delay="0"/>
                                  </p:stCondLst>
                                  <p:childTnLst>
                                    <p:set>
                                      <p:cBhvr>
                                        <p:cTn id="450" dur="1" fill="hold">
                                          <p:stCondLst>
                                            <p:cond delay="0"/>
                                          </p:stCondLst>
                                        </p:cTn>
                                        <p:tgtEl>
                                          <p:spTgt spid="100"/>
                                        </p:tgtEl>
                                        <p:attrNameLst>
                                          <p:attrName>style.visibility</p:attrName>
                                        </p:attrNameLst>
                                      </p:cBhvr>
                                      <p:to>
                                        <p:strVal val="hidden"/>
                                      </p:to>
                                    </p:set>
                                  </p:childTnLst>
                                </p:cTn>
                              </p:par>
                              <p:par>
                                <p:cTn id="453" presetID="1" presetClass="entr" presetSubtype="0" fill="hold" grpId="3" nodeType="withEffect">
                                  <p:stCondLst>
                                    <p:cond delay="0"/>
                                  </p:stCondLst>
                                  <p:childTnLst>
                                    <p:set>
                                      <p:cBhvr>
                                        <p:cTn id="452" dur="1" fill="hold">
                                          <p:stCondLst>
                                            <p:cond delay="0"/>
                                          </p:stCondLst>
                                        </p:cTn>
                                        <p:tgtEl>
                                          <p:spTgt spid="101"/>
                                        </p:tgtEl>
                                        <p:attrNameLst>
                                          <p:attrName>style.visibility</p:attrName>
                                        </p:attrNameLst>
                                      </p:cBhvr>
                                      <p:to>
                                        <p:strVal val="visible"/>
                                      </p:to>
                                    </p:set>
                                  </p:childTnLst>
                                </p:cTn>
                              </p:par>
                              <p:par>
                                <p:cTn id="455" presetID="1" presetClass="entr" presetSubtype="0" fill="hold" grpId="3" nodeType="withEffect">
                                  <p:stCondLst>
                                    <p:cond delay="0"/>
                                  </p:stCondLst>
                                  <p:childTnLst>
                                    <p:set>
                                      <p:cBhvr>
                                        <p:cTn id="454" dur="1" fill="hold">
                                          <p:stCondLst>
                                            <p:cond delay="0"/>
                                          </p:stCondLst>
                                        </p:cTn>
                                        <p:tgtEl>
                                          <p:spTgt spid="102"/>
                                        </p:tgtEl>
                                        <p:attrNameLst>
                                          <p:attrName>style.visibility</p:attrName>
                                        </p:attrNameLst>
                                      </p:cBhvr>
                                      <p:to>
                                        <p:strVal val="visible"/>
                                      </p:to>
                                    </p:set>
                                  </p:childTnLst>
                                </p:cTn>
                              </p:par>
                              <p:par>
                                <p:cTn id="457" presetID="1" presetClass="entr" presetSubtype="0" fill="hold" grpId="3" nodeType="withEffect">
                                  <p:stCondLst>
                                    <p:cond delay="0"/>
                                  </p:stCondLst>
                                  <p:childTnLst>
                                    <p:set>
                                      <p:cBhvr>
                                        <p:cTn id="456" dur="1" fill="hold">
                                          <p:stCondLst>
                                            <p:cond delay="0"/>
                                          </p:stCondLst>
                                        </p:cTn>
                                        <p:tgtEl>
                                          <p:spTgt spid="103"/>
                                        </p:tgtEl>
                                        <p:attrNameLst>
                                          <p:attrName>style.visibility</p:attrName>
                                        </p:attrNameLst>
                                      </p:cBhvr>
                                      <p:to>
                                        <p:strVal val="visible"/>
                                      </p:to>
                                    </p:set>
                                  </p:childTnLst>
                                </p:cTn>
                              </p:par>
                              <p:par>
                                <p:cTn id="459" presetID="1" presetClass="entr" presetSubtype="0" fill="hold" grpId="3" nodeType="withEffect">
                                  <p:stCondLst>
                                    <p:cond delay="0"/>
                                  </p:stCondLst>
                                  <p:childTnLst>
                                    <p:set>
                                      <p:cBhvr>
                                        <p:cTn id="458" dur="1" fill="hold">
                                          <p:stCondLst>
                                            <p:cond delay="0"/>
                                          </p:stCondLst>
                                        </p:cTn>
                                        <p:tgtEl>
                                          <p:spTgt spid="104"/>
                                        </p:tgtEl>
                                        <p:attrNameLst>
                                          <p:attrName>style.visibility</p:attrName>
                                        </p:attrNameLst>
                                      </p:cBhvr>
                                      <p:to>
                                        <p:strVal val="visible"/>
                                      </p:to>
                                    </p:set>
                                  </p:childTnLst>
                                </p:cTn>
                              </p:par>
                              <p:par>
                                <p:cTn id="461" presetID="1" presetClass="entr" presetSubtype="0" fill="hold" grpId="3" nodeType="withEffect">
                                  <p:stCondLst>
                                    <p:cond delay="0"/>
                                  </p:stCondLst>
                                  <p:childTnLst>
                                    <p:set>
                                      <p:cBhvr>
                                        <p:cTn id="460" dur="1" fill="hold">
                                          <p:stCondLst>
                                            <p:cond delay="0"/>
                                          </p:stCondLst>
                                        </p:cTn>
                                        <p:tgtEl>
                                          <p:spTgt spid="105"/>
                                        </p:tgtEl>
                                        <p:attrNameLst>
                                          <p:attrName>style.visibility</p:attrName>
                                        </p:attrNameLst>
                                      </p:cBhvr>
                                      <p:to>
                                        <p:strVal val="visible"/>
                                      </p:to>
                                    </p:set>
                                  </p:childTnLst>
                                </p:cTn>
                              </p:par>
                              <p:par>
                                <p:cTn id="463" presetID="1" presetClass="entr" presetSubtype="0" fill="hold" grpId="3" nodeType="withEffect">
                                  <p:stCondLst>
                                    <p:cond delay="0"/>
                                  </p:stCondLst>
                                  <p:childTnLst>
                                    <p:set>
                                      <p:cBhvr>
                                        <p:cTn id="462" dur="1" fill="hold">
                                          <p:stCondLst>
                                            <p:cond delay="0"/>
                                          </p:stCondLst>
                                        </p:cTn>
                                        <p:tgtEl>
                                          <p:spTgt spid="106"/>
                                        </p:tgtEl>
                                        <p:attrNameLst>
                                          <p:attrName>style.visibility</p:attrName>
                                        </p:attrNameLst>
                                      </p:cBhvr>
                                      <p:to>
                                        <p:strVal val="visible"/>
                                      </p:to>
                                    </p:set>
                                  </p:childTnLst>
                                </p:cTn>
                              </p:par>
                              <p:par>
                                <p:cTn id="465" presetID="1" presetClass="entr" presetSubtype="0" fill="hold" grpId="3" nodeType="withEffect">
                                  <p:stCondLst>
                                    <p:cond delay="0"/>
                                  </p:stCondLst>
                                  <p:childTnLst>
                                    <p:set>
                                      <p:cBhvr>
                                        <p:cTn id="464" dur="1" fill="hold">
                                          <p:stCondLst>
                                            <p:cond delay="0"/>
                                          </p:stCondLst>
                                        </p:cTn>
                                        <p:tgtEl>
                                          <p:spTgt spid="107"/>
                                        </p:tgtEl>
                                        <p:attrNameLst>
                                          <p:attrName>style.visibility</p:attrName>
                                        </p:attrNameLst>
                                      </p:cBhvr>
                                      <p:to>
                                        <p:strVal val="visible"/>
                                      </p:to>
                                    </p:set>
                                  </p:childTnLst>
                                </p:cTn>
                              </p:par>
                              <p:par>
                                <p:cTn id="467" presetID="1" presetClass="entr" presetSubtype="0" fill="hold" grpId="3" nodeType="withEffect">
                                  <p:stCondLst>
                                    <p:cond delay="0"/>
                                  </p:stCondLst>
                                  <p:childTnLst>
                                    <p:set>
                                      <p:cBhvr>
                                        <p:cTn id="466" dur="1" fill="hold">
                                          <p:stCondLst>
                                            <p:cond delay="0"/>
                                          </p:stCondLst>
                                        </p:cTn>
                                        <p:tgtEl>
                                          <p:spTgt spid="108"/>
                                        </p:tgtEl>
                                        <p:attrNameLst>
                                          <p:attrName>style.visibility</p:attrName>
                                        </p:attrNameLst>
                                      </p:cBhvr>
                                      <p:to>
                                        <p:strVal val="visible"/>
                                      </p:to>
                                    </p:set>
                                  </p:childTnLst>
                                </p:cTn>
                              </p:par>
                              <p:par>
                                <p:cTn id="469" presetID="1" presetClass="entr" presetSubtype="0" fill="hold" grpId="3" nodeType="withEffect">
                                  <p:stCondLst>
                                    <p:cond delay="0"/>
                                  </p:stCondLst>
                                  <p:childTnLst>
                                    <p:set>
                                      <p:cBhvr>
                                        <p:cTn id="468" dur="1" fill="hold">
                                          <p:stCondLst>
                                            <p:cond delay="0"/>
                                          </p:stCondLst>
                                        </p:cTn>
                                        <p:tgtEl>
                                          <p:spTgt spid="109"/>
                                        </p:tgtEl>
                                        <p:attrNameLst>
                                          <p:attrName>style.visibility</p:attrName>
                                        </p:attrNameLst>
                                      </p:cBhvr>
                                      <p:to>
                                        <p:strVal val="visible"/>
                                      </p:to>
                                    </p:set>
                                  </p:childTnLst>
                                </p:cTn>
                              </p:par>
                              <p:par>
                                <p:cTn id="471" presetID="1" presetClass="entr" presetSubtype="0" fill="hold" grpId="3" nodeType="withEffect">
                                  <p:stCondLst>
                                    <p:cond delay="0"/>
                                  </p:stCondLst>
                                  <p:childTnLst>
                                    <p:set>
                                      <p:cBhvr>
                                        <p:cTn id="470" dur="1" fill="hold">
                                          <p:stCondLst>
                                            <p:cond delay="0"/>
                                          </p:stCondLst>
                                        </p:cTn>
                                        <p:tgtEl>
                                          <p:spTgt spid="110"/>
                                        </p:tgtEl>
                                        <p:attrNameLst>
                                          <p:attrName>style.visibility</p:attrName>
                                        </p:attrNameLst>
                                      </p:cBhvr>
                                      <p:to>
                                        <p:strVal val="visible"/>
                                      </p:to>
                                    </p:set>
                                  </p:childTnLst>
                                </p:cTn>
                              </p:par>
                              <p:par>
                                <p:cTn id="473" presetID="1" presetClass="entr" presetSubtype="0" fill="hold" grpId="3" nodeType="withEffect">
                                  <p:stCondLst>
                                    <p:cond delay="0"/>
                                  </p:stCondLst>
                                  <p:childTnLst>
                                    <p:set>
                                      <p:cBhvr>
                                        <p:cTn id="472" dur="1" fill="hold">
                                          <p:stCondLst>
                                            <p:cond delay="0"/>
                                          </p:stCondLst>
                                        </p:cTn>
                                        <p:tgtEl>
                                          <p:spTgt spid="111"/>
                                        </p:tgtEl>
                                        <p:attrNameLst>
                                          <p:attrName>style.visibility</p:attrName>
                                        </p:attrNameLst>
                                      </p:cBhvr>
                                      <p:to>
                                        <p:strVal val="visible"/>
                                      </p:to>
                                    </p:set>
                                  </p:childTnLst>
                                </p:cTn>
                              </p:par>
                              <p:par>
                                <p:cTn id="475" presetID="1" presetClass="entr" presetSubtype="0" fill="hold" grpId="3" nodeType="withEffect">
                                  <p:stCondLst>
                                    <p:cond delay="0"/>
                                  </p:stCondLst>
                                  <p:childTnLst>
                                    <p:set>
                                      <p:cBhvr>
                                        <p:cTn id="474" dur="1" fill="hold">
                                          <p:stCondLst>
                                            <p:cond delay="0"/>
                                          </p:stCondLst>
                                        </p:cTn>
                                        <p:tgtEl>
                                          <p:spTgt spid="112"/>
                                        </p:tgtEl>
                                        <p:attrNameLst>
                                          <p:attrName>style.visibility</p:attrName>
                                        </p:attrNameLst>
                                      </p:cBhvr>
                                      <p:to>
                                        <p:strVal val="visible"/>
                                      </p:to>
                                    </p:set>
                                  </p:childTnLst>
                                </p:cTn>
                              </p:par>
                              <p:par>
                                <p:cTn id="477" presetID="1" presetClass="entr" presetSubtype="0" fill="hold" grpId="3" nodeType="withEffect">
                                  <p:stCondLst>
                                    <p:cond delay="0"/>
                                  </p:stCondLst>
                                  <p:childTnLst>
                                    <p:set>
                                      <p:cBhvr>
                                        <p:cTn id="476" dur="1" fill="hold">
                                          <p:stCondLst>
                                            <p:cond delay="0"/>
                                          </p:stCondLst>
                                        </p:cTn>
                                        <p:tgtEl>
                                          <p:spTgt spid="113"/>
                                        </p:tgtEl>
                                        <p:attrNameLst>
                                          <p:attrName>style.visibility</p:attrName>
                                        </p:attrNameLst>
                                      </p:cBhvr>
                                      <p:to>
                                        <p:strVal val="visible"/>
                                      </p:to>
                                    </p:set>
                                  </p:childTnLst>
                                </p:cTn>
                              </p:par>
                              <p:par>
                                <p:cTn id="479" presetID="1" presetClass="entr" presetSubtype="0" fill="hold" grpId="3" nodeType="withEffect">
                                  <p:stCondLst>
                                    <p:cond delay="0"/>
                                  </p:stCondLst>
                                  <p:childTnLst>
                                    <p:set>
                                      <p:cBhvr>
                                        <p:cTn id="478" dur="1" fill="hold">
                                          <p:stCondLst>
                                            <p:cond delay="0"/>
                                          </p:stCondLst>
                                        </p:cTn>
                                        <p:tgtEl>
                                          <p:spTgt spid="114"/>
                                        </p:tgtEl>
                                        <p:attrNameLst>
                                          <p:attrName>style.visibility</p:attrName>
                                        </p:attrNameLst>
                                      </p:cBhvr>
                                      <p:to>
                                        <p:strVal val="visible"/>
                                      </p:to>
                                    </p:set>
                                  </p:childTnLst>
                                </p:cTn>
                              </p:par>
                              <p:par>
                                <p:cTn id="481" presetID="1" presetClass="entr" presetSubtype="0" fill="hold" grpId="3" nodeType="withEffect">
                                  <p:stCondLst>
                                    <p:cond delay="0"/>
                                  </p:stCondLst>
                                  <p:childTnLst>
                                    <p:set>
                                      <p:cBhvr>
                                        <p:cTn id="480" dur="1" fill="hold">
                                          <p:stCondLst>
                                            <p:cond delay="0"/>
                                          </p:stCondLst>
                                        </p:cTn>
                                        <p:tgtEl>
                                          <p:spTgt spid="115"/>
                                        </p:tgtEl>
                                        <p:attrNameLst>
                                          <p:attrName>style.visibility</p:attrName>
                                        </p:attrNameLst>
                                      </p:cBhvr>
                                      <p:to>
                                        <p:strVal val="visible"/>
                                      </p:to>
                                    </p:set>
                                  </p:childTnLst>
                                </p:cTn>
                              </p:par>
                              <p:par>
                                <p:cTn id="483" presetID="1" presetClass="entr" presetSubtype="0" fill="hold" grpId="3" nodeType="withEffect">
                                  <p:stCondLst>
                                    <p:cond delay="0"/>
                                  </p:stCondLst>
                                  <p:childTnLst>
                                    <p:set>
                                      <p:cBhvr>
                                        <p:cTn id="482" dur="1" fill="hold">
                                          <p:stCondLst>
                                            <p:cond delay="0"/>
                                          </p:stCondLst>
                                        </p:cTn>
                                        <p:tgtEl>
                                          <p:spTgt spid="116"/>
                                        </p:tgtEl>
                                        <p:attrNameLst>
                                          <p:attrName>style.visibility</p:attrName>
                                        </p:attrNameLst>
                                      </p:cBhvr>
                                      <p:to>
                                        <p:strVal val="visible"/>
                                      </p:to>
                                    </p:set>
                                  </p:childTnLst>
                                </p:cTn>
                              </p:par>
                              <p:par>
                                <p:cTn id="485" presetID="1" presetClass="entr" presetSubtype="0" fill="hold" grpId="3" nodeType="withEffect">
                                  <p:stCondLst>
                                    <p:cond delay="0"/>
                                  </p:stCondLst>
                                  <p:childTnLst>
                                    <p:set>
                                      <p:cBhvr>
                                        <p:cTn id="484" dur="1" fill="hold">
                                          <p:stCondLst>
                                            <p:cond delay="0"/>
                                          </p:stCondLst>
                                        </p:cTn>
                                        <p:tgtEl>
                                          <p:spTgt spid="117"/>
                                        </p:tgtEl>
                                        <p:attrNameLst>
                                          <p:attrName>style.visibility</p:attrName>
                                        </p:attrNameLst>
                                      </p:cBhvr>
                                      <p:to>
                                        <p:strVal val="visible"/>
                                      </p:to>
                                    </p:set>
                                  </p:childTnLst>
                                </p:cTn>
                              </p:par>
                              <p:par>
                                <p:cTn id="487" presetID="1" presetClass="entr" presetSubtype="0" fill="hold" grpId="3" nodeType="withEffect">
                                  <p:stCondLst>
                                    <p:cond delay="0"/>
                                  </p:stCondLst>
                                  <p:childTnLst>
                                    <p:set>
                                      <p:cBhvr>
                                        <p:cTn id="486" dur="1" fill="hold">
                                          <p:stCondLst>
                                            <p:cond delay="0"/>
                                          </p:stCondLst>
                                        </p:cTn>
                                        <p:tgtEl>
                                          <p:spTgt spid="118"/>
                                        </p:tgtEl>
                                        <p:attrNameLst>
                                          <p:attrName>style.visibility</p:attrName>
                                        </p:attrNameLst>
                                      </p:cBhvr>
                                      <p:to>
                                        <p:strVal val="visible"/>
                                      </p:to>
                                    </p:set>
                                  </p:childTnLst>
                                </p:cTn>
                              </p:par>
                              <p:par>
                                <p:cTn id="489" presetID="1" presetClass="entr" presetSubtype="0" fill="hold" grpId="3" nodeType="withEffect">
                                  <p:stCondLst>
                                    <p:cond delay="0"/>
                                  </p:stCondLst>
                                  <p:childTnLst>
                                    <p:set>
                                      <p:cBhvr>
                                        <p:cTn id="488" dur="1" fill="hold">
                                          <p:stCondLst>
                                            <p:cond delay="0"/>
                                          </p:stCondLst>
                                        </p:cTn>
                                        <p:tgtEl>
                                          <p:spTgt spid="119"/>
                                        </p:tgtEl>
                                        <p:attrNameLst>
                                          <p:attrName>style.visibility</p:attrName>
                                        </p:attrNameLst>
                                      </p:cBhvr>
                                      <p:to>
                                        <p:strVal val="visible"/>
                                      </p:to>
                                    </p:set>
                                  </p:childTnLst>
                                </p:cTn>
                              </p:par>
                              <p:par>
                                <p:cTn id="491" presetID="1" presetClass="entr" presetSubtype="0" fill="hold" grpId="3" nodeType="withEffect">
                                  <p:stCondLst>
                                    <p:cond delay="0"/>
                                  </p:stCondLst>
                                  <p:childTnLst>
                                    <p:set>
                                      <p:cBhvr>
                                        <p:cTn id="490" dur="1" fill="hold">
                                          <p:stCondLst>
                                            <p:cond delay="0"/>
                                          </p:stCondLst>
                                        </p:cTn>
                                        <p:tgtEl>
                                          <p:spTgt spid="120"/>
                                        </p:tgtEl>
                                        <p:attrNameLst>
                                          <p:attrName>style.visibility</p:attrName>
                                        </p:attrNameLst>
                                      </p:cBhvr>
                                      <p:to>
                                        <p:strVal val="visible"/>
                                      </p:to>
                                    </p:set>
                                  </p:childTnLst>
                                </p:cTn>
                              </p:par>
                            </p:childTnLst>
                          </p:cTn>
                        </p:par>
                      </p:childTnLst>
                    </p:cTn>
                  </p:par>
                </p:childTnLst>
              </p:cTn>
              <p:nextCondLst>
                <p:cond evt="onClick" delay="0">
                  <p:tgtEl>
                    <p:spTgt spid="12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AFB"/>
        </a:solidFill>
      </p:bgPr>
    </p:bg>
    <p:spTree>
      <p:nvGrpSpPr>
        <p:cNvPr id="1" name=""/>
        <p:cNvGrpSpPr/>
        <p:nvPr/>
      </p:nvGrpSpPr>
      <p:grpSpPr>
        <a:xfrm>
          <a:off x="0" y="0"/>
          <a:ext cx="0" cy="0"/>
          <a:chOff x="0" y="0"/>
          <a:chExt cx="0" cy="0"/>
        </a:xfrm>
      </p:grpSpPr>
      <p:pic>
        <p:nvPicPr>
          <p:cNvPr id="2" name="!!bg" descr="/home/claude/pitch/a/bg.jpg">    </p:cNvPr>
          <p:cNvPicPr>
            <a:picLocks noChangeAspect="1"/>
          </p:cNvPicPr>
          <p:nvPr/>
        </p:nvPicPr>
        <p:blipFill>
          <a:blip r:embed="rId1"/>
          <a:stretch>
            <a:fillRect/>
          </a:stretch>
        </p:blipFill>
        <p:spPr>
          <a:xfrm>
            <a:off x="0" y="0"/>
            <a:ext cx="12191695" cy="6858000"/>
          </a:xfrm>
          <a:prstGeom prst="rect">
            <a:avLst/>
          </a:prstGeom>
        </p:spPr>
      </p:pic>
      <p:sp>
        <p:nvSpPr>
          <p:cNvPr id="3" name="!!frame"/>
          <p:cNvSpPr/>
          <p:nvPr/>
        </p:nvSpPr>
        <p:spPr>
          <a:xfrm>
            <a:off x="182880" y="182880"/>
            <a:ext cx="11823192" cy="6492240"/>
          </a:xfrm>
          <a:prstGeom prst="roundRect">
            <a:avLst>
              <a:gd name="adj" fmla="val 2817"/>
            </a:avLst>
          </a:prstGeom>
          <a:ln w="28575">
            <a:solidFill>
              <a:srgbClr val="7F79B6"/>
            </a:solidFill>
            <a:prstDash val="solid"/>
          </a:ln>
        </p:spPr>
      </p:sp>
      <p:pic>
        <p:nvPicPr>
          <p:cNvPr id="4" name="!!logo-jain" descr="/home/claude/pitch/a/logo_jain.png">    </p:cNvPr>
          <p:cNvPicPr>
            <a:picLocks noChangeAspect="1"/>
          </p:cNvPicPr>
          <p:nvPr/>
        </p:nvPicPr>
        <p:blipFill>
          <a:blip r:embed="rId2"/>
          <a:stretch>
            <a:fillRect/>
          </a:stretch>
        </p:blipFill>
        <p:spPr>
          <a:xfrm>
            <a:off x="411480" y="329184"/>
            <a:ext cx="1316736" cy="384048"/>
          </a:xfrm>
          <a:prstGeom prst="rect">
            <a:avLst/>
          </a:prstGeom>
        </p:spPr>
      </p:pic>
      <p:pic>
        <p:nvPicPr>
          <p:cNvPr id="5" name="!!logo-avi" descr="/home/claude/pitch/a/logo_avi.png">    </p:cNvPr>
          <p:cNvPicPr>
            <a:picLocks noChangeAspect="1"/>
          </p:cNvPicPr>
          <p:nvPr/>
        </p:nvPicPr>
        <p:blipFill>
          <a:blip r:embed="rId3"/>
          <a:stretch>
            <a:fillRect/>
          </a:stretch>
        </p:blipFill>
        <p:spPr>
          <a:xfrm>
            <a:off x="5304892" y="320040"/>
            <a:ext cx="1581912" cy="393192"/>
          </a:xfrm>
          <a:prstGeom prst="rect">
            <a:avLst/>
          </a:prstGeom>
        </p:spPr>
      </p:pic>
      <p:pic>
        <p:nvPicPr>
          <p:cNvPr id="6" name="!!logo-fet" descr="/home/claude/pitch/a/logo_fet.png">    </p:cNvPr>
          <p:cNvPicPr>
            <a:picLocks noChangeAspect="1"/>
          </p:cNvPicPr>
          <p:nvPr/>
        </p:nvPicPr>
        <p:blipFill>
          <a:blip r:embed="rId4"/>
          <a:stretch>
            <a:fillRect/>
          </a:stretch>
        </p:blipFill>
        <p:spPr>
          <a:xfrm>
            <a:off x="10771632" y="274320"/>
            <a:ext cx="1005840" cy="457200"/>
          </a:xfrm>
          <a:prstGeom prst="rect">
            <a:avLst/>
          </a:prstGeom>
        </p:spPr>
      </p:pic>
      <p:sp>
        <p:nvSpPr>
          <p:cNvPr id="7" name="!!title"/>
          <p:cNvSpPr txBox="1"/>
          <p:nvPr/>
        </p:nvSpPr>
        <p:spPr>
          <a:xfrm>
            <a:off x="548640" y="841248"/>
            <a:ext cx="11094415" cy="566928"/>
          </a:xfrm>
          <a:prstGeom prst="rect">
            <a:avLst/>
          </a:prstGeom>
          <a:noFill/>
          <a:ln/>
        </p:spPr>
        <p:txBody>
          <a:bodyPr wrap="square" lIns="0" tIns="0" rIns="0" bIns="0" rtlCol="0" anchor="ctr"/>
          <a:lstStyle/>
          <a:p>
            <a:pPr algn="ctr" indent="0" marL="0">
              <a:buNone/>
            </a:pPr>
            <a:r>
              <a:rPr lang="en-US" sz="3000" b="1" dirty="0">
                <a:solidFill>
                  <a:srgbClr val="1E1A4D"/>
                </a:solidFill>
                <a:latin typeface="Lora" pitchFamily="34" charset="0"/>
                <a:ea typeface="Lora" pitchFamily="34" charset="-122"/>
                <a:cs typeface="Lora" pitchFamily="34" charset="-120"/>
              </a:rPr>
              <a:t>Tech Stack + Workflow</a:t>
            </a:r>
            <a:endParaRPr lang="en-US" sz="3000" dirty="0"/>
          </a:p>
        </p:txBody>
      </p:sp>
      <p:sp>
        <p:nvSpPr>
          <p:cNvPr id="8" name="!!sub"/>
          <p:cNvSpPr txBox="1"/>
          <p:nvPr/>
        </p:nvSpPr>
        <p:spPr>
          <a:xfrm>
            <a:off x="1097280" y="1389888"/>
            <a:ext cx="9997135" cy="365760"/>
          </a:xfrm>
          <a:prstGeom prst="rect">
            <a:avLst/>
          </a:prstGeom>
          <a:noFill/>
          <a:ln/>
        </p:spPr>
        <p:txBody>
          <a:bodyPr wrap="square" lIns="0" tIns="0" rIns="0" bIns="0" rtlCol="0" anchor="ctr"/>
          <a:lstStyle/>
          <a:p>
            <a:pPr algn="ctr" indent="0" marL="0">
              <a:buNone/>
            </a:pPr>
            <a:r>
              <a:rPr lang="en-US" sz="1300" dirty="0">
                <a:solidFill>
                  <a:srgbClr val="6C5CE7"/>
                </a:solidFill>
                <a:latin typeface="Poppins" pitchFamily="34" charset="0"/>
                <a:ea typeface="Poppins" pitchFamily="34" charset="-122"/>
                <a:cs typeface="Poppins" pitchFamily="34" charset="-120"/>
              </a:rPr>
              <a:t>From prompt to verdict, fully automatic, with untrusted AI code kept in a sandbox.</a:t>
            </a:r>
            <a:endParaRPr lang="en-US" sz="1300" dirty="0"/>
          </a:p>
        </p:txBody>
      </p:sp>
      <p:sp>
        <p:nvSpPr>
          <p:cNvPr id="9" name="!!foot-l"/>
          <p:cNvSpPr txBox="1"/>
          <p:nvPr/>
        </p:nvSpPr>
        <p:spPr>
          <a:xfrm>
            <a:off x="457200" y="6336792"/>
            <a:ext cx="3108960" cy="219456"/>
          </a:xfrm>
          <a:prstGeom prst="rect">
            <a:avLst/>
          </a:prstGeom>
          <a:noFill/>
          <a:ln/>
        </p:spPr>
        <p:txBody>
          <a:bodyPr wrap="square" lIns="0" tIns="0" rIns="0" bIns="0" rtlCol="0" anchor="t"/>
          <a:lstStyle/>
          <a:p>
            <a:pPr indent="0" marL="0">
              <a:buNone/>
            </a:pPr>
            <a:r>
              <a:rPr lang="en-US" sz="900" dirty="0">
                <a:solidFill>
                  <a:srgbClr val="8D88B5"/>
                </a:solidFill>
                <a:latin typeface="Poppins" pitchFamily="34" charset="0"/>
                <a:ea typeface="Poppins" pitchFamily="34" charset="-122"/>
                <a:cs typeface="Poppins" pitchFamily="34" charset="-120"/>
              </a:rPr>
              <a:t>MixCheck  ·  Team El Rata Alada</a:t>
            </a:r>
            <a:endParaRPr lang="en-US" sz="900" dirty="0"/>
          </a:p>
        </p:txBody>
      </p:sp>
      <p:sp>
        <p:nvSpPr>
          <p:cNvPr id="10" name="!!btn-nav-1">
            <a:hlinkClick r:id="rId5" action="ppaction://hlinksldjump"/>
          </p:cNvPr>
          <p:cNvSpPr/>
          <p:nvPr/>
        </p:nvSpPr>
        <p:spPr>
          <a:xfrm>
            <a:off x="4628236"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1</a:t>
            </a:r>
            <a:endParaRPr lang="en-US" sz="750" dirty="0"/>
          </a:p>
        </p:txBody>
      </p:sp>
      <p:sp>
        <p:nvSpPr>
          <p:cNvPr id="11" name="!!btn-nav-2">
            <a:hlinkClick r:id="rId6" action="ppaction://hlinksldjump"/>
          </p:cNvPr>
          <p:cNvSpPr/>
          <p:nvPr/>
        </p:nvSpPr>
        <p:spPr>
          <a:xfrm>
            <a:off x="4929988"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2</a:t>
            </a:r>
            <a:endParaRPr lang="en-US" sz="750" dirty="0"/>
          </a:p>
        </p:txBody>
      </p:sp>
      <p:sp>
        <p:nvSpPr>
          <p:cNvPr id="12" name="!!btn-nav-3">
            <a:hlinkClick r:id="rId7" action="ppaction://hlinksldjump"/>
          </p:cNvPr>
          <p:cNvSpPr/>
          <p:nvPr/>
        </p:nvSpPr>
        <p:spPr>
          <a:xfrm>
            <a:off x="5231740"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3</a:t>
            </a:r>
            <a:endParaRPr lang="en-US" sz="750" dirty="0"/>
          </a:p>
        </p:txBody>
      </p:sp>
      <p:sp>
        <p:nvSpPr>
          <p:cNvPr id="13" name="!!btn-nav-4">
            <a:hlinkClick r:id="rId8" action="ppaction://hlinksldjump"/>
          </p:cNvPr>
          <p:cNvSpPr/>
          <p:nvPr/>
        </p:nvSpPr>
        <p:spPr>
          <a:xfrm>
            <a:off x="5533492" y="6336792"/>
            <a:ext cx="219456" cy="219456"/>
          </a:xfrm>
          <a:prstGeom prst="ellipse">
            <a:avLst/>
          </a:prstGeom>
          <a:solidFill>
            <a:srgbClr val="6C5CE7"/>
          </a:solidFill>
          <a:ln w="9525">
            <a:solidFill>
              <a:srgbClr val="6C5CE7"/>
            </a:solid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4</a:t>
            </a:r>
            <a:endParaRPr lang="en-US" sz="750" dirty="0"/>
          </a:p>
        </p:txBody>
      </p:sp>
      <p:sp>
        <p:nvSpPr>
          <p:cNvPr id="14" name="!!btn-nav-5">
            <a:hlinkClick r:id="rId9" action="ppaction://hlinksldjump"/>
          </p:cNvPr>
          <p:cNvSpPr/>
          <p:nvPr/>
        </p:nvSpPr>
        <p:spPr>
          <a:xfrm>
            <a:off x="5835244"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5</a:t>
            </a:r>
            <a:endParaRPr lang="en-US" sz="750" dirty="0"/>
          </a:p>
        </p:txBody>
      </p:sp>
      <p:sp>
        <p:nvSpPr>
          <p:cNvPr id="15" name="!!btn-nav-6">
            <a:hlinkClick r:id="rId10" action="ppaction://hlinksldjump"/>
          </p:cNvPr>
          <p:cNvSpPr/>
          <p:nvPr/>
        </p:nvSpPr>
        <p:spPr>
          <a:xfrm>
            <a:off x="6136996"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6</a:t>
            </a:r>
            <a:endParaRPr lang="en-US" sz="750" dirty="0"/>
          </a:p>
        </p:txBody>
      </p:sp>
      <p:sp>
        <p:nvSpPr>
          <p:cNvPr id="16" name="!!btn-nav-7">
            <a:hlinkClick r:id="rId11" action="ppaction://hlinksldjump"/>
          </p:cNvPr>
          <p:cNvSpPr/>
          <p:nvPr/>
        </p:nvSpPr>
        <p:spPr>
          <a:xfrm>
            <a:off x="6438748"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7</a:t>
            </a:r>
            <a:endParaRPr lang="en-US" sz="750" dirty="0"/>
          </a:p>
        </p:txBody>
      </p:sp>
      <p:sp>
        <p:nvSpPr>
          <p:cNvPr id="17" name="!!btn-nav-8">
            <a:hlinkClick r:id="rId12" action="ppaction://hlinksldjump"/>
          </p:cNvPr>
          <p:cNvSpPr/>
          <p:nvPr/>
        </p:nvSpPr>
        <p:spPr>
          <a:xfrm>
            <a:off x="6740500"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8</a:t>
            </a:r>
            <a:endParaRPr lang="en-US" sz="750" dirty="0"/>
          </a:p>
        </p:txBody>
      </p:sp>
      <p:sp>
        <p:nvSpPr>
          <p:cNvPr id="18" name="!!btn-nav-9">
            <a:hlinkClick r:id="rId13" action="ppaction://hlinksldjump"/>
          </p:cNvPr>
          <p:cNvSpPr/>
          <p:nvPr/>
        </p:nvSpPr>
        <p:spPr>
          <a:xfrm>
            <a:off x="7042252"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9</a:t>
            </a:r>
            <a:endParaRPr lang="en-US" sz="750" dirty="0"/>
          </a:p>
        </p:txBody>
      </p:sp>
      <p:sp>
        <p:nvSpPr>
          <p:cNvPr id="19" name="!!btn-nav-10">
            <a:hlinkClick r:id="rId14" action="ppaction://hlinksldjump"/>
          </p:cNvPr>
          <p:cNvSpPr/>
          <p:nvPr/>
        </p:nvSpPr>
        <p:spPr>
          <a:xfrm>
            <a:off x="7344004"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10</a:t>
            </a:r>
            <a:endParaRPr lang="en-US" sz="750" dirty="0"/>
          </a:p>
        </p:txBody>
      </p:sp>
      <p:sp>
        <p:nvSpPr>
          <p:cNvPr id="20" name="!!btn-live">
            <a:hlinkClick r:id="rId15"/>
          </p:cNvPr>
          <p:cNvSpPr/>
          <p:nvPr/>
        </p:nvSpPr>
        <p:spPr>
          <a:xfrm>
            <a:off x="8503920" y="6309360"/>
            <a:ext cx="3246120" cy="274320"/>
          </a:xfrm>
          <a:prstGeom prst="rect">
            <a:avLst/>
          </a:prstGeom>
          <a:noFill/>
          <a:ln/>
        </p:spPr>
        <p:txBody>
          <a:bodyPr wrap="square" lIns="0" tIns="0" rIns="0" bIns="0" rtlCol="0" anchor="ctr"/>
          <a:lstStyle/>
          <a:p>
            <a:pPr algn="r" indent="0" marL="0">
              <a:buNone/>
            </a:pPr>
            <a:r>
              <a:rPr lang="en-US" sz="900" b="1" dirty="0">
                <a:solidFill>
                  <a:srgbClr val="6C5CE7"/>
                </a:solidFill>
                <a:latin typeface="Poppins" pitchFamily="34" charset="0"/>
                <a:ea typeface="Poppins" pitchFamily="34" charset="-122"/>
                <a:cs typeface="Poppins" pitchFamily="34" charset="-120"/>
              </a:rPr>
              <a:t>● Live: mixcheck-elrata.streamlit.app</a:t>
            </a:r>
            <a:endParaRPr lang="en-US" sz="900" dirty="0"/>
          </a:p>
        </p:txBody>
      </p:sp>
      <p:sp>
        <p:nvSpPr>
          <p:cNvPr id="21" name="Shape 15"/>
          <p:cNvSpPr/>
          <p:nvPr/>
        </p:nvSpPr>
        <p:spPr>
          <a:xfrm>
            <a:off x="1188720" y="2377440"/>
            <a:ext cx="10058400" cy="0"/>
          </a:xfrm>
          <a:prstGeom prst="line">
            <a:avLst/>
          </a:prstGeom>
          <a:noFill/>
          <a:ln w="25400">
            <a:solidFill>
              <a:srgbClr val="9B8CFF"/>
            </a:solidFill>
            <a:prstDash val="dash"/>
          </a:ln>
        </p:spPr>
      </p:sp>
      <p:sp>
        <p:nvSpPr>
          <p:cNvPr id="22" name="auto150-f0-c"/>
          <p:cNvSpPr/>
          <p:nvPr/>
        </p:nvSpPr>
        <p:spPr>
          <a:xfrm>
            <a:off x="868680" y="2029968"/>
            <a:ext cx="694944" cy="694944"/>
          </a:xfrm>
          <a:prstGeom prst="ellipse">
            <a:avLst/>
          </a:prstGeom>
          <a:solidFill>
            <a:srgbClr val="1590B8"/>
          </a:solidFill>
          <a:ln/>
        </p:spPr>
      </p:sp>
      <p:pic>
        <p:nvPicPr>
          <p:cNvPr id="23" name="auto150-f0-i" descr="/home/claude/pitch/a/ic/FaDatabase_w.png">    </p:cNvPr>
          <p:cNvPicPr>
            <a:picLocks noChangeAspect="1"/>
          </p:cNvPicPr>
          <p:nvPr/>
        </p:nvPicPr>
        <p:blipFill>
          <a:blip r:embed="rId16"/>
          <a:stretch>
            <a:fillRect/>
          </a:stretch>
        </p:blipFill>
        <p:spPr>
          <a:xfrm>
            <a:off x="1049365" y="2210653"/>
            <a:ext cx="333573" cy="333573"/>
          </a:xfrm>
          <a:prstGeom prst="rect">
            <a:avLst/>
          </a:prstGeom>
        </p:spPr>
      </p:pic>
      <p:sp>
        <p:nvSpPr>
          <p:cNvPr id="24" name="auto150-fh0"/>
          <p:cNvSpPr txBox="1"/>
          <p:nvPr/>
        </p:nvSpPr>
        <p:spPr>
          <a:xfrm>
            <a:off x="320040" y="2788920"/>
            <a:ext cx="1792224" cy="256032"/>
          </a:xfrm>
          <a:prstGeom prst="rect">
            <a:avLst/>
          </a:prstGeom>
          <a:noFill/>
          <a:ln/>
        </p:spPr>
        <p:txBody>
          <a:bodyPr wrap="square" lIns="0" tIns="0" rIns="0" bIns="0" rtlCol="0" anchor="t"/>
          <a:lstStyle/>
          <a:p>
            <a:pPr algn="ctr" indent="0" marL="0">
              <a:buNone/>
            </a:pPr>
            <a:r>
              <a:rPr lang="en-US" sz="1150" b="1" dirty="0">
                <a:solidFill>
                  <a:srgbClr val="1E1A4D"/>
                </a:solidFill>
                <a:latin typeface="Poppins" pitchFamily="34" charset="0"/>
                <a:ea typeface="Poppins" pitchFamily="34" charset="-122"/>
                <a:cs typeface="Poppins" pitchFamily="34" charset="-120"/>
              </a:rPr>
              <a:t>Prompts</a:t>
            </a:r>
            <a:endParaRPr lang="en-US" sz="1150" dirty="0"/>
          </a:p>
        </p:txBody>
      </p:sp>
      <p:sp>
        <p:nvSpPr>
          <p:cNvPr id="25" name="auto150-fb0"/>
          <p:cNvSpPr txBox="1"/>
          <p:nvPr/>
        </p:nvSpPr>
        <p:spPr>
          <a:xfrm>
            <a:off x="320040" y="3035808"/>
            <a:ext cx="1792224" cy="219456"/>
          </a:xfrm>
          <a:prstGeom prst="rect">
            <a:avLst/>
          </a:prstGeom>
          <a:noFill/>
          <a:ln/>
        </p:spPr>
        <p:txBody>
          <a:bodyPr wrap="square" lIns="0" tIns="0" rIns="0" bIns="0" rtlCol="0" anchor="t"/>
          <a:lstStyle/>
          <a:p>
            <a:pPr algn="ctr" indent="0" marL="0">
              <a:buNone/>
            </a:pPr>
            <a:r>
              <a:rPr lang="en-US" sz="900" dirty="0">
                <a:solidFill>
                  <a:srgbClr val="5B577E"/>
                </a:solidFill>
                <a:latin typeface="Consolas" pitchFamily="34" charset="0"/>
                <a:ea typeface="Consolas" pitchFamily="34" charset="-122"/>
                <a:cs typeface="Consolas" pitchFamily="34" charset="-120"/>
              </a:rPr>
              <a:t>tasks.csv</a:t>
            </a:r>
            <a:endParaRPr lang="en-US" sz="900" dirty="0"/>
          </a:p>
        </p:txBody>
      </p:sp>
      <p:sp>
        <p:nvSpPr>
          <p:cNvPr id="26" name="auto290-f1-c"/>
          <p:cNvSpPr/>
          <p:nvPr/>
        </p:nvSpPr>
        <p:spPr>
          <a:xfrm>
            <a:off x="2880360" y="2029968"/>
            <a:ext cx="694944" cy="694944"/>
          </a:xfrm>
          <a:prstGeom prst="ellipse">
            <a:avLst/>
          </a:prstGeom>
          <a:solidFill>
            <a:srgbClr val="6C5CE7"/>
          </a:solidFill>
          <a:ln/>
        </p:spPr>
      </p:sp>
      <p:pic>
        <p:nvPicPr>
          <p:cNvPr id="27" name="auto290-f1-i" descr="/home/claude/pitch/a/ic/FaRobot_w.png">    </p:cNvPr>
          <p:cNvPicPr>
            <a:picLocks noChangeAspect="1"/>
          </p:cNvPicPr>
          <p:nvPr/>
        </p:nvPicPr>
        <p:blipFill>
          <a:blip r:embed="rId17"/>
          <a:stretch>
            <a:fillRect/>
          </a:stretch>
        </p:blipFill>
        <p:spPr>
          <a:xfrm>
            <a:off x="3061045" y="2210653"/>
            <a:ext cx="333573" cy="333573"/>
          </a:xfrm>
          <a:prstGeom prst="rect">
            <a:avLst/>
          </a:prstGeom>
        </p:spPr>
      </p:pic>
      <p:sp>
        <p:nvSpPr>
          <p:cNvPr id="28" name="auto290-fh1"/>
          <p:cNvSpPr txBox="1"/>
          <p:nvPr/>
        </p:nvSpPr>
        <p:spPr>
          <a:xfrm>
            <a:off x="2331720" y="2788920"/>
            <a:ext cx="1792224" cy="256032"/>
          </a:xfrm>
          <a:prstGeom prst="rect">
            <a:avLst/>
          </a:prstGeom>
          <a:noFill/>
          <a:ln/>
        </p:spPr>
        <p:txBody>
          <a:bodyPr wrap="square" lIns="0" tIns="0" rIns="0" bIns="0" rtlCol="0" anchor="t"/>
          <a:lstStyle/>
          <a:p>
            <a:pPr algn="ctr" indent="0" marL="0">
              <a:buNone/>
            </a:pPr>
            <a:r>
              <a:rPr lang="en-US" sz="1150" b="1" dirty="0">
                <a:solidFill>
                  <a:srgbClr val="1E1A4D"/>
                </a:solidFill>
                <a:latin typeface="Poppins" pitchFamily="34" charset="0"/>
                <a:ea typeface="Poppins" pitchFamily="34" charset="-122"/>
                <a:cs typeface="Poppins" pitchFamily="34" charset="-120"/>
              </a:rPr>
              <a:t>Ask 3 models</a:t>
            </a:r>
            <a:endParaRPr lang="en-US" sz="1150" dirty="0"/>
          </a:p>
        </p:txBody>
      </p:sp>
      <p:sp>
        <p:nvSpPr>
          <p:cNvPr id="29" name="auto290-fb1"/>
          <p:cNvSpPr txBox="1"/>
          <p:nvPr/>
        </p:nvSpPr>
        <p:spPr>
          <a:xfrm>
            <a:off x="2331720" y="3035808"/>
            <a:ext cx="1792224" cy="219456"/>
          </a:xfrm>
          <a:prstGeom prst="rect">
            <a:avLst/>
          </a:prstGeom>
          <a:noFill/>
          <a:ln/>
        </p:spPr>
        <p:txBody>
          <a:bodyPr wrap="square" lIns="0" tIns="0" rIns="0" bIns="0" rtlCol="0" anchor="t"/>
          <a:lstStyle/>
          <a:p>
            <a:pPr algn="ctr" indent="0" marL="0">
              <a:buNone/>
            </a:pPr>
            <a:r>
              <a:rPr lang="en-US" sz="900" dirty="0">
                <a:solidFill>
                  <a:srgbClr val="5B577E"/>
                </a:solidFill>
                <a:latin typeface="Consolas" pitchFamily="34" charset="0"/>
                <a:ea typeface="Consolas" pitchFamily="34" charset="-122"/>
                <a:cs typeface="Consolas" pitchFamily="34" charset="-120"/>
              </a:rPr>
              <a:t>run_all.py</a:t>
            </a:r>
            <a:endParaRPr lang="en-US" sz="900" dirty="0"/>
          </a:p>
        </p:txBody>
      </p:sp>
      <p:sp>
        <p:nvSpPr>
          <p:cNvPr id="30" name="auto430-f2-c"/>
          <p:cNvSpPr/>
          <p:nvPr/>
        </p:nvSpPr>
        <p:spPr>
          <a:xfrm>
            <a:off x="4892040" y="2029968"/>
            <a:ext cx="694944" cy="694944"/>
          </a:xfrm>
          <a:prstGeom prst="ellipse">
            <a:avLst/>
          </a:prstGeom>
          <a:solidFill>
            <a:srgbClr val="C2477D"/>
          </a:solidFill>
          <a:ln/>
        </p:spPr>
      </p:sp>
      <p:pic>
        <p:nvPicPr>
          <p:cNvPr id="31" name="auto430-f2-i" descr="/home/claude/pitch/a/ic/FaSearch_w.png">    </p:cNvPr>
          <p:cNvPicPr>
            <a:picLocks noChangeAspect="1"/>
          </p:cNvPicPr>
          <p:nvPr/>
        </p:nvPicPr>
        <p:blipFill>
          <a:blip r:embed="rId18"/>
          <a:stretch>
            <a:fillRect/>
          </a:stretch>
        </p:blipFill>
        <p:spPr>
          <a:xfrm>
            <a:off x="5072725" y="2210653"/>
            <a:ext cx="333573" cy="333573"/>
          </a:xfrm>
          <a:prstGeom prst="rect">
            <a:avLst/>
          </a:prstGeom>
        </p:spPr>
      </p:pic>
      <p:sp>
        <p:nvSpPr>
          <p:cNvPr id="32" name="auto430-fh2"/>
          <p:cNvSpPr txBox="1"/>
          <p:nvPr/>
        </p:nvSpPr>
        <p:spPr>
          <a:xfrm>
            <a:off x="4343400" y="2788920"/>
            <a:ext cx="1792224" cy="256032"/>
          </a:xfrm>
          <a:prstGeom prst="rect">
            <a:avLst/>
          </a:prstGeom>
          <a:noFill/>
          <a:ln/>
        </p:spPr>
        <p:txBody>
          <a:bodyPr wrap="square" lIns="0" tIns="0" rIns="0" bIns="0" rtlCol="0" anchor="t"/>
          <a:lstStyle/>
          <a:p>
            <a:pPr algn="ctr" indent="0" marL="0">
              <a:buNone/>
            </a:pPr>
            <a:r>
              <a:rPr lang="en-US" sz="1150" b="1" dirty="0">
                <a:solidFill>
                  <a:srgbClr val="1E1A4D"/>
                </a:solidFill>
                <a:latin typeface="Poppins" pitchFamily="34" charset="0"/>
                <a:ea typeface="Poppins" pitchFamily="34" charset="-122"/>
                <a:cs typeface="Poppins" pitchFamily="34" charset="-120"/>
              </a:rPr>
              <a:t>Find the code</a:t>
            </a:r>
            <a:endParaRPr lang="en-US" sz="1150" dirty="0"/>
          </a:p>
        </p:txBody>
      </p:sp>
      <p:sp>
        <p:nvSpPr>
          <p:cNvPr id="33" name="auto430-fb2"/>
          <p:cNvSpPr txBox="1"/>
          <p:nvPr/>
        </p:nvSpPr>
        <p:spPr>
          <a:xfrm>
            <a:off x="4343400" y="3035808"/>
            <a:ext cx="1792224" cy="219456"/>
          </a:xfrm>
          <a:prstGeom prst="rect">
            <a:avLst/>
          </a:prstGeom>
          <a:noFill/>
          <a:ln/>
        </p:spPr>
        <p:txBody>
          <a:bodyPr wrap="square" lIns="0" tIns="0" rIns="0" bIns="0" rtlCol="0" anchor="t"/>
          <a:lstStyle/>
          <a:p>
            <a:pPr algn="ctr" indent="0" marL="0">
              <a:buNone/>
            </a:pPr>
            <a:r>
              <a:rPr lang="en-US" sz="900" dirty="0">
                <a:solidFill>
                  <a:srgbClr val="5B577E"/>
                </a:solidFill>
                <a:latin typeface="Consolas" pitchFamily="34" charset="0"/>
                <a:ea typeface="Consolas" pitchFamily="34" charset="-122"/>
                <a:cs typeface="Consolas" pitchFamily="34" charset="-120"/>
              </a:rPr>
              <a:t>grade.py</a:t>
            </a:r>
            <a:endParaRPr lang="en-US" sz="900" dirty="0"/>
          </a:p>
        </p:txBody>
      </p:sp>
      <p:sp>
        <p:nvSpPr>
          <p:cNvPr id="34" name="auto570-f3-c"/>
          <p:cNvSpPr/>
          <p:nvPr/>
        </p:nvSpPr>
        <p:spPr>
          <a:xfrm>
            <a:off x="6903720" y="2029968"/>
            <a:ext cx="694944" cy="694944"/>
          </a:xfrm>
          <a:prstGeom prst="ellipse">
            <a:avLst/>
          </a:prstGeom>
          <a:solidFill>
            <a:srgbClr val="12B886"/>
          </a:solidFill>
          <a:ln/>
        </p:spPr>
      </p:sp>
      <p:pic>
        <p:nvPicPr>
          <p:cNvPr id="35" name="auto570-f3-i" descr="/home/claude/pitch/a/ic/FaShieldAlt_w.png">    </p:cNvPr>
          <p:cNvPicPr>
            <a:picLocks noChangeAspect="1"/>
          </p:cNvPicPr>
          <p:nvPr/>
        </p:nvPicPr>
        <p:blipFill>
          <a:blip r:embed="rId19"/>
          <a:stretch>
            <a:fillRect/>
          </a:stretch>
        </p:blipFill>
        <p:spPr>
          <a:xfrm>
            <a:off x="7084405" y="2210653"/>
            <a:ext cx="333573" cy="333573"/>
          </a:xfrm>
          <a:prstGeom prst="rect">
            <a:avLst/>
          </a:prstGeom>
        </p:spPr>
      </p:pic>
      <p:sp>
        <p:nvSpPr>
          <p:cNvPr id="36" name="auto570-fh3"/>
          <p:cNvSpPr txBox="1"/>
          <p:nvPr/>
        </p:nvSpPr>
        <p:spPr>
          <a:xfrm>
            <a:off x="6355080" y="2788920"/>
            <a:ext cx="1792224" cy="256032"/>
          </a:xfrm>
          <a:prstGeom prst="rect">
            <a:avLst/>
          </a:prstGeom>
          <a:noFill/>
          <a:ln/>
        </p:spPr>
        <p:txBody>
          <a:bodyPr wrap="square" lIns="0" tIns="0" rIns="0" bIns="0" rtlCol="0" anchor="t"/>
          <a:lstStyle/>
          <a:p>
            <a:pPr algn="ctr" indent="0" marL="0">
              <a:buNone/>
            </a:pPr>
            <a:r>
              <a:rPr lang="en-US" sz="1150" b="1" dirty="0">
                <a:solidFill>
                  <a:srgbClr val="1E1A4D"/>
                </a:solidFill>
                <a:latin typeface="Poppins" pitchFamily="34" charset="0"/>
                <a:ea typeface="Poppins" pitchFamily="34" charset="-122"/>
                <a:cs typeface="Poppins" pitchFamily="34" charset="-120"/>
              </a:rPr>
              <a:t>Sandboxed run</a:t>
            </a:r>
            <a:endParaRPr lang="en-US" sz="1150" dirty="0"/>
          </a:p>
        </p:txBody>
      </p:sp>
      <p:sp>
        <p:nvSpPr>
          <p:cNvPr id="37" name="auto570-fb3"/>
          <p:cNvSpPr txBox="1"/>
          <p:nvPr/>
        </p:nvSpPr>
        <p:spPr>
          <a:xfrm>
            <a:off x="6355080" y="3035808"/>
            <a:ext cx="1792224" cy="219456"/>
          </a:xfrm>
          <a:prstGeom prst="rect">
            <a:avLst/>
          </a:prstGeom>
          <a:noFill/>
          <a:ln/>
        </p:spPr>
        <p:txBody>
          <a:bodyPr wrap="square" lIns="0" tIns="0" rIns="0" bIns="0" rtlCol="0" anchor="t"/>
          <a:lstStyle/>
          <a:p>
            <a:pPr algn="ctr" indent="0" marL="0">
              <a:buNone/>
            </a:pPr>
            <a:r>
              <a:rPr lang="en-US" sz="900" dirty="0">
                <a:solidFill>
                  <a:srgbClr val="5B577E"/>
                </a:solidFill>
                <a:latin typeface="Consolas" pitchFamily="34" charset="0"/>
                <a:ea typeface="Consolas" pitchFamily="34" charset="-122"/>
                <a:cs typeface="Consolas" pitchFamily="34" charset="-120"/>
              </a:rPr>
              <a:t>5 safety layers</a:t>
            </a:r>
            <a:endParaRPr lang="en-US" sz="900" dirty="0"/>
          </a:p>
        </p:txBody>
      </p:sp>
      <p:sp>
        <p:nvSpPr>
          <p:cNvPr id="38" name="auto710-f4-c"/>
          <p:cNvSpPr/>
          <p:nvPr/>
        </p:nvSpPr>
        <p:spPr>
          <a:xfrm>
            <a:off x="8915400" y="2029968"/>
            <a:ext cx="694944" cy="694944"/>
          </a:xfrm>
          <a:prstGeom prst="ellipse">
            <a:avLst/>
          </a:prstGeom>
          <a:solidFill>
            <a:srgbClr val="D97706"/>
          </a:solidFill>
          <a:ln/>
        </p:spPr>
      </p:sp>
      <p:pic>
        <p:nvPicPr>
          <p:cNvPr id="39" name="auto710-f4-i" descr="/home/claude/pitch/a/ic/FaBalanceScale_w.png">    </p:cNvPr>
          <p:cNvPicPr>
            <a:picLocks noChangeAspect="1"/>
          </p:cNvPicPr>
          <p:nvPr/>
        </p:nvPicPr>
        <p:blipFill>
          <a:blip r:embed="rId20"/>
          <a:stretch>
            <a:fillRect/>
          </a:stretch>
        </p:blipFill>
        <p:spPr>
          <a:xfrm>
            <a:off x="9096085" y="2210653"/>
            <a:ext cx="333573" cy="333573"/>
          </a:xfrm>
          <a:prstGeom prst="rect">
            <a:avLst/>
          </a:prstGeom>
        </p:spPr>
      </p:pic>
      <p:sp>
        <p:nvSpPr>
          <p:cNvPr id="40" name="auto710-fh4"/>
          <p:cNvSpPr txBox="1"/>
          <p:nvPr/>
        </p:nvSpPr>
        <p:spPr>
          <a:xfrm>
            <a:off x="8366760" y="2788920"/>
            <a:ext cx="1792224" cy="256032"/>
          </a:xfrm>
          <a:prstGeom prst="rect">
            <a:avLst/>
          </a:prstGeom>
          <a:noFill/>
          <a:ln/>
        </p:spPr>
        <p:txBody>
          <a:bodyPr wrap="square" lIns="0" tIns="0" rIns="0" bIns="0" rtlCol="0" anchor="t"/>
          <a:lstStyle/>
          <a:p>
            <a:pPr algn="ctr" indent="0" marL="0">
              <a:buNone/>
            </a:pPr>
            <a:r>
              <a:rPr lang="en-US" sz="1150" b="1" dirty="0">
                <a:solidFill>
                  <a:srgbClr val="1E1A4D"/>
                </a:solidFill>
                <a:latin typeface="Poppins" pitchFamily="34" charset="0"/>
                <a:ea typeface="Poppins" pitchFamily="34" charset="-122"/>
                <a:cs typeface="Poppins" pitchFamily="34" charset="-120"/>
              </a:rPr>
              <a:t>Two scores</a:t>
            </a:r>
            <a:endParaRPr lang="en-US" sz="1150" dirty="0"/>
          </a:p>
        </p:txBody>
      </p:sp>
      <p:sp>
        <p:nvSpPr>
          <p:cNvPr id="41" name="auto710-fb4"/>
          <p:cNvSpPr txBox="1"/>
          <p:nvPr/>
        </p:nvSpPr>
        <p:spPr>
          <a:xfrm>
            <a:off x="8366760" y="3035808"/>
            <a:ext cx="1792224" cy="219456"/>
          </a:xfrm>
          <a:prstGeom prst="rect">
            <a:avLst/>
          </a:prstGeom>
          <a:noFill/>
          <a:ln/>
        </p:spPr>
        <p:txBody>
          <a:bodyPr wrap="square" lIns="0" tIns="0" rIns="0" bIns="0" rtlCol="0" anchor="t"/>
          <a:lstStyle/>
          <a:p>
            <a:pPr algn="ctr" indent="0" marL="0">
              <a:buNone/>
            </a:pPr>
            <a:r>
              <a:rPr lang="en-US" sz="900" dirty="0">
                <a:solidFill>
                  <a:srgbClr val="5B577E"/>
                </a:solidFill>
                <a:latin typeface="Consolas" pitchFamily="34" charset="0"/>
                <a:ea typeface="Consolas" pitchFamily="34" charset="-122"/>
                <a:cs typeface="Consolas" pitchFamily="34" charset="-120"/>
              </a:rPr>
              <a:t>results.csv</a:t>
            </a:r>
            <a:endParaRPr lang="en-US" sz="900" dirty="0"/>
          </a:p>
        </p:txBody>
      </p:sp>
      <p:sp>
        <p:nvSpPr>
          <p:cNvPr id="42" name="auto850-f5-c"/>
          <p:cNvSpPr/>
          <p:nvPr/>
        </p:nvSpPr>
        <p:spPr>
          <a:xfrm>
            <a:off x="10927080" y="2029968"/>
            <a:ext cx="694944" cy="694944"/>
          </a:xfrm>
          <a:prstGeom prst="ellipse">
            <a:avLst/>
          </a:prstGeom>
          <a:solidFill>
            <a:srgbClr val="6C5CE7"/>
          </a:solidFill>
          <a:ln/>
        </p:spPr>
      </p:sp>
      <p:pic>
        <p:nvPicPr>
          <p:cNvPr id="43" name="auto850-f5-i" descr="/home/claude/pitch/a/ic/FaChartBar_w.png">    </p:cNvPr>
          <p:cNvPicPr>
            <a:picLocks noChangeAspect="1"/>
          </p:cNvPicPr>
          <p:nvPr/>
        </p:nvPicPr>
        <p:blipFill>
          <a:blip r:embed="rId21"/>
          <a:stretch>
            <a:fillRect/>
          </a:stretch>
        </p:blipFill>
        <p:spPr>
          <a:xfrm>
            <a:off x="11107765" y="2210653"/>
            <a:ext cx="333573" cy="333573"/>
          </a:xfrm>
          <a:prstGeom prst="rect">
            <a:avLst/>
          </a:prstGeom>
        </p:spPr>
      </p:pic>
      <p:sp>
        <p:nvSpPr>
          <p:cNvPr id="44" name="auto850-fh5"/>
          <p:cNvSpPr txBox="1"/>
          <p:nvPr/>
        </p:nvSpPr>
        <p:spPr>
          <a:xfrm>
            <a:off x="10378440" y="2788920"/>
            <a:ext cx="1792224" cy="256032"/>
          </a:xfrm>
          <a:prstGeom prst="rect">
            <a:avLst/>
          </a:prstGeom>
          <a:noFill/>
          <a:ln/>
        </p:spPr>
        <p:txBody>
          <a:bodyPr wrap="square" lIns="0" tIns="0" rIns="0" bIns="0" rtlCol="0" anchor="t"/>
          <a:lstStyle/>
          <a:p>
            <a:pPr algn="ctr" indent="0" marL="0">
              <a:buNone/>
            </a:pPr>
            <a:r>
              <a:rPr lang="en-US" sz="1150" b="1" dirty="0">
                <a:solidFill>
                  <a:srgbClr val="1E1A4D"/>
                </a:solidFill>
                <a:latin typeface="Poppins" pitchFamily="34" charset="0"/>
                <a:ea typeface="Poppins" pitchFamily="34" charset="-122"/>
                <a:cs typeface="Poppins" pitchFamily="34" charset="-120"/>
              </a:rPr>
              <a:t>Dashboard</a:t>
            </a:r>
            <a:endParaRPr lang="en-US" sz="1150" dirty="0"/>
          </a:p>
        </p:txBody>
      </p:sp>
      <p:sp>
        <p:nvSpPr>
          <p:cNvPr id="45" name="auto850-fb5"/>
          <p:cNvSpPr txBox="1"/>
          <p:nvPr/>
        </p:nvSpPr>
        <p:spPr>
          <a:xfrm>
            <a:off x="10378440" y="3035808"/>
            <a:ext cx="1792224" cy="219456"/>
          </a:xfrm>
          <a:prstGeom prst="rect">
            <a:avLst/>
          </a:prstGeom>
          <a:noFill/>
          <a:ln/>
        </p:spPr>
        <p:txBody>
          <a:bodyPr wrap="square" lIns="0" tIns="0" rIns="0" bIns="0" rtlCol="0" anchor="t"/>
          <a:lstStyle/>
          <a:p>
            <a:pPr algn="ctr" indent="0" marL="0">
              <a:buNone/>
            </a:pPr>
            <a:r>
              <a:rPr lang="en-US" sz="900" dirty="0">
                <a:solidFill>
                  <a:srgbClr val="5B577E"/>
                </a:solidFill>
                <a:latin typeface="Consolas" pitchFamily="34" charset="0"/>
                <a:ea typeface="Consolas" pitchFamily="34" charset="-122"/>
                <a:cs typeface="Consolas" pitchFamily="34" charset="-120"/>
              </a:rPr>
              <a:t>app.py</a:t>
            </a:r>
            <a:endParaRPr lang="en-US" sz="900" dirty="0"/>
          </a:p>
        </p:txBody>
      </p:sp>
      <p:sp>
        <p:nvSpPr>
          <p:cNvPr id="46" name="card-23"/>
          <p:cNvSpPr/>
          <p:nvPr/>
        </p:nvSpPr>
        <p:spPr>
          <a:xfrm>
            <a:off x="548640" y="3520440"/>
            <a:ext cx="2651760" cy="2011680"/>
          </a:xfrm>
          <a:prstGeom prst="roundRect">
            <a:avLst>
              <a:gd name="adj" fmla="val 6364"/>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47" name="Text 35"/>
          <p:cNvSpPr txBox="1"/>
          <p:nvPr/>
        </p:nvSpPr>
        <p:spPr>
          <a:xfrm>
            <a:off x="749808" y="3630168"/>
            <a:ext cx="2286000" cy="292608"/>
          </a:xfrm>
          <a:prstGeom prst="rect">
            <a:avLst/>
          </a:prstGeom>
          <a:noFill/>
          <a:ln/>
        </p:spPr>
        <p:txBody>
          <a:bodyPr wrap="square" lIns="0" tIns="0" rIns="0" bIns="0" rtlCol="0" anchor="t"/>
          <a:lstStyle/>
          <a:p>
            <a:pPr indent="0" marL="0">
              <a:buNone/>
            </a:pPr>
            <a:r>
              <a:rPr lang="en-US" sz="1350" b="1" dirty="0">
                <a:solidFill>
                  <a:srgbClr val="1590B8"/>
                </a:solidFill>
                <a:latin typeface="Poppins" pitchFamily="34" charset="0"/>
                <a:ea typeface="Poppins" pitchFamily="34" charset="-122"/>
                <a:cs typeface="Poppins" pitchFamily="34" charset="-120"/>
              </a:rPr>
              <a:t>Data</a:t>
            </a:r>
            <a:endParaRPr lang="en-US" sz="1350" dirty="0"/>
          </a:p>
        </p:txBody>
      </p:sp>
      <p:sp>
        <p:nvSpPr>
          <p:cNvPr id="48" name="Text 36"/>
          <p:cNvSpPr txBox="1"/>
          <p:nvPr/>
        </p:nvSpPr>
        <p:spPr>
          <a:xfrm>
            <a:off x="749808" y="4005072"/>
            <a:ext cx="1097280" cy="603504"/>
          </a:xfrm>
          <a:prstGeom prst="roundRect">
            <a:avLst>
              <a:gd name="adj" fmla="val 15152"/>
            </a:avLst>
          </a:prstGeom>
          <a:solidFill>
            <a:srgbClr val="F4F1FF"/>
          </a:solidFill>
          <a:ln w="9525">
            <a:solidFill>
              <a:srgbClr val="DCD6F7"/>
            </a:solidFill>
          </a:ln>
        </p:spPr>
        <p:txBody>
          <a:bodyPr wrap="square" lIns="38100" tIns="38100" rIns="38100" bIns="38100" rtlCol="0" anchor="ctr"/>
          <a:lstStyle/>
          <a:p>
            <a:pPr algn="ctr" indent="0" marL="0">
              <a:buNone/>
            </a:pPr>
            <a:r>
              <a:rPr lang="en-US" sz="900" dirty="0">
                <a:solidFill>
                  <a:srgbClr val="1E1A4D"/>
                </a:solidFill>
                <a:latin typeface="Poppins" pitchFamily="34" charset="0"/>
                <a:ea typeface="Poppins" pitchFamily="34" charset="-122"/>
                <a:cs typeface="Poppins" pitchFamily="34" charset="-120"/>
              </a:rPr>
              <a:t>Python 3</a:t>
            </a:r>
            <a:endParaRPr lang="en-US" sz="900" dirty="0"/>
          </a:p>
        </p:txBody>
      </p:sp>
      <p:sp>
        <p:nvSpPr>
          <p:cNvPr id="49" name="Text 37"/>
          <p:cNvSpPr txBox="1"/>
          <p:nvPr/>
        </p:nvSpPr>
        <p:spPr>
          <a:xfrm>
            <a:off x="1892808" y="4005072"/>
            <a:ext cx="1097280" cy="603504"/>
          </a:xfrm>
          <a:prstGeom prst="roundRect">
            <a:avLst>
              <a:gd name="adj" fmla="val 15152"/>
            </a:avLst>
          </a:prstGeom>
          <a:solidFill>
            <a:srgbClr val="F4F1FF"/>
          </a:solidFill>
          <a:ln w="9525">
            <a:solidFill>
              <a:srgbClr val="DCD6F7"/>
            </a:solidFill>
          </a:ln>
        </p:spPr>
        <p:txBody>
          <a:bodyPr wrap="square" lIns="38100" tIns="38100" rIns="38100" bIns="38100" rtlCol="0" anchor="ctr"/>
          <a:lstStyle/>
          <a:p>
            <a:pPr algn="ctr" indent="0" marL="0">
              <a:buNone/>
            </a:pPr>
            <a:r>
              <a:rPr lang="en-US" sz="900" dirty="0">
                <a:solidFill>
                  <a:srgbClr val="1E1A4D"/>
                </a:solidFill>
                <a:latin typeface="Poppins" pitchFamily="34" charset="0"/>
                <a:ea typeface="Poppins" pitchFamily="34" charset="-122"/>
                <a:cs typeface="Poppins" pitchFamily="34" charset="-120"/>
              </a:rPr>
              <a:t>pandas</a:t>
            </a:r>
            <a:endParaRPr lang="en-US" sz="900" dirty="0"/>
          </a:p>
        </p:txBody>
      </p:sp>
      <p:sp>
        <p:nvSpPr>
          <p:cNvPr id="50" name="Text 38"/>
          <p:cNvSpPr txBox="1"/>
          <p:nvPr/>
        </p:nvSpPr>
        <p:spPr>
          <a:xfrm>
            <a:off x="749808" y="4718304"/>
            <a:ext cx="1097280" cy="603504"/>
          </a:xfrm>
          <a:prstGeom prst="roundRect">
            <a:avLst>
              <a:gd name="adj" fmla="val 15152"/>
            </a:avLst>
          </a:prstGeom>
          <a:solidFill>
            <a:srgbClr val="F4F1FF"/>
          </a:solidFill>
          <a:ln w="9525">
            <a:solidFill>
              <a:srgbClr val="DCD6F7"/>
            </a:solidFill>
          </a:ln>
        </p:spPr>
        <p:txBody>
          <a:bodyPr wrap="square" lIns="38100" tIns="38100" rIns="38100" bIns="38100" rtlCol="0" anchor="ctr"/>
          <a:lstStyle/>
          <a:p>
            <a:pPr algn="ctr" indent="0" marL="0">
              <a:buNone/>
            </a:pPr>
            <a:r>
              <a:rPr lang="en-US" sz="900" dirty="0">
                <a:solidFill>
                  <a:srgbClr val="1E1A4D"/>
                </a:solidFill>
                <a:latin typeface="Poppins" pitchFamily="34" charset="0"/>
                <a:ea typeface="Poppins" pitchFamily="34" charset="-122"/>
                <a:cs typeface="Poppins" pitchFamily="34" charset="-120"/>
              </a:rPr>
              <a:t>250 prompts</a:t>
            </a:r>
            <a:endParaRPr lang="en-US" sz="900" dirty="0"/>
          </a:p>
        </p:txBody>
      </p:sp>
      <p:sp>
        <p:nvSpPr>
          <p:cNvPr id="51" name="Text 39"/>
          <p:cNvSpPr txBox="1"/>
          <p:nvPr/>
        </p:nvSpPr>
        <p:spPr>
          <a:xfrm>
            <a:off x="1892808" y="4718304"/>
            <a:ext cx="1097280" cy="603504"/>
          </a:xfrm>
          <a:prstGeom prst="roundRect">
            <a:avLst>
              <a:gd name="adj" fmla="val 15152"/>
            </a:avLst>
          </a:prstGeom>
          <a:solidFill>
            <a:srgbClr val="F4F1FF"/>
          </a:solidFill>
          <a:ln w="9525">
            <a:solidFill>
              <a:srgbClr val="DCD6F7"/>
            </a:solidFill>
          </a:ln>
        </p:spPr>
        <p:txBody>
          <a:bodyPr wrap="square" lIns="38100" tIns="38100" rIns="38100" bIns="38100" rtlCol="0" anchor="ctr"/>
          <a:lstStyle/>
          <a:p>
            <a:pPr algn="ctr" indent="0" marL="0">
              <a:buNone/>
            </a:pPr>
            <a:r>
              <a:rPr lang="en-US" sz="900" dirty="0">
                <a:solidFill>
                  <a:srgbClr val="1E1A4D"/>
                </a:solidFill>
                <a:latin typeface="Poppins" pitchFamily="34" charset="0"/>
                <a:ea typeface="Poppins" pitchFamily="34" charset="-122"/>
                <a:cs typeface="Poppins" pitchFamily="34" charset="-120"/>
              </a:rPr>
              <a:t>25 test files</a:t>
            </a:r>
            <a:endParaRPr lang="en-US" sz="900" dirty="0"/>
          </a:p>
        </p:txBody>
      </p:sp>
      <p:sp>
        <p:nvSpPr>
          <p:cNvPr id="52" name="card-24"/>
          <p:cNvSpPr/>
          <p:nvPr/>
        </p:nvSpPr>
        <p:spPr>
          <a:xfrm>
            <a:off x="3355848" y="3520440"/>
            <a:ext cx="2651760" cy="2011680"/>
          </a:xfrm>
          <a:prstGeom prst="roundRect">
            <a:avLst>
              <a:gd name="adj" fmla="val 6364"/>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53" name="Text 41"/>
          <p:cNvSpPr txBox="1"/>
          <p:nvPr/>
        </p:nvSpPr>
        <p:spPr>
          <a:xfrm>
            <a:off x="3557016" y="3630168"/>
            <a:ext cx="2286000" cy="292608"/>
          </a:xfrm>
          <a:prstGeom prst="rect">
            <a:avLst/>
          </a:prstGeom>
          <a:noFill/>
          <a:ln/>
        </p:spPr>
        <p:txBody>
          <a:bodyPr wrap="square" lIns="0" tIns="0" rIns="0" bIns="0" rtlCol="0" anchor="t"/>
          <a:lstStyle/>
          <a:p>
            <a:pPr indent="0" marL="0">
              <a:buNone/>
            </a:pPr>
            <a:r>
              <a:rPr lang="en-US" sz="1350" b="1" dirty="0">
                <a:solidFill>
                  <a:srgbClr val="6C5CE7"/>
                </a:solidFill>
                <a:latin typeface="Poppins" pitchFamily="34" charset="0"/>
                <a:ea typeface="Poppins" pitchFamily="34" charset="-122"/>
                <a:cs typeface="Poppins" pitchFamily="34" charset="-120"/>
              </a:rPr>
              <a:t>Models</a:t>
            </a:r>
            <a:endParaRPr lang="en-US" sz="1350" dirty="0"/>
          </a:p>
        </p:txBody>
      </p:sp>
      <p:sp>
        <p:nvSpPr>
          <p:cNvPr id="54" name="Text 42"/>
          <p:cNvSpPr txBox="1"/>
          <p:nvPr/>
        </p:nvSpPr>
        <p:spPr>
          <a:xfrm>
            <a:off x="3557016" y="4005072"/>
            <a:ext cx="1097280" cy="603504"/>
          </a:xfrm>
          <a:prstGeom prst="roundRect">
            <a:avLst>
              <a:gd name="adj" fmla="val 15152"/>
            </a:avLst>
          </a:prstGeom>
          <a:solidFill>
            <a:srgbClr val="F4F1FF"/>
          </a:solidFill>
          <a:ln w="9525">
            <a:solidFill>
              <a:srgbClr val="DCD6F7"/>
            </a:solidFill>
          </a:ln>
        </p:spPr>
        <p:txBody>
          <a:bodyPr wrap="square" lIns="38100" tIns="38100" rIns="38100" bIns="38100" rtlCol="0" anchor="ctr"/>
          <a:lstStyle/>
          <a:p>
            <a:pPr algn="ctr" indent="0" marL="0">
              <a:buNone/>
            </a:pPr>
            <a:r>
              <a:rPr lang="en-US" sz="900" dirty="0">
                <a:solidFill>
                  <a:srgbClr val="1E1A4D"/>
                </a:solidFill>
                <a:latin typeface="Poppins" pitchFamily="34" charset="0"/>
                <a:ea typeface="Poppins" pitchFamily="34" charset="-122"/>
                <a:cs typeface="Poppins" pitchFamily="34" charset="-120"/>
              </a:rPr>
              <a:t>Gemini API</a:t>
            </a:r>
            <a:endParaRPr lang="en-US" sz="900" dirty="0"/>
          </a:p>
        </p:txBody>
      </p:sp>
      <p:sp>
        <p:nvSpPr>
          <p:cNvPr id="55" name="Text 43"/>
          <p:cNvSpPr txBox="1"/>
          <p:nvPr/>
        </p:nvSpPr>
        <p:spPr>
          <a:xfrm>
            <a:off x="4700016" y="4005072"/>
            <a:ext cx="1097280" cy="603504"/>
          </a:xfrm>
          <a:prstGeom prst="roundRect">
            <a:avLst>
              <a:gd name="adj" fmla="val 15152"/>
            </a:avLst>
          </a:prstGeom>
          <a:solidFill>
            <a:srgbClr val="F4F1FF"/>
          </a:solidFill>
          <a:ln w="9525">
            <a:solidFill>
              <a:srgbClr val="DCD6F7"/>
            </a:solidFill>
          </a:ln>
        </p:spPr>
        <p:txBody>
          <a:bodyPr wrap="square" lIns="38100" tIns="38100" rIns="38100" bIns="38100" rtlCol="0" anchor="ctr"/>
          <a:lstStyle/>
          <a:p>
            <a:pPr algn="ctr" indent="0" marL="0">
              <a:buNone/>
            </a:pPr>
            <a:r>
              <a:rPr lang="en-US" sz="900" dirty="0">
                <a:solidFill>
                  <a:srgbClr val="1E1A4D"/>
                </a:solidFill>
                <a:latin typeface="Poppins" pitchFamily="34" charset="0"/>
                <a:ea typeface="Poppins" pitchFamily="34" charset="-122"/>
                <a:cs typeface="Poppins" pitchFamily="34" charset="-120"/>
              </a:rPr>
              <a:t>Groq API</a:t>
            </a:r>
            <a:endParaRPr lang="en-US" sz="900" dirty="0"/>
          </a:p>
        </p:txBody>
      </p:sp>
      <p:sp>
        <p:nvSpPr>
          <p:cNvPr id="56" name="Text 44"/>
          <p:cNvSpPr txBox="1"/>
          <p:nvPr/>
        </p:nvSpPr>
        <p:spPr>
          <a:xfrm>
            <a:off x="3557016" y="4718304"/>
            <a:ext cx="1097280" cy="603504"/>
          </a:xfrm>
          <a:prstGeom prst="roundRect">
            <a:avLst>
              <a:gd name="adj" fmla="val 15152"/>
            </a:avLst>
          </a:prstGeom>
          <a:solidFill>
            <a:srgbClr val="F4F1FF"/>
          </a:solidFill>
          <a:ln w="9525">
            <a:solidFill>
              <a:srgbClr val="DCD6F7"/>
            </a:solidFill>
          </a:ln>
        </p:spPr>
        <p:txBody>
          <a:bodyPr wrap="square" lIns="38100" tIns="38100" rIns="38100" bIns="38100" rtlCol="0" anchor="ctr"/>
          <a:lstStyle/>
          <a:p>
            <a:pPr algn="ctr" indent="0" marL="0">
              <a:buNone/>
            </a:pPr>
            <a:r>
              <a:rPr lang="en-US" sz="900" dirty="0">
                <a:solidFill>
                  <a:srgbClr val="1E1A4D"/>
                </a:solidFill>
                <a:latin typeface="Poppins" pitchFamily="34" charset="0"/>
                <a:ea typeface="Poppins" pitchFamily="34" charset="-122"/>
                <a:cs typeface="Poppins" pitchFamily="34" charset="-120"/>
              </a:rPr>
              <a:t>GPT-OSS 120B / 20B</a:t>
            </a:r>
            <a:endParaRPr lang="en-US" sz="900" dirty="0"/>
          </a:p>
        </p:txBody>
      </p:sp>
      <p:sp>
        <p:nvSpPr>
          <p:cNvPr id="57" name="Text 45"/>
          <p:cNvSpPr txBox="1"/>
          <p:nvPr/>
        </p:nvSpPr>
        <p:spPr>
          <a:xfrm>
            <a:off x="4700016" y="4718304"/>
            <a:ext cx="1097280" cy="603504"/>
          </a:xfrm>
          <a:prstGeom prst="roundRect">
            <a:avLst>
              <a:gd name="adj" fmla="val 15152"/>
            </a:avLst>
          </a:prstGeom>
          <a:solidFill>
            <a:srgbClr val="F4F1FF"/>
          </a:solidFill>
          <a:ln w="9525">
            <a:solidFill>
              <a:srgbClr val="DCD6F7"/>
            </a:solidFill>
          </a:ln>
        </p:spPr>
        <p:txBody>
          <a:bodyPr wrap="square" lIns="38100" tIns="38100" rIns="38100" bIns="38100" rtlCol="0" anchor="ctr"/>
          <a:lstStyle/>
          <a:p>
            <a:pPr algn="ctr" indent="0" marL="0">
              <a:buNone/>
            </a:pPr>
            <a:r>
              <a:rPr lang="en-US" sz="900" dirty="0">
                <a:solidFill>
                  <a:srgbClr val="1E1A4D"/>
                </a:solidFill>
                <a:latin typeface="Poppins" pitchFamily="34" charset="0"/>
                <a:ea typeface="Poppins" pitchFamily="34" charset="-122"/>
                <a:cs typeface="Poppins" pitchFamily="34" charset="-120"/>
              </a:rPr>
              <a:t>temperature 0</a:t>
            </a:r>
            <a:endParaRPr lang="en-US" sz="900" dirty="0"/>
          </a:p>
        </p:txBody>
      </p:sp>
      <p:sp>
        <p:nvSpPr>
          <p:cNvPr id="58" name="card-25"/>
          <p:cNvSpPr/>
          <p:nvPr/>
        </p:nvSpPr>
        <p:spPr>
          <a:xfrm>
            <a:off x="6163056" y="3520440"/>
            <a:ext cx="2651760" cy="2011680"/>
          </a:xfrm>
          <a:prstGeom prst="roundRect">
            <a:avLst>
              <a:gd name="adj" fmla="val 6364"/>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59" name="Text 47"/>
          <p:cNvSpPr txBox="1"/>
          <p:nvPr/>
        </p:nvSpPr>
        <p:spPr>
          <a:xfrm>
            <a:off x="6364224" y="3630168"/>
            <a:ext cx="2286000" cy="292608"/>
          </a:xfrm>
          <a:prstGeom prst="rect">
            <a:avLst/>
          </a:prstGeom>
          <a:noFill/>
          <a:ln/>
        </p:spPr>
        <p:txBody>
          <a:bodyPr wrap="square" lIns="0" tIns="0" rIns="0" bIns="0" rtlCol="0" anchor="t"/>
          <a:lstStyle/>
          <a:p>
            <a:pPr indent="0" marL="0">
              <a:buNone/>
            </a:pPr>
            <a:r>
              <a:rPr lang="en-US" sz="1350" b="1" dirty="0">
                <a:solidFill>
                  <a:srgbClr val="12B886"/>
                </a:solidFill>
                <a:latin typeface="Poppins" pitchFamily="34" charset="0"/>
                <a:ea typeface="Poppins" pitchFamily="34" charset="-122"/>
                <a:cs typeface="Poppins" pitchFamily="34" charset="-120"/>
              </a:rPr>
              <a:t>Grading</a:t>
            </a:r>
            <a:endParaRPr lang="en-US" sz="1350" dirty="0"/>
          </a:p>
        </p:txBody>
      </p:sp>
      <p:sp>
        <p:nvSpPr>
          <p:cNvPr id="60" name="Text 48"/>
          <p:cNvSpPr txBox="1"/>
          <p:nvPr/>
        </p:nvSpPr>
        <p:spPr>
          <a:xfrm>
            <a:off x="6364224" y="4005072"/>
            <a:ext cx="1097280" cy="603504"/>
          </a:xfrm>
          <a:prstGeom prst="roundRect">
            <a:avLst>
              <a:gd name="adj" fmla="val 15152"/>
            </a:avLst>
          </a:prstGeom>
          <a:solidFill>
            <a:srgbClr val="F4F1FF"/>
          </a:solidFill>
          <a:ln w="9525">
            <a:solidFill>
              <a:srgbClr val="DCD6F7"/>
            </a:solidFill>
          </a:ln>
        </p:spPr>
        <p:txBody>
          <a:bodyPr wrap="square" lIns="38100" tIns="38100" rIns="38100" bIns="38100" rtlCol="0" anchor="ctr"/>
          <a:lstStyle/>
          <a:p>
            <a:pPr algn="ctr" indent="0" marL="0">
              <a:buNone/>
            </a:pPr>
            <a:r>
              <a:rPr lang="en-US" sz="900" dirty="0">
                <a:solidFill>
                  <a:srgbClr val="1E1A4D"/>
                </a:solidFill>
                <a:latin typeface="Poppins" pitchFamily="34" charset="0"/>
                <a:ea typeface="Poppins" pitchFamily="34" charset="-122"/>
                <a:cs typeface="Poppins" pitchFamily="34" charset="-120"/>
              </a:rPr>
              <a:t>separate process</a:t>
            </a:r>
            <a:endParaRPr lang="en-US" sz="900" dirty="0"/>
          </a:p>
        </p:txBody>
      </p:sp>
      <p:sp>
        <p:nvSpPr>
          <p:cNvPr id="61" name="Text 49"/>
          <p:cNvSpPr txBox="1"/>
          <p:nvPr/>
        </p:nvSpPr>
        <p:spPr>
          <a:xfrm>
            <a:off x="7507224" y="4005072"/>
            <a:ext cx="1097280" cy="603504"/>
          </a:xfrm>
          <a:prstGeom prst="roundRect">
            <a:avLst>
              <a:gd name="adj" fmla="val 15152"/>
            </a:avLst>
          </a:prstGeom>
          <a:solidFill>
            <a:srgbClr val="F4F1FF"/>
          </a:solidFill>
          <a:ln w="9525">
            <a:solidFill>
              <a:srgbClr val="DCD6F7"/>
            </a:solidFill>
          </a:ln>
        </p:spPr>
        <p:txBody>
          <a:bodyPr wrap="square" lIns="38100" tIns="38100" rIns="38100" bIns="38100" rtlCol="0" anchor="ctr"/>
          <a:lstStyle/>
          <a:p>
            <a:pPr algn="ctr" indent="0" marL="0">
              <a:buNone/>
            </a:pPr>
            <a:r>
              <a:rPr lang="en-US" sz="900" dirty="0">
                <a:solidFill>
                  <a:srgbClr val="1E1A4D"/>
                </a:solidFill>
                <a:latin typeface="Poppins" pitchFamily="34" charset="0"/>
                <a:ea typeface="Poppins" pitchFamily="34" charset="-122"/>
                <a:cs typeface="Poppins" pitchFamily="34" charset="-120"/>
              </a:rPr>
              <a:t>10 s time limit</a:t>
            </a:r>
            <a:endParaRPr lang="en-US" sz="900" dirty="0"/>
          </a:p>
        </p:txBody>
      </p:sp>
      <p:sp>
        <p:nvSpPr>
          <p:cNvPr id="62" name="Text 50"/>
          <p:cNvSpPr txBox="1"/>
          <p:nvPr/>
        </p:nvSpPr>
        <p:spPr>
          <a:xfrm>
            <a:off x="6364224" y="4718304"/>
            <a:ext cx="1097280" cy="603504"/>
          </a:xfrm>
          <a:prstGeom prst="roundRect">
            <a:avLst>
              <a:gd name="adj" fmla="val 15152"/>
            </a:avLst>
          </a:prstGeom>
          <a:solidFill>
            <a:srgbClr val="F4F1FF"/>
          </a:solidFill>
          <a:ln w="9525">
            <a:solidFill>
              <a:srgbClr val="DCD6F7"/>
            </a:solidFill>
          </a:ln>
        </p:spPr>
        <p:txBody>
          <a:bodyPr wrap="square" lIns="38100" tIns="38100" rIns="38100" bIns="38100" rtlCol="0" anchor="ctr"/>
          <a:lstStyle/>
          <a:p>
            <a:pPr algn="ctr" indent="0" marL="0">
              <a:buNone/>
            </a:pPr>
            <a:r>
              <a:rPr lang="en-US" sz="900" dirty="0">
                <a:solidFill>
                  <a:srgbClr val="1E1A4D"/>
                </a:solidFill>
                <a:latin typeface="Poppins" pitchFamily="34" charset="0"/>
                <a:ea typeface="Poppins" pitchFamily="34" charset="-122"/>
                <a:cs typeface="Poppins" pitchFamily="34" charset="-120"/>
              </a:rPr>
              <a:t>audit-hook sandbox</a:t>
            </a:r>
            <a:endParaRPr lang="en-US" sz="900" dirty="0"/>
          </a:p>
        </p:txBody>
      </p:sp>
      <p:sp>
        <p:nvSpPr>
          <p:cNvPr id="63" name="Text 51"/>
          <p:cNvSpPr txBox="1"/>
          <p:nvPr/>
        </p:nvSpPr>
        <p:spPr>
          <a:xfrm>
            <a:off x="7507224" y="4718304"/>
            <a:ext cx="1097280" cy="603504"/>
          </a:xfrm>
          <a:prstGeom prst="roundRect">
            <a:avLst>
              <a:gd name="adj" fmla="val 15152"/>
            </a:avLst>
          </a:prstGeom>
          <a:solidFill>
            <a:srgbClr val="F4F1FF"/>
          </a:solidFill>
          <a:ln w="9525">
            <a:solidFill>
              <a:srgbClr val="DCD6F7"/>
            </a:solidFill>
          </a:ln>
        </p:spPr>
        <p:txBody>
          <a:bodyPr wrap="square" lIns="38100" tIns="38100" rIns="38100" bIns="38100" rtlCol="0" anchor="ctr"/>
          <a:lstStyle/>
          <a:p>
            <a:pPr algn="ctr" indent="0" marL="0">
              <a:buNone/>
            </a:pPr>
            <a:r>
              <a:rPr lang="en-US" sz="900" dirty="0">
                <a:solidFill>
                  <a:srgbClr val="1E1A4D"/>
                </a:solidFill>
                <a:latin typeface="Poppins" pitchFamily="34" charset="0"/>
                <a:ea typeface="Poppins" pitchFamily="34" charset="-122"/>
                <a:cs typeface="Poppins" pitchFamily="34" charset="-120"/>
              </a:rPr>
              <a:t>no API keys inside</a:t>
            </a:r>
            <a:endParaRPr lang="en-US" sz="900" dirty="0"/>
          </a:p>
        </p:txBody>
      </p:sp>
      <p:sp>
        <p:nvSpPr>
          <p:cNvPr id="64" name="card-26"/>
          <p:cNvSpPr/>
          <p:nvPr/>
        </p:nvSpPr>
        <p:spPr>
          <a:xfrm>
            <a:off x="8970264" y="3520440"/>
            <a:ext cx="2651760" cy="2011680"/>
          </a:xfrm>
          <a:prstGeom prst="roundRect">
            <a:avLst>
              <a:gd name="adj" fmla="val 6364"/>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65" name="Text 53"/>
          <p:cNvSpPr txBox="1"/>
          <p:nvPr/>
        </p:nvSpPr>
        <p:spPr>
          <a:xfrm>
            <a:off x="9171432" y="3630168"/>
            <a:ext cx="2286000" cy="292608"/>
          </a:xfrm>
          <a:prstGeom prst="rect">
            <a:avLst/>
          </a:prstGeom>
          <a:noFill/>
          <a:ln/>
        </p:spPr>
        <p:txBody>
          <a:bodyPr wrap="square" lIns="0" tIns="0" rIns="0" bIns="0" rtlCol="0" anchor="t"/>
          <a:lstStyle/>
          <a:p>
            <a:pPr indent="0" marL="0">
              <a:buNone/>
            </a:pPr>
            <a:r>
              <a:rPr lang="en-US" sz="1350" b="1" dirty="0">
                <a:solidFill>
                  <a:srgbClr val="D97706"/>
                </a:solidFill>
                <a:latin typeface="Poppins" pitchFamily="34" charset="0"/>
                <a:ea typeface="Poppins" pitchFamily="34" charset="-122"/>
                <a:cs typeface="Poppins" pitchFamily="34" charset="-120"/>
              </a:rPr>
              <a:t>Dashboard</a:t>
            </a:r>
            <a:endParaRPr lang="en-US" sz="1350" dirty="0"/>
          </a:p>
        </p:txBody>
      </p:sp>
      <p:sp>
        <p:nvSpPr>
          <p:cNvPr id="66" name="Text 54"/>
          <p:cNvSpPr txBox="1"/>
          <p:nvPr/>
        </p:nvSpPr>
        <p:spPr>
          <a:xfrm>
            <a:off x="9171432" y="4005072"/>
            <a:ext cx="1097280" cy="603504"/>
          </a:xfrm>
          <a:prstGeom prst="roundRect">
            <a:avLst>
              <a:gd name="adj" fmla="val 15152"/>
            </a:avLst>
          </a:prstGeom>
          <a:solidFill>
            <a:srgbClr val="F4F1FF"/>
          </a:solidFill>
          <a:ln w="9525">
            <a:solidFill>
              <a:srgbClr val="DCD6F7"/>
            </a:solidFill>
          </a:ln>
        </p:spPr>
        <p:txBody>
          <a:bodyPr wrap="square" lIns="38100" tIns="38100" rIns="38100" bIns="38100" rtlCol="0" anchor="ctr"/>
          <a:lstStyle/>
          <a:p>
            <a:pPr algn="ctr" indent="0" marL="0">
              <a:buNone/>
            </a:pPr>
            <a:r>
              <a:rPr lang="en-US" sz="900" dirty="0">
                <a:solidFill>
                  <a:srgbClr val="1E1A4D"/>
                </a:solidFill>
                <a:latin typeface="Poppins" pitchFamily="34" charset="0"/>
                <a:ea typeface="Poppins" pitchFamily="34" charset="-122"/>
                <a:cs typeface="Poppins" pitchFamily="34" charset="-120"/>
              </a:rPr>
              <a:t>Streamlit</a:t>
            </a:r>
            <a:endParaRPr lang="en-US" sz="900" dirty="0"/>
          </a:p>
        </p:txBody>
      </p:sp>
      <p:sp>
        <p:nvSpPr>
          <p:cNvPr id="67" name="Text 55"/>
          <p:cNvSpPr txBox="1"/>
          <p:nvPr/>
        </p:nvSpPr>
        <p:spPr>
          <a:xfrm>
            <a:off x="10314432" y="4005072"/>
            <a:ext cx="1097280" cy="603504"/>
          </a:xfrm>
          <a:prstGeom prst="roundRect">
            <a:avLst>
              <a:gd name="adj" fmla="val 15152"/>
            </a:avLst>
          </a:prstGeom>
          <a:solidFill>
            <a:srgbClr val="F4F1FF"/>
          </a:solidFill>
          <a:ln w="9525">
            <a:solidFill>
              <a:srgbClr val="DCD6F7"/>
            </a:solidFill>
          </a:ln>
        </p:spPr>
        <p:txBody>
          <a:bodyPr wrap="square" lIns="38100" tIns="38100" rIns="38100" bIns="38100" rtlCol="0" anchor="ctr"/>
          <a:lstStyle/>
          <a:p>
            <a:pPr algn="ctr" indent="0" marL="0">
              <a:buNone/>
            </a:pPr>
            <a:r>
              <a:rPr lang="en-US" sz="900" dirty="0">
                <a:solidFill>
                  <a:srgbClr val="1E1A4D"/>
                </a:solidFill>
                <a:latin typeface="Poppins" pitchFamily="34" charset="0"/>
                <a:ea typeface="Poppins" pitchFamily="34" charset="-122"/>
                <a:cs typeface="Poppins" pitchFamily="34" charset="-120"/>
              </a:rPr>
              <a:t>Plotly</a:t>
            </a:r>
            <a:endParaRPr lang="en-US" sz="900" dirty="0"/>
          </a:p>
        </p:txBody>
      </p:sp>
      <p:sp>
        <p:nvSpPr>
          <p:cNvPr id="68" name="Text 56"/>
          <p:cNvSpPr txBox="1"/>
          <p:nvPr/>
        </p:nvSpPr>
        <p:spPr>
          <a:xfrm>
            <a:off x="9171432" y="4718304"/>
            <a:ext cx="1097280" cy="603504"/>
          </a:xfrm>
          <a:prstGeom prst="roundRect">
            <a:avLst>
              <a:gd name="adj" fmla="val 15152"/>
            </a:avLst>
          </a:prstGeom>
          <a:solidFill>
            <a:srgbClr val="F4F1FF"/>
          </a:solidFill>
          <a:ln w="9525">
            <a:solidFill>
              <a:srgbClr val="DCD6F7"/>
            </a:solidFill>
          </a:ln>
        </p:spPr>
        <p:txBody>
          <a:bodyPr wrap="square" lIns="38100" tIns="38100" rIns="38100" bIns="38100" rtlCol="0" anchor="ctr"/>
          <a:lstStyle/>
          <a:p>
            <a:pPr algn="ctr" indent="0" marL="0">
              <a:buNone/>
            </a:pPr>
            <a:r>
              <a:rPr lang="en-US" sz="900" dirty="0">
                <a:solidFill>
                  <a:srgbClr val="1E1A4D"/>
                </a:solidFill>
                <a:latin typeface="Poppins" pitchFamily="34" charset="0"/>
                <a:ea typeface="Poppins" pitchFamily="34" charset="-122"/>
                <a:cs typeface="Poppins" pitchFamily="34" charset="-120"/>
              </a:rPr>
              <a:t>custom HTML/JS widgets</a:t>
            </a:r>
            <a:endParaRPr lang="en-US" sz="900" dirty="0"/>
          </a:p>
        </p:txBody>
      </p:sp>
      <p:sp>
        <p:nvSpPr>
          <p:cNvPr id="69" name="Text 57"/>
          <p:cNvSpPr txBox="1"/>
          <p:nvPr/>
        </p:nvSpPr>
        <p:spPr>
          <a:xfrm>
            <a:off x="10314432" y="4718304"/>
            <a:ext cx="1097280" cy="603504"/>
          </a:xfrm>
          <a:prstGeom prst="roundRect">
            <a:avLst>
              <a:gd name="adj" fmla="val 15152"/>
            </a:avLst>
          </a:prstGeom>
          <a:solidFill>
            <a:srgbClr val="F4F1FF"/>
          </a:solidFill>
          <a:ln w="9525">
            <a:solidFill>
              <a:srgbClr val="DCD6F7"/>
            </a:solidFill>
          </a:ln>
        </p:spPr>
        <p:txBody>
          <a:bodyPr wrap="square" lIns="38100" tIns="38100" rIns="38100" bIns="38100" rtlCol="0" anchor="ctr"/>
          <a:lstStyle/>
          <a:p>
            <a:pPr algn="ctr" indent="0" marL="0">
              <a:buNone/>
            </a:pPr>
            <a:r>
              <a:rPr lang="en-US" sz="900" dirty="0">
                <a:solidFill>
                  <a:srgbClr val="1E1A4D"/>
                </a:solidFill>
                <a:latin typeface="Poppins" pitchFamily="34" charset="0"/>
                <a:ea typeface="Poppins" pitchFamily="34" charset="-122"/>
                <a:cs typeface="Poppins" pitchFamily="34" charset="-120"/>
              </a:rPr>
              <a:t>Streamlit Cloud</a:t>
            </a:r>
            <a:endParaRPr lang="en-US" sz="900" dirty="0"/>
          </a:p>
        </p:txBody>
      </p:sp>
      <p:sp>
        <p:nvSpPr>
          <p:cNvPr id="70" name="card-27"/>
          <p:cNvSpPr/>
          <p:nvPr/>
        </p:nvSpPr>
        <p:spPr>
          <a:xfrm>
            <a:off x="548640" y="5641848"/>
            <a:ext cx="11091672" cy="502920"/>
          </a:xfrm>
          <a:prstGeom prst="roundRect">
            <a:avLst>
              <a:gd name="adj" fmla="val 25455"/>
            </a:avLst>
          </a:prstGeom>
          <a:solidFill>
            <a:srgbClr val="1E1A4D"/>
          </a:solidFill>
          <a:ln w="12700">
            <a:solidFill>
              <a:srgbClr val="1E1A4D"/>
            </a:solidFill>
            <a:prstDash val="solid"/>
          </a:ln>
        </p:spPr>
      </p:sp>
      <p:sp>
        <p:nvSpPr>
          <p:cNvPr id="71" name="Text 59"/>
          <p:cNvSpPr txBox="1"/>
          <p:nvPr/>
        </p:nvSpPr>
        <p:spPr>
          <a:xfrm>
            <a:off x="731520" y="5641848"/>
            <a:ext cx="10698480" cy="502920"/>
          </a:xfrm>
          <a:prstGeom prst="rect">
            <a:avLst/>
          </a:prstGeom>
          <a:noFill/>
          <a:ln/>
        </p:spPr>
        <p:txBody>
          <a:bodyPr wrap="square" lIns="0" tIns="0" rIns="0" bIns="0" rtlCol="0" anchor="ctr"/>
          <a:lstStyle/>
          <a:p>
            <a:pPr algn="ctr" indent="0" marL="0">
              <a:buNone/>
            </a:pPr>
            <a:r>
              <a:rPr lang="en-US" sz="1150" b="1" dirty="0">
                <a:solidFill>
                  <a:srgbClr val="2BD9A0"/>
                </a:solidFill>
                <a:latin typeface="Poppins" pitchFamily="34" charset="0"/>
                <a:ea typeface="Poppins" pitchFamily="34" charset="-122"/>
                <a:cs typeface="Poppins" pitchFamily="34" charset="-120"/>
              </a:rPr>
              <a:t>48 automated checks</a:t>
            </a:r>
            <a:pPr algn="ctr" indent="0" marL="0">
              <a:buNone/>
            </a:pPr>
            <a:r>
              <a:rPr lang="en-US" sz="1150" dirty="0">
                <a:solidFill>
                  <a:srgbClr val="DCD6F7"/>
                </a:solidFill>
                <a:latin typeface="Poppins" pitchFamily="34" charset="0"/>
                <a:ea typeface="Poppins" pitchFamily="34" charset="-122"/>
                <a:cs typeface="Poppins" pitchFamily="34" charset="-120"/>
              </a:rPr>
              <a:t>  ·  a reference solution for every task  ·  </a:t>
            </a:r>
            <a:pPr algn="ctr" indent="0" marL="0">
              <a:buNone/>
            </a:pPr>
            <a:r>
              <a:rPr lang="en-US" sz="1150" b="1" dirty="0">
                <a:solidFill>
                  <a:srgbClr val="FF9F1C"/>
                </a:solidFill>
                <a:latin typeface="Poppins" pitchFamily="34" charset="0"/>
                <a:ea typeface="Poppins" pitchFamily="34" charset="-122"/>
                <a:cs typeface="Poppins" pitchFamily="34" charset="-120"/>
              </a:rPr>
              <a:t>deployed live</a:t>
            </a:r>
            <a:pPr algn="ctr" indent="0" marL="0">
              <a:buNone/>
            </a:pPr>
            <a:r>
              <a:rPr lang="en-US" sz="1150" dirty="0">
                <a:solidFill>
                  <a:srgbClr val="DCD6F7"/>
                </a:solidFill>
                <a:latin typeface="Poppins" pitchFamily="34" charset="0"/>
                <a:ea typeface="Poppins" pitchFamily="34" charset="-122"/>
                <a:cs typeface="Poppins" pitchFamily="34" charset="-120"/>
              </a:rPr>
              <a:t>  ·  free API tiers, no GPU</a:t>
            </a:r>
            <a:endParaRPr lang="en-US" sz="11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75" dur="indefinite" nodeType="mainSeq">
                <p:childTnLst>
                  <p:par>
                    <p:cTn id="76" fill="hold">
                      <p:stCondLst>
                        <p:cond delay="indefinite"/>
                        <p:cond evt="onBegin" delay="0">
                          <p:tn val="75"/>
                        </p:cond>
                      </p:stCondLst>
                      <p:childTnLst>
                        <p:par>
                          <p:cTn id="77" fill="hold">
                            <p:stCondLst>
                              <p:cond delay="0"/>
                            </p:stCondLst>
                            <p:childTnLst>
                              <p:par>
                                <p:cTn id="5" presetID="10" presetClass="entr" presetSubtype="0" fill="hold" grpId="0" nodeType="withEffect">
                                  <p:stCondLst>
                                    <p:cond delay="150"/>
                                  </p:stCondLst>
                                  <p:childTnLst>
                                    <p:set>
                                      <p:cBhvr>
                                        <p:cTn id="3" dur="1" fill="hold">
                                          <p:stCondLst>
                                            <p:cond delay="0"/>
                                          </p:stCondLst>
                                        </p:cTn>
                                        <p:tgtEl>
                                          <p:spTgt spid="22"/>
                                        </p:tgtEl>
                                        <p:attrNameLst>
                                          <p:attrName>style.visibility</p:attrName>
                                        </p:attrNameLst>
                                      </p:cBhvr>
                                      <p:to>
                                        <p:strVal val="visible"/>
                                      </p:to>
                                    </p:set>
                                    <p:animEffect transition="in" filter="fade">
                                      <p:cBhvr>
                                        <p:cTn id="4" dur="450"/>
                                        <p:tgtEl>
                                          <p:spTgt spid="22"/>
                                        </p:tgtEl>
                                      </p:cBhvr>
                                    </p:animEffect>
                                  </p:childTnLst>
                                </p:cTn>
                              </p:par>
                              <p:par>
                                <p:cTn id="8" presetID="10" presetClass="entr" presetSubtype="0" fill="hold" grpId="0" nodeType="withEffect">
                                  <p:stCondLst>
                                    <p:cond delay="15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50"/>
                                        <p:tgtEl>
                                          <p:spTgt spid="23"/>
                                        </p:tgtEl>
                                      </p:cBhvr>
                                    </p:animEffect>
                                  </p:childTnLst>
                                </p:cTn>
                              </p:par>
                              <p:par>
                                <p:cTn id="11" presetID="10" presetClass="entr" presetSubtype="0" fill="hold" grpId="0" nodeType="withEffect">
                                  <p:stCondLst>
                                    <p:cond delay="15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50"/>
                                        <p:tgtEl>
                                          <p:spTgt spid="24"/>
                                        </p:tgtEl>
                                      </p:cBhvr>
                                    </p:animEffect>
                                  </p:childTnLst>
                                </p:cTn>
                              </p:par>
                              <p:par>
                                <p:cTn id="14" presetID="10" presetClass="entr" presetSubtype="0" fill="hold" grpId="0" nodeType="withEffect">
                                  <p:stCondLst>
                                    <p:cond delay="15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50"/>
                                        <p:tgtEl>
                                          <p:spTgt spid="25"/>
                                        </p:tgtEl>
                                      </p:cBhvr>
                                    </p:animEffect>
                                  </p:childTnLst>
                                </p:cTn>
                              </p:par>
                              <p:par>
                                <p:cTn id="17" presetID="10" presetClass="entr" presetSubtype="0" fill="hold" grpId="0" nodeType="withEffect">
                                  <p:stCondLst>
                                    <p:cond delay="29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450"/>
                                        <p:tgtEl>
                                          <p:spTgt spid="26"/>
                                        </p:tgtEl>
                                      </p:cBhvr>
                                    </p:animEffect>
                                  </p:childTnLst>
                                </p:cTn>
                              </p:par>
                              <p:par>
                                <p:cTn id="20" presetID="10" presetClass="entr" presetSubtype="0" fill="hold" grpId="0" nodeType="withEffect">
                                  <p:stCondLst>
                                    <p:cond delay="29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450"/>
                                        <p:tgtEl>
                                          <p:spTgt spid="27"/>
                                        </p:tgtEl>
                                      </p:cBhvr>
                                    </p:animEffect>
                                  </p:childTnLst>
                                </p:cTn>
                              </p:par>
                              <p:par>
                                <p:cTn id="23" presetID="10" presetClass="entr" presetSubtype="0" fill="hold" grpId="0" nodeType="withEffect">
                                  <p:stCondLst>
                                    <p:cond delay="29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50"/>
                                        <p:tgtEl>
                                          <p:spTgt spid="28"/>
                                        </p:tgtEl>
                                      </p:cBhvr>
                                    </p:animEffect>
                                  </p:childTnLst>
                                </p:cTn>
                              </p:par>
                              <p:par>
                                <p:cTn id="26" presetID="10" presetClass="entr" presetSubtype="0" fill="hold" grpId="0" nodeType="withEffect">
                                  <p:stCondLst>
                                    <p:cond delay="29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450"/>
                                        <p:tgtEl>
                                          <p:spTgt spid="29"/>
                                        </p:tgtEl>
                                      </p:cBhvr>
                                    </p:animEffect>
                                  </p:childTnLst>
                                </p:cTn>
                              </p:par>
                              <p:par>
                                <p:cTn id="29" presetID="10" presetClass="entr" presetSubtype="0" fill="hold" grpId="0" nodeType="withEffect">
                                  <p:stCondLst>
                                    <p:cond delay="43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450"/>
                                        <p:tgtEl>
                                          <p:spTgt spid="30"/>
                                        </p:tgtEl>
                                      </p:cBhvr>
                                    </p:animEffect>
                                  </p:childTnLst>
                                </p:cTn>
                              </p:par>
                              <p:par>
                                <p:cTn id="32" presetID="10" presetClass="entr" presetSubtype="0" fill="hold" grpId="0" nodeType="withEffect">
                                  <p:stCondLst>
                                    <p:cond delay="43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450"/>
                                        <p:tgtEl>
                                          <p:spTgt spid="31"/>
                                        </p:tgtEl>
                                      </p:cBhvr>
                                    </p:animEffect>
                                  </p:childTnLst>
                                </p:cTn>
                              </p:par>
                              <p:par>
                                <p:cTn id="35" presetID="10" presetClass="entr" presetSubtype="0" fill="hold" grpId="0" nodeType="withEffect">
                                  <p:stCondLst>
                                    <p:cond delay="43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450"/>
                                        <p:tgtEl>
                                          <p:spTgt spid="32"/>
                                        </p:tgtEl>
                                      </p:cBhvr>
                                    </p:animEffect>
                                  </p:childTnLst>
                                </p:cTn>
                              </p:par>
                              <p:par>
                                <p:cTn id="38" presetID="10" presetClass="entr" presetSubtype="0" fill="hold" grpId="0" nodeType="withEffect">
                                  <p:stCondLst>
                                    <p:cond delay="43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450"/>
                                        <p:tgtEl>
                                          <p:spTgt spid="33"/>
                                        </p:tgtEl>
                                      </p:cBhvr>
                                    </p:animEffect>
                                  </p:childTnLst>
                                </p:cTn>
                              </p:par>
                              <p:par>
                                <p:cTn id="41" presetID="10" presetClass="entr" presetSubtype="0" fill="hold" grpId="0" nodeType="withEffect">
                                  <p:stCondLst>
                                    <p:cond delay="57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450"/>
                                        <p:tgtEl>
                                          <p:spTgt spid="34"/>
                                        </p:tgtEl>
                                      </p:cBhvr>
                                    </p:animEffect>
                                  </p:childTnLst>
                                </p:cTn>
                              </p:par>
                              <p:par>
                                <p:cTn id="44" presetID="10" presetClass="entr" presetSubtype="0" fill="hold" grpId="0" nodeType="withEffect">
                                  <p:stCondLst>
                                    <p:cond delay="570"/>
                                  </p:stCondLst>
                                  <p:childTnLst>
                                    <p:set>
                                      <p:cBhvr>
                                        <p:cTn id="42" dur="1" fill="hold">
                                          <p:stCondLst>
                                            <p:cond delay="0"/>
                                          </p:stCondLst>
                                        </p:cTn>
                                        <p:tgtEl>
                                          <p:spTgt spid="35"/>
                                        </p:tgtEl>
                                        <p:attrNameLst>
                                          <p:attrName>style.visibility</p:attrName>
                                        </p:attrNameLst>
                                      </p:cBhvr>
                                      <p:to>
                                        <p:strVal val="visible"/>
                                      </p:to>
                                    </p:set>
                                    <p:animEffect transition="in" filter="fade">
                                      <p:cBhvr>
                                        <p:cTn id="43" dur="450"/>
                                        <p:tgtEl>
                                          <p:spTgt spid="35"/>
                                        </p:tgtEl>
                                      </p:cBhvr>
                                    </p:animEffect>
                                  </p:childTnLst>
                                </p:cTn>
                              </p:par>
                              <p:par>
                                <p:cTn id="47" presetID="10" presetClass="entr" presetSubtype="0" fill="hold" grpId="0" nodeType="withEffect">
                                  <p:stCondLst>
                                    <p:cond delay="570"/>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450"/>
                                        <p:tgtEl>
                                          <p:spTgt spid="36"/>
                                        </p:tgtEl>
                                      </p:cBhvr>
                                    </p:animEffect>
                                  </p:childTnLst>
                                </p:cTn>
                              </p:par>
                              <p:par>
                                <p:cTn id="50" presetID="10" presetClass="entr" presetSubtype="0" fill="hold" grpId="0" nodeType="withEffect">
                                  <p:stCondLst>
                                    <p:cond delay="570"/>
                                  </p:stCondLst>
                                  <p:childTnLst>
                                    <p:set>
                                      <p:cBhvr>
                                        <p:cTn id="48" dur="1" fill="hold">
                                          <p:stCondLst>
                                            <p:cond delay="0"/>
                                          </p:stCondLst>
                                        </p:cTn>
                                        <p:tgtEl>
                                          <p:spTgt spid="37"/>
                                        </p:tgtEl>
                                        <p:attrNameLst>
                                          <p:attrName>style.visibility</p:attrName>
                                        </p:attrNameLst>
                                      </p:cBhvr>
                                      <p:to>
                                        <p:strVal val="visible"/>
                                      </p:to>
                                    </p:set>
                                    <p:animEffect transition="in" filter="fade">
                                      <p:cBhvr>
                                        <p:cTn id="49" dur="450"/>
                                        <p:tgtEl>
                                          <p:spTgt spid="37"/>
                                        </p:tgtEl>
                                      </p:cBhvr>
                                    </p:animEffect>
                                  </p:childTnLst>
                                </p:cTn>
                              </p:par>
                              <p:par>
                                <p:cTn id="53" presetID="10" presetClass="entr" presetSubtype="0" fill="hold" grpId="0" nodeType="withEffect">
                                  <p:stCondLst>
                                    <p:cond delay="71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450"/>
                                        <p:tgtEl>
                                          <p:spTgt spid="38"/>
                                        </p:tgtEl>
                                      </p:cBhvr>
                                    </p:animEffect>
                                  </p:childTnLst>
                                </p:cTn>
                              </p:par>
                              <p:par>
                                <p:cTn id="56" presetID="10" presetClass="entr" presetSubtype="0" fill="hold" grpId="0" nodeType="withEffect">
                                  <p:stCondLst>
                                    <p:cond delay="710"/>
                                  </p:stCondLst>
                                  <p:childTnLst>
                                    <p:set>
                                      <p:cBhvr>
                                        <p:cTn id="54" dur="1" fill="hold">
                                          <p:stCondLst>
                                            <p:cond delay="0"/>
                                          </p:stCondLst>
                                        </p:cTn>
                                        <p:tgtEl>
                                          <p:spTgt spid="39"/>
                                        </p:tgtEl>
                                        <p:attrNameLst>
                                          <p:attrName>style.visibility</p:attrName>
                                        </p:attrNameLst>
                                      </p:cBhvr>
                                      <p:to>
                                        <p:strVal val="visible"/>
                                      </p:to>
                                    </p:set>
                                    <p:animEffect transition="in" filter="fade">
                                      <p:cBhvr>
                                        <p:cTn id="55" dur="450"/>
                                        <p:tgtEl>
                                          <p:spTgt spid="39"/>
                                        </p:tgtEl>
                                      </p:cBhvr>
                                    </p:animEffect>
                                  </p:childTnLst>
                                </p:cTn>
                              </p:par>
                              <p:par>
                                <p:cTn id="59" presetID="10" presetClass="entr" presetSubtype="0" fill="hold" grpId="0" nodeType="withEffect">
                                  <p:stCondLst>
                                    <p:cond delay="710"/>
                                  </p:stCondLst>
                                  <p:childTnLst>
                                    <p:set>
                                      <p:cBhvr>
                                        <p:cTn id="57" dur="1" fill="hold">
                                          <p:stCondLst>
                                            <p:cond delay="0"/>
                                          </p:stCondLst>
                                        </p:cTn>
                                        <p:tgtEl>
                                          <p:spTgt spid="40"/>
                                        </p:tgtEl>
                                        <p:attrNameLst>
                                          <p:attrName>style.visibility</p:attrName>
                                        </p:attrNameLst>
                                      </p:cBhvr>
                                      <p:to>
                                        <p:strVal val="visible"/>
                                      </p:to>
                                    </p:set>
                                    <p:animEffect transition="in" filter="fade">
                                      <p:cBhvr>
                                        <p:cTn id="58" dur="450"/>
                                        <p:tgtEl>
                                          <p:spTgt spid="40"/>
                                        </p:tgtEl>
                                      </p:cBhvr>
                                    </p:animEffect>
                                  </p:childTnLst>
                                </p:cTn>
                              </p:par>
                              <p:par>
                                <p:cTn id="62" presetID="10" presetClass="entr" presetSubtype="0" fill="hold" grpId="0" nodeType="withEffect">
                                  <p:stCondLst>
                                    <p:cond delay="710"/>
                                  </p:stCondLst>
                                  <p:childTnLst>
                                    <p:set>
                                      <p:cBhvr>
                                        <p:cTn id="60" dur="1" fill="hold">
                                          <p:stCondLst>
                                            <p:cond delay="0"/>
                                          </p:stCondLst>
                                        </p:cTn>
                                        <p:tgtEl>
                                          <p:spTgt spid="41"/>
                                        </p:tgtEl>
                                        <p:attrNameLst>
                                          <p:attrName>style.visibility</p:attrName>
                                        </p:attrNameLst>
                                      </p:cBhvr>
                                      <p:to>
                                        <p:strVal val="visible"/>
                                      </p:to>
                                    </p:set>
                                    <p:animEffect transition="in" filter="fade">
                                      <p:cBhvr>
                                        <p:cTn id="61" dur="450"/>
                                        <p:tgtEl>
                                          <p:spTgt spid="41"/>
                                        </p:tgtEl>
                                      </p:cBhvr>
                                    </p:animEffect>
                                  </p:childTnLst>
                                </p:cTn>
                              </p:par>
                              <p:par>
                                <p:cTn id="65" presetID="10" presetClass="entr" presetSubtype="0" fill="hold" grpId="0" nodeType="withEffect">
                                  <p:stCondLst>
                                    <p:cond delay="85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450"/>
                                        <p:tgtEl>
                                          <p:spTgt spid="42"/>
                                        </p:tgtEl>
                                      </p:cBhvr>
                                    </p:animEffect>
                                  </p:childTnLst>
                                </p:cTn>
                              </p:par>
                              <p:par>
                                <p:cTn id="68" presetID="10" presetClass="entr" presetSubtype="0" fill="hold" grpId="0" nodeType="withEffect">
                                  <p:stCondLst>
                                    <p:cond delay="850"/>
                                  </p:stCondLst>
                                  <p:childTnLst>
                                    <p:set>
                                      <p:cBhvr>
                                        <p:cTn id="66" dur="1" fill="hold">
                                          <p:stCondLst>
                                            <p:cond delay="0"/>
                                          </p:stCondLst>
                                        </p:cTn>
                                        <p:tgtEl>
                                          <p:spTgt spid="43"/>
                                        </p:tgtEl>
                                        <p:attrNameLst>
                                          <p:attrName>style.visibility</p:attrName>
                                        </p:attrNameLst>
                                      </p:cBhvr>
                                      <p:to>
                                        <p:strVal val="visible"/>
                                      </p:to>
                                    </p:set>
                                    <p:animEffect transition="in" filter="fade">
                                      <p:cBhvr>
                                        <p:cTn id="67" dur="450"/>
                                        <p:tgtEl>
                                          <p:spTgt spid="43"/>
                                        </p:tgtEl>
                                      </p:cBhvr>
                                    </p:animEffect>
                                  </p:childTnLst>
                                </p:cTn>
                              </p:par>
                              <p:par>
                                <p:cTn id="71" presetID="10" presetClass="entr" presetSubtype="0" fill="hold" grpId="0" nodeType="withEffect">
                                  <p:stCondLst>
                                    <p:cond delay="85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450"/>
                                        <p:tgtEl>
                                          <p:spTgt spid="44"/>
                                        </p:tgtEl>
                                      </p:cBhvr>
                                    </p:animEffect>
                                  </p:childTnLst>
                                </p:cTn>
                              </p:par>
                              <p:par>
                                <p:cTn id="74" presetID="10" presetClass="entr" presetSubtype="0" fill="hold" grpId="0" nodeType="withEffect">
                                  <p:stCondLst>
                                    <p:cond delay="85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45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AFB"/>
        </a:solidFill>
      </p:bgPr>
    </p:bg>
    <p:spTree>
      <p:nvGrpSpPr>
        <p:cNvPr id="1" name=""/>
        <p:cNvGrpSpPr/>
        <p:nvPr/>
      </p:nvGrpSpPr>
      <p:grpSpPr>
        <a:xfrm>
          <a:off x="0" y="0"/>
          <a:ext cx="0" cy="0"/>
          <a:chOff x="0" y="0"/>
          <a:chExt cx="0" cy="0"/>
        </a:xfrm>
      </p:grpSpPr>
      <p:pic>
        <p:nvPicPr>
          <p:cNvPr id="2" name="!!bg" descr="/home/claude/pitch/a/bg.jpg">    </p:cNvPr>
          <p:cNvPicPr>
            <a:picLocks noChangeAspect="1"/>
          </p:cNvPicPr>
          <p:nvPr/>
        </p:nvPicPr>
        <p:blipFill>
          <a:blip r:embed="rId1"/>
          <a:stretch>
            <a:fillRect/>
          </a:stretch>
        </p:blipFill>
        <p:spPr>
          <a:xfrm>
            <a:off x="0" y="0"/>
            <a:ext cx="12191695" cy="6858000"/>
          </a:xfrm>
          <a:prstGeom prst="rect">
            <a:avLst/>
          </a:prstGeom>
        </p:spPr>
      </p:pic>
      <p:sp>
        <p:nvSpPr>
          <p:cNvPr id="3" name="!!frame"/>
          <p:cNvSpPr/>
          <p:nvPr/>
        </p:nvSpPr>
        <p:spPr>
          <a:xfrm>
            <a:off x="182880" y="182880"/>
            <a:ext cx="11823192" cy="6492240"/>
          </a:xfrm>
          <a:prstGeom prst="roundRect">
            <a:avLst>
              <a:gd name="adj" fmla="val 2817"/>
            </a:avLst>
          </a:prstGeom>
          <a:ln w="28575">
            <a:solidFill>
              <a:srgbClr val="7F79B6"/>
            </a:solidFill>
            <a:prstDash val="solid"/>
          </a:ln>
        </p:spPr>
      </p:sp>
      <p:pic>
        <p:nvPicPr>
          <p:cNvPr id="4" name="!!logo-jain" descr="/home/claude/pitch/a/logo_jain.png">    </p:cNvPr>
          <p:cNvPicPr>
            <a:picLocks noChangeAspect="1"/>
          </p:cNvPicPr>
          <p:nvPr/>
        </p:nvPicPr>
        <p:blipFill>
          <a:blip r:embed="rId2"/>
          <a:stretch>
            <a:fillRect/>
          </a:stretch>
        </p:blipFill>
        <p:spPr>
          <a:xfrm>
            <a:off x="411480" y="329184"/>
            <a:ext cx="1316736" cy="384048"/>
          </a:xfrm>
          <a:prstGeom prst="rect">
            <a:avLst/>
          </a:prstGeom>
        </p:spPr>
      </p:pic>
      <p:pic>
        <p:nvPicPr>
          <p:cNvPr id="5" name="!!logo-avi" descr="/home/claude/pitch/a/logo_avi.png">    </p:cNvPr>
          <p:cNvPicPr>
            <a:picLocks noChangeAspect="1"/>
          </p:cNvPicPr>
          <p:nvPr/>
        </p:nvPicPr>
        <p:blipFill>
          <a:blip r:embed="rId3"/>
          <a:stretch>
            <a:fillRect/>
          </a:stretch>
        </p:blipFill>
        <p:spPr>
          <a:xfrm>
            <a:off x="5304892" y="320040"/>
            <a:ext cx="1581912" cy="393192"/>
          </a:xfrm>
          <a:prstGeom prst="rect">
            <a:avLst/>
          </a:prstGeom>
        </p:spPr>
      </p:pic>
      <p:pic>
        <p:nvPicPr>
          <p:cNvPr id="6" name="!!logo-fet" descr="/home/claude/pitch/a/logo_fet.png">    </p:cNvPr>
          <p:cNvPicPr>
            <a:picLocks noChangeAspect="1"/>
          </p:cNvPicPr>
          <p:nvPr/>
        </p:nvPicPr>
        <p:blipFill>
          <a:blip r:embed="rId4"/>
          <a:stretch>
            <a:fillRect/>
          </a:stretch>
        </p:blipFill>
        <p:spPr>
          <a:xfrm>
            <a:off x="10771632" y="274320"/>
            <a:ext cx="1005840" cy="457200"/>
          </a:xfrm>
          <a:prstGeom prst="rect">
            <a:avLst/>
          </a:prstGeom>
        </p:spPr>
      </p:pic>
      <p:sp>
        <p:nvSpPr>
          <p:cNvPr id="7" name="!!title"/>
          <p:cNvSpPr txBox="1"/>
          <p:nvPr/>
        </p:nvSpPr>
        <p:spPr>
          <a:xfrm>
            <a:off x="548640" y="841248"/>
            <a:ext cx="11094415" cy="566928"/>
          </a:xfrm>
          <a:prstGeom prst="rect">
            <a:avLst/>
          </a:prstGeom>
          <a:noFill/>
          <a:ln/>
        </p:spPr>
        <p:txBody>
          <a:bodyPr wrap="square" lIns="0" tIns="0" rIns="0" bIns="0" rtlCol="0" anchor="ctr"/>
          <a:lstStyle/>
          <a:p>
            <a:pPr algn="ctr" indent="0" marL="0">
              <a:buNone/>
            </a:pPr>
            <a:r>
              <a:rPr lang="en-US" sz="3000" b="1" dirty="0">
                <a:solidFill>
                  <a:srgbClr val="1E1A4D"/>
                </a:solidFill>
                <a:latin typeface="Lora" pitchFamily="34" charset="0"/>
                <a:ea typeface="Lora" pitchFamily="34" charset="-122"/>
                <a:cs typeface="Lora" pitchFamily="34" charset="-120"/>
              </a:rPr>
              <a:t>Innovation</a:t>
            </a:r>
            <a:endParaRPr lang="en-US" sz="3000" dirty="0"/>
          </a:p>
        </p:txBody>
      </p:sp>
      <p:sp>
        <p:nvSpPr>
          <p:cNvPr id="8" name="!!sub"/>
          <p:cNvSpPr txBox="1"/>
          <p:nvPr/>
        </p:nvSpPr>
        <p:spPr>
          <a:xfrm>
            <a:off x="1097280" y="1389888"/>
            <a:ext cx="9997135" cy="365760"/>
          </a:xfrm>
          <a:prstGeom prst="rect">
            <a:avLst/>
          </a:prstGeom>
          <a:noFill/>
          <a:ln/>
        </p:spPr>
        <p:txBody>
          <a:bodyPr wrap="square" lIns="0" tIns="0" rIns="0" bIns="0" rtlCol="0" anchor="ctr"/>
          <a:lstStyle/>
          <a:p>
            <a:pPr algn="ctr" indent="0" marL="0">
              <a:buNone/>
            </a:pPr>
            <a:r>
              <a:rPr lang="en-US" sz="1300" dirty="0">
                <a:solidFill>
                  <a:srgbClr val="6C5CE7"/>
                </a:solidFill>
                <a:latin typeface="Poppins" pitchFamily="34" charset="0"/>
                <a:ea typeface="Poppins" pitchFamily="34" charset="-122"/>
                <a:cs typeface="Poppins" pitchFamily="34" charset="-120"/>
              </a:rPr>
              <a:t>Existing benchmarks don't test code written from code-mixed Indian prompts. MixCheck does.</a:t>
            </a:r>
            <a:endParaRPr lang="en-US" sz="1300" dirty="0"/>
          </a:p>
        </p:txBody>
      </p:sp>
      <p:sp>
        <p:nvSpPr>
          <p:cNvPr id="9" name="!!foot-l"/>
          <p:cNvSpPr txBox="1"/>
          <p:nvPr/>
        </p:nvSpPr>
        <p:spPr>
          <a:xfrm>
            <a:off x="457200" y="6336792"/>
            <a:ext cx="3108960" cy="219456"/>
          </a:xfrm>
          <a:prstGeom prst="rect">
            <a:avLst/>
          </a:prstGeom>
          <a:noFill/>
          <a:ln/>
        </p:spPr>
        <p:txBody>
          <a:bodyPr wrap="square" lIns="0" tIns="0" rIns="0" bIns="0" rtlCol="0" anchor="t"/>
          <a:lstStyle/>
          <a:p>
            <a:pPr indent="0" marL="0">
              <a:buNone/>
            </a:pPr>
            <a:r>
              <a:rPr lang="en-US" sz="900" dirty="0">
                <a:solidFill>
                  <a:srgbClr val="8D88B5"/>
                </a:solidFill>
                <a:latin typeface="Poppins" pitchFamily="34" charset="0"/>
                <a:ea typeface="Poppins" pitchFamily="34" charset="-122"/>
                <a:cs typeface="Poppins" pitchFamily="34" charset="-120"/>
              </a:rPr>
              <a:t>MixCheck  ·  Team El Rata Alada</a:t>
            </a:r>
            <a:endParaRPr lang="en-US" sz="900" dirty="0"/>
          </a:p>
        </p:txBody>
      </p:sp>
      <p:sp>
        <p:nvSpPr>
          <p:cNvPr id="10" name="!!btn-nav-1">
            <a:hlinkClick r:id="rId5" action="ppaction://hlinksldjump"/>
          </p:cNvPr>
          <p:cNvSpPr/>
          <p:nvPr/>
        </p:nvSpPr>
        <p:spPr>
          <a:xfrm>
            <a:off x="4628236"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1</a:t>
            </a:r>
            <a:endParaRPr lang="en-US" sz="750" dirty="0"/>
          </a:p>
        </p:txBody>
      </p:sp>
      <p:sp>
        <p:nvSpPr>
          <p:cNvPr id="11" name="!!btn-nav-2">
            <a:hlinkClick r:id="rId6" action="ppaction://hlinksldjump"/>
          </p:cNvPr>
          <p:cNvSpPr/>
          <p:nvPr/>
        </p:nvSpPr>
        <p:spPr>
          <a:xfrm>
            <a:off x="4929988"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2</a:t>
            </a:r>
            <a:endParaRPr lang="en-US" sz="750" dirty="0"/>
          </a:p>
        </p:txBody>
      </p:sp>
      <p:sp>
        <p:nvSpPr>
          <p:cNvPr id="12" name="!!btn-nav-3">
            <a:hlinkClick r:id="rId7" action="ppaction://hlinksldjump"/>
          </p:cNvPr>
          <p:cNvSpPr/>
          <p:nvPr/>
        </p:nvSpPr>
        <p:spPr>
          <a:xfrm>
            <a:off x="5231740"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3</a:t>
            </a:r>
            <a:endParaRPr lang="en-US" sz="750" dirty="0"/>
          </a:p>
        </p:txBody>
      </p:sp>
      <p:sp>
        <p:nvSpPr>
          <p:cNvPr id="13" name="!!btn-nav-4">
            <a:hlinkClick r:id="rId8" action="ppaction://hlinksldjump"/>
          </p:cNvPr>
          <p:cNvSpPr/>
          <p:nvPr/>
        </p:nvSpPr>
        <p:spPr>
          <a:xfrm>
            <a:off x="5533492"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4</a:t>
            </a:r>
            <a:endParaRPr lang="en-US" sz="750" dirty="0"/>
          </a:p>
        </p:txBody>
      </p:sp>
      <p:sp>
        <p:nvSpPr>
          <p:cNvPr id="14" name="!!btn-nav-5">
            <a:hlinkClick r:id="rId9" action="ppaction://hlinksldjump"/>
          </p:cNvPr>
          <p:cNvSpPr/>
          <p:nvPr/>
        </p:nvSpPr>
        <p:spPr>
          <a:xfrm>
            <a:off x="5835244" y="6336792"/>
            <a:ext cx="219456" cy="219456"/>
          </a:xfrm>
          <a:prstGeom prst="ellipse">
            <a:avLst/>
          </a:prstGeom>
          <a:solidFill>
            <a:srgbClr val="6C5CE7"/>
          </a:solidFill>
          <a:ln w="9525">
            <a:solidFill>
              <a:srgbClr val="6C5CE7"/>
            </a:solid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5</a:t>
            </a:r>
            <a:endParaRPr lang="en-US" sz="750" dirty="0"/>
          </a:p>
        </p:txBody>
      </p:sp>
      <p:sp>
        <p:nvSpPr>
          <p:cNvPr id="15" name="!!btn-nav-6">
            <a:hlinkClick r:id="rId10" action="ppaction://hlinksldjump"/>
          </p:cNvPr>
          <p:cNvSpPr/>
          <p:nvPr/>
        </p:nvSpPr>
        <p:spPr>
          <a:xfrm>
            <a:off x="6136996"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6</a:t>
            </a:r>
            <a:endParaRPr lang="en-US" sz="750" dirty="0"/>
          </a:p>
        </p:txBody>
      </p:sp>
      <p:sp>
        <p:nvSpPr>
          <p:cNvPr id="16" name="!!btn-nav-7">
            <a:hlinkClick r:id="rId11" action="ppaction://hlinksldjump"/>
          </p:cNvPr>
          <p:cNvSpPr/>
          <p:nvPr/>
        </p:nvSpPr>
        <p:spPr>
          <a:xfrm>
            <a:off x="6438748"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7</a:t>
            </a:r>
            <a:endParaRPr lang="en-US" sz="750" dirty="0"/>
          </a:p>
        </p:txBody>
      </p:sp>
      <p:sp>
        <p:nvSpPr>
          <p:cNvPr id="17" name="!!btn-nav-8">
            <a:hlinkClick r:id="rId12" action="ppaction://hlinksldjump"/>
          </p:cNvPr>
          <p:cNvSpPr/>
          <p:nvPr/>
        </p:nvSpPr>
        <p:spPr>
          <a:xfrm>
            <a:off x="6740500"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8</a:t>
            </a:r>
            <a:endParaRPr lang="en-US" sz="750" dirty="0"/>
          </a:p>
        </p:txBody>
      </p:sp>
      <p:sp>
        <p:nvSpPr>
          <p:cNvPr id="18" name="!!btn-nav-9">
            <a:hlinkClick r:id="rId13" action="ppaction://hlinksldjump"/>
          </p:cNvPr>
          <p:cNvSpPr/>
          <p:nvPr/>
        </p:nvSpPr>
        <p:spPr>
          <a:xfrm>
            <a:off x="7042252"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9</a:t>
            </a:r>
            <a:endParaRPr lang="en-US" sz="750" dirty="0"/>
          </a:p>
        </p:txBody>
      </p:sp>
      <p:sp>
        <p:nvSpPr>
          <p:cNvPr id="19" name="!!btn-nav-10">
            <a:hlinkClick r:id="rId14" action="ppaction://hlinksldjump"/>
          </p:cNvPr>
          <p:cNvSpPr/>
          <p:nvPr/>
        </p:nvSpPr>
        <p:spPr>
          <a:xfrm>
            <a:off x="7344004"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10</a:t>
            </a:r>
            <a:endParaRPr lang="en-US" sz="750" dirty="0"/>
          </a:p>
        </p:txBody>
      </p:sp>
      <p:sp>
        <p:nvSpPr>
          <p:cNvPr id="20" name="!!btn-live">
            <a:hlinkClick r:id="rId15"/>
          </p:cNvPr>
          <p:cNvSpPr/>
          <p:nvPr/>
        </p:nvSpPr>
        <p:spPr>
          <a:xfrm>
            <a:off x="8503920" y="6309360"/>
            <a:ext cx="3246120" cy="274320"/>
          </a:xfrm>
          <a:prstGeom prst="rect">
            <a:avLst/>
          </a:prstGeom>
          <a:noFill/>
          <a:ln/>
        </p:spPr>
        <p:txBody>
          <a:bodyPr wrap="square" lIns="0" tIns="0" rIns="0" bIns="0" rtlCol="0" anchor="ctr"/>
          <a:lstStyle/>
          <a:p>
            <a:pPr algn="r" indent="0" marL="0">
              <a:buNone/>
            </a:pPr>
            <a:r>
              <a:rPr lang="en-US" sz="900" b="1" dirty="0">
                <a:solidFill>
                  <a:srgbClr val="6C5CE7"/>
                </a:solidFill>
                <a:latin typeface="Poppins" pitchFamily="34" charset="0"/>
                <a:ea typeface="Poppins" pitchFamily="34" charset="-122"/>
                <a:cs typeface="Poppins" pitchFamily="34" charset="-120"/>
              </a:rPr>
              <a:t>● Live: mixcheck-elrata.streamlit.app</a:t>
            </a:r>
            <a:endParaRPr lang="en-US" sz="900" dirty="0"/>
          </a:p>
        </p:txBody>
      </p:sp>
      <p:sp>
        <p:nvSpPr>
          <p:cNvPr id="21" name="card-28"/>
          <p:cNvSpPr/>
          <p:nvPr/>
        </p:nvSpPr>
        <p:spPr>
          <a:xfrm>
            <a:off x="548640" y="1965960"/>
            <a:ext cx="3108960" cy="1965960"/>
          </a:xfrm>
          <a:prstGeom prst="roundRect">
            <a:avLst>
              <a:gd name="adj" fmla="val 6512"/>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22" name="dot-29"/>
          <p:cNvSpPr/>
          <p:nvPr/>
        </p:nvSpPr>
        <p:spPr>
          <a:xfrm>
            <a:off x="777240" y="2194560"/>
            <a:ext cx="566928" cy="566928"/>
          </a:xfrm>
          <a:prstGeom prst="ellipse">
            <a:avLst/>
          </a:prstGeom>
          <a:solidFill>
            <a:srgbClr val="6C5CE7"/>
          </a:solidFill>
          <a:ln/>
        </p:spPr>
      </p:sp>
      <p:pic>
        <p:nvPicPr>
          <p:cNvPr id="23" name="icon-30" descr="/home/claude/pitch/a/ic/FaExchangeAlt_w.png">    </p:cNvPr>
          <p:cNvPicPr>
            <a:picLocks noChangeAspect="1"/>
          </p:cNvPicPr>
          <p:nvPr/>
        </p:nvPicPr>
        <p:blipFill>
          <a:blip r:embed="rId16"/>
          <a:stretch>
            <a:fillRect/>
          </a:stretch>
        </p:blipFill>
        <p:spPr>
          <a:xfrm>
            <a:off x="924641" y="2341961"/>
            <a:ext cx="272125" cy="272125"/>
          </a:xfrm>
          <a:prstGeom prst="rect">
            <a:avLst/>
          </a:prstGeom>
        </p:spPr>
      </p:pic>
      <p:sp>
        <p:nvSpPr>
          <p:cNvPr id="24" name="Text 17"/>
          <p:cNvSpPr txBox="1"/>
          <p:nvPr/>
        </p:nvSpPr>
        <p:spPr>
          <a:xfrm>
            <a:off x="777240" y="2880360"/>
            <a:ext cx="2697480" cy="310896"/>
          </a:xfrm>
          <a:prstGeom prst="rect">
            <a:avLst/>
          </a:prstGeom>
          <a:noFill/>
          <a:ln/>
        </p:spPr>
        <p:txBody>
          <a:bodyPr wrap="square" lIns="0" tIns="0" rIns="0" bIns="0" rtlCol="0" anchor="t"/>
          <a:lstStyle/>
          <a:p>
            <a:pPr indent="0" marL="0">
              <a:buNone/>
            </a:pPr>
            <a:r>
              <a:rPr lang="en-US" sz="1400" b="1" dirty="0">
                <a:solidFill>
                  <a:srgbClr val="1E1A4D"/>
                </a:solidFill>
                <a:latin typeface="Poppins" pitchFamily="34" charset="0"/>
                <a:ea typeface="Poppins" pitchFamily="34" charset="-122"/>
                <a:cs typeface="Poppins" pitchFamily="34" charset="-120"/>
              </a:rPr>
              <a:t>Paired prompts</a:t>
            </a:r>
            <a:endParaRPr lang="en-US" sz="1400" dirty="0"/>
          </a:p>
        </p:txBody>
      </p:sp>
      <p:sp>
        <p:nvSpPr>
          <p:cNvPr id="25" name="Text 18"/>
          <p:cNvSpPr txBox="1"/>
          <p:nvPr/>
        </p:nvSpPr>
        <p:spPr>
          <a:xfrm>
            <a:off x="777240" y="3209544"/>
            <a:ext cx="2697480" cy="640080"/>
          </a:xfrm>
          <a:prstGeom prst="rect">
            <a:avLst/>
          </a:prstGeom>
          <a:noFill/>
          <a:ln/>
        </p:spPr>
        <p:txBody>
          <a:bodyPr wrap="square" lIns="0" tIns="0" rIns="0" bIns="0" rtlCol="0" anchor="t"/>
          <a:lstStyle/>
          <a:p>
            <a:pPr indent="0" marL="0">
              <a:buNone/>
            </a:pPr>
            <a:r>
              <a:rPr lang="en-US" sz="1000" dirty="0">
                <a:solidFill>
                  <a:srgbClr val="5B577E"/>
                </a:solidFill>
                <a:latin typeface="Poppins" pitchFamily="34" charset="0"/>
                <a:ea typeface="Poppins" pitchFamily="34" charset="-122"/>
                <a:cs typeface="Poppins" pitchFamily="34" charset="-120"/>
              </a:rPr>
              <a:t>Same task, only the language changes, so any drop comes from the mixing.</a:t>
            </a:r>
            <a:endParaRPr lang="en-US" sz="1000" dirty="0"/>
          </a:p>
        </p:txBody>
      </p:sp>
      <p:sp>
        <p:nvSpPr>
          <p:cNvPr id="26" name="card-31"/>
          <p:cNvSpPr/>
          <p:nvPr/>
        </p:nvSpPr>
        <p:spPr>
          <a:xfrm>
            <a:off x="3794760" y="1965960"/>
            <a:ext cx="3108960" cy="1965960"/>
          </a:xfrm>
          <a:prstGeom prst="roundRect">
            <a:avLst>
              <a:gd name="adj" fmla="val 6512"/>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27" name="dot-32"/>
          <p:cNvSpPr/>
          <p:nvPr/>
        </p:nvSpPr>
        <p:spPr>
          <a:xfrm>
            <a:off x="4023360" y="2194560"/>
            <a:ext cx="566928" cy="566928"/>
          </a:xfrm>
          <a:prstGeom prst="ellipse">
            <a:avLst/>
          </a:prstGeom>
          <a:solidFill>
            <a:srgbClr val="12B886"/>
          </a:solidFill>
          <a:ln/>
        </p:spPr>
      </p:sp>
      <p:pic>
        <p:nvPicPr>
          <p:cNvPr id="28" name="icon-33" descr="/home/claude/pitch/a/ic/FaVial_w.png">    </p:cNvPr>
          <p:cNvPicPr>
            <a:picLocks noChangeAspect="1"/>
          </p:cNvPicPr>
          <p:nvPr/>
        </p:nvPicPr>
        <p:blipFill>
          <a:blip r:embed="rId17"/>
          <a:stretch>
            <a:fillRect/>
          </a:stretch>
        </p:blipFill>
        <p:spPr>
          <a:xfrm>
            <a:off x="4170761" y="2341961"/>
            <a:ext cx="272125" cy="272125"/>
          </a:xfrm>
          <a:prstGeom prst="rect">
            <a:avLst/>
          </a:prstGeom>
        </p:spPr>
      </p:pic>
      <p:sp>
        <p:nvSpPr>
          <p:cNvPr id="29" name="Text 21"/>
          <p:cNvSpPr txBox="1"/>
          <p:nvPr/>
        </p:nvSpPr>
        <p:spPr>
          <a:xfrm>
            <a:off x="4023360" y="2880360"/>
            <a:ext cx="2697480" cy="310896"/>
          </a:xfrm>
          <a:prstGeom prst="rect">
            <a:avLst/>
          </a:prstGeom>
          <a:noFill/>
          <a:ln/>
        </p:spPr>
        <p:txBody>
          <a:bodyPr wrap="square" lIns="0" tIns="0" rIns="0" bIns="0" rtlCol="0" anchor="t"/>
          <a:lstStyle/>
          <a:p>
            <a:pPr indent="0" marL="0">
              <a:buNone/>
            </a:pPr>
            <a:r>
              <a:rPr lang="en-US" sz="1400" b="1" dirty="0">
                <a:solidFill>
                  <a:srgbClr val="1E1A4D"/>
                </a:solidFill>
                <a:latin typeface="Poppins" pitchFamily="34" charset="0"/>
                <a:ea typeface="Poppins" pitchFamily="34" charset="-122"/>
                <a:cs typeface="Poppins" pitchFamily="34" charset="-120"/>
              </a:rPr>
              <a:t>Graded by running code</a:t>
            </a:r>
            <a:endParaRPr lang="en-US" sz="1400" dirty="0"/>
          </a:p>
        </p:txBody>
      </p:sp>
      <p:sp>
        <p:nvSpPr>
          <p:cNvPr id="30" name="Text 22"/>
          <p:cNvSpPr txBox="1"/>
          <p:nvPr/>
        </p:nvSpPr>
        <p:spPr>
          <a:xfrm>
            <a:off x="4023360" y="3209544"/>
            <a:ext cx="2697480" cy="640080"/>
          </a:xfrm>
          <a:prstGeom prst="rect">
            <a:avLst/>
          </a:prstGeom>
          <a:noFill/>
          <a:ln/>
        </p:spPr>
        <p:txBody>
          <a:bodyPr wrap="square" lIns="0" tIns="0" rIns="0" bIns="0" rtlCol="0" anchor="t"/>
          <a:lstStyle/>
          <a:p>
            <a:pPr indent="0" marL="0">
              <a:buNone/>
            </a:pPr>
            <a:r>
              <a:rPr lang="en-US" sz="1000" dirty="0">
                <a:solidFill>
                  <a:srgbClr val="5B577E"/>
                </a:solidFill>
                <a:latin typeface="Poppins" pitchFamily="34" charset="0"/>
                <a:ea typeface="Poppins" pitchFamily="34" charset="-122"/>
                <a:cs typeface="Poppins" pitchFamily="34" charset="-120"/>
              </a:rPr>
              <a:t>Test cases decide. No opinions, no hand-labelling.</a:t>
            </a:r>
            <a:endParaRPr lang="en-US" sz="1000" dirty="0"/>
          </a:p>
        </p:txBody>
      </p:sp>
      <p:sp>
        <p:nvSpPr>
          <p:cNvPr id="31" name="card-34"/>
          <p:cNvSpPr/>
          <p:nvPr/>
        </p:nvSpPr>
        <p:spPr>
          <a:xfrm>
            <a:off x="548640" y="4069080"/>
            <a:ext cx="3108960" cy="1965960"/>
          </a:xfrm>
          <a:prstGeom prst="roundRect">
            <a:avLst>
              <a:gd name="adj" fmla="val 6512"/>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32" name="dot-35"/>
          <p:cNvSpPr/>
          <p:nvPr/>
        </p:nvSpPr>
        <p:spPr>
          <a:xfrm>
            <a:off x="777240" y="4297680"/>
            <a:ext cx="566928" cy="566928"/>
          </a:xfrm>
          <a:prstGeom prst="ellipse">
            <a:avLst/>
          </a:prstGeom>
          <a:solidFill>
            <a:srgbClr val="D97706"/>
          </a:solidFill>
          <a:ln/>
        </p:spPr>
      </p:sp>
      <p:pic>
        <p:nvPicPr>
          <p:cNvPr id="33" name="icon-36" descr="/home/claude/pitch/a/ic/FaBalanceScale_w.png">    </p:cNvPr>
          <p:cNvPicPr>
            <a:picLocks noChangeAspect="1"/>
          </p:cNvPicPr>
          <p:nvPr/>
        </p:nvPicPr>
        <p:blipFill>
          <a:blip r:embed="rId18"/>
          <a:stretch>
            <a:fillRect/>
          </a:stretch>
        </p:blipFill>
        <p:spPr>
          <a:xfrm>
            <a:off x="924641" y="4445081"/>
            <a:ext cx="272125" cy="272125"/>
          </a:xfrm>
          <a:prstGeom prst="rect">
            <a:avLst/>
          </a:prstGeom>
        </p:spPr>
      </p:pic>
      <p:sp>
        <p:nvSpPr>
          <p:cNvPr id="34" name="Text 25"/>
          <p:cNvSpPr txBox="1"/>
          <p:nvPr/>
        </p:nvSpPr>
        <p:spPr>
          <a:xfrm>
            <a:off x="777240" y="4983480"/>
            <a:ext cx="2697480" cy="310896"/>
          </a:xfrm>
          <a:prstGeom prst="rect">
            <a:avLst/>
          </a:prstGeom>
          <a:noFill/>
          <a:ln/>
        </p:spPr>
        <p:txBody>
          <a:bodyPr wrap="square" lIns="0" tIns="0" rIns="0" bIns="0" rtlCol="0" anchor="t"/>
          <a:lstStyle/>
          <a:p>
            <a:pPr indent="0" marL="0">
              <a:buNone/>
            </a:pPr>
            <a:r>
              <a:rPr lang="en-US" sz="1400" b="1" dirty="0">
                <a:solidFill>
                  <a:srgbClr val="1E1A4D"/>
                </a:solidFill>
                <a:latin typeface="Poppins" pitchFamily="34" charset="0"/>
                <a:ea typeface="Poppins" pitchFamily="34" charset="-122"/>
                <a:cs typeface="Poppins" pitchFamily="34" charset="-120"/>
              </a:rPr>
              <a:t>Two scores</a:t>
            </a:r>
            <a:endParaRPr lang="en-US" sz="1400" dirty="0"/>
          </a:p>
        </p:txBody>
      </p:sp>
      <p:sp>
        <p:nvSpPr>
          <p:cNvPr id="35" name="Text 26"/>
          <p:cNvSpPr txBox="1"/>
          <p:nvPr/>
        </p:nvSpPr>
        <p:spPr>
          <a:xfrm>
            <a:off x="777240" y="5312664"/>
            <a:ext cx="2697480" cy="640080"/>
          </a:xfrm>
          <a:prstGeom prst="rect">
            <a:avLst/>
          </a:prstGeom>
          <a:noFill/>
          <a:ln/>
        </p:spPr>
        <p:txBody>
          <a:bodyPr wrap="square" lIns="0" tIns="0" rIns="0" bIns="0" rtlCol="0" anchor="t"/>
          <a:lstStyle/>
          <a:p>
            <a:pPr indent="0" marL="0">
              <a:buNone/>
            </a:pPr>
            <a:r>
              <a:rPr lang="en-US" sz="1000" dirty="0">
                <a:solidFill>
                  <a:srgbClr val="5B577E"/>
                </a:solidFill>
                <a:latin typeface="Poppins" pitchFamily="34" charset="0"/>
                <a:ea typeface="Poppins" pitchFamily="34" charset="-122"/>
                <a:cs typeface="Poppins" pitchFamily="34" charset="-120"/>
              </a:rPr>
              <a:t>Does the code work? Did the AI follow the instructions?</a:t>
            </a:r>
            <a:endParaRPr lang="en-US" sz="1000" dirty="0"/>
          </a:p>
        </p:txBody>
      </p:sp>
      <p:sp>
        <p:nvSpPr>
          <p:cNvPr id="36" name="card-37"/>
          <p:cNvSpPr/>
          <p:nvPr/>
        </p:nvSpPr>
        <p:spPr>
          <a:xfrm>
            <a:off x="3794760" y="4069080"/>
            <a:ext cx="3108960" cy="1965960"/>
          </a:xfrm>
          <a:prstGeom prst="roundRect">
            <a:avLst>
              <a:gd name="adj" fmla="val 6512"/>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37" name="dot-38"/>
          <p:cNvSpPr/>
          <p:nvPr/>
        </p:nvSpPr>
        <p:spPr>
          <a:xfrm>
            <a:off x="4023360" y="4297680"/>
            <a:ext cx="566928" cy="566928"/>
          </a:xfrm>
          <a:prstGeom prst="ellipse">
            <a:avLst/>
          </a:prstGeom>
          <a:solidFill>
            <a:srgbClr val="C2477D"/>
          </a:solidFill>
          <a:ln/>
        </p:spPr>
      </p:sp>
      <p:pic>
        <p:nvPicPr>
          <p:cNvPr id="38" name="icon-39" descr="/home/claude/pitch/a/ic/FaChartBar_w.png">    </p:cNvPr>
          <p:cNvPicPr>
            <a:picLocks noChangeAspect="1"/>
          </p:cNvPicPr>
          <p:nvPr/>
        </p:nvPicPr>
        <p:blipFill>
          <a:blip r:embed="rId19"/>
          <a:stretch>
            <a:fillRect/>
          </a:stretch>
        </p:blipFill>
        <p:spPr>
          <a:xfrm>
            <a:off x="4170761" y="4445081"/>
            <a:ext cx="272125" cy="272125"/>
          </a:xfrm>
          <a:prstGeom prst="rect">
            <a:avLst/>
          </a:prstGeom>
        </p:spPr>
      </p:pic>
      <p:sp>
        <p:nvSpPr>
          <p:cNvPr id="39" name="Text 29"/>
          <p:cNvSpPr txBox="1"/>
          <p:nvPr/>
        </p:nvSpPr>
        <p:spPr>
          <a:xfrm>
            <a:off x="4023360" y="4983480"/>
            <a:ext cx="2697480" cy="310896"/>
          </a:xfrm>
          <a:prstGeom prst="rect">
            <a:avLst/>
          </a:prstGeom>
          <a:noFill/>
          <a:ln/>
        </p:spPr>
        <p:txBody>
          <a:bodyPr wrap="square" lIns="0" tIns="0" rIns="0" bIns="0" rtlCol="0" anchor="t"/>
          <a:lstStyle/>
          <a:p>
            <a:pPr indent="0" marL="0">
              <a:buNone/>
            </a:pPr>
            <a:r>
              <a:rPr lang="en-US" sz="1400" b="1" dirty="0">
                <a:solidFill>
                  <a:srgbClr val="1E1A4D"/>
                </a:solidFill>
                <a:latin typeface="Poppins" pitchFamily="34" charset="0"/>
                <a:ea typeface="Poppins" pitchFamily="34" charset="-122"/>
                <a:cs typeface="Poppins" pitchFamily="34" charset="-120"/>
              </a:rPr>
              <a:t>Statistics built in</a:t>
            </a:r>
            <a:endParaRPr lang="en-US" sz="1400" dirty="0"/>
          </a:p>
        </p:txBody>
      </p:sp>
      <p:sp>
        <p:nvSpPr>
          <p:cNvPr id="40" name="Text 30"/>
          <p:cNvSpPr txBox="1"/>
          <p:nvPr/>
        </p:nvSpPr>
        <p:spPr>
          <a:xfrm>
            <a:off x="4023360" y="5312664"/>
            <a:ext cx="2697480" cy="640080"/>
          </a:xfrm>
          <a:prstGeom prst="rect">
            <a:avLst/>
          </a:prstGeom>
          <a:noFill/>
          <a:ln/>
        </p:spPr>
        <p:txBody>
          <a:bodyPr wrap="square" lIns="0" tIns="0" rIns="0" bIns="0" rtlCol="0" anchor="t"/>
          <a:lstStyle/>
          <a:p>
            <a:pPr indent="0" marL="0">
              <a:buNone/>
            </a:pPr>
            <a:r>
              <a:rPr lang="en-US" sz="1000" dirty="0">
                <a:solidFill>
                  <a:srgbClr val="5B577E"/>
                </a:solidFill>
                <a:latin typeface="Poppins" pitchFamily="34" charset="0"/>
                <a:ea typeface="Poppins" pitchFamily="34" charset="-122"/>
                <a:cs typeface="Poppins" pitchFamily="34" charset="-120"/>
              </a:rPr>
              <a:t>95% ranges and Fisher's exact test separate real gaps from chance.</a:t>
            </a:r>
            <a:endParaRPr lang="en-US" sz="1000" dirty="0"/>
          </a:p>
        </p:txBody>
      </p:sp>
      <p:sp>
        <p:nvSpPr>
          <p:cNvPr id="41" name="card-40"/>
          <p:cNvSpPr/>
          <p:nvPr/>
        </p:nvSpPr>
        <p:spPr>
          <a:xfrm>
            <a:off x="7178040" y="1965960"/>
            <a:ext cx="4480560" cy="4069080"/>
          </a:xfrm>
          <a:prstGeom prst="roundRect">
            <a:avLst>
              <a:gd name="adj" fmla="val 3146"/>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42" name="Text 32"/>
          <p:cNvSpPr txBox="1"/>
          <p:nvPr/>
        </p:nvSpPr>
        <p:spPr>
          <a:xfrm>
            <a:off x="7315200" y="2103120"/>
            <a:ext cx="1417320" cy="502920"/>
          </a:xfrm>
          <a:prstGeom prst="rect">
            <a:avLst/>
          </a:prstGeom>
          <a:noFill/>
          <a:ln/>
        </p:spPr>
        <p:txBody>
          <a:bodyPr wrap="square" lIns="0" tIns="0" rIns="0" bIns="0" rtlCol="0" anchor="b"/>
          <a:lstStyle/>
          <a:p>
            <a:pPr algn="l" indent="0" marL="0">
              <a:buNone/>
            </a:pPr>
            <a:endParaRPr lang="en-US" sz="850" dirty="0"/>
          </a:p>
        </p:txBody>
      </p:sp>
      <p:sp>
        <p:nvSpPr>
          <p:cNvPr id="43" name="Text 33"/>
          <p:cNvSpPr txBox="1"/>
          <p:nvPr/>
        </p:nvSpPr>
        <p:spPr>
          <a:xfrm>
            <a:off x="8732520" y="2103120"/>
            <a:ext cx="713232" cy="502920"/>
          </a:xfrm>
          <a:prstGeom prst="rect">
            <a:avLst/>
          </a:prstGeom>
          <a:noFill/>
          <a:ln/>
        </p:spPr>
        <p:txBody>
          <a:bodyPr wrap="square" lIns="0" tIns="0" rIns="0" bIns="0" rtlCol="0" anchor="b"/>
          <a:lstStyle/>
          <a:p>
            <a:pPr algn="ctr" indent="0" marL="0">
              <a:buNone/>
            </a:pPr>
            <a:r>
              <a:rPr lang="en-US" sz="850" b="1" dirty="0">
                <a:solidFill>
                  <a:srgbClr val="5B577E"/>
                </a:solidFill>
                <a:latin typeface="Poppins" pitchFamily="34" charset="0"/>
                <a:ea typeface="Poppins" pitchFamily="34" charset="-122"/>
                <a:cs typeface="Poppins" pitchFamily="34" charset="-120"/>
              </a:rPr>
              <a:t>Indian</a:t>
            </a:r>
            <a:endParaRPr lang="en-US" sz="850" dirty="0"/>
          </a:p>
          <a:p>
            <a:pPr algn="ctr" indent="0" marL="0">
              <a:buNone/>
            </a:pPr>
            <a:r>
              <a:rPr lang="en-US" sz="850" b="1" dirty="0">
                <a:solidFill>
                  <a:srgbClr val="5B577E"/>
                </a:solidFill>
                <a:latin typeface="Poppins" pitchFamily="34" charset="0"/>
                <a:ea typeface="Poppins" pitchFamily="34" charset="-122"/>
                <a:cs typeface="Poppins" pitchFamily="34" charset="-120"/>
              </a:rPr>
              <a:t>languages</a:t>
            </a:r>
            <a:endParaRPr lang="en-US" sz="850" dirty="0"/>
          </a:p>
        </p:txBody>
      </p:sp>
      <p:sp>
        <p:nvSpPr>
          <p:cNvPr id="44" name="Text 34"/>
          <p:cNvSpPr txBox="1"/>
          <p:nvPr/>
        </p:nvSpPr>
        <p:spPr>
          <a:xfrm>
            <a:off x="9445752" y="2103120"/>
            <a:ext cx="713232" cy="502920"/>
          </a:xfrm>
          <a:prstGeom prst="rect">
            <a:avLst/>
          </a:prstGeom>
          <a:noFill/>
          <a:ln/>
        </p:spPr>
        <p:txBody>
          <a:bodyPr wrap="square" lIns="0" tIns="0" rIns="0" bIns="0" rtlCol="0" anchor="b"/>
          <a:lstStyle/>
          <a:p>
            <a:pPr algn="ctr" indent="0" marL="0">
              <a:buNone/>
            </a:pPr>
            <a:r>
              <a:rPr lang="en-US" sz="850" b="1" dirty="0">
                <a:solidFill>
                  <a:srgbClr val="5B577E"/>
                </a:solidFill>
                <a:latin typeface="Poppins" pitchFamily="34" charset="0"/>
                <a:ea typeface="Poppins" pitchFamily="34" charset="-122"/>
                <a:cs typeface="Poppins" pitchFamily="34" charset="-120"/>
              </a:rPr>
              <a:t>Mixed</a:t>
            </a:r>
            <a:endParaRPr lang="en-US" sz="850" dirty="0"/>
          </a:p>
          <a:p>
            <a:pPr algn="ctr" indent="0" marL="0">
              <a:buNone/>
            </a:pPr>
            <a:r>
              <a:rPr lang="en-US" sz="850" b="1" dirty="0">
                <a:solidFill>
                  <a:srgbClr val="5B577E"/>
                </a:solidFill>
                <a:latin typeface="Poppins" pitchFamily="34" charset="0"/>
                <a:ea typeface="Poppins" pitchFamily="34" charset="-122"/>
                <a:cs typeface="Poppins" pitchFamily="34" charset="-120"/>
              </a:rPr>
              <a:t>prompts</a:t>
            </a:r>
            <a:endParaRPr lang="en-US" sz="850" dirty="0"/>
          </a:p>
        </p:txBody>
      </p:sp>
      <p:sp>
        <p:nvSpPr>
          <p:cNvPr id="45" name="Text 35"/>
          <p:cNvSpPr txBox="1"/>
          <p:nvPr/>
        </p:nvSpPr>
        <p:spPr>
          <a:xfrm>
            <a:off x="10158984" y="2103120"/>
            <a:ext cx="713232" cy="502920"/>
          </a:xfrm>
          <a:prstGeom prst="rect">
            <a:avLst/>
          </a:prstGeom>
          <a:noFill/>
          <a:ln/>
        </p:spPr>
        <p:txBody>
          <a:bodyPr wrap="square" lIns="0" tIns="0" rIns="0" bIns="0" rtlCol="0" anchor="b"/>
          <a:lstStyle/>
          <a:p>
            <a:pPr algn="ctr" indent="0" marL="0">
              <a:buNone/>
            </a:pPr>
            <a:r>
              <a:rPr lang="en-US" sz="850" b="1" dirty="0">
                <a:solidFill>
                  <a:srgbClr val="5B577E"/>
                </a:solidFill>
                <a:latin typeface="Poppins" pitchFamily="34" charset="0"/>
                <a:ea typeface="Poppins" pitchFamily="34" charset="-122"/>
                <a:cs typeface="Poppins" pitchFamily="34" charset="-120"/>
              </a:rPr>
              <a:t>Tests</a:t>
            </a:r>
            <a:endParaRPr lang="en-US" sz="850" dirty="0"/>
          </a:p>
          <a:p>
            <a:pPr algn="ctr" indent="0" marL="0">
              <a:buNone/>
            </a:pPr>
            <a:r>
              <a:rPr lang="en-US" sz="850" b="1" dirty="0">
                <a:solidFill>
                  <a:srgbClr val="5B577E"/>
                </a:solidFill>
                <a:latin typeface="Poppins" pitchFamily="34" charset="0"/>
                <a:ea typeface="Poppins" pitchFamily="34" charset="-122"/>
                <a:cs typeface="Poppins" pitchFamily="34" charset="-120"/>
              </a:rPr>
              <a:t>code</a:t>
            </a:r>
            <a:endParaRPr lang="en-US" sz="850" dirty="0"/>
          </a:p>
        </p:txBody>
      </p:sp>
      <p:sp>
        <p:nvSpPr>
          <p:cNvPr id="46" name="Text 36"/>
          <p:cNvSpPr txBox="1"/>
          <p:nvPr/>
        </p:nvSpPr>
        <p:spPr>
          <a:xfrm>
            <a:off x="10872216" y="2103120"/>
            <a:ext cx="731520" cy="502920"/>
          </a:xfrm>
          <a:prstGeom prst="rect">
            <a:avLst/>
          </a:prstGeom>
          <a:noFill/>
          <a:ln/>
        </p:spPr>
        <p:txBody>
          <a:bodyPr wrap="square" lIns="0" tIns="0" rIns="0" bIns="0" rtlCol="0" anchor="b"/>
          <a:lstStyle/>
          <a:p>
            <a:pPr algn="ctr" indent="0" marL="0">
              <a:buNone/>
            </a:pPr>
            <a:r>
              <a:rPr lang="en-US" sz="850" b="1" dirty="0">
                <a:solidFill>
                  <a:srgbClr val="5B577E"/>
                </a:solidFill>
                <a:latin typeface="Poppins" pitchFamily="34" charset="0"/>
                <a:ea typeface="Poppins" pitchFamily="34" charset="-122"/>
                <a:cs typeface="Poppins" pitchFamily="34" charset="-120"/>
              </a:rPr>
              <a:t>Checks</a:t>
            </a:r>
            <a:endParaRPr lang="en-US" sz="850" dirty="0"/>
          </a:p>
          <a:p>
            <a:pPr algn="ctr" indent="0" marL="0">
              <a:buNone/>
            </a:pPr>
            <a:r>
              <a:rPr lang="en-US" sz="850" b="1" dirty="0">
                <a:solidFill>
                  <a:srgbClr val="5B577E"/>
                </a:solidFill>
                <a:latin typeface="Poppins" pitchFamily="34" charset="0"/>
                <a:ea typeface="Poppins" pitchFamily="34" charset="-122"/>
                <a:cs typeface="Poppins" pitchFamily="34" charset="-120"/>
              </a:rPr>
              <a:t>instructions</a:t>
            </a:r>
            <a:endParaRPr lang="en-US" sz="850" dirty="0"/>
          </a:p>
        </p:txBody>
      </p:sp>
      <p:sp>
        <p:nvSpPr>
          <p:cNvPr id="47" name="Shape 37"/>
          <p:cNvSpPr/>
          <p:nvPr/>
        </p:nvSpPr>
        <p:spPr>
          <a:xfrm>
            <a:off x="7315200" y="3364992"/>
            <a:ext cx="4206240" cy="0"/>
          </a:xfrm>
          <a:prstGeom prst="line">
            <a:avLst/>
          </a:prstGeom>
          <a:noFill/>
          <a:ln w="9525">
            <a:solidFill>
              <a:srgbClr val="DCD6F7"/>
            </a:solidFill>
            <a:prstDash val="solid"/>
          </a:ln>
        </p:spPr>
      </p:sp>
      <p:sp>
        <p:nvSpPr>
          <p:cNvPr id="48" name="Text 38"/>
          <p:cNvSpPr txBox="1"/>
          <p:nvPr/>
        </p:nvSpPr>
        <p:spPr>
          <a:xfrm>
            <a:off x="7406640" y="2743200"/>
            <a:ext cx="1371600" cy="530352"/>
          </a:xfrm>
          <a:prstGeom prst="rect">
            <a:avLst/>
          </a:prstGeom>
          <a:noFill/>
          <a:ln/>
        </p:spPr>
        <p:txBody>
          <a:bodyPr wrap="square" lIns="0" tIns="0" rIns="0" bIns="0" rtlCol="0" anchor="ctr"/>
          <a:lstStyle/>
          <a:p>
            <a:pPr indent="0" marL="0">
              <a:buNone/>
            </a:pPr>
            <a:r>
              <a:rPr lang="en-US" sz="1200" b="1" dirty="0">
                <a:solidFill>
                  <a:srgbClr val="1E1A4D"/>
                </a:solidFill>
                <a:latin typeface="Poppins" pitchFamily="34" charset="0"/>
                <a:ea typeface="Poppins" pitchFamily="34" charset="-122"/>
                <a:cs typeface="Poppins" pitchFamily="34" charset="-120"/>
              </a:rPr>
              <a:t>HumanEval-XL</a:t>
            </a:r>
            <a:endParaRPr lang="en-US" sz="1200" dirty="0"/>
          </a:p>
        </p:txBody>
      </p:sp>
      <p:pic>
        <p:nvPicPr>
          <p:cNvPr id="49" name="Image 8" descr="/home/claude/pitch/a/ic/FaTimes_f.png">    </p:cNvPr>
          <p:cNvPicPr>
            <a:picLocks noChangeAspect="1"/>
          </p:cNvPicPr>
          <p:nvPr/>
        </p:nvPicPr>
        <p:blipFill>
          <a:blip r:embed="rId20"/>
          <a:stretch>
            <a:fillRect/>
          </a:stretch>
        </p:blipFill>
        <p:spPr>
          <a:xfrm>
            <a:off x="8970264" y="2889504"/>
            <a:ext cx="237744" cy="237744"/>
          </a:xfrm>
          <a:prstGeom prst="rect">
            <a:avLst/>
          </a:prstGeom>
        </p:spPr>
      </p:pic>
      <p:pic>
        <p:nvPicPr>
          <p:cNvPr id="50" name="Image 9" descr="/home/claude/pitch/a/ic/FaTimes_f.png">    </p:cNvPr>
          <p:cNvPicPr>
            <a:picLocks noChangeAspect="1"/>
          </p:cNvPicPr>
          <p:nvPr/>
        </p:nvPicPr>
        <p:blipFill>
          <a:blip r:embed="rId21"/>
          <a:stretch>
            <a:fillRect/>
          </a:stretch>
        </p:blipFill>
        <p:spPr>
          <a:xfrm>
            <a:off x="9683496" y="2889504"/>
            <a:ext cx="237744" cy="237744"/>
          </a:xfrm>
          <a:prstGeom prst="rect">
            <a:avLst/>
          </a:prstGeom>
        </p:spPr>
      </p:pic>
      <p:pic>
        <p:nvPicPr>
          <p:cNvPr id="51" name="Image 10" descr="/home/claude/pitch/a/ic/FaCheck_g.png">    </p:cNvPr>
          <p:cNvPicPr>
            <a:picLocks noChangeAspect="1"/>
          </p:cNvPicPr>
          <p:nvPr/>
        </p:nvPicPr>
        <p:blipFill>
          <a:blip r:embed="rId22"/>
          <a:stretch>
            <a:fillRect/>
          </a:stretch>
        </p:blipFill>
        <p:spPr>
          <a:xfrm>
            <a:off x="10396728" y="2889504"/>
            <a:ext cx="237744" cy="237744"/>
          </a:xfrm>
          <a:prstGeom prst="rect">
            <a:avLst/>
          </a:prstGeom>
        </p:spPr>
      </p:pic>
      <p:pic>
        <p:nvPicPr>
          <p:cNvPr id="52" name="Image 11" descr="/home/claude/pitch/a/ic/FaTimes_f.png">    </p:cNvPr>
          <p:cNvPicPr>
            <a:picLocks noChangeAspect="1"/>
          </p:cNvPicPr>
          <p:nvPr/>
        </p:nvPicPr>
        <p:blipFill>
          <a:blip r:embed="rId23"/>
          <a:stretch>
            <a:fillRect/>
          </a:stretch>
        </p:blipFill>
        <p:spPr>
          <a:xfrm>
            <a:off x="11119104" y="2889504"/>
            <a:ext cx="237744" cy="237744"/>
          </a:xfrm>
          <a:prstGeom prst="rect">
            <a:avLst/>
          </a:prstGeom>
        </p:spPr>
      </p:pic>
      <p:sp>
        <p:nvSpPr>
          <p:cNvPr id="53" name="Shape 39"/>
          <p:cNvSpPr/>
          <p:nvPr/>
        </p:nvSpPr>
        <p:spPr>
          <a:xfrm>
            <a:off x="7315200" y="4078224"/>
            <a:ext cx="4206240" cy="0"/>
          </a:xfrm>
          <a:prstGeom prst="line">
            <a:avLst/>
          </a:prstGeom>
          <a:noFill/>
          <a:ln w="9525">
            <a:solidFill>
              <a:srgbClr val="DCD6F7"/>
            </a:solidFill>
            <a:prstDash val="solid"/>
          </a:ln>
        </p:spPr>
      </p:sp>
      <p:sp>
        <p:nvSpPr>
          <p:cNvPr id="54" name="Text 40"/>
          <p:cNvSpPr txBox="1"/>
          <p:nvPr/>
        </p:nvSpPr>
        <p:spPr>
          <a:xfrm>
            <a:off x="7406640" y="3456432"/>
            <a:ext cx="1371600" cy="530352"/>
          </a:xfrm>
          <a:prstGeom prst="rect">
            <a:avLst/>
          </a:prstGeom>
          <a:noFill/>
          <a:ln/>
        </p:spPr>
        <p:txBody>
          <a:bodyPr wrap="square" lIns="0" tIns="0" rIns="0" bIns="0" rtlCol="0" anchor="ctr"/>
          <a:lstStyle/>
          <a:p>
            <a:pPr indent="0" marL="0">
              <a:buNone/>
            </a:pPr>
            <a:r>
              <a:rPr lang="en-US" sz="1200" b="1" dirty="0">
                <a:solidFill>
                  <a:srgbClr val="1E1A4D"/>
                </a:solidFill>
                <a:latin typeface="Poppins" pitchFamily="34" charset="0"/>
                <a:ea typeface="Poppins" pitchFamily="34" charset="-122"/>
                <a:cs typeface="Poppins" pitchFamily="34" charset="-120"/>
              </a:rPr>
              <a:t>LinCE</a:t>
            </a:r>
            <a:endParaRPr lang="en-US" sz="1200" dirty="0"/>
          </a:p>
        </p:txBody>
      </p:sp>
      <p:pic>
        <p:nvPicPr>
          <p:cNvPr id="55" name="Image 12" descr="/home/claude/pitch/a/ic/FaCheck_g.png">    </p:cNvPr>
          <p:cNvPicPr>
            <a:picLocks noChangeAspect="1"/>
          </p:cNvPicPr>
          <p:nvPr/>
        </p:nvPicPr>
        <p:blipFill>
          <a:blip r:embed="rId24"/>
          <a:stretch>
            <a:fillRect/>
          </a:stretch>
        </p:blipFill>
        <p:spPr>
          <a:xfrm>
            <a:off x="8970264" y="3602736"/>
            <a:ext cx="237744" cy="237744"/>
          </a:xfrm>
          <a:prstGeom prst="rect">
            <a:avLst/>
          </a:prstGeom>
        </p:spPr>
      </p:pic>
      <p:pic>
        <p:nvPicPr>
          <p:cNvPr id="56" name="Image 13" descr="/home/claude/pitch/a/ic/FaCheck_g.png">    </p:cNvPr>
          <p:cNvPicPr>
            <a:picLocks noChangeAspect="1"/>
          </p:cNvPicPr>
          <p:nvPr/>
        </p:nvPicPr>
        <p:blipFill>
          <a:blip r:embed="rId25"/>
          <a:stretch>
            <a:fillRect/>
          </a:stretch>
        </p:blipFill>
        <p:spPr>
          <a:xfrm>
            <a:off x="9683496" y="3602736"/>
            <a:ext cx="237744" cy="237744"/>
          </a:xfrm>
          <a:prstGeom prst="rect">
            <a:avLst/>
          </a:prstGeom>
        </p:spPr>
      </p:pic>
      <p:pic>
        <p:nvPicPr>
          <p:cNvPr id="57" name="Image 14" descr="/home/claude/pitch/a/ic/FaTimes_f.png">    </p:cNvPr>
          <p:cNvPicPr>
            <a:picLocks noChangeAspect="1"/>
          </p:cNvPicPr>
          <p:nvPr/>
        </p:nvPicPr>
        <p:blipFill>
          <a:blip r:embed="rId26"/>
          <a:stretch>
            <a:fillRect/>
          </a:stretch>
        </p:blipFill>
        <p:spPr>
          <a:xfrm>
            <a:off x="10396728" y="3602736"/>
            <a:ext cx="237744" cy="237744"/>
          </a:xfrm>
          <a:prstGeom prst="rect">
            <a:avLst/>
          </a:prstGeom>
        </p:spPr>
      </p:pic>
      <p:pic>
        <p:nvPicPr>
          <p:cNvPr id="58" name="Image 15" descr="/home/claude/pitch/a/ic/FaTimes_f.png">    </p:cNvPr>
          <p:cNvPicPr>
            <a:picLocks noChangeAspect="1"/>
          </p:cNvPicPr>
          <p:nvPr/>
        </p:nvPicPr>
        <p:blipFill>
          <a:blip r:embed="rId27"/>
          <a:stretch>
            <a:fillRect/>
          </a:stretch>
        </p:blipFill>
        <p:spPr>
          <a:xfrm>
            <a:off x="11119104" y="3602736"/>
            <a:ext cx="237744" cy="237744"/>
          </a:xfrm>
          <a:prstGeom prst="rect">
            <a:avLst/>
          </a:prstGeom>
        </p:spPr>
      </p:pic>
      <p:sp>
        <p:nvSpPr>
          <p:cNvPr id="59" name="Shape 41"/>
          <p:cNvSpPr/>
          <p:nvPr/>
        </p:nvSpPr>
        <p:spPr>
          <a:xfrm>
            <a:off x="7315200" y="4791456"/>
            <a:ext cx="4206240" cy="0"/>
          </a:xfrm>
          <a:prstGeom prst="line">
            <a:avLst/>
          </a:prstGeom>
          <a:noFill/>
          <a:ln w="9525">
            <a:solidFill>
              <a:srgbClr val="DCD6F7"/>
            </a:solidFill>
            <a:prstDash val="solid"/>
          </a:ln>
        </p:spPr>
      </p:sp>
      <p:sp>
        <p:nvSpPr>
          <p:cNvPr id="60" name="Text 42"/>
          <p:cNvSpPr txBox="1"/>
          <p:nvPr/>
        </p:nvSpPr>
        <p:spPr>
          <a:xfrm>
            <a:off x="7406640" y="4169664"/>
            <a:ext cx="1371600" cy="530352"/>
          </a:xfrm>
          <a:prstGeom prst="rect">
            <a:avLst/>
          </a:prstGeom>
          <a:noFill/>
          <a:ln/>
        </p:spPr>
        <p:txBody>
          <a:bodyPr wrap="square" lIns="0" tIns="0" rIns="0" bIns="0" rtlCol="0" anchor="ctr"/>
          <a:lstStyle/>
          <a:p>
            <a:pPr indent="0" marL="0">
              <a:buNone/>
            </a:pPr>
            <a:r>
              <a:rPr lang="en-US" sz="1200" b="1" dirty="0">
                <a:solidFill>
                  <a:srgbClr val="1E1A4D"/>
                </a:solidFill>
                <a:latin typeface="Poppins" pitchFamily="34" charset="0"/>
                <a:ea typeface="Poppins" pitchFamily="34" charset="-122"/>
                <a:cs typeface="Poppins" pitchFamily="34" charset="-120"/>
              </a:rPr>
              <a:t>GLUECoS</a:t>
            </a:r>
            <a:endParaRPr lang="en-US" sz="1200" dirty="0"/>
          </a:p>
        </p:txBody>
      </p:sp>
      <p:pic>
        <p:nvPicPr>
          <p:cNvPr id="61" name="Image 16" descr="/home/claude/pitch/a/ic/FaCheck_g.png">    </p:cNvPr>
          <p:cNvPicPr>
            <a:picLocks noChangeAspect="1"/>
          </p:cNvPicPr>
          <p:nvPr/>
        </p:nvPicPr>
        <p:blipFill>
          <a:blip r:embed="rId28"/>
          <a:stretch>
            <a:fillRect/>
          </a:stretch>
        </p:blipFill>
        <p:spPr>
          <a:xfrm>
            <a:off x="8970264" y="4315968"/>
            <a:ext cx="237744" cy="237744"/>
          </a:xfrm>
          <a:prstGeom prst="rect">
            <a:avLst/>
          </a:prstGeom>
        </p:spPr>
      </p:pic>
      <p:pic>
        <p:nvPicPr>
          <p:cNvPr id="62" name="Image 17" descr="/home/claude/pitch/a/ic/FaCheck_g.png">    </p:cNvPr>
          <p:cNvPicPr>
            <a:picLocks noChangeAspect="1"/>
          </p:cNvPicPr>
          <p:nvPr/>
        </p:nvPicPr>
        <p:blipFill>
          <a:blip r:embed="rId29"/>
          <a:stretch>
            <a:fillRect/>
          </a:stretch>
        </p:blipFill>
        <p:spPr>
          <a:xfrm>
            <a:off x="9683496" y="4315968"/>
            <a:ext cx="237744" cy="237744"/>
          </a:xfrm>
          <a:prstGeom prst="rect">
            <a:avLst/>
          </a:prstGeom>
        </p:spPr>
      </p:pic>
      <p:pic>
        <p:nvPicPr>
          <p:cNvPr id="63" name="Image 18" descr="/home/claude/pitch/a/ic/FaTimes_f.png">    </p:cNvPr>
          <p:cNvPicPr>
            <a:picLocks noChangeAspect="1"/>
          </p:cNvPicPr>
          <p:nvPr/>
        </p:nvPicPr>
        <p:blipFill>
          <a:blip r:embed="rId30"/>
          <a:stretch>
            <a:fillRect/>
          </a:stretch>
        </p:blipFill>
        <p:spPr>
          <a:xfrm>
            <a:off x="10396728" y="4315968"/>
            <a:ext cx="237744" cy="237744"/>
          </a:xfrm>
          <a:prstGeom prst="rect">
            <a:avLst/>
          </a:prstGeom>
        </p:spPr>
      </p:pic>
      <p:pic>
        <p:nvPicPr>
          <p:cNvPr id="64" name="Image 19" descr="/home/claude/pitch/a/ic/FaTimes_f.png">    </p:cNvPr>
          <p:cNvPicPr>
            <a:picLocks noChangeAspect="1"/>
          </p:cNvPicPr>
          <p:nvPr/>
        </p:nvPicPr>
        <p:blipFill>
          <a:blip r:embed="rId31"/>
          <a:stretch>
            <a:fillRect/>
          </a:stretch>
        </p:blipFill>
        <p:spPr>
          <a:xfrm>
            <a:off x="11119104" y="4315968"/>
            <a:ext cx="237744" cy="237744"/>
          </a:xfrm>
          <a:prstGeom prst="rect">
            <a:avLst/>
          </a:prstGeom>
        </p:spPr>
      </p:pic>
      <p:sp>
        <p:nvSpPr>
          <p:cNvPr id="65" name="auto900-me"/>
          <p:cNvSpPr/>
          <p:nvPr/>
        </p:nvSpPr>
        <p:spPr>
          <a:xfrm>
            <a:off x="7269480" y="4828032"/>
            <a:ext cx="4297680" cy="640080"/>
          </a:xfrm>
          <a:prstGeom prst="roundRect">
            <a:avLst>
              <a:gd name="adj" fmla="val 14286"/>
            </a:avLst>
          </a:prstGeom>
          <a:solidFill>
            <a:srgbClr val="FFF4E3"/>
          </a:solidFill>
          <a:ln w="19050">
            <a:solidFill>
              <a:srgbClr val="FF9F1C"/>
            </a:solidFill>
            <a:prstDash val="solid"/>
          </a:ln>
        </p:spPr>
      </p:sp>
      <p:sp>
        <p:nvSpPr>
          <p:cNvPr id="66" name="auto900-men"/>
          <p:cNvSpPr txBox="1"/>
          <p:nvPr/>
        </p:nvSpPr>
        <p:spPr>
          <a:xfrm>
            <a:off x="7406640" y="4882896"/>
            <a:ext cx="1371600" cy="530352"/>
          </a:xfrm>
          <a:prstGeom prst="rect">
            <a:avLst/>
          </a:prstGeom>
          <a:noFill/>
          <a:ln/>
        </p:spPr>
        <p:txBody>
          <a:bodyPr wrap="square" lIns="0" tIns="0" rIns="0" bIns="0" rtlCol="0" anchor="ctr"/>
          <a:lstStyle/>
          <a:p>
            <a:pPr indent="0" marL="0">
              <a:buNone/>
            </a:pPr>
            <a:r>
              <a:rPr lang="en-US" sz="1200" b="1" dirty="0">
                <a:solidFill>
                  <a:srgbClr val="D97706"/>
                </a:solidFill>
                <a:latin typeface="Poppins" pitchFamily="34" charset="0"/>
                <a:ea typeface="Poppins" pitchFamily="34" charset="-122"/>
                <a:cs typeface="Poppins" pitchFamily="34" charset="-120"/>
              </a:rPr>
              <a:t>MixCheck</a:t>
            </a:r>
            <a:endParaRPr lang="en-US" sz="1200" dirty="0"/>
          </a:p>
        </p:txBody>
      </p:sp>
      <p:pic>
        <p:nvPicPr>
          <p:cNvPr id="67" name="auto900-mc0" descr="/home/claude/pitch/a/ic/FaCheck_g.png">    </p:cNvPr>
          <p:cNvPicPr>
            <a:picLocks noChangeAspect="1"/>
          </p:cNvPicPr>
          <p:nvPr/>
        </p:nvPicPr>
        <p:blipFill>
          <a:blip r:embed="rId32"/>
          <a:stretch>
            <a:fillRect/>
          </a:stretch>
        </p:blipFill>
        <p:spPr>
          <a:xfrm>
            <a:off x="8970264" y="5029200"/>
            <a:ext cx="237744" cy="237744"/>
          </a:xfrm>
          <a:prstGeom prst="rect">
            <a:avLst/>
          </a:prstGeom>
        </p:spPr>
      </p:pic>
      <p:pic>
        <p:nvPicPr>
          <p:cNvPr id="68" name="auto900-mc1" descr="/home/claude/pitch/a/ic/FaCheck_g.png">    </p:cNvPr>
          <p:cNvPicPr>
            <a:picLocks noChangeAspect="1"/>
          </p:cNvPicPr>
          <p:nvPr/>
        </p:nvPicPr>
        <p:blipFill>
          <a:blip r:embed="rId33"/>
          <a:stretch>
            <a:fillRect/>
          </a:stretch>
        </p:blipFill>
        <p:spPr>
          <a:xfrm>
            <a:off x="9683496" y="5029200"/>
            <a:ext cx="237744" cy="237744"/>
          </a:xfrm>
          <a:prstGeom prst="rect">
            <a:avLst/>
          </a:prstGeom>
        </p:spPr>
      </p:pic>
      <p:pic>
        <p:nvPicPr>
          <p:cNvPr id="69" name="auto900-mc2" descr="/home/claude/pitch/a/ic/FaCheck_g.png">    </p:cNvPr>
          <p:cNvPicPr>
            <a:picLocks noChangeAspect="1"/>
          </p:cNvPicPr>
          <p:nvPr/>
        </p:nvPicPr>
        <p:blipFill>
          <a:blip r:embed="rId34"/>
          <a:stretch>
            <a:fillRect/>
          </a:stretch>
        </p:blipFill>
        <p:spPr>
          <a:xfrm>
            <a:off x="10396728" y="5029200"/>
            <a:ext cx="237744" cy="237744"/>
          </a:xfrm>
          <a:prstGeom prst="rect">
            <a:avLst/>
          </a:prstGeom>
        </p:spPr>
      </p:pic>
      <p:pic>
        <p:nvPicPr>
          <p:cNvPr id="70" name="auto900-mc3" descr="/home/claude/pitch/a/ic/FaCheck_g.png">    </p:cNvPr>
          <p:cNvPicPr>
            <a:picLocks noChangeAspect="1"/>
          </p:cNvPicPr>
          <p:nvPr/>
        </p:nvPicPr>
        <p:blipFill>
          <a:blip r:embed="rId35"/>
          <a:stretch>
            <a:fillRect/>
          </a:stretch>
        </p:blipFill>
        <p:spPr>
          <a:xfrm>
            <a:off x="11119104" y="5029200"/>
            <a:ext cx="237744" cy="237744"/>
          </a:xfrm>
          <a:prstGeom prst="rect">
            <a:avLst/>
          </a:prstGeom>
        </p:spPr>
      </p:pic>
      <p:sp>
        <p:nvSpPr>
          <p:cNvPr id="71" name="Text 45"/>
          <p:cNvSpPr txBox="1"/>
          <p:nvPr/>
        </p:nvSpPr>
        <p:spPr>
          <a:xfrm>
            <a:off x="7360920" y="5559552"/>
            <a:ext cx="4160520" cy="411480"/>
          </a:xfrm>
          <a:prstGeom prst="rect">
            <a:avLst/>
          </a:prstGeom>
          <a:noFill/>
          <a:ln/>
        </p:spPr>
        <p:txBody>
          <a:bodyPr wrap="square" lIns="0" tIns="0" rIns="0" bIns="0" rtlCol="0" anchor="t"/>
          <a:lstStyle/>
          <a:p>
            <a:pPr indent="0" marL="0">
              <a:buNone/>
            </a:pPr>
            <a:r>
              <a:rPr lang="en-US" sz="800" dirty="0">
                <a:solidFill>
                  <a:srgbClr val="8D88B5"/>
                </a:solidFill>
                <a:latin typeface="Poppins" pitchFamily="34" charset="0"/>
                <a:ea typeface="Poppins" pitchFamily="34" charset="-122"/>
                <a:cs typeface="Poppins" pitchFamily="34" charset="-120"/>
              </a:rPr>
              <a:t>LinCE and GLUECoS include Hindi-English but test language understanding, not code. HumanEval-XL has 23 languages, none Indian.</a:t>
            </a:r>
            <a:endParaRPr lang="en-US" sz="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1" dur="indefinite" nodeType="mainSeq">
                <p:childTnLst>
                  <p:par>
                    <p:cTn id="22" fill="hold">
                      <p:stCondLst>
                        <p:cond delay="indefinite"/>
                        <p:cond evt="onBegin" delay="0">
                          <p:tn val="21"/>
                        </p:cond>
                      </p:stCondLst>
                      <p:childTnLst>
                        <p:par>
                          <p:cTn id="23" fill="hold">
                            <p:stCondLst>
                              <p:cond delay="0"/>
                            </p:stCondLst>
                            <p:childTnLst>
                              <p:par>
                                <p:cTn id="5" presetID="10" presetClass="entr" presetSubtype="0" fill="hold" grpId="0" nodeType="withEffect">
                                  <p:stCondLst>
                                    <p:cond delay="900"/>
                                  </p:stCondLst>
                                  <p:childTnLst>
                                    <p:set>
                                      <p:cBhvr>
                                        <p:cTn id="3" dur="1" fill="hold">
                                          <p:stCondLst>
                                            <p:cond delay="0"/>
                                          </p:stCondLst>
                                        </p:cTn>
                                        <p:tgtEl>
                                          <p:spTgt spid="65"/>
                                        </p:tgtEl>
                                        <p:attrNameLst>
                                          <p:attrName>style.visibility</p:attrName>
                                        </p:attrNameLst>
                                      </p:cBhvr>
                                      <p:to>
                                        <p:strVal val="visible"/>
                                      </p:to>
                                    </p:set>
                                    <p:animEffect transition="in" filter="fade">
                                      <p:cBhvr>
                                        <p:cTn id="4" dur="450"/>
                                        <p:tgtEl>
                                          <p:spTgt spid="65"/>
                                        </p:tgtEl>
                                      </p:cBhvr>
                                    </p:animEffect>
                                  </p:childTnLst>
                                </p:cTn>
                              </p:par>
                              <p:par>
                                <p:cTn id="8" presetID="10" presetClass="entr" presetSubtype="0" fill="hold" grpId="0" nodeType="withEffect">
                                  <p:stCondLst>
                                    <p:cond delay="90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450"/>
                                        <p:tgtEl>
                                          <p:spTgt spid="66"/>
                                        </p:tgtEl>
                                      </p:cBhvr>
                                    </p:animEffect>
                                  </p:childTnLst>
                                </p:cTn>
                              </p:par>
                              <p:par>
                                <p:cTn id="11" presetID="10" presetClass="entr" presetSubtype="0" fill="hold" grpId="0" nodeType="withEffect">
                                  <p:stCondLst>
                                    <p:cond delay="900"/>
                                  </p:stCondLst>
                                  <p:childTnLst>
                                    <p:set>
                                      <p:cBhvr>
                                        <p:cTn id="9" dur="1" fill="hold">
                                          <p:stCondLst>
                                            <p:cond delay="0"/>
                                          </p:stCondLst>
                                        </p:cTn>
                                        <p:tgtEl>
                                          <p:spTgt spid="67"/>
                                        </p:tgtEl>
                                        <p:attrNameLst>
                                          <p:attrName>style.visibility</p:attrName>
                                        </p:attrNameLst>
                                      </p:cBhvr>
                                      <p:to>
                                        <p:strVal val="visible"/>
                                      </p:to>
                                    </p:set>
                                    <p:animEffect transition="in" filter="fade">
                                      <p:cBhvr>
                                        <p:cTn id="10" dur="450"/>
                                        <p:tgtEl>
                                          <p:spTgt spid="67"/>
                                        </p:tgtEl>
                                      </p:cBhvr>
                                    </p:animEffect>
                                  </p:childTnLst>
                                </p:cTn>
                              </p:par>
                              <p:par>
                                <p:cTn id="14" presetID="10" presetClass="entr" presetSubtype="0" fill="hold" grpId="0" nodeType="withEffect">
                                  <p:stCondLst>
                                    <p:cond delay="900"/>
                                  </p:stCondLst>
                                  <p:childTnLst>
                                    <p:set>
                                      <p:cBhvr>
                                        <p:cTn id="12" dur="1" fill="hold">
                                          <p:stCondLst>
                                            <p:cond delay="0"/>
                                          </p:stCondLst>
                                        </p:cTn>
                                        <p:tgtEl>
                                          <p:spTgt spid="68"/>
                                        </p:tgtEl>
                                        <p:attrNameLst>
                                          <p:attrName>style.visibility</p:attrName>
                                        </p:attrNameLst>
                                      </p:cBhvr>
                                      <p:to>
                                        <p:strVal val="visible"/>
                                      </p:to>
                                    </p:set>
                                    <p:animEffect transition="in" filter="fade">
                                      <p:cBhvr>
                                        <p:cTn id="13" dur="450"/>
                                        <p:tgtEl>
                                          <p:spTgt spid="68"/>
                                        </p:tgtEl>
                                      </p:cBhvr>
                                    </p:animEffect>
                                  </p:childTnLst>
                                </p:cTn>
                              </p:par>
                              <p:par>
                                <p:cTn id="17" presetID="10" presetClass="entr" presetSubtype="0" fill="hold" grpId="0" nodeType="withEffect">
                                  <p:stCondLst>
                                    <p:cond delay="900"/>
                                  </p:stCondLst>
                                  <p:childTnLst>
                                    <p:set>
                                      <p:cBhvr>
                                        <p:cTn id="15" dur="1" fill="hold">
                                          <p:stCondLst>
                                            <p:cond delay="0"/>
                                          </p:stCondLst>
                                        </p:cTn>
                                        <p:tgtEl>
                                          <p:spTgt spid="69"/>
                                        </p:tgtEl>
                                        <p:attrNameLst>
                                          <p:attrName>style.visibility</p:attrName>
                                        </p:attrNameLst>
                                      </p:cBhvr>
                                      <p:to>
                                        <p:strVal val="visible"/>
                                      </p:to>
                                    </p:set>
                                    <p:animEffect transition="in" filter="fade">
                                      <p:cBhvr>
                                        <p:cTn id="16" dur="450"/>
                                        <p:tgtEl>
                                          <p:spTgt spid="69"/>
                                        </p:tgtEl>
                                      </p:cBhvr>
                                    </p:animEffect>
                                  </p:childTnLst>
                                </p:cTn>
                              </p:par>
                              <p:par>
                                <p:cTn id="20" presetID="10" presetClass="entr" presetSubtype="0" fill="hold" grpId="0" nodeType="withEffect">
                                  <p:stCondLst>
                                    <p:cond delay="900"/>
                                  </p:stCondLst>
                                  <p:childTnLst>
                                    <p:set>
                                      <p:cBhvr>
                                        <p:cTn id="18" dur="1" fill="hold">
                                          <p:stCondLst>
                                            <p:cond delay="0"/>
                                          </p:stCondLst>
                                        </p:cTn>
                                        <p:tgtEl>
                                          <p:spTgt spid="70"/>
                                        </p:tgtEl>
                                        <p:attrNameLst>
                                          <p:attrName>style.visibility</p:attrName>
                                        </p:attrNameLst>
                                      </p:cBhvr>
                                      <p:to>
                                        <p:strVal val="visible"/>
                                      </p:to>
                                    </p:set>
                                    <p:animEffect transition="in" filter="fade">
                                      <p:cBhvr>
                                        <p:cTn id="19" dur="45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AFB"/>
        </a:solidFill>
      </p:bgPr>
    </p:bg>
    <p:spTree>
      <p:nvGrpSpPr>
        <p:cNvPr id="1" name=""/>
        <p:cNvGrpSpPr/>
        <p:nvPr/>
      </p:nvGrpSpPr>
      <p:grpSpPr>
        <a:xfrm>
          <a:off x="0" y="0"/>
          <a:ext cx="0" cy="0"/>
          <a:chOff x="0" y="0"/>
          <a:chExt cx="0" cy="0"/>
        </a:xfrm>
      </p:grpSpPr>
      <p:pic>
        <p:nvPicPr>
          <p:cNvPr id="2" name="!!bg" descr="/home/claude/pitch/a/bg.jpg">    </p:cNvPr>
          <p:cNvPicPr>
            <a:picLocks noChangeAspect="1"/>
          </p:cNvPicPr>
          <p:nvPr/>
        </p:nvPicPr>
        <p:blipFill>
          <a:blip r:embed="rId1"/>
          <a:stretch>
            <a:fillRect/>
          </a:stretch>
        </p:blipFill>
        <p:spPr>
          <a:xfrm>
            <a:off x="0" y="0"/>
            <a:ext cx="12191695" cy="6858000"/>
          </a:xfrm>
          <a:prstGeom prst="rect">
            <a:avLst/>
          </a:prstGeom>
        </p:spPr>
      </p:pic>
      <p:sp>
        <p:nvSpPr>
          <p:cNvPr id="3" name="!!frame"/>
          <p:cNvSpPr/>
          <p:nvPr/>
        </p:nvSpPr>
        <p:spPr>
          <a:xfrm>
            <a:off x="182880" y="182880"/>
            <a:ext cx="11823192" cy="6492240"/>
          </a:xfrm>
          <a:prstGeom prst="roundRect">
            <a:avLst>
              <a:gd name="adj" fmla="val 2817"/>
            </a:avLst>
          </a:prstGeom>
          <a:ln w="28575">
            <a:solidFill>
              <a:srgbClr val="7F79B6"/>
            </a:solidFill>
            <a:prstDash val="solid"/>
          </a:ln>
        </p:spPr>
      </p:sp>
      <p:pic>
        <p:nvPicPr>
          <p:cNvPr id="4" name="!!logo-jain" descr="/home/claude/pitch/a/logo_jain.png">    </p:cNvPr>
          <p:cNvPicPr>
            <a:picLocks noChangeAspect="1"/>
          </p:cNvPicPr>
          <p:nvPr/>
        </p:nvPicPr>
        <p:blipFill>
          <a:blip r:embed="rId2"/>
          <a:stretch>
            <a:fillRect/>
          </a:stretch>
        </p:blipFill>
        <p:spPr>
          <a:xfrm>
            <a:off x="411480" y="329184"/>
            <a:ext cx="1316736" cy="384048"/>
          </a:xfrm>
          <a:prstGeom prst="rect">
            <a:avLst/>
          </a:prstGeom>
        </p:spPr>
      </p:pic>
      <p:pic>
        <p:nvPicPr>
          <p:cNvPr id="5" name="!!logo-avi" descr="/home/claude/pitch/a/logo_avi.png">    </p:cNvPr>
          <p:cNvPicPr>
            <a:picLocks noChangeAspect="1"/>
          </p:cNvPicPr>
          <p:nvPr/>
        </p:nvPicPr>
        <p:blipFill>
          <a:blip r:embed="rId3"/>
          <a:stretch>
            <a:fillRect/>
          </a:stretch>
        </p:blipFill>
        <p:spPr>
          <a:xfrm>
            <a:off x="5304892" y="320040"/>
            <a:ext cx="1581912" cy="393192"/>
          </a:xfrm>
          <a:prstGeom prst="rect">
            <a:avLst/>
          </a:prstGeom>
        </p:spPr>
      </p:pic>
      <p:pic>
        <p:nvPicPr>
          <p:cNvPr id="6" name="!!logo-fet" descr="/home/claude/pitch/a/logo_fet.png">    </p:cNvPr>
          <p:cNvPicPr>
            <a:picLocks noChangeAspect="1"/>
          </p:cNvPicPr>
          <p:nvPr/>
        </p:nvPicPr>
        <p:blipFill>
          <a:blip r:embed="rId4"/>
          <a:stretch>
            <a:fillRect/>
          </a:stretch>
        </p:blipFill>
        <p:spPr>
          <a:xfrm>
            <a:off x="10771632" y="274320"/>
            <a:ext cx="1005840" cy="457200"/>
          </a:xfrm>
          <a:prstGeom prst="rect">
            <a:avLst/>
          </a:prstGeom>
        </p:spPr>
      </p:pic>
      <p:sp>
        <p:nvSpPr>
          <p:cNvPr id="7" name="!!title"/>
          <p:cNvSpPr txBox="1"/>
          <p:nvPr/>
        </p:nvSpPr>
        <p:spPr>
          <a:xfrm>
            <a:off x="548640" y="841248"/>
            <a:ext cx="11094415" cy="566928"/>
          </a:xfrm>
          <a:prstGeom prst="rect">
            <a:avLst/>
          </a:prstGeom>
          <a:noFill/>
          <a:ln/>
        </p:spPr>
        <p:txBody>
          <a:bodyPr wrap="square" lIns="0" tIns="0" rIns="0" bIns="0" rtlCol="0" anchor="ctr"/>
          <a:lstStyle/>
          <a:p>
            <a:pPr algn="ctr" indent="0" marL="0">
              <a:buNone/>
            </a:pPr>
            <a:r>
              <a:rPr lang="en-US" sz="3000" b="1" dirty="0">
                <a:solidFill>
                  <a:srgbClr val="1E1A4D"/>
                </a:solidFill>
                <a:latin typeface="Lora" pitchFamily="34" charset="0"/>
                <a:ea typeface="Lora" pitchFamily="34" charset="-122"/>
                <a:cs typeface="Lora" pitchFamily="34" charset="-120"/>
              </a:rPr>
              <a:t>Impact</a:t>
            </a:r>
            <a:endParaRPr lang="en-US" sz="3000" dirty="0"/>
          </a:p>
        </p:txBody>
      </p:sp>
      <p:sp>
        <p:nvSpPr>
          <p:cNvPr id="8" name="!!sub"/>
          <p:cNvSpPr txBox="1"/>
          <p:nvPr/>
        </p:nvSpPr>
        <p:spPr>
          <a:xfrm>
            <a:off x="1097280" y="1389888"/>
            <a:ext cx="9997135" cy="365760"/>
          </a:xfrm>
          <a:prstGeom prst="rect">
            <a:avLst/>
          </a:prstGeom>
          <a:noFill/>
          <a:ln/>
        </p:spPr>
        <p:txBody>
          <a:bodyPr wrap="square" lIns="0" tIns="0" rIns="0" bIns="0" rtlCol="0" anchor="ctr"/>
          <a:lstStyle/>
          <a:p>
            <a:pPr algn="ctr" indent="0" marL="0">
              <a:buNone/>
            </a:pPr>
            <a:r>
              <a:rPr lang="en-US" sz="1300" dirty="0">
                <a:solidFill>
                  <a:srgbClr val="6C5CE7"/>
                </a:solidFill>
                <a:latin typeface="Poppins" pitchFamily="34" charset="0"/>
                <a:ea typeface="Poppins" pitchFamily="34" charset="-122"/>
                <a:cs typeface="Poppins" pitchFamily="34" charset="-120"/>
              </a:rPr>
              <a:t>What we measured across 750 graded answers: the code mostly works, the instructions break.</a:t>
            </a:r>
            <a:endParaRPr lang="en-US" sz="1300" dirty="0"/>
          </a:p>
        </p:txBody>
      </p:sp>
      <p:sp>
        <p:nvSpPr>
          <p:cNvPr id="9" name="!!foot-l"/>
          <p:cNvSpPr txBox="1"/>
          <p:nvPr/>
        </p:nvSpPr>
        <p:spPr>
          <a:xfrm>
            <a:off x="457200" y="6336792"/>
            <a:ext cx="3108960" cy="219456"/>
          </a:xfrm>
          <a:prstGeom prst="rect">
            <a:avLst/>
          </a:prstGeom>
          <a:noFill/>
          <a:ln/>
        </p:spPr>
        <p:txBody>
          <a:bodyPr wrap="square" lIns="0" tIns="0" rIns="0" bIns="0" rtlCol="0" anchor="t"/>
          <a:lstStyle/>
          <a:p>
            <a:pPr indent="0" marL="0">
              <a:buNone/>
            </a:pPr>
            <a:r>
              <a:rPr lang="en-US" sz="900" dirty="0">
                <a:solidFill>
                  <a:srgbClr val="8D88B5"/>
                </a:solidFill>
                <a:latin typeface="Poppins" pitchFamily="34" charset="0"/>
                <a:ea typeface="Poppins" pitchFamily="34" charset="-122"/>
                <a:cs typeface="Poppins" pitchFamily="34" charset="-120"/>
              </a:rPr>
              <a:t>MixCheck  ·  Team El Rata Alada</a:t>
            </a:r>
            <a:endParaRPr lang="en-US" sz="900" dirty="0"/>
          </a:p>
        </p:txBody>
      </p:sp>
      <p:sp>
        <p:nvSpPr>
          <p:cNvPr id="10" name="!!btn-nav-1">
            <a:hlinkClick r:id="rId5" action="ppaction://hlinksldjump"/>
          </p:cNvPr>
          <p:cNvSpPr/>
          <p:nvPr/>
        </p:nvSpPr>
        <p:spPr>
          <a:xfrm>
            <a:off x="4628236"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1</a:t>
            </a:r>
            <a:endParaRPr lang="en-US" sz="750" dirty="0"/>
          </a:p>
        </p:txBody>
      </p:sp>
      <p:sp>
        <p:nvSpPr>
          <p:cNvPr id="11" name="!!btn-nav-2">
            <a:hlinkClick r:id="rId6" action="ppaction://hlinksldjump"/>
          </p:cNvPr>
          <p:cNvSpPr/>
          <p:nvPr/>
        </p:nvSpPr>
        <p:spPr>
          <a:xfrm>
            <a:off x="4929988"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2</a:t>
            </a:r>
            <a:endParaRPr lang="en-US" sz="750" dirty="0"/>
          </a:p>
        </p:txBody>
      </p:sp>
      <p:sp>
        <p:nvSpPr>
          <p:cNvPr id="12" name="!!btn-nav-3">
            <a:hlinkClick r:id="rId7" action="ppaction://hlinksldjump"/>
          </p:cNvPr>
          <p:cNvSpPr/>
          <p:nvPr/>
        </p:nvSpPr>
        <p:spPr>
          <a:xfrm>
            <a:off x="5231740"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3</a:t>
            </a:r>
            <a:endParaRPr lang="en-US" sz="750" dirty="0"/>
          </a:p>
        </p:txBody>
      </p:sp>
      <p:sp>
        <p:nvSpPr>
          <p:cNvPr id="13" name="!!btn-nav-4">
            <a:hlinkClick r:id="rId8" action="ppaction://hlinksldjump"/>
          </p:cNvPr>
          <p:cNvSpPr/>
          <p:nvPr/>
        </p:nvSpPr>
        <p:spPr>
          <a:xfrm>
            <a:off x="5533492"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4</a:t>
            </a:r>
            <a:endParaRPr lang="en-US" sz="750" dirty="0"/>
          </a:p>
        </p:txBody>
      </p:sp>
      <p:sp>
        <p:nvSpPr>
          <p:cNvPr id="14" name="!!btn-nav-5">
            <a:hlinkClick r:id="rId9" action="ppaction://hlinksldjump"/>
          </p:cNvPr>
          <p:cNvSpPr/>
          <p:nvPr/>
        </p:nvSpPr>
        <p:spPr>
          <a:xfrm>
            <a:off x="5835244"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5</a:t>
            </a:r>
            <a:endParaRPr lang="en-US" sz="750" dirty="0"/>
          </a:p>
        </p:txBody>
      </p:sp>
      <p:sp>
        <p:nvSpPr>
          <p:cNvPr id="15" name="!!btn-nav-6">
            <a:hlinkClick r:id="rId10" action="ppaction://hlinksldjump"/>
          </p:cNvPr>
          <p:cNvSpPr/>
          <p:nvPr/>
        </p:nvSpPr>
        <p:spPr>
          <a:xfrm>
            <a:off x="6136996" y="6336792"/>
            <a:ext cx="219456" cy="219456"/>
          </a:xfrm>
          <a:prstGeom prst="ellipse">
            <a:avLst/>
          </a:prstGeom>
          <a:solidFill>
            <a:srgbClr val="6C5CE7"/>
          </a:solidFill>
          <a:ln w="9525">
            <a:solidFill>
              <a:srgbClr val="6C5CE7"/>
            </a:solid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6</a:t>
            </a:r>
            <a:endParaRPr lang="en-US" sz="750" dirty="0"/>
          </a:p>
        </p:txBody>
      </p:sp>
      <p:sp>
        <p:nvSpPr>
          <p:cNvPr id="16" name="!!btn-nav-7">
            <a:hlinkClick r:id="rId11" action="ppaction://hlinksldjump"/>
          </p:cNvPr>
          <p:cNvSpPr/>
          <p:nvPr/>
        </p:nvSpPr>
        <p:spPr>
          <a:xfrm>
            <a:off x="6438748"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7</a:t>
            </a:r>
            <a:endParaRPr lang="en-US" sz="750" dirty="0"/>
          </a:p>
        </p:txBody>
      </p:sp>
      <p:sp>
        <p:nvSpPr>
          <p:cNvPr id="17" name="!!btn-nav-8">
            <a:hlinkClick r:id="rId12" action="ppaction://hlinksldjump"/>
          </p:cNvPr>
          <p:cNvSpPr/>
          <p:nvPr/>
        </p:nvSpPr>
        <p:spPr>
          <a:xfrm>
            <a:off x="6740500"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8</a:t>
            </a:r>
            <a:endParaRPr lang="en-US" sz="750" dirty="0"/>
          </a:p>
        </p:txBody>
      </p:sp>
      <p:sp>
        <p:nvSpPr>
          <p:cNvPr id="18" name="!!btn-nav-9">
            <a:hlinkClick r:id="rId13" action="ppaction://hlinksldjump"/>
          </p:cNvPr>
          <p:cNvSpPr/>
          <p:nvPr/>
        </p:nvSpPr>
        <p:spPr>
          <a:xfrm>
            <a:off x="7042252"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9</a:t>
            </a:r>
            <a:endParaRPr lang="en-US" sz="750" dirty="0"/>
          </a:p>
        </p:txBody>
      </p:sp>
      <p:sp>
        <p:nvSpPr>
          <p:cNvPr id="19" name="!!btn-nav-10">
            <a:hlinkClick r:id="rId14" action="ppaction://hlinksldjump"/>
          </p:cNvPr>
          <p:cNvSpPr/>
          <p:nvPr/>
        </p:nvSpPr>
        <p:spPr>
          <a:xfrm>
            <a:off x="7344004"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10</a:t>
            </a:r>
            <a:endParaRPr lang="en-US" sz="750" dirty="0"/>
          </a:p>
        </p:txBody>
      </p:sp>
      <p:sp>
        <p:nvSpPr>
          <p:cNvPr id="20" name="!!btn-live">
            <a:hlinkClick r:id="rId15"/>
          </p:cNvPr>
          <p:cNvSpPr/>
          <p:nvPr/>
        </p:nvSpPr>
        <p:spPr>
          <a:xfrm>
            <a:off x="8503920" y="6309360"/>
            <a:ext cx="3246120" cy="274320"/>
          </a:xfrm>
          <a:prstGeom prst="rect">
            <a:avLst/>
          </a:prstGeom>
          <a:noFill/>
          <a:ln/>
        </p:spPr>
        <p:txBody>
          <a:bodyPr wrap="square" lIns="0" tIns="0" rIns="0" bIns="0" rtlCol="0" anchor="ctr"/>
          <a:lstStyle/>
          <a:p>
            <a:pPr algn="r" indent="0" marL="0">
              <a:buNone/>
            </a:pPr>
            <a:r>
              <a:rPr lang="en-US" sz="900" b="1" dirty="0">
                <a:solidFill>
                  <a:srgbClr val="6C5CE7"/>
                </a:solidFill>
                <a:latin typeface="Poppins" pitchFamily="34" charset="0"/>
                <a:ea typeface="Poppins" pitchFamily="34" charset="-122"/>
                <a:cs typeface="Poppins" pitchFamily="34" charset="-120"/>
              </a:rPr>
              <a:t>● Live: mixcheck-elrata.streamlit.app</a:t>
            </a:r>
            <a:endParaRPr lang="en-US" sz="900" dirty="0"/>
          </a:p>
        </p:txBody>
      </p:sp>
      <p:sp>
        <p:nvSpPr>
          <p:cNvPr id="21" name="card-41"/>
          <p:cNvSpPr/>
          <p:nvPr/>
        </p:nvSpPr>
        <p:spPr>
          <a:xfrm>
            <a:off x="548640" y="1965960"/>
            <a:ext cx="6949440" cy="4160520"/>
          </a:xfrm>
          <a:prstGeom prst="roundRect">
            <a:avLst>
              <a:gd name="adj" fmla="val 3077"/>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22" name="Text 16"/>
          <p:cNvSpPr txBox="1"/>
          <p:nvPr/>
        </p:nvSpPr>
        <p:spPr>
          <a:xfrm>
            <a:off x="777240" y="2103120"/>
            <a:ext cx="5029200" cy="274320"/>
          </a:xfrm>
          <a:prstGeom prst="rect">
            <a:avLst/>
          </a:prstGeom>
          <a:noFill/>
          <a:ln/>
        </p:spPr>
        <p:txBody>
          <a:bodyPr wrap="square" lIns="0" tIns="0" rIns="0" bIns="0" rtlCol="0" anchor="t"/>
          <a:lstStyle/>
          <a:p>
            <a:pPr indent="0" marL="0">
              <a:buNone/>
            </a:pPr>
            <a:r>
              <a:rPr lang="en-US" sz="1300" b="1" dirty="0">
                <a:solidFill>
                  <a:srgbClr val="1E1A4D"/>
                </a:solidFill>
                <a:latin typeface="Poppins" pitchFamily="34" charset="0"/>
                <a:ea typeface="Poppins" pitchFamily="34" charset="-122"/>
                <a:cs typeface="Poppins" pitchFamily="34" charset="-120"/>
              </a:rPr>
              <a:t>Same casual style, only the language changes</a:t>
            </a:r>
            <a:endParaRPr lang="en-US" sz="1300" dirty="0"/>
          </a:p>
        </p:txBody>
      </p:sp>
      <p:sp>
        <p:nvSpPr>
          <p:cNvPr id="23" name="Text 17"/>
          <p:cNvSpPr txBox="1"/>
          <p:nvPr/>
        </p:nvSpPr>
        <p:spPr>
          <a:xfrm>
            <a:off x="777240" y="2377440"/>
            <a:ext cx="5486400" cy="219456"/>
          </a:xfrm>
          <a:prstGeom prst="rect">
            <a:avLst/>
          </a:prstGeom>
          <a:noFill/>
          <a:ln/>
        </p:spPr>
        <p:txBody>
          <a:bodyPr wrap="square" lIns="0" tIns="0" rIns="0" bIns="0" rtlCol="0" anchor="t"/>
          <a:lstStyle/>
          <a:p>
            <a:pPr indent="0" marL="0">
              <a:buNone/>
            </a:pPr>
            <a:r>
              <a:rPr lang="en-US" sz="900" dirty="0">
                <a:solidFill>
                  <a:srgbClr val="8D88B5"/>
                </a:solidFill>
                <a:latin typeface="Poppins" pitchFamily="34" charset="0"/>
                <a:ea typeface="Poppins" pitchFamily="34" charset="-122"/>
                <a:cs typeface="Poppins" pitchFamily="34" charset="-120"/>
              </a:rPr>
              <a:t>3 models × 25 tasks per language · one run each · temperature 0</a:t>
            </a:r>
            <a:endParaRPr lang="en-US" sz="900" dirty="0"/>
          </a:p>
        </p:txBody>
      </p:sp>
      <p:sp>
        <p:nvSpPr>
          <p:cNvPr id="24" name="Shape 18"/>
          <p:cNvSpPr/>
          <p:nvPr/>
        </p:nvSpPr>
        <p:spPr>
          <a:xfrm>
            <a:off x="777240" y="2724912"/>
            <a:ext cx="137160" cy="137160"/>
          </a:xfrm>
          <a:prstGeom prst="roundRect">
            <a:avLst>
              <a:gd name="adj" fmla="val 20000"/>
            </a:avLst>
          </a:prstGeom>
          <a:solidFill>
            <a:srgbClr val="9B8CFF"/>
          </a:solidFill>
          <a:ln/>
        </p:spPr>
      </p:sp>
      <p:sp>
        <p:nvSpPr>
          <p:cNvPr id="25" name="Text 19"/>
          <p:cNvSpPr txBox="1"/>
          <p:nvPr/>
        </p:nvSpPr>
        <p:spPr>
          <a:xfrm>
            <a:off x="978408" y="2679192"/>
            <a:ext cx="1463040" cy="228600"/>
          </a:xfrm>
          <a:prstGeom prst="rect">
            <a:avLst/>
          </a:prstGeom>
          <a:noFill/>
          <a:ln/>
        </p:spPr>
        <p:txBody>
          <a:bodyPr wrap="square" lIns="0" tIns="0" rIns="0" bIns="0" rtlCol="0" anchor="t"/>
          <a:lstStyle/>
          <a:p>
            <a:pPr indent="0" marL="0">
              <a:buNone/>
            </a:pPr>
            <a:r>
              <a:rPr lang="en-US" sz="950" dirty="0">
                <a:solidFill>
                  <a:srgbClr val="5B577E"/>
                </a:solidFill>
                <a:latin typeface="Poppins" pitchFamily="34" charset="0"/>
                <a:ea typeface="Poppins" pitchFamily="34" charset="-122"/>
                <a:cs typeface="Poppins" pitchFamily="34" charset="-120"/>
              </a:rPr>
              <a:t>Correct code</a:t>
            </a:r>
            <a:endParaRPr lang="en-US" sz="950" dirty="0"/>
          </a:p>
        </p:txBody>
      </p:sp>
      <p:sp>
        <p:nvSpPr>
          <p:cNvPr id="26" name="Shape 20"/>
          <p:cNvSpPr/>
          <p:nvPr/>
        </p:nvSpPr>
        <p:spPr>
          <a:xfrm>
            <a:off x="2377440" y="2724912"/>
            <a:ext cx="137160" cy="137160"/>
          </a:xfrm>
          <a:prstGeom prst="roundRect">
            <a:avLst>
              <a:gd name="adj" fmla="val 20000"/>
            </a:avLst>
          </a:prstGeom>
          <a:solidFill>
            <a:srgbClr val="FF9F1C"/>
          </a:solidFill>
          <a:ln/>
        </p:spPr>
      </p:sp>
      <p:sp>
        <p:nvSpPr>
          <p:cNvPr id="27" name="Text 21"/>
          <p:cNvSpPr txBox="1"/>
          <p:nvPr/>
        </p:nvSpPr>
        <p:spPr>
          <a:xfrm>
            <a:off x="2578608" y="2679192"/>
            <a:ext cx="1463040" cy="228600"/>
          </a:xfrm>
          <a:prstGeom prst="rect">
            <a:avLst/>
          </a:prstGeom>
          <a:noFill/>
          <a:ln/>
        </p:spPr>
        <p:txBody>
          <a:bodyPr wrap="square" lIns="0" tIns="0" rIns="0" bIns="0" rtlCol="0" anchor="t"/>
          <a:lstStyle/>
          <a:p>
            <a:pPr indent="0" marL="0">
              <a:buNone/>
            </a:pPr>
            <a:r>
              <a:rPr lang="en-US" sz="950" dirty="0">
                <a:solidFill>
                  <a:srgbClr val="5B577E"/>
                </a:solidFill>
                <a:latin typeface="Poppins" pitchFamily="34" charset="0"/>
                <a:ea typeface="Poppins" pitchFamily="34" charset="-122"/>
                <a:cs typeface="Poppins" pitchFamily="34" charset="-120"/>
              </a:rPr>
              <a:t>Replied with only code</a:t>
            </a:r>
            <a:endParaRPr lang="en-US" sz="950" dirty="0"/>
          </a:p>
        </p:txBody>
      </p:sp>
      <p:sp>
        <p:nvSpPr>
          <p:cNvPr id="28" name="Shape 22"/>
          <p:cNvSpPr/>
          <p:nvPr/>
        </p:nvSpPr>
        <p:spPr>
          <a:xfrm>
            <a:off x="822960" y="5532120"/>
            <a:ext cx="6492240" cy="0"/>
          </a:xfrm>
          <a:prstGeom prst="line">
            <a:avLst/>
          </a:prstGeom>
          <a:noFill/>
          <a:ln w="12700">
            <a:solidFill>
              <a:srgbClr val="DCD6F7"/>
            </a:solidFill>
            <a:prstDash val="solid"/>
          </a:ln>
        </p:spPr>
      </p:sp>
      <p:sp>
        <p:nvSpPr>
          <p:cNvPr id="29" name="wipe200-bar00"/>
          <p:cNvSpPr/>
          <p:nvPr/>
        </p:nvSpPr>
        <p:spPr>
          <a:xfrm>
            <a:off x="960120" y="3307080"/>
            <a:ext cx="384048" cy="2225040"/>
          </a:xfrm>
          <a:prstGeom prst="rect">
            <a:avLst/>
          </a:prstGeom>
          <a:solidFill>
            <a:srgbClr val="9B8CFF"/>
          </a:solidFill>
          <a:ln/>
        </p:spPr>
      </p:sp>
      <p:sp>
        <p:nvSpPr>
          <p:cNvPr id="30" name="auto700-val00"/>
          <p:cNvSpPr txBox="1"/>
          <p:nvPr/>
        </p:nvSpPr>
        <p:spPr>
          <a:xfrm>
            <a:off x="822960" y="3087624"/>
            <a:ext cx="658368" cy="201168"/>
          </a:xfrm>
          <a:prstGeom prst="rect">
            <a:avLst/>
          </a:prstGeom>
          <a:noFill/>
          <a:ln/>
        </p:spPr>
        <p:txBody>
          <a:bodyPr wrap="square" lIns="0" tIns="0" rIns="0" bIns="0" rtlCol="0" anchor="t"/>
          <a:lstStyle/>
          <a:p>
            <a:pPr algn="ctr" indent="0" marL="0">
              <a:buNone/>
            </a:pPr>
            <a:r>
              <a:rPr lang="en-US" sz="850" b="1" dirty="0">
                <a:solidFill>
                  <a:srgbClr val="1E1A4D"/>
                </a:solidFill>
                <a:latin typeface="Poppins" pitchFamily="34" charset="0"/>
                <a:ea typeface="Poppins" pitchFamily="34" charset="-122"/>
                <a:cs typeface="Poppins" pitchFamily="34" charset="-120"/>
              </a:rPr>
              <a:t>97%</a:t>
            </a:r>
            <a:endParaRPr lang="en-US" sz="850" dirty="0"/>
          </a:p>
        </p:txBody>
      </p:sp>
      <p:sp>
        <p:nvSpPr>
          <p:cNvPr id="31" name="wipe250-bar01"/>
          <p:cNvSpPr/>
          <p:nvPr/>
        </p:nvSpPr>
        <p:spPr>
          <a:xfrm>
            <a:off x="1389888" y="3246120"/>
            <a:ext cx="384048" cy="2286000"/>
          </a:xfrm>
          <a:prstGeom prst="rect">
            <a:avLst/>
          </a:prstGeom>
          <a:solidFill>
            <a:srgbClr val="FF9F1C"/>
          </a:solidFill>
          <a:ln/>
        </p:spPr>
      </p:sp>
      <p:sp>
        <p:nvSpPr>
          <p:cNvPr id="32" name="auto750-val01"/>
          <p:cNvSpPr txBox="1"/>
          <p:nvPr/>
        </p:nvSpPr>
        <p:spPr>
          <a:xfrm>
            <a:off x="1252728" y="3026664"/>
            <a:ext cx="658368" cy="201168"/>
          </a:xfrm>
          <a:prstGeom prst="rect">
            <a:avLst/>
          </a:prstGeom>
          <a:noFill/>
          <a:ln/>
        </p:spPr>
        <p:txBody>
          <a:bodyPr wrap="square" lIns="0" tIns="0" rIns="0" bIns="0" rtlCol="0" anchor="t"/>
          <a:lstStyle/>
          <a:p>
            <a:pPr algn="ctr" indent="0" marL="0">
              <a:buNone/>
            </a:pPr>
            <a:r>
              <a:rPr lang="en-US" sz="850" b="1" dirty="0">
                <a:solidFill>
                  <a:srgbClr val="D97706"/>
                </a:solidFill>
                <a:latin typeface="Poppins" pitchFamily="34" charset="0"/>
                <a:ea typeface="Poppins" pitchFamily="34" charset="-122"/>
                <a:cs typeface="Poppins" pitchFamily="34" charset="-120"/>
              </a:rPr>
              <a:t>100%</a:t>
            </a:r>
            <a:endParaRPr lang="en-US" sz="850" dirty="0"/>
          </a:p>
        </p:txBody>
      </p:sp>
      <p:sp>
        <p:nvSpPr>
          <p:cNvPr id="33" name="Text 27"/>
          <p:cNvSpPr txBox="1"/>
          <p:nvPr/>
        </p:nvSpPr>
        <p:spPr>
          <a:xfrm>
            <a:off x="822960" y="5605272"/>
            <a:ext cx="1161288" cy="237744"/>
          </a:xfrm>
          <a:prstGeom prst="rect">
            <a:avLst/>
          </a:prstGeom>
          <a:noFill/>
          <a:ln/>
        </p:spPr>
        <p:txBody>
          <a:bodyPr wrap="square" lIns="0" tIns="0" rIns="0" bIns="0" rtlCol="0" anchor="t"/>
          <a:lstStyle/>
          <a:p>
            <a:pPr algn="ctr" indent="0" marL="0">
              <a:buNone/>
            </a:pPr>
            <a:r>
              <a:rPr lang="en-US" sz="1000" dirty="0">
                <a:solidFill>
                  <a:srgbClr val="5B577E"/>
                </a:solidFill>
                <a:latin typeface="Poppins" pitchFamily="34" charset="0"/>
                <a:ea typeface="Poppins" pitchFamily="34" charset="-122"/>
                <a:cs typeface="Poppins" pitchFamily="34" charset="-120"/>
              </a:rPr>
              <a:t>English</a:t>
            </a:r>
            <a:endParaRPr lang="en-US" sz="1000" dirty="0"/>
          </a:p>
        </p:txBody>
      </p:sp>
      <p:sp>
        <p:nvSpPr>
          <p:cNvPr id="34" name="wipe310-bar10"/>
          <p:cNvSpPr/>
          <p:nvPr/>
        </p:nvSpPr>
        <p:spPr>
          <a:xfrm>
            <a:off x="2029968" y="3337560"/>
            <a:ext cx="384048" cy="2194560"/>
          </a:xfrm>
          <a:prstGeom prst="rect">
            <a:avLst/>
          </a:prstGeom>
          <a:solidFill>
            <a:srgbClr val="9B8CFF"/>
          </a:solidFill>
          <a:ln/>
        </p:spPr>
      </p:sp>
      <p:sp>
        <p:nvSpPr>
          <p:cNvPr id="35" name="auto810-val10"/>
          <p:cNvSpPr txBox="1"/>
          <p:nvPr/>
        </p:nvSpPr>
        <p:spPr>
          <a:xfrm>
            <a:off x="1892808" y="3118104"/>
            <a:ext cx="658368" cy="201168"/>
          </a:xfrm>
          <a:prstGeom prst="rect">
            <a:avLst/>
          </a:prstGeom>
          <a:noFill/>
          <a:ln/>
        </p:spPr>
        <p:txBody>
          <a:bodyPr wrap="square" lIns="0" tIns="0" rIns="0" bIns="0" rtlCol="0" anchor="t"/>
          <a:lstStyle/>
          <a:p>
            <a:pPr algn="ctr" indent="0" marL="0">
              <a:buNone/>
            </a:pPr>
            <a:r>
              <a:rPr lang="en-US" sz="850" b="1" dirty="0">
                <a:solidFill>
                  <a:srgbClr val="1E1A4D"/>
                </a:solidFill>
                <a:latin typeface="Poppins" pitchFamily="34" charset="0"/>
                <a:ea typeface="Poppins" pitchFamily="34" charset="-122"/>
                <a:cs typeface="Poppins" pitchFamily="34" charset="-120"/>
              </a:rPr>
              <a:t>96%</a:t>
            </a:r>
            <a:endParaRPr lang="en-US" sz="850" dirty="0"/>
          </a:p>
        </p:txBody>
      </p:sp>
      <p:sp>
        <p:nvSpPr>
          <p:cNvPr id="36" name="wipe360-bar11"/>
          <p:cNvSpPr/>
          <p:nvPr/>
        </p:nvSpPr>
        <p:spPr>
          <a:xfrm>
            <a:off x="2459736" y="3398520"/>
            <a:ext cx="384048" cy="2133600"/>
          </a:xfrm>
          <a:prstGeom prst="rect">
            <a:avLst/>
          </a:prstGeom>
          <a:solidFill>
            <a:srgbClr val="FF9F1C"/>
          </a:solidFill>
          <a:ln/>
        </p:spPr>
      </p:sp>
      <p:sp>
        <p:nvSpPr>
          <p:cNvPr id="37" name="auto860-val11"/>
          <p:cNvSpPr txBox="1"/>
          <p:nvPr/>
        </p:nvSpPr>
        <p:spPr>
          <a:xfrm>
            <a:off x="2322576" y="3179064"/>
            <a:ext cx="658368" cy="201168"/>
          </a:xfrm>
          <a:prstGeom prst="rect">
            <a:avLst/>
          </a:prstGeom>
          <a:noFill/>
          <a:ln/>
        </p:spPr>
        <p:txBody>
          <a:bodyPr wrap="square" lIns="0" tIns="0" rIns="0" bIns="0" rtlCol="0" anchor="t"/>
          <a:lstStyle/>
          <a:p>
            <a:pPr algn="ctr" indent="0" marL="0">
              <a:buNone/>
            </a:pPr>
            <a:r>
              <a:rPr lang="en-US" sz="850" b="1" dirty="0">
                <a:solidFill>
                  <a:srgbClr val="D97706"/>
                </a:solidFill>
                <a:latin typeface="Poppins" pitchFamily="34" charset="0"/>
                <a:ea typeface="Poppins" pitchFamily="34" charset="-122"/>
                <a:cs typeface="Poppins" pitchFamily="34" charset="-120"/>
              </a:rPr>
              <a:t>93%</a:t>
            </a:r>
            <a:endParaRPr lang="en-US" sz="850" dirty="0"/>
          </a:p>
        </p:txBody>
      </p:sp>
      <p:sp>
        <p:nvSpPr>
          <p:cNvPr id="38" name="Text 32"/>
          <p:cNvSpPr txBox="1"/>
          <p:nvPr/>
        </p:nvSpPr>
        <p:spPr>
          <a:xfrm>
            <a:off x="1892808" y="5605272"/>
            <a:ext cx="1161288" cy="237744"/>
          </a:xfrm>
          <a:prstGeom prst="rect">
            <a:avLst/>
          </a:prstGeom>
          <a:noFill/>
          <a:ln/>
        </p:spPr>
        <p:txBody>
          <a:bodyPr wrap="square" lIns="0" tIns="0" rIns="0" bIns="0" rtlCol="0" anchor="t"/>
          <a:lstStyle/>
          <a:p>
            <a:pPr algn="ctr" indent="0" marL="0">
              <a:buNone/>
            </a:pPr>
            <a:r>
              <a:rPr lang="en-US" sz="1000" dirty="0">
                <a:solidFill>
                  <a:srgbClr val="5B577E"/>
                </a:solidFill>
                <a:latin typeface="Poppins" pitchFamily="34" charset="0"/>
                <a:ea typeface="Poppins" pitchFamily="34" charset="-122"/>
                <a:cs typeface="Poppins" pitchFamily="34" charset="-120"/>
              </a:rPr>
              <a:t>Hinglish</a:t>
            </a:r>
            <a:endParaRPr lang="en-US" sz="1000" dirty="0"/>
          </a:p>
        </p:txBody>
      </p:sp>
      <p:sp>
        <p:nvSpPr>
          <p:cNvPr id="39" name="wipe420-bar20"/>
          <p:cNvSpPr/>
          <p:nvPr/>
        </p:nvSpPr>
        <p:spPr>
          <a:xfrm>
            <a:off x="3099816" y="3398520"/>
            <a:ext cx="384048" cy="2133600"/>
          </a:xfrm>
          <a:prstGeom prst="rect">
            <a:avLst/>
          </a:prstGeom>
          <a:solidFill>
            <a:srgbClr val="9B8CFF"/>
          </a:solidFill>
          <a:ln/>
        </p:spPr>
      </p:sp>
      <p:sp>
        <p:nvSpPr>
          <p:cNvPr id="40" name="auto920-val20"/>
          <p:cNvSpPr txBox="1"/>
          <p:nvPr/>
        </p:nvSpPr>
        <p:spPr>
          <a:xfrm>
            <a:off x="2962656" y="3179064"/>
            <a:ext cx="658368" cy="201168"/>
          </a:xfrm>
          <a:prstGeom prst="rect">
            <a:avLst/>
          </a:prstGeom>
          <a:noFill/>
          <a:ln/>
        </p:spPr>
        <p:txBody>
          <a:bodyPr wrap="square" lIns="0" tIns="0" rIns="0" bIns="0" rtlCol="0" anchor="t"/>
          <a:lstStyle/>
          <a:p>
            <a:pPr algn="ctr" indent="0" marL="0">
              <a:buNone/>
            </a:pPr>
            <a:r>
              <a:rPr lang="en-US" sz="850" b="1" dirty="0">
                <a:solidFill>
                  <a:srgbClr val="1E1A4D"/>
                </a:solidFill>
                <a:latin typeface="Poppins" pitchFamily="34" charset="0"/>
                <a:ea typeface="Poppins" pitchFamily="34" charset="-122"/>
                <a:cs typeface="Poppins" pitchFamily="34" charset="-120"/>
              </a:rPr>
              <a:t>93%</a:t>
            </a:r>
            <a:endParaRPr lang="en-US" sz="850" dirty="0"/>
          </a:p>
        </p:txBody>
      </p:sp>
      <p:sp>
        <p:nvSpPr>
          <p:cNvPr id="41" name="wipe470-bar21"/>
          <p:cNvSpPr/>
          <p:nvPr/>
        </p:nvSpPr>
        <p:spPr>
          <a:xfrm>
            <a:off x="3529584" y="3246120"/>
            <a:ext cx="384048" cy="2286000"/>
          </a:xfrm>
          <a:prstGeom prst="rect">
            <a:avLst/>
          </a:prstGeom>
          <a:solidFill>
            <a:srgbClr val="FF9F1C"/>
          </a:solidFill>
          <a:ln/>
        </p:spPr>
      </p:sp>
      <p:sp>
        <p:nvSpPr>
          <p:cNvPr id="42" name="auto970-val21"/>
          <p:cNvSpPr txBox="1"/>
          <p:nvPr/>
        </p:nvSpPr>
        <p:spPr>
          <a:xfrm>
            <a:off x="3392424" y="3026664"/>
            <a:ext cx="658368" cy="201168"/>
          </a:xfrm>
          <a:prstGeom prst="rect">
            <a:avLst/>
          </a:prstGeom>
          <a:noFill/>
          <a:ln/>
        </p:spPr>
        <p:txBody>
          <a:bodyPr wrap="square" lIns="0" tIns="0" rIns="0" bIns="0" rtlCol="0" anchor="t"/>
          <a:lstStyle/>
          <a:p>
            <a:pPr algn="ctr" indent="0" marL="0">
              <a:buNone/>
            </a:pPr>
            <a:r>
              <a:rPr lang="en-US" sz="850" b="1" dirty="0">
                <a:solidFill>
                  <a:srgbClr val="D97706"/>
                </a:solidFill>
                <a:latin typeface="Poppins" pitchFamily="34" charset="0"/>
                <a:ea typeface="Poppins" pitchFamily="34" charset="-122"/>
                <a:cs typeface="Poppins" pitchFamily="34" charset="-120"/>
              </a:rPr>
              <a:t>100%</a:t>
            </a:r>
            <a:endParaRPr lang="en-US" sz="850" dirty="0"/>
          </a:p>
        </p:txBody>
      </p:sp>
      <p:sp>
        <p:nvSpPr>
          <p:cNvPr id="43" name="Text 37"/>
          <p:cNvSpPr txBox="1"/>
          <p:nvPr/>
        </p:nvSpPr>
        <p:spPr>
          <a:xfrm>
            <a:off x="2962656" y="5605272"/>
            <a:ext cx="1161288" cy="237744"/>
          </a:xfrm>
          <a:prstGeom prst="rect">
            <a:avLst/>
          </a:prstGeom>
          <a:noFill/>
          <a:ln/>
        </p:spPr>
        <p:txBody>
          <a:bodyPr wrap="square" lIns="0" tIns="0" rIns="0" bIns="0" rtlCol="0" anchor="t"/>
          <a:lstStyle/>
          <a:p>
            <a:pPr algn="ctr" indent="0" marL="0">
              <a:buNone/>
            </a:pPr>
            <a:r>
              <a:rPr lang="en-US" sz="1000" dirty="0">
                <a:solidFill>
                  <a:srgbClr val="5B577E"/>
                </a:solidFill>
                <a:latin typeface="Poppins" pitchFamily="34" charset="0"/>
                <a:ea typeface="Poppins" pitchFamily="34" charset="-122"/>
                <a:cs typeface="Poppins" pitchFamily="34" charset="-120"/>
              </a:rPr>
              <a:t>Benglish</a:t>
            </a:r>
            <a:endParaRPr lang="en-US" sz="1000" dirty="0"/>
          </a:p>
        </p:txBody>
      </p:sp>
      <p:sp>
        <p:nvSpPr>
          <p:cNvPr id="44" name="wipe530-bar30"/>
          <p:cNvSpPr/>
          <p:nvPr/>
        </p:nvSpPr>
        <p:spPr>
          <a:xfrm>
            <a:off x="4169664" y="3368040"/>
            <a:ext cx="384048" cy="2164080"/>
          </a:xfrm>
          <a:prstGeom prst="rect">
            <a:avLst/>
          </a:prstGeom>
          <a:solidFill>
            <a:srgbClr val="9B8CFF"/>
          </a:solidFill>
          <a:ln/>
        </p:spPr>
      </p:sp>
      <p:sp>
        <p:nvSpPr>
          <p:cNvPr id="45" name="auto1030-val30"/>
          <p:cNvSpPr txBox="1"/>
          <p:nvPr/>
        </p:nvSpPr>
        <p:spPr>
          <a:xfrm>
            <a:off x="4032504" y="3148584"/>
            <a:ext cx="658368" cy="201168"/>
          </a:xfrm>
          <a:prstGeom prst="rect">
            <a:avLst/>
          </a:prstGeom>
          <a:noFill/>
          <a:ln/>
        </p:spPr>
        <p:txBody>
          <a:bodyPr wrap="square" lIns="0" tIns="0" rIns="0" bIns="0" rtlCol="0" anchor="t"/>
          <a:lstStyle/>
          <a:p>
            <a:pPr algn="ctr" indent="0" marL="0">
              <a:buNone/>
            </a:pPr>
            <a:r>
              <a:rPr lang="en-US" sz="850" b="1" dirty="0">
                <a:solidFill>
                  <a:srgbClr val="1E1A4D"/>
                </a:solidFill>
                <a:latin typeface="Poppins" pitchFamily="34" charset="0"/>
                <a:ea typeface="Poppins" pitchFamily="34" charset="-122"/>
                <a:cs typeface="Poppins" pitchFamily="34" charset="-120"/>
              </a:rPr>
              <a:t>95%</a:t>
            </a:r>
            <a:endParaRPr lang="en-US" sz="850" dirty="0"/>
          </a:p>
        </p:txBody>
      </p:sp>
      <p:sp>
        <p:nvSpPr>
          <p:cNvPr id="46" name="wipe580-bar31"/>
          <p:cNvSpPr/>
          <p:nvPr/>
        </p:nvSpPr>
        <p:spPr>
          <a:xfrm>
            <a:off x="4599432" y="3276600"/>
            <a:ext cx="384048" cy="2255520"/>
          </a:xfrm>
          <a:prstGeom prst="rect">
            <a:avLst/>
          </a:prstGeom>
          <a:solidFill>
            <a:srgbClr val="FF9F1C"/>
          </a:solidFill>
          <a:ln/>
        </p:spPr>
      </p:sp>
      <p:sp>
        <p:nvSpPr>
          <p:cNvPr id="47" name="auto1080-val31"/>
          <p:cNvSpPr txBox="1"/>
          <p:nvPr/>
        </p:nvSpPr>
        <p:spPr>
          <a:xfrm>
            <a:off x="4462272" y="3057144"/>
            <a:ext cx="658368" cy="201168"/>
          </a:xfrm>
          <a:prstGeom prst="rect">
            <a:avLst/>
          </a:prstGeom>
          <a:noFill/>
          <a:ln/>
        </p:spPr>
        <p:txBody>
          <a:bodyPr wrap="square" lIns="0" tIns="0" rIns="0" bIns="0" rtlCol="0" anchor="t"/>
          <a:lstStyle/>
          <a:p>
            <a:pPr algn="ctr" indent="0" marL="0">
              <a:buNone/>
            </a:pPr>
            <a:r>
              <a:rPr lang="en-US" sz="850" b="1" dirty="0">
                <a:solidFill>
                  <a:srgbClr val="D97706"/>
                </a:solidFill>
                <a:latin typeface="Poppins" pitchFamily="34" charset="0"/>
                <a:ea typeface="Poppins" pitchFamily="34" charset="-122"/>
                <a:cs typeface="Poppins" pitchFamily="34" charset="-120"/>
              </a:rPr>
              <a:t>99%</a:t>
            </a:r>
            <a:endParaRPr lang="en-US" sz="850" dirty="0"/>
          </a:p>
        </p:txBody>
      </p:sp>
      <p:sp>
        <p:nvSpPr>
          <p:cNvPr id="48" name="Text 42"/>
          <p:cNvSpPr txBox="1"/>
          <p:nvPr/>
        </p:nvSpPr>
        <p:spPr>
          <a:xfrm>
            <a:off x="4032504" y="5605272"/>
            <a:ext cx="1161288" cy="237744"/>
          </a:xfrm>
          <a:prstGeom prst="rect">
            <a:avLst/>
          </a:prstGeom>
          <a:noFill/>
          <a:ln/>
        </p:spPr>
        <p:txBody>
          <a:bodyPr wrap="square" lIns="0" tIns="0" rIns="0" bIns="0" rtlCol="0" anchor="t"/>
          <a:lstStyle/>
          <a:p>
            <a:pPr algn="ctr" indent="0" marL="0">
              <a:buNone/>
            </a:pPr>
            <a:r>
              <a:rPr lang="en-US" sz="1000" dirty="0">
                <a:solidFill>
                  <a:srgbClr val="5B577E"/>
                </a:solidFill>
                <a:latin typeface="Poppins" pitchFamily="34" charset="0"/>
                <a:ea typeface="Poppins" pitchFamily="34" charset="-122"/>
                <a:cs typeface="Poppins" pitchFamily="34" charset="-120"/>
              </a:rPr>
              <a:t>Tanglish</a:t>
            </a:r>
            <a:endParaRPr lang="en-US" sz="1000" dirty="0"/>
          </a:p>
        </p:txBody>
      </p:sp>
      <p:sp>
        <p:nvSpPr>
          <p:cNvPr id="49" name="wipe640-bar40"/>
          <p:cNvSpPr/>
          <p:nvPr/>
        </p:nvSpPr>
        <p:spPr>
          <a:xfrm>
            <a:off x="5239512" y="3368040"/>
            <a:ext cx="384048" cy="2164080"/>
          </a:xfrm>
          <a:prstGeom prst="rect">
            <a:avLst/>
          </a:prstGeom>
          <a:solidFill>
            <a:srgbClr val="9B8CFF"/>
          </a:solidFill>
          <a:ln/>
        </p:spPr>
      </p:sp>
      <p:sp>
        <p:nvSpPr>
          <p:cNvPr id="50" name="auto1140-val40"/>
          <p:cNvSpPr txBox="1"/>
          <p:nvPr/>
        </p:nvSpPr>
        <p:spPr>
          <a:xfrm>
            <a:off x="5102352" y="3148584"/>
            <a:ext cx="658368" cy="201168"/>
          </a:xfrm>
          <a:prstGeom prst="rect">
            <a:avLst/>
          </a:prstGeom>
          <a:noFill/>
          <a:ln/>
        </p:spPr>
        <p:txBody>
          <a:bodyPr wrap="square" lIns="0" tIns="0" rIns="0" bIns="0" rtlCol="0" anchor="t"/>
          <a:lstStyle/>
          <a:p>
            <a:pPr algn="ctr" indent="0" marL="0">
              <a:buNone/>
            </a:pPr>
            <a:r>
              <a:rPr lang="en-US" sz="850" b="1" dirty="0">
                <a:solidFill>
                  <a:srgbClr val="1E1A4D"/>
                </a:solidFill>
                <a:latin typeface="Poppins" pitchFamily="34" charset="0"/>
                <a:ea typeface="Poppins" pitchFamily="34" charset="-122"/>
                <a:cs typeface="Poppins" pitchFamily="34" charset="-120"/>
              </a:rPr>
              <a:t>95%</a:t>
            </a:r>
            <a:endParaRPr lang="en-US" sz="850" dirty="0"/>
          </a:p>
        </p:txBody>
      </p:sp>
      <p:sp>
        <p:nvSpPr>
          <p:cNvPr id="51" name="wipe690-bar41"/>
          <p:cNvSpPr/>
          <p:nvPr/>
        </p:nvSpPr>
        <p:spPr>
          <a:xfrm>
            <a:off x="5669280" y="3246120"/>
            <a:ext cx="384048" cy="2286000"/>
          </a:xfrm>
          <a:prstGeom prst="rect">
            <a:avLst/>
          </a:prstGeom>
          <a:solidFill>
            <a:srgbClr val="FF9F1C"/>
          </a:solidFill>
          <a:ln/>
        </p:spPr>
      </p:sp>
      <p:sp>
        <p:nvSpPr>
          <p:cNvPr id="52" name="auto1190-val41"/>
          <p:cNvSpPr txBox="1"/>
          <p:nvPr/>
        </p:nvSpPr>
        <p:spPr>
          <a:xfrm>
            <a:off x="5532120" y="3026664"/>
            <a:ext cx="658368" cy="201168"/>
          </a:xfrm>
          <a:prstGeom prst="rect">
            <a:avLst/>
          </a:prstGeom>
          <a:noFill/>
          <a:ln/>
        </p:spPr>
        <p:txBody>
          <a:bodyPr wrap="square" lIns="0" tIns="0" rIns="0" bIns="0" rtlCol="0" anchor="t"/>
          <a:lstStyle/>
          <a:p>
            <a:pPr algn="ctr" indent="0" marL="0">
              <a:buNone/>
            </a:pPr>
            <a:r>
              <a:rPr lang="en-US" sz="850" b="1" dirty="0">
                <a:solidFill>
                  <a:srgbClr val="D97706"/>
                </a:solidFill>
                <a:latin typeface="Poppins" pitchFamily="34" charset="0"/>
                <a:ea typeface="Poppins" pitchFamily="34" charset="-122"/>
                <a:cs typeface="Poppins" pitchFamily="34" charset="-120"/>
              </a:rPr>
              <a:t>100%</a:t>
            </a:r>
            <a:endParaRPr lang="en-US" sz="850" dirty="0"/>
          </a:p>
        </p:txBody>
      </p:sp>
      <p:sp>
        <p:nvSpPr>
          <p:cNvPr id="53" name="Text 47"/>
          <p:cNvSpPr txBox="1"/>
          <p:nvPr/>
        </p:nvSpPr>
        <p:spPr>
          <a:xfrm>
            <a:off x="5102352" y="5605272"/>
            <a:ext cx="1161288" cy="237744"/>
          </a:xfrm>
          <a:prstGeom prst="rect">
            <a:avLst/>
          </a:prstGeom>
          <a:noFill/>
          <a:ln/>
        </p:spPr>
        <p:txBody>
          <a:bodyPr wrap="square" lIns="0" tIns="0" rIns="0" bIns="0" rtlCol="0" anchor="t"/>
          <a:lstStyle/>
          <a:p>
            <a:pPr algn="ctr" indent="0" marL="0">
              <a:buNone/>
            </a:pPr>
            <a:r>
              <a:rPr lang="en-US" sz="1000" dirty="0">
                <a:solidFill>
                  <a:srgbClr val="5B577E"/>
                </a:solidFill>
                <a:latin typeface="Poppins" pitchFamily="34" charset="0"/>
                <a:ea typeface="Poppins" pitchFamily="34" charset="-122"/>
                <a:cs typeface="Poppins" pitchFamily="34" charset="-120"/>
              </a:rPr>
              <a:t>Odia-English</a:t>
            </a:r>
            <a:endParaRPr lang="en-US" sz="1000" dirty="0"/>
          </a:p>
        </p:txBody>
      </p:sp>
      <p:sp>
        <p:nvSpPr>
          <p:cNvPr id="54" name="wipe750-bar50"/>
          <p:cNvSpPr/>
          <p:nvPr/>
        </p:nvSpPr>
        <p:spPr>
          <a:xfrm>
            <a:off x="6309360" y="3459480"/>
            <a:ext cx="384048" cy="2072640"/>
          </a:xfrm>
          <a:prstGeom prst="rect">
            <a:avLst/>
          </a:prstGeom>
          <a:solidFill>
            <a:srgbClr val="9B8CFF"/>
          </a:solidFill>
          <a:ln/>
        </p:spPr>
      </p:sp>
      <p:sp>
        <p:nvSpPr>
          <p:cNvPr id="55" name="auto1250-val50"/>
          <p:cNvSpPr txBox="1"/>
          <p:nvPr/>
        </p:nvSpPr>
        <p:spPr>
          <a:xfrm>
            <a:off x="6172200" y="3240024"/>
            <a:ext cx="658368" cy="201168"/>
          </a:xfrm>
          <a:prstGeom prst="rect">
            <a:avLst/>
          </a:prstGeom>
          <a:noFill/>
          <a:ln/>
        </p:spPr>
        <p:txBody>
          <a:bodyPr wrap="square" lIns="0" tIns="0" rIns="0" bIns="0" rtlCol="0" anchor="t"/>
          <a:lstStyle/>
          <a:p>
            <a:pPr algn="ctr" indent="0" marL="0">
              <a:buNone/>
            </a:pPr>
            <a:r>
              <a:rPr lang="en-US" sz="850" b="1" dirty="0">
                <a:solidFill>
                  <a:srgbClr val="1E1A4D"/>
                </a:solidFill>
                <a:latin typeface="Poppins" pitchFamily="34" charset="0"/>
                <a:ea typeface="Poppins" pitchFamily="34" charset="-122"/>
                <a:cs typeface="Poppins" pitchFamily="34" charset="-120"/>
              </a:rPr>
              <a:t>91%</a:t>
            </a:r>
            <a:endParaRPr lang="en-US" sz="850" dirty="0"/>
          </a:p>
        </p:txBody>
      </p:sp>
      <p:sp>
        <p:nvSpPr>
          <p:cNvPr id="56" name="wipe800-bar51"/>
          <p:cNvSpPr/>
          <p:nvPr/>
        </p:nvSpPr>
        <p:spPr>
          <a:xfrm>
            <a:off x="6739128" y="4739640"/>
            <a:ext cx="384048" cy="792480"/>
          </a:xfrm>
          <a:prstGeom prst="rect">
            <a:avLst/>
          </a:prstGeom>
          <a:solidFill>
            <a:srgbClr val="FF9F1C"/>
          </a:solidFill>
          <a:ln/>
        </p:spPr>
      </p:sp>
      <p:sp>
        <p:nvSpPr>
          <p:cNvPr id="57" name="auto1300-val51"/>
          <p:cNvSpPr txBox="1"/>
          <p:nvPr/>
        </p:nvSpPr>
        <p:spPr>
          <a:xfrm>
            <a:off x="6601968" y="4410456"/>
            <a:ext cx="658368" cy="292608"/>
          </a:xfrm>
          <a:prstGeom prst="rect">
            <a:avLst/>
          </a:prstGeom>
          <a:noFill/>
          <a:ln/>
        </p:spPr>
        <p:txBody>
          <a:bodyPr wrap="square" lIns="0" tIns="0" rIns="0" bIns="0" rtlCol="0" anchor="t"/>
          <a:lstStyle/>
          <a:p>
            <a:pPr algn="ctr" indent="0" marL="0">
              <a:buNone/>
            </a:pPr>
            <a:r>
              <a:rPr lang="en-US" sz="1500" b="1" dirty="0">
                <a:solidFill>
                  <a:srgbClr val="D97706"/>
                </a:solidFill>
                <a:latin typeface="Poppins" pitchFamily="34" charset="0"/>
                <a:ea typeface="Poppins" pitchFamily="34" charset="-122"/>
                <a:cs typeface="Poppins" pitchFamily="34" charset="-120"/>
              </a:rPr>
              <a:t>35%</a:t>
            </a:r>
            <a:endParaRPr lang="en-US" sz="1500" dirty="0"/>
          </a:p>
        </p:txBody>
      </p:sp>
      <p:sp>
        <p:nvSpPr>
          <p:cNvPr id="58" name="Text 52"/>
          <p:cNvSpPr txBox="1"/>
          <p:nvPr/>
        </p:nvSpPr>
        <p:spPr>
          <a:xfrm>
            <a:off x="6172200" y="5605272"/>
            <a:ext cx="1161288" cy="237744"/>
          </a:xfrm>
          <a:prstGeom prst="rect">
            <a:avLst/>
          </a:prstGeom>
          <a:noFill/>
          <a:ln/>
        </p:spPr>
        <p:txBody>
          <a:bodyPr wrap="square" lIns="0" tIns="0" rIns="0" bIns="0" rtlCol="0" anchor="t"/>
          <a:lstStyle/>
          <a:p>
            <a:pPr algn="ctr" indent="0" marL="0">
              <a:buNone/>
            </a:pPr>
            <a:r>
              <a:rPr lang="en-US" sz="1000" b="1" dirty="0">
                <a:solidFill>
                  <a:srgbClr val="C2477D"/>
                </a:solidFill>
                <a:latin typeface="Poppins" pitchFamily="34" charset="0"/>
                <a:ea typeface="Poppins" pitchFamily="34" charset="-122"/>
                <a:cs typeface="Poppins" pitchFamily="34" charset="-120"/>
              </a:rPr>
              <a:t>Kanglish</a:t>
            </a:r>
            <a:endParaRPr lang="en-US" sz="1000" dirty="0"/>
          </a:p>
        </p:txBody>
      </p:sp>
      <p:sp>
        <p:nvSpPr>
          <p:cNvPr id="59" name="auto1300-sc0"/>
          <p:cNvSpPr/>
          <p:nvPr/>
        </p:nvSpPr>
        <p:spPr>
          <a:xfrm>
            <a:off x="7680960" y="1965960"/>
            <a:ext cx="3977640" cy="1298448"/>
          </a:xfrm>
          <a:prstGeom prst="roundRect">
            <a:avLst>
              <a:gd name="adj" fmla="val 9859"/>
            </a:avLst>
          </a:prstGeom>
          <a:solidFill>
            <a:srgbClr val="FFFFFF"/>
          </a:solidFill>
          <a:ln w="19050">
            <a:solidFill>
              <a:srgbClr val="FF9F1C"/>
            </a:solidFill>
            <a:prstDash val="solid"/>
          </a:ln>
          <a:effectLst>
            <a:outerShdw sx="100000" sy="100000" kx="0" ky="0" algn="bl" rotWithShape="0" blurRad="152400" dist="38100" dir="5400000">
              <a:srgbClr val="6C5CE7">
                <a:alpha val="16000"/>
              </a:srgbClr>
            </a:outerShdw>
          </a:effectLst>
        </p:spPr>
      </p:sp>
      <p:sp>
        <p:nvSpPr>
          <p:cNvPr id="60" name="auto1300-sb0"/>
          <p:cNvSpPr txBox="1"/>
          <p:nvPr/>
        </p:nvSpPr>
        <p:spPr>
          <a:xfrm>
            <a:off x="7909560" y="2075688"/>
            <a:ext cx="3566160" cy="502920"/>
          </a:xfrm>
          <a:prstGeom prst="rect">
            <a:avLst/>
          </a:prstGeom>
          <a:noFill/>
          <a:ln/>
        </p:spPr>
        <p:txBody>
          <a:bodyPr wrap="square" lIns="0" tIns="0" rIns="0" bIns="0" rtlCol="0" anchor="t"/>
          <a:lstStyle/>
          <a:p>
            <a:pPr indent="0" marL="0">
              <a:buNone/>
            </a:pPr>
            <a:r>
              <a:rPr lang="en-US" sz="2500" b="1" dirty="0">
                <a:solidFill>
                  <a:srgbClr val="D97706"/>
                </a:solidFill>
                <a:latin typeface="Lora" pitchFamily="34" charset="0"/>
                <a:ea typeface="Lora" pitchFamily="34" charset="-122"/>
                <a:cs typeface="Lora" pitchFamily="34" charset="-120"/>
              </a:rPr>
              <a:t>35% vs 100%</a:t>
            </a:r>
            <a:endParaRPr lang="en-US" sz="2500" dirty="0"/>
          </a:p>
        </p:txBody>
      </p:sp>
      <p:sp>
        <p:nvSpPr>
          <p:cNvPr id="61" name="auto1300-st0"/>
          <p:cNvSpPr txBox="1"/>
          <p:nvPr/>
        </p:nvSpPr>
        <p:spPr>
          <a:xfrm>
            <a:off x="7909560" y="2606040"/>
            <a:ext cx="3611880" cy="603504"/>
          </a:xfrm>
          <a:prstGeom prst="rect">
            <a:avLst/>
          </a:prstGeom>
          <a:noFill/>
          <a:ln/>
        </p:spPr>
        <p:txBody>
          <a:bodyPr wrap="square" lIns="0" tIns="0" rIns="0" bIns="0" rtlCol="0" anchor="t"/>
          <a:lstStyle/>
          <a:p>
            <a:pPr indent="0" marL="0">
              <a:buNone/>
            </a:pPr>
            <a:r>
              <a:rPr lang="en-US" sz="950" dirty="0">
                <a:solidFill>
                  <a:srgbClr val="5B577E"/>
                </a:solidFill>
                <a:latin typeface="Poppins" pitchFamily="34" charset="0"/>
                <a:ea typeface="Poppins" pitchFamily="34" charset="-122"/>
                <a:cs typeface="Poppins" pitchFamily="34" charset="-120"/>
              </a:rPr>
              <a:t>Kanglish answers that replied with only the code, vs casual English. p &lt; 0.001: not chance.</a:t>
            </a:r>
            <a:endParaRPr lang="en-US" sz="950" dirty="0"/>
          </a:p>
        </p:txBody>
      </p:sp>
      <p:sp>
        <p:nvSpPr>
          <p:cNvPr id="62" name="auto1550-sc1"/>
          <p:cNvSpPr/>
          <p:nvPr/>
        </p:nvSpPr>
        <p:spPr>
          <a:xfrm>
            <a:off x="7680960" y="3383280"/>
            <a:ext cx="3977640" cy="1298448"/>
          </a:xfrm>
          <a:prstGeom prst="roundRect">
            <a:avLst>
              <a:gd name="adj" fmla="val 9859"/>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63" name="auto1550-sb1"/>
          <p:cNvSpPr txBox="1"/>
          <p:nvPr/>
        </p:nvSpPr>
        <p:spPr>
          <a:xfrm>
            <a:off x="7909560" y="3493008"/>
            <a:ext cx="3566160" cy="502920"/>
          </a:xfrm>
          <a:prstGeom prst="rect">
            <a:avLst/>
          </a:prstGeom>
          <a:noFill/>
          <a:ln/>
        </p:spPr>
        <p:txBody>
          <a:bodyPr wrap="square" lIns="0" tIns="0" rIns="0" bIns="0" rtlCol="0" anchor="t"/>
          <a:lstStyle/>
          <a:p>
            <a:pPr indent="0" marL="0">
              <a:buNone/>
            </a:pPr>
            <a:r>
              <a:rPr lang="en-US" sz="2500" b="1" dirty="0">
                <a:solidFill>
                  <a:srgbClr val="E8456B"/>
                </a:solidFill>
                <a:latin typeface="Lora" pitchFamily="34" charset="0"/>
                <a:ea typeface="Lora" pitchFamily="34" charset="-122"/>
                <a:cs typeface="Lora" pitchFamily="34" charset="-120"/>
              </a:rPr>
              <a:t>9 vs 0</a:t>
            </a:r>
            <a:endParaRPr lang="en-US" sz="2500" dirty="0"/>
          </a:p>
        </p:txBody>
      </p:sp>
      <p:sp>
        <p:nvSpPr>
          <p:cNvPr id="64" name="auto1550-st1"/>
          <p:cNvSpPr txBox="1"/>
          <p:nvPr/>
        </p:nvSpPr>
        <p:spPr>
          <a:xfrm>
            <a:off x="7909560" y="4023360"/>
            <a:ext cx="3611880" cy="603504"/>
          </a:xfrm>
          <a:prstGeom prst="rect">
            <a:avLst/>
          </a:prstGeom>
          <a:noFill/>
          <a:ln/>
        </p:spPr>
        <p:txBody>
          <a:bodyPr wrap="square" lIns="0" tIns="0" rIns="0" bIns="0" rtlCol="0" anchor="t"/>
          <a:lstStyle/>
          <a:p>
            <a:pPr indent="0" marL="0">
              <a:buNone/>
            </a:pPr>
            <a:r>
              <a:rPr lang="en-US" sz="950" dirty="0">
                <a:solidFill>
                  <a:srgbClr val="5B577E"/>
                </a:solidFill>
                <a:latin typeface="Poppins" pitchFamily="34" charset="0"/>
                <a:ea typeface="Poppins" pitchFamily="34" charset="-122"/>
                <a:cs typeface="Poppins" pitchFamily="34" charset="-120"/>
              </a:rPr>
              <a:t>Renamed functions: 600 mixed prompts vs 150 English ones. One became bhai_indian_format.</a:t>
            </a:r>
            <a:endParaRPr lang="en-US" sz="950" dirty="0"/>
          </a:p>
        </p:txBody>
      </p:sp>
      <p:sp>
        <p:nvSpPr>
          <p:cNvPr id="65" name="auto1800-sc2"/>
          <p:cNvSpPr/>
          <p:nvPr/>
        </p:nvSpPr>
        <p:spPr>
          <a:xfrm>
            <a:off x="7680960" y="4800600"/>
            <a:ext cx="3977640" cy="1298448"/>
          </a:xfrm>
          <a:prstGeom prst="roundRect">
            <a:avLst>
              <a:gd name="adj" fmla="val 9859"/>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66" name="auto1800-sb2"/>
          <p:cNvSpPr txBox="1"/>
          <p:nvPr/>
        </p:nvSpPr>
        <p:spPr>
          <a:xfrm>
            <a:off x="7909560" y="4910328"/>
            <a:ext cx="3566160" cy="502920"/>
          </a:xfrm>
          <a:prstGeom prst="rect">
            <a:avLst/>
          </a:prstGeom>
          <a:noFill/>
          <a:ln/>
        </p:spPr>
        <p:txBody>
          <a:bodyPr wrap="square" lIns="0" tIns="0" rIns="0" bIns="0" rtlCol="0" anchor="t"/>
          <a:lstStyle/>
          <a:p>
            <a:pPr indent="0" marL="0">
              <a:buNone/>
            </a:pPr>
            <a:r>
              <a:rPr lang="en-US" sz="2500" b="1" dirty="0">
                <a:solidFill>
                  <a:srgbClr val="12B886"/>
                </a:solidFill>
                <a:latin typeface="Lora" pitchFamily="34" charset="0"/>
                <a:ea typeface="Lora" pitchFamily="34" charset="-122"/>
                <a:cs typeface="Lora" pitchFamily="34" charset="-120"/>
              </a:rPr>
              <a:t>95.3%</a:t>
            </a:r>
            <a:endParaRPr lang="en-US" sz="2500" dirty="0"/>
          </a:p>
        </p:txBody>
      </p:sp>
      <p:sp>
        <p:nvSpPr>
          <p:cNvPr id="67" name="auto1800-st2"/>
          <p:cNvSpPr txBox="1"/>
          <p:nvPr/>
        </p:nvSpPr>
        <p:spPr>
          <a:xfrm>
            <a:off x="7909560" y="5440680"/>
            <a:ext cx="3611880" cy="603504"/>
          </a:xfrm>
          <a:prstGeom prst="rect">
            <a:avLst/>
          </a:prstGeom>
          <a:noFill/>
          <a:ln/>
        </p:spPr>
        <p:txBody>
          <a:bodyPr wrap="square" lIns="0" tIns="0" rIns="0" bIns="0" rtlCol="0" anchor="t"/>
          <a:lstStyle/>
          <a:p>
            <a:pPr indent="0" marL="0">
              <a:buNone/>
            </a:pPr>
            <a:r>
              <a:rPr lang="en-US" sz="950" dirty="0">
                <a:solidFill>
                  <a:srgbClr val="5B577E"/>
                </a:solidFill>
                <a:latin typeface="Poppins" pitchFamily="34" charset="0"/>
                <a:ea typeface="Poppins" pitchFamily="34" charset="-122"/>
                <a:cs typeface="Poppins" pitchFamily="34" charset="-120"/>
              </a:rPr>
              <a:t>of all 750 answers had correct code. The gaps in correct code are small and could be chance.</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102" dur="indefinite" nodeType="mainSeq">
                <p:childTnLst>
                  <p:par>
                    <p:cTn id="103" fill="hold">
                      <p:stCondLst>
                        <p:cond delay="indefinite"/>
                        <p:cond evt="onBegin" delay="0">
                          <p:tn val="102"/>
                        </p:cond>
                      </p:stCondLst>
                      <p:childTnLst>
                        <p:par>
                          <p:cTn id="104" fill="hold">
                            <p:stCondLst>
                              <p:cond delay="0"/>
                            </p:stCondLst>
                            <p:childTnLst>
                              <p:par>
                                <p:cTn id="5" presetID="22" presetClass="entr" presetSubtype="4" fill="hold" grpId="0" nodeType="withEffect">
                                  <p:stCondLst>
                                    <p:cond delay="200"/>
                                  </p:stCondLst>
                                  <p:childTnLst>
                                    <p:set>
                                      <p:cBhvr>
                                        <p:cTn id="3" dur="1" fill="hold">
                                          <p:stCondLst>
                                            <p:cond delay="0"/>
                                          </p:stCondLst>
                                        </p:cTn>
                                        <p:tgtEl>
                                          <p:spTgt spid="29"/>
                                        </p:tgtEl>
                                        <p:attrNameLst>
                                          <p:attrName>style.visibility</p:attrName>
                                        </p:attrNameLst>
                                      </p:cBhvr>
                                      <p:to>
                                        <p:strVal val="visible"/>
                                      </p:to>
                                    </p:set>
                                    <p:animEffect transition="in" filter="wipe(up)">
                                      <p:cBhvr>
                                        <p:cTn id="4" dur="600"/>
                                        <p:tgtEl>
                                          <p:spTgt spid="29"/>
                                        </p:tgtEl>
                                      </p:cBhvr>
                                    </p:animEffect>
                                  </p:childTnLst>
                                </p:cTn>
                              </p:par>
                              <p:par>
                                <p:cTn id="8" presetID="22" presetClass="entr" presetSubtype="4" fill="hold" grpId="0" nodeType="withEffect">
                                  <p:stCondLst>
                                    <p:cond delay="250"/>
                                  </p:stCondLst>
                                  <p:childTnLst>
                                    <p:set>
                                      <p:cBhvr>
                                        <p:cTn id="6" dur="1" fill="hold">
                                          <p:stCondLst>
                                            <p:cond delay="0"/>
                                          </p:stCondLst>
                                        </p:cTn>
                                        <p:tgtEl>
                                          <p:spTgt spid="31"/>
                                        </p:tgtEl>
                                        <p:attrNameLst>
                                          <p:attrName>style.visibility</p:attrName>
                                        </p:attrNameLst>
                                      </p:cBhvr>
                                      <p:to>
                                        <p:strVal val="visible"/>
                                      </p:to>
                                    </p:set>
                                    <p:animEffect transition="in" filter="wipe(up)">
                                      <p:cBhvr>
                                        <p:cTn id="7" dur="600"/>
                                        <p:tgtEl>
                                          <p:spTgt spid="31"/>
                                        </p:tgtEl>
                                      </p:cBhvr>
                                    </p:animEffect>
                                  </p:childTnLst>
                                </p:cTn>
                              </p:par>
                              <p:par>
                                <p:cTn id="11" presetID="22" presetClass="entr" presetSubtype="4" fill="hold" grpId="0" nodeType="withEffect">
                                  <p:stCondLst>
                                    <p:cond delay="310"/>
                                  </p:stCondLst>
                                  <p:childTnLst>
                                    <p:set>
                                      <p:cBhvr>
                                        <p:cTn id="9" dur="1" fill="hold">
                                          <p:stCondLst>
                                            <p:cond delay="0"/>
                                          </p:stCondLst>
                                        </p:cTn>
                                        <p:tgtEl>
                                          <p:spTgt spid="34"/>
                                        </p:tgtEl>
                                        <p:attrNameLst>
                                          <p:attrName>style.visibility</p:attrName>
                                        </p:attrNameLst>
                                      </p:cBhvr>
                                      <p:to>
                                        <p:strVal val="visible"/>
                                      </p:to>
                                    </p:set>
                                    <p:animEffect transition="in" filter="wipe(up)">
                                      <p:cBhvr>
                                        <p:cTn id="10" dur="600"/>
                                        <p:tgtEl>
                                          <p:spTgt spid="34"/>
                                        </p:tgtEl>
                                      </p:cBhvr>
                                    </p:animEffect>
                                  </p:childTnLst>
                                </p:cTn>
                              </p:par>
                              <p:par>
                                <p:cTn id="14" presetID="22" presetClass="entr" presetSubtype="4" fill="hold" grpId="0" nodeType="withEffect">
                                  <p:stCondLst>
                                    <p:cond delay="360"/>
                                  </p:stCondLst>
                                  <p:childTnLst>
                                    <p:set>
                                      <p:cBhvr>
                                        <p:cTn id="12" dur="1" fill="hold">
                                          <p:stCondLst>
                                            <p:cond delay="0"/>
                                          </p:stCondLst>
                                        </p:cTn>
                                        <p:tgtEl>
                                          <p:spTgt spid="36"/>
                                        </p:tgtEl>
                                        <p:attrNameLst>
                                          <p:attrName>style.visibility</p:attrName>
                                        </p:attrNameLst>
                                      </p:cBhvr>
                                      <p:to>
                                        <p:strVal val="visible"/>
                                      </p:to>
                                    </p:set>
                                    <p:animEffect transition="in" filter="wipe(up)">
                                      <p:cBhvr>
                                        <p:cTn id="13" dur="600"/>
                                        <p:tgtEl>
                                          <p:spTgt spid="36"/>
                                        </p:tgtEl>
                                      </p:cBhvr>
                                    </p:animEffect>
                                  </p:childTnLst>
                                </p:cTn>
                              </p:par>
                              <p:par>
                                <p:cTn id="17" presetID="22" presetClass="entr" presetSubtype="4" fill="hold" grpId="0" nodeType="withEffect">
                                  <p:stCondLst>
                                    <p:cond delay="420"/>
                                  </p:stCondLst>
                                  <p:childTnLst>
                                    <p:set>
                                      <p:cBhvr>
                                        <p:cTn id="15" dur="1" fill="hold">
                                          <p:stCondLst>
                                            <p:cond delay="0"/>
                                          </p:stCondLst>
                                        </p:cTn>
                                        <p:tgtEl>
                                          <p:spTgt spid="39"/>
                                        </p:tgtEl>
                                        <p:attrNameLst>
                                          <p:attrName>style.visibility</p:attrName>
                                        </p:attrNameLst>
                                      </p:cBhvr>
                                      <p:to>
                                        <p:strVal val="visible"/>
                                      </p:to>
                                    </p:set>
                                    <p:animEffect transition="in" filter="wipe(up)">
                                      <p:cBhvr>
                                        <p:cTn id="16" dur="600"/>
                                        <p:tgtEl>
                                          <p:spTgt spid="39"/>
                                        </p:tgtEl>
                                      </p:cBhvr>
                                    </p:animEffect>
                                  </p:childTnLst>
                                </p:cTn>
                              </p:par>
                              <p:par>
                                <p:cTn id="20" presetID="22" presetClass="entr" presetSubtype="4" fill="hold" grpId="0" nodeType="withEffect">
                                  <p:stCondLst>
                                    <p:cond delay="470"/>
                                  </p:stCondLst>
                                  <p:childTnLst>
                                    <p:set>
                                      <p:cBhvr>
                                        <p:cTn id="18" dur="1" fill="hold">
                                          <p:stCondLst>
                                            <p:cond delay="0"/>
                                          </p:stCondLst>
                                        </p:cTn>
                                        <p:tgtEl>
                                          <p:spTgt spid="41"/>
                                        </p:tgtEl>
                                        <p:attrNameLst>
                                          <p:attrName>style.visibility</p:attrName>
                                        </p:attrNameLst>
                                      </p:cBhvr>
                                      <p:to>
                                        <p:strVal val="visible"/>
                                      </p:to>
                                    </p:set>
                                    <p:animEffect transition="in" filter="wipe(up)">
                                      <p:cBhvr>
                                        <p:cTn id="19" dur="600"/>
                                        <p:tgtEl>
                                          <p:spTgt spid="41"/>
                                        </p:tgtEl>
                                      </p:cBhvr>
                                    </p:animEffect>
                                  </p:childTnLst>
                                </p:cTn>
                              </p:par>
                              <p:par>
                                <p:cTn id="23" presetID="22" presetClass="entr" presetSubtype="4" fill="hold" grpId="0" nodeType="withEffect">
                                  <p:stCondLst>
                                    <p:cond delay="530"/>
                                  </p:stCondLst>
                                  <p:childTnLst>
                                    <p:set>
                                      <p:cBhvr>
                                        <p:cTn id="21" dur="1" fill="hold">
                                          <p:stCondLst>
                                            <p:cond delay="0"/>
                                          </p:stCondLst>
                                        </p:cTn>
                                        <p:tgtEl>
                                          <p:spTgt spid="44"/>
                                        </p:tgtEl>
                                        <p:attrNameLst>
                                          <p:attrName>style.visibility</p:attrName>
                                        </p:attrNameLst>
                                      </p:cBhvr>
                                      <p:to>
                                        <p:strVal val="visible"/>
                                      </p:to>
                                    </p:set>
                                    <p:animEffect transition="in" filter="wipe(up)">
                                      <p:cBhvr>
                                        <p:cTn id="22" dur="600"/>
                                        <p:tgtEl>
                                          <p:spTgt spid="44"/>
                                        </p:tgtEl>
                                      </p:cBhvr>
                                    </p:animEffect>
                                  </p:childTnLst>
                                </p:cTn>
                              </p:par>
                              <p:par>
                                <p:cTn id="26" presetID="22" presetClass="entr" presetSubtype="4" fill="hold" grpId="0" nodeType="withEffect">
                                  <p:stCondLst>
                                    <p:cond delay="580"/>
                                  </p:stCondLst>
                                  <p:childTnLst>
                                    <p:set>
                                      <p:cBhvr>
                                        <p:cTn id="24" dur="1" fill="hold">
                                          <p:stCondLst>
                                            <p:cond delay="0"/>
                                          </p:stCondLst>
                                        </p:cTn>
                                        <p:tgtEl>
                                          <p:spTgt spid="46"/>
                                        </p:tgtEl>
                                        <p:attrNameLst>
                                          <p:attrName>style.visibility</p:attrName>
                                        </p:attrNameLst>
                                      </p:cBhvr>
                                      <p:to>
                                        <p:strVal val="visible"/>
                                      </p:to>
                                    </p:set>
                                    <p:animEffect transition="in" filter="wipe(up)">
                                      <p:cBhvr>
                                        <p:cTn id="25" dur="600"/>
                                        <p:tgtEl>
                                          <p:spTgt spid="46"/>
                                        </p:tgtEl>
                                      </p:cBhvr>
                                    </p:animEffect>
                                  </p:childTnLst>
                                </p:cTn>
                              </p:par>
                              <p:par>
                                <p:cTn id="29" presetID="22" presetClass="entr" presetSubtype="4" fill="hold" grpId="0" nodeType="withEffect">
                                  <p:stCondLst>
                                    <p:cond delay="640"/>
                                  </p:stCondLst>
                                  <p:childTnLst>
                                    <p:set>
                                      <p:cBhvr>
                                        <p:cTn id="27" dur="1" fill="hold">
                                          <p:stCondLst>
                                            <p:cond delay="0"/>
                                          </p:stCondLst>
                                        </p:cTn>
                                        <p:tgtEl>
                                          <p:spTgt spid="49"/>
                                        </p:tgtEl>
                                        <p:attrNameLst>
                                          <p:attrName>style.visibility</p:attrName>
                                        </p:attrNameLst>
                                      </p:cBhvr>
                                      <p:to>
                                        <p:strVal val="visible"/>
                                      </p:to>
                                    </p:set>
                                    <p:animEffect transition="in" filter="wipe(up)">
                                      <p:cBhvr>
                                        <p:cTn id="28" dur="600"/>
                                        <p:tgtEl>
                                          <p:spTgt spid="49"/>
                                        </p:tgtEl>
                                      </p:cBhvr>
                                    </p:animEffect>
                                  </p:childTnLst>
                                </p:cTn>
                              </p:par>
                              <p:par>
                                <p:cTn id="32" presetID="22" presetClass="entr" presetSubtype="4" fill="hold" grpId="0" nodeType="withEffect">
                                  <p:stCondLst>
                                    <p:cond delay="690"/>
                                  </p:stCondLst>
                                  <p:childTnLst>
                                    <p:set>
                                      <p:cBhvr>
                                        <p:cTn id="30" dur="1" fill="hold">
                                          <p:stCondLst>
                                            <p:cond delay="0"/>
                                          </p:stCondLst>
                                        </p:cTn>
                                        <p:tgtEl>
                                          <p:spTgt spid="51"/>
                                        </p:tgtEl>
                                        <p:attrNameLst>
                                          <p:attrName>style.visibility</p:attrName>
                                        </p:attrNameLst>
                                      </p:cBhvr>
                                      <p:to>
                                        <p:strVal val="visible"/>
                                      </p:to>
                                    </p:set>
                                    <p:animEffect transition="in" filter="wipe(up)">
                                      <p:cBhvr>
                                        <p:cTn id="31" dur="600"/>
                                        <p:tgtEl>
                                          <p:spTgt spid="51"/>
                                        </p:tgtEl>
                                      </p:cBhvr>
                                    </p:animEffect>
                                  </p:childTnLst>
                                </p:cTn>
                              </p:par>
                              <p:par>
                                <p:cTn id="35" presetID="10" presetClass="entr" presetSubtype="0" fill="hold" grpId="0" nodeType="withEffect">
                                  <p:stCondLst>
                                    <p:cond delay="70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50"/>
                                        <p:tgtEl>
                                          <p:spTgt spid="30"/>
                                        </p:tgtEl>
                                      </p:cBhvr>
                                    </p:animEffect>
                                  </p:childTnLst>
                                </p:cTn>
                              </p:par>
                              <p:par>
                                <p:cTn id="38" presetID="10" presetClass="entr" presetSubtype="0" fill="hold" grpId="0" nodeType="withEffect">
                                  <p:stCondLst>
                                    <p:cond delay="75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50"/>
                                        <p:tgtEl>
                                          <p:spTgt spid="32"/>
                                        </p:tgtEl>
                                      </p:cBhvr>
                                    </p:animEffect>
                                  </p:childTnLst>
                                </p:cTn>
                              </p:par>
                              <p:par>
                                <p:cTn id="41" presetID="22" presetClass="entr" presetSubtype="4" fill="hold" grpId="0" nodeType="withEffect">
                                  <p:stCondLst>
                                    <p:cond delay="750"/>
                                  </p:stCondLst>
                                  <p:childTnLst>
                                    <p:set>
                                      <p:cBhvr>
                                        <p:cTn id="39" dur="1" fill="hold">
                                          <p:stCondLst>
                                            <p:cond delay="0"/>
                                          </p:stCondLst>
                                        </p:cTn>
                                        <p:tgtEl>
                                          <p:spTgt spid="54"/>
                                        </p:tgtEl>
                                        <p:attrNameLst>
                                          <p:attrName>style.visibility</p:attrName>
                                        </p:attrNameLst>
                                      </p:cBhvr>
                                      <p:to>
                                        <p:strVal val="visible"/>
                                      </p:to>
                                    </p:set>
                                    <p:animEffect transition="in" filter="wipe(up)">
                                      <p:cBhvr>
                                        <p:cTn id="40" dur="600"/>
                                        <p:tgtEl>
                                          <p:spTgt spid="54"/>
                                        </p:tgtEl>
                                      </p:cBhvr>
                                    </p:animEffect>
                                  </p:childTnLst>
                                </p:cTn>
                              </p:par>
                              <p:par>
                                <p:cTn id="44" presetID="22" presetClass="entr" presetSubtype="4" fill="hold" grpId="0" nodeType="withEffect">
                                  <p:stCondLst>
                                    <p:cond delay="800"/>
                                  </p:stCondLst>
                                  <p:childTnLst>
                                    <p:set>
                                      <p:cBhvr>
                                        <p:cTn id="42" dur="1" fill="hold">
                                          <p:stCondLst>
                                            <p:cond delay="0"/>
                                          </p:stCondLst>
                                        </p:cTn>
                                        <p:tgtEl>
                                          <p:spTgt spid="56"/>
                                        </p:tgtEl>
                                        <p:attrNameLst>
                                          <p:attrName>style.visibility</p:attrName>
                                        </p:attrNameLst>
                                      </p:cBhvr>
                                      <p:to>
                                        <p:strVal val="visible"/>
                                      </p:to>
                                    </p:set>
                                    <p:animEffect transition="in" filter="wipe(up)">
                                      <p:cBhvr>
                                        <p:cTn id="43" dur="600"/>
                                        <p:tgtEl>
                                          <p:spTgt spid="56"/>
                                        </p:tgtEl>
                                      </p:cBhvr>
                                    </p:animEffect>
                                  </p:childTnLst>
                                </p:cTn>
                              </p:par>
                              <p:par>
                                <p:cTn id="47" presetID="10" presetClass="entr" presetSubtype="0" fill="hold" grpId="0" nodeType="withEffect">
                                  <p:stCondLst>
                                    <p:cond delay="81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450"/>
                                        <p:tgtEl>
                                          <p:spTgt spid="35"/>
                                        </p:tgtEl>
                                      </p:cBhvr>
                                    </p:animEffect>
                                  </p:childTnLst>
                                </p:cTn>
                              </p:par>
                              <p:par>
                                <p:cTn id="50" presetID="10" presetClass="entr" presetSubtype="0" fill="hold" grpId="0" nodeType="withEffect">
                                  <p:stCondLst>
                                    <p:cond delay="860"/>
                                  </p:stCondLst>
                                  <p:childTnLst>
                                    <p:set>
                                      <p:cBhvr>
                                        <p:cTn id="48" dur="1" fill="hold">
                                          <p:stCondLst>
                                            <p:cond delay="0"/>
                                          </p:stCondLst>
                                        </p:cTn>
                                        <p:tgtEl>
                                          <p:spTgt spid="37"/>
                                        </p:tgtEl>
                                        <p:attrNameLst>
                                          <p:attrName>style.visibility</p:attrName>
                                        </p:attrNameLst>
                                      </p:cBhvr>
                                      <p:to>
                                        <p:strVal val="visible"/>
                                      </p:to>
                                    </p:set>
                                    <p:animEffect transition="in" filter="fade">
                                      <p:cBhvr>
                                        <p:cTn id="49" dur="450"/>
                                        <p:tgtEl>
                                          <p:spTgt spid="37"/>
                                        </p:tgtEl>
                                      </p:cBhvr>
                                    </p:animEffect>
                                  </p:childTnLst>
                                </p:cTn>
                              </p:par>
                              <p:par>
                                <p:cTn id="53" presetID="10" presetClass="entr" presetSubtype="0" fill="hold" grpId="0" nodeType="withEffect">
                                  <p:stCondLst>
                                    <p:cond delay="92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450"/>
                                        <p:tgtEl>
                                          <p:spTgt spid="40"/>
                                        </p:tgtEl>
                                      </p:cBhvr>
                                    </p:animEffect>
                                  </p:childTnLst>
                                </p:cTn>
                              </p:par>
                              <p:par>
                                <p:cTn id="56" presetID="10" presetClass="entr" presetSubtype="0" fill="hold" grpId="0" nodeType="withEffect">
                                  <p:stCondLst>
                                    <p:cond delay="97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450"/>
                                        <p:tgtEl>
                                          <p:spTgt spid="42"/>
                                        </p:tgtEl>
                                      </p:cBhvr>
                                    </p:animEffect>
                                  </p:childTnLst>
                                </p:cTn>
                              </p:par>
                              <p:par>
                                <p:cTn id="59" presetID="10" presetClass="entr" presetSubtype="0" fill="hold" grpId="0" nodeType="withEffect">
                                  <p:stCondLst>
                                    <p:cond delay="1030"/>
                                  </p:stCondLst>
                                  <p:childTnLst>
                                    <p:set>
                                      <p:cBhvr>
                                        <p:cTn id="57" dur="1" fill="hold">
                                          <p:stCondLst>
                                            <p:cond delay="0"/>
                                          </p:stCondLst>
                                        </p:cTn>
                                        <p:tgtEl>
                                          <p:spTgt spid="45"/>
                                        </p:tgtEl>
                                        <p:attrNameLst>
                                          <p:attrName>style.visibility</p:attrName>
                                        </p:attrNameLst>
                                      </p:cBhvr>
                                      <p:to>
                                        <p:strVal val="visible"/>
                                      </p:to>
                                    </p:set>
                                    <p:animEffect transition="in" filter="fade">
                                      <p:cBhvr>
                                        <p:cTn id="58" dur="450"/>
                                        <p:tgtEl>
                                          <p:spTgt spid="45"/>
                                        </p:tgtEl>
                                      </p:cBhvr>
                                    </p:animEffect>
                                  </p:childTnLst>
                                </p:cTn>
                              </p:par>
                              <p:par>
                                <p:cTn id="62" presetID="10" presetClass="entr" presetSubtype="0" fill="hold" grpId="0" nodeType="withEffect">
                                  <p:stCondLst>
                                    <p:cond delay="108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50"/>
                                        <p:tgtEl>
                                          <p:spTgt spid="47"/>
                                        </p:tgtEl>
                                      </p:cBhvr>
                                    </p:animEffect>
                                  </p:childTnLst>
                                </p:cTn>
                              </p:par>
                              <p:par>
                                <p:cTn id="65" presetID="10" presetClass="entr" presetSubtype="0" fill="hold" grpId="0" nodeType="withEffect">
                                  <p:stCondLst>
                                    <p:cond delay="1140"/>
                                  </p:stCondLst>
                                  <p:childTnLst>
                                    <p:set>
                                      <p:cBhvr>
                                        <p:cTn id="63" dur="1" fill="hold">
                                          <p:stCondLst>
                                            <p:cond delay="0"/>
                                          </p:stCondLst>
                                        </p:cTn>
                                        <p:tgtEl>
                                          <p:spTgt spid="50"/>
                                        </p:tgtEl>
                                        <p:attrNameLst>
                                          <p:attrName>style.visibility</p:attrName>
                                        </p:attrNameLst>
                                      </p:cBhvr>
                                      <p:to>
                                        <p:strVal val="visible"/>
                                      </p:to>
                                    </p:set>
                                    <p:animEffect transition="in" filter="fade">
                                      <p:cBhvr>
                                        <p:cTn id="64" dur="450"/>
                                        <p:tgtEl>
                                          <p:spTgt spid="50"/>
                                        </p:tgtEl>
                                      </p:cBhvr>
                                    </p:animEffect>
                                  </p:childTnLst>
                                </p:cTn>
                              </p:par>
                              <p:par>
                                <p:cTn id="68" presetID="10" presetClass="entr" presetSubtype="0" fill="hold" grpId="0" nodeType="withEffect">
                                  <p:stCondLst>
                                    <p:cond delay="1190"/>
                                  </p:stCondLst>
                                  <p:childTnLst>
                                    <p:set>
                                      <p:cBhvr>
                                        <p:cTn id="66" dur="1" fill="hold">
                                          <p:stCondLst>
                                            <p:cond delay="0"/>
                                          </p:stCondLst>
                                        </p:cTn>
                                        <p:tgtEl>
                                          <p:spTgt spid="52"/>
                                        </p:tgtEl>
                                        <p:attrNameLst>
                                          <p:attrName>style.visibility</p:attrName>
                                        </p:attrNameLst>
                                      </p:cBhvr>
                                      <p:to>
                                        <p:strVal val="visible"/>
                                      </p:to>
                                    </p:set>
                                    <p:animEffect transition="in" filter="fade">
                                      <p:cBhvr>
                                        <p:cTn id="67" dur="450"/>
                                        <p:tgtEl>
                                          <p:spTgt spid="52"/>
                                        </p:tgtEl>
                                      </p:cBhvr>
                                    </p:animEffect>
                                  </p:childTnLst>
                                </p:cTn>
                              </p:par>
                              <p:par>
                                <p:cTn id="71" presetID="10" presetClass="entr" presetSubtype="0" fill="hold" grpId="0" nodeType="withEffect">
                                  <p:stCondLst>
                                    <p:cond delay="1250"/>
                                  </p:stCondLst>
                                  <p:childTnLst>
                                    <p:set>
                                      <p:cBhvr>
                                        <p:cTn id="69" dur="1" fill="hold">
                                          <p:stCondLst>
                                            <p:cond delay="0"/>
                                          </p:stCondLst>
                                        </p:cTn>
                                        <p:tgtEl>
                                          <p:spTgt spid="55"/>
                                        </p:tgtEl>
                                        <p:attrNameLst>
                                          <p:attrName>style.visibility</p:attrName>
                                        </p:attrNameLst>
                                      </p:cBhvr>
                                      <p:to>
                                        <p:strVal val="visible"/>
                                      </p:to>
                                    </p:set>
                                    <p:animEffect transition="in" filter="fade">
                                      <p:cBhvr>
                                        <p:cTn id="70" dur="450"/>
                                        <p:tgtEl>
                                          <p:spTgt spid="55"/>
                                        </p:tgtEl>
                                      </p:cBhvr>
                                    </p:animEffect>
                                  </p:childTnLst>
                                </p:cTn>
                              </p:par>
                              <p:par>
                                <p:cTn id="74" presetID="10" presetClass="entr" presetSubtype="0" fill="hold" grpId="0" nodeType="withEffect">
                                  <p:stCondLst>
                                    <p:cond delay="1300"/>
                                  </p:stCondLst>
                                  <p:childTnLst>
                                    <p:set>
                                      <p:cBhvr>
                                        <p:cTn id="72" dur="1" fill="hold">
                                          <p:stCondLst>
                                            <p:cond delay="0"/>
                                          </p:stCondLst>
                                        </p:cTn>
                                        <p:tgtEl>
                                          <p:spTgt spid="57"/>
                                        </p:tgtEl>
                                        <p:attrNameLst>
                                          <p:attrName>style.visibility</p:attrName>
                                        </p:attrNameLst>
                                      </p:cBhvr>
                                      <p:to>
                                        <p:strVal val="visible"/>
                                      </p:to>
                                    </p:set>
                                    <p:animEffect transition="in" filter="fade">
                                      <p:cBhvr>
                                        <p:cTn id="73" dur="450"/>
                                        <p:tgtEl>
                                          <p:spTgt spid="57"/>
                                        </p:tgtEl>
                                      </p:cBhvr>
                                    </p:animEffect>
                                  </p:childTnLst>
                                </p:cTn>
                              </p:par>
                              <p:par>
                                <p:cTn id="77" presetID="10" presetClass="entr" presetSubtype="0" fill="hold" grpId="0" nodeType="withEffect">
                                  <p:stCondLst>
                                    <p:cond delay="1300"/>
                                  </p:stCondLst>
                                  <p:childTnLst>
                                    <p:set>
                                      <p:cBhvr>
                                        <p:cTn id="75" dur="1" fill="hold">
                                          <p:stCondLst>
                                            <p:cond delay="0"/>
                                          </p:stCondLst>
                                        </p:cTn>
                                        <p:tgtEl>
                                          <p:spTgt spid="59"/>
                                        </p:tgtEl>
                                        <p:attrNameLst>
                                          <p:attrName>style.visibility</p:attrName>
                                        </p:attrNameLst>
                                      </p:cBhvr>
                                      <p:to>
                                        <p:strVal val="visible"/>
                                      </p:to>
                                    </p:set>
                                    <p:animEffect transition="in" filter="fade">
                                      <p:cBhvr>
                                        <p:cTn id="76" dur="450"/>
                                        <p:tgtEl>
                                          <p:spTgt spid="59"/>
                                        </p:tgtEl>
                                      </p:cBhvr>
                                    </p:animEffect>
                                  </p:childTnLst>
                                </p:cTn>
                              </p:par>
                              <p:par>
                                <p:cTn id="80" presetID="10" presetClass="entr" presetSubtype="0" fill="hold" grpId="0" nodeType="withEffect">
                                  <p:stCondLst>
                                    <p:cond delay="1300"/>
                                  </p:stCondLst>
                                  <p:childTnLst>
                                    <p:set>
                                      <p:cBhvr>
                                        <p:cTn id="78" dur="1" fill="hold">
                                          <p:stCondLst>
                                            <p:cond delay="0"/>
                                          </p:stCondLst>
                                        </p:cTn>
                                        <p:tgtEl>
                                          <p:spTgt spid="60"/>
                                        </p:tgtEl>
                                        <p:attrNameLst>
                                          <p:attrName>style.visibility</p:attrName>
                                        </p:attrNameLst>
                                      </p:cBhvr>
                                      <p:to>
                                        <p:strVal val="visible"/>
                                      </p:to>
                                    </p:set>
                                    <p:animEffect transition="in" filter="fade">
                                      <p:cBhvr>
                                        <p:cTn id="79" dur="450"/>
                                        <p:tgtEl>
                                          <p:spTgt spid="60"/>
                                        </p:tgtEl>
                                      </p:cBhvr>
                                    </p:animEffect>
                                  </p:childTnLst>
                                </p:cTn>
                              </p:par>
                              <p:par>
                                <p:cTn id="83" presetID="10" presetClass="entr" presetSubtype="0" fill="hold" grpId="0" nodeType="withEffect">
                                  <p:stCondLst>
                                    <p:cond delay="1300"/>
                                  </p:stCondLst>
                                  <p:childTnLst>
                                    <p:set>
                                      <p:cBhvr>
                                        <p:cTn id="81" dur="1" fill="hold">
                                          <p:stCondLst>
                                            <p:cond delay="0"/>
                                          </p:stCondLst>
                                        </p:cTn>
                                        <p:tgtEl>
                                          <p:spTgt spid="61"/>
                                        </p:tgtEl>
                                        <p:attrNameLst>
                                          <p:attrName>style.visibility</p:attrName>
                                        </p:attrNameLst>
                                      </p:cBhvr>
                                      <p:to>
                                        <p:strVal val="visible"/>
                                      </p:to>
                                    </p:set>
                                    <p:animEffect transition="in" filter="fade">
                                      <p:cBhvr>
                                        <p:cTn id="82" dur="450"/>
                                        <p:tgtEl>
                                          <p:spTgt spid="61"/>
                                        </p:tgtEl>
                                      </p:cBhvr>
                                    </p:animEffect>
                                  </p:childTnLst>
                                </p:cTn>
                              </p:par>
                              <p:par>
                                <p:cTn id="86" presetID="10" presetClass="entr" presetSubtype="0" fill="hold" grpId="0" nodeType="withEffect">
                                  <p:stCondLst>
                                    <p:cond delay="1550"/>
                                  </p:stCondLst>
                                  <p:childTnLst>
                                    <p:set>
                                      <p:cBhvr>
                                        <p:cTn id="84" dur="1" fill="hold">
                                          <p:stCondLst>
                                            <p:cond delay="0"/>
                                          </p:stCondLst>
                                        </p:cTn>
                                        <p:tgtEl>
                                          <p:spTgt spid="62"/>
                                        </p:tgtEl>
                                        <p:attrNameLst>
                                          <p:attrName>style.visibility</p:attrName>
                                        </p:attrNameLst>
                                      </p:cBhvr>
                                      <p:to>
                                        <p:strVal val="visible"/>
                                      </p:to>
                                    </p:set>
                                    <p:animEffect transition="in" filter="fade">
                                      <p:cBhvr>
                                        <p:cTn id="85" dur="450"/>
                                        <p:tgtEl>
                                          <p:spTgt spid="62"/>
                                        </p:tgtEl>
                                      </p:cBhvr>
                                    </p:animEffect>
                                  </p:childTnLst>
                                </p:cTn>
                              </p:par>
                              <p:par>
                                <p:cTn id="89" presetID="10" presetClass="entr" presetSubtype="0" fill="hold" grpId="0" nodeType="withEffect">
                                  <p:stCondLst>
                                    <p:cond delay="1550"/>
                                  </p:stCondLst>
                                  <p:childTnLst>
                                    <p:set>
                                      <p:cBhvr>
                                        <p:cTn id="87" dur="1" fill="hold">
                                          <p:stCondLst>
                                            <p:cond delay="0"/>
                                          </p:stCondLst>
                                        </p:cTn>
                                        <p:tgtEl>
                                          <p:spTgt spid="63"/>
                                        </p:tgtEl>
                                        <p:attrNameLst>
                                          <p:attrName>style.visibility</p:attrName>
                                        </p:attrNameLst>
                                      </p:cBhvr>
                                      <p:to>
                                        <p:strVal val="visible"/>
                                      </p:to>
                                    </p:set>
                                    <p:animEffect transition="in" filter="fade">
                                      <p:cBhvr>
                                        <p:cTn id="88" dur="450"/>
                                        <p:tgtEl>
                                          <p:spTgt spid="63"/>
                                        </p:tgtEl>
                                      </p:cBhvr>
                                    </p:animEffect>
                                  </p:childTnLst>
                                </p:cTn>
                              </p:par>
                              <p:par>
                                <p:cTn id="92" presetID="10" presetClass="entr" presetSubtype="0" fill="hold" grpId="0" nodeType="withEffect">
                                  <p:stCondLst>
                                    <p:cond delay="1550"/>
                                  </p:stCondLst>
                                  <p:childTnLst>
                                    <p:set>
                                      <p:cBhvr>
                                        <p:cTn id="90" dur="1" fill="hold">
                                          <p:stCondLst>
                                            <p:cond delay="0"/>
                                          </p:stCondLst>
                                        </p:cTn>
                                        <p:tgtEl>
                                          <p:spTgt spid="64"/>
                                        </p:tgtEl>
                                        <p:attrNameLst>
                                          <p:attrName>style.visibility</p:attrName>
                                        </p:attrNameLst>
                                      </p:cBhvr>
                                      <p:to>
                                        <p:strVal val="visible"/>
                                      </p:to>
                                    </p:set>
                                    <p:animEffect transition="in" filter="fade">
                                      <p:cBhvr>
                                        <p:cTn id="91" dur="450"/>
                                        <p:tgtEl>
                                          <p:spTgt spid="64"/>
                                        </p:tgtEl>
                                      </p:cBhvr>
                                    </p:animEffect>
                                  </p:childTnLst>
                                </p:cTn>
                              </p:par>
                              <p:par>
                                <p:cTn id="95" presetID="10" presetClass="entr" presetSubtype="0" fill="hold" grpId="0" nodeType="withEffect">
                                  <p:stCondLst>
                                    <p:cond delay="1800"/>
                                  </p:stCondLst>
                                  <p:childTnLst>
                                    <p:set>
                                      <p:cBhvr>
                                        <p:cTn id="93" dur="1" fill="hold">
                                          <p:stCondLst>
                                            <p:cond delay="0"/>
                                          </p:stCondLst>
                                        </p:cTn>
                                        <p:tgtEl>
                                          <p:spTgt spid="65"/>
                                        </p:tgtEl>
                                        <p:attrNameLst>
                                          <p:attrName>style.visibility</p:attrName>
                                        </p:attrNameLst>
                                      </p:cBhvr>
                                      <p:to>
                                        <p:strVal val="visible"/>
                                      </p:to>
                                    </p:set>
                                    <p:animEffect transition="in" filter="fade">
                                      <p:cBhvr>
                                        <p:cTn id="94" dur="450"/>
                                        <p:tgtEl>
                                          <p:spTgt spid="65"/>
                                        </p:tgtEl>
                                      </p:cBhvr>
                                    </p:animEffect>
                                  </p:childTnLst>
                                </p:cTn>
                              </p:par>
                              <p:par>
                                <p:cTn id="98" presetID="10" presetClass="entr" presetSubtype="0" fill="hold" grpId="0" nodeType="withEffect">
                                  <p:stCondLst>
                                    <p:cond delay="1800"/>
                                  </p:stCondLst>
                                  <p:childTnLst>
                                    <p:set>
                                      <p:cBhvr>
                                        <p:cTn id="96" dur="1" fill="hold">
                                          <p:stCondLst>
                                            <p:cond delay="0"/>
                                          </p:stCondLst>
                                        </p:cTn>
                                        <p:tgtEl>
                                          <p:spTgt spid="66"/>
                                        </p:tgtEl>
                                        <p:attrNameLst>
                                          <p:attrName>style.visibility</p:attrName>
                                        </p:attrNameLst>
                                      </p:cBhvr>
                                      <p:to>
                                        <p:strVal val="visible"/>
                                      </p:to>
                                    </p:set>
                                    <p:animEffect transition="in" filter="fade">
                                      <p:cBhvr>
                                        <p:cTn id="97" dur="450"/>
                                        <p:tgtEl>
                                          <p:spTgt spid="66"/>
                                        </p:tgtEl>
                                      </p:cBhvr>
                                    </p:animEffect>
                                  </p:childTnLst>
                                </p:cTn>
                              </p:par>
                              <p:par>
                                <p:cTn id="101" presetID="10" presetClass="entr" presetSubtype="0" fill="hold" grpId="0" nodeType="withEffect">
                                  <p:stCondLst>
                                    <p:cond delay="1800"/>
                                  </p:stCondLst>
                                  <p:childTnLst>
                                    <p:set>
                                      <p:cBhvr>
                                        <p:cTn id="99" dur="1" fill="hold">
                                          <p:stCondLst>
                                            <p:cond delay="0"/>
                                          </p:stCondLst>
                                        </p:cTn>
                                        <p:tgtEl>
                                          <p:spTgt spid="67"/>
                                        </p:tgtEl>
                                        <p:attrNameLst>
                                          <p:attrName>style.visibility</p:attrName>
                                        </p:attrNameLst>
                                      </p:cBhvr>
                                      <p:to>
                                        <p:strVal val="visible"/>
                                      </p:to>
                                    </p:set>
                                    <p:animEffect transition="in" filter="fade">
                                      <p:cBhvr>
                                        <p:cTn id="100" dur="45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AFB"/>
        </a:solidFill>
      </p:bgPr>
    </p:bg>
    <p:spTree>
      <p:nvGrpSpPr>
        <p:cNvPr id="1" name=""/>
        <p:cNvGrpSpPr/>
        <p:nvPr/>
      </p:nvGrpSpPr>
      <p:grpSpPr>
        <a:xfrm>
          <a:off x="0" y="0"/>
          <a:ext cx="0" cy="0"/>
          <a:chOff x="0" y="0"/>
          <a:chExt cx="0" cy="0"/>
        </a:xfrm>
      </p:grpSpPr>
      <p:pic>
        <p:nvPicPr>
          <p:cNvPr id="2" name="!!bg" descr="/home/claude/pitch/a/bg.jpg">    </p:cNvPr>
          <p:cNvPicPr>
            <a:picLocks noChangeAspect="1"/>
          </p:cNvPicPr>
          <p:nvPr/>
        </p:nvPicPr>
        <p:blipFill>
          <a:blip r:embed="rId1"/>
          <a:stretch>
            <a:fillRect/>
          </a:stretch>
        </p:blipFill>
        <p:spPr>
          <a:xfrm>
            <a:off x="0" y="0"/>
            <a:ext cx="12191695" cy="6858000"/>
          </a:xfrm>
          <a:prstGeom prst="rect">
            <a:avLst/>
          </a:prstGeom>
        </p:spPr>
      </p:pic>
      <p:sp>
        <p:nvSpPr>
          <p:cNvPr id="3" name="!!frame"/>
          <p:cNvSpPr/>
          <p:nvPr/>
        </p:nvSpPr>
        <p:spPr>
          <a:xfrm>
            <a:off x="182880" y="182880"/>
            <a:ext cx="11823192" cy="6492240"/>
          </a:xfrm>
          <a:prstGeom prst="roundRect">
            <a:avLst>
              <a:gd name="adj" fmla="val 2817"/>
            </a:avLst>
          </a:prstGeom>
          <a:ln w="28575">
            <a:solidFill>
              <a:srgbClr val="7F79B6"/>
            </a:solidFill>
            <a:prstDash val="solid"/>
          </a:ln>
        </p:spPr>
      </p:sp>
      <p:pic>
        <p:nvPicPr>
          <p:cNvPr id="4" name="!!logo-jain" descr="/home/claude/pitch/a/logo_jain.png">    </p:cNvPr>
          <p:cNvPicPr>
            <a:picLocks noChangeAspect="1"/>
          </p:cNvPicPr>
          <p:nvPr/>
        </p:nvPicPr>
        <p:blipFill>
          <a:blip r:embed="rId2"/>
          <a:stretch>
            <a:fillRect/>
          </a:stretch>
        </p:blipFill>
        <p:spPr>
          <a:xfrm>
            <a:off x="411480" y="329184"/>
            <a:ext cx="1316736" cy="384048"/>
          </a:xfrm>
          <a:prstGeom prst="rect">
            <a:avLst/>
          </a:prstGeom>
        </p:spPr>
      </p:pic>
      <p:pic>
        <p:nvPicPr>
          <p:cNvPr id="5" name="!!logo-avi" descr="/home/claude/pitch/a/logo_avi.png">    </p:cNvPr>
          <p:cNvPicPr>
            <a:picLocks noChangeAspect="1"/>
          </p:cNvPicPr>
          <p:nvPr/>
        </p:nvPicPr>
        <p:blipFill>
          <a:blip r:embed="rId3"/>
          <a:stretch>
            <a:fillRect/>
          </a:stretch>
        </p:blipFill>
        <p:spPr>
          <a:xfrm>
            <a:off x="5304892" y="320040"/>
            <a:ext cx="1581912" cy="393192"/>
          </a:xfrm>
          <a:prstGeom prst="rect">
            <a:avLst/>
          </a:prstGeom>
        </p:spPr>
      </p:pic>
      <p:pic>
        <p:nvPicPr>
          <p:cNvPr id="6" name="!!logo-fet" descr="/home/claude/pitch/a/logo_fet.png">    </p:cNvPr>
          <p:cNvPicPr>
            <a:picLocks noChangeAspect="1"/>
          </p:cNvPicPr>
          <p:nvPr/>
        </p:nvPicPr>
        <p:blipFill>
          <a:blip r:embed="rId4"/>
          <a:stretch>
            <a:fillRect/>
          </a:stretch>
        </p:blipFill>
        <p:spPr>
          <a:xfrm>
            <a:off x="10771632" y="274320"/>
            <a:ext cx="1005840" cy="457200"/>
          </a:xfrm>
          <a:prstGeom prst="rect">
            <a:avLst/>
          </a:prstGeom>
        </p:spPr>
      </p:pic>
      <p:sp>
        <p:nvSpPr>
          <p:cNvPr id="7" name="!!title"/>
          <p:cNvSpPr txBox="1"/>
          <p:nvPr/>
        </p:nvSpPr>
        <p:spPr>
          <a:xfrm>
            <a:off x="548640" y="841248"/>
            <a:ext cx="11094415" cy="566928"/>
          </a:xfrm>
          <a:prstGeom prst="rect">
            <a:avLst/>
          </a:prstGeom>
          <a:noFill/>
          <a:ln/>
        </p:spPr>
        <p:txBody>
          <a:bodyPr wrap="square" lIns="0" tIns="0" rIns="0" bIns="0" rtlCol="0" anchor="ctr"/>
          <a:lstStyle/>
          <a:p>
            <a:pPr algn="ctr" indent="0" marL="0">
              <a:buNone/>
            </a:pPr>
            <a:r>
              <a:rPr lang="en-US" sz="3000" b="1" dirty="0">
                <a:solidFill>
                  <a:srgbClr val="1E1A4D"/>
                </a:solidFill>
                <a:latin typeface="Lora" pitchFamily="34" charset="0"/>
                <a:ea typeface="Lora" pitchFamily="34" charset="-122"/>
                <a:cs typeface="Lora" pitchFamily="34" charset="-120"/>
              </a:rPr>
              <a:t>Target Audience / Market</a:t>
            </a:r>
            <a:endParaRPr lang="en-US" sz="3000" dirty="0"/>
          </a:p>
        </p:txBody>
      </p:sp>
      <p:sp>
        <p:nvSpPr>
          <p:cNvPr id="8" name="!!sub"/>
          <p:cNvSpPr txBox="1"/>
          <p:nvPr/>
        </p:nvSpPr>
        <p:spPr>
          <a:xfrm>
            <a:off x="1097280" y="1389888"/>
            <a:ext cx="9997135" cy="365760"/>
          </a:xfrm>
          <a:prstGeom prst="rect">
            <a:avLst/>
          </a:prstGeom>
          <a:noFill/>
          <a:ln/>
        </p:spPr>
        <p:txBody>
          <a:bodyPr wrap="square" lIns="0" tIns="0" rIns="0" bIns="0" rtlCol="0" anchor="ctr"/>
          <a:lstStyle/>
          <a:p>
            <a:pPr algn="ctr" indent="0" marL="0">
              <a:buNone/>
            </a:pPr>
            <a:r>
              <a:rPr lang="en-US" sz="1300" dirty="0">
                <a:solidFill>
                  <a:srgbClr val="6C5CE7"/>
                </a:solidFill>
                <a:latin typeface="Poppins" pitchFamily="34" charset="0"/>
                <a:ea typeface="Poppins" pitchFamily="34" charset="-122"/>
                <a:cs typeface="Poppins" pitchFamily="34" charset="-120"/>
              </a:rPr>
              <a:t>Everyone building, teaching with or using AI coding tools in India.</a:t>
            </a:r>
            <a:endParaRPr lang="en-US" sz="1300" dirty="0"/>
          </a:p>
        </p:txBody>
      </p:sp>
      <p:sp>
        <p:nvSpPr>
          <p:cNvPr id="9" name="!!foot-l"/>
          <p:cNvSpPr txBox="1"/>
          <p:nvPr/>
        </p:nvSpPr>
        <p:spPr>
          <a:xfrm>
            <a:off x="457200" y="6336792"/>
            <a:ext cx="3108960" cy="219456"/>
          </a:xfrm>
          <a:prstGeom prst="rect">
            <a:avLst/>
          </a:prstGeom>
          <a:noFill/>
          <a:ln/>
        </p:spPr>
        <p:txBody>
          <a:bodyPr wrap="square" lIns="0" tIns="0" rIns="0" bIns="0" rtlCol="0" anchor="t"/>
          <a:lstStyle/>
          <a:p>
            <a:pPr indent="0" marL="0">
              <a:buNone/>
            </a:pPr>
            <a:r>
              <a:rPr lang="en-US" sz="900" dirty="0">
                <a:solidFill>
                  <a:srgbClr val="8D88B5"/>
                </a:solidFill>
                <a:latin typeface="Poppins" pitchFamily="34" charset="0"/>
                <a:ea typeface="Poppins" pitchFamily="34" charset="-122"/>
                <a:cs typeface="Poppins" pitchFamily="34" charset="-120"/>
              </a:rPr>
              <a:t>MixCheck  ·  Team El Rata Alada</a:t>
            </a:r>
            <a:endParaRPr lang="en-US" sz="900" dirty="0"/>
          </a:p>
        </p:txBody>
      </p:sp>
      <p:sp>
        <p:nvSpPr>
          <p:cNvPr id="10" name="!!btn-nav-1">
            <a:hlinkClick r:id="rId5" action="ppaction://hlinksldjump"/>
          </p:cNvPr>
          <p:cNvSpPr/>
          <p:nvPr/>
        </p:nvSpPr>
        <p:spPr>
          <a:xfrm>
            <a:off x="4628236"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1</a:t>
            </a:r>
            <a:endParaRPr lang="en-US" sz="750" dirty="0"/>
          </a:p>
        </p:txBody>
      </p:sp>
      <p:sp>
        <p:nvSpPr>
          <p:cNvPr id="11" name="!!btn-nav-2">
            <a:hlinkClick r:id="rId6" action="ppaction://hlinksldjump"/>
          </p:cNvPr>
          <p:cNvSpPr/>
          <p:nvPr/>
        </p:nvSpPr>
        <p:spPr>
          <a:xfrm>
            <a:off x="4929988"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2</a:t>
            </a:r>
            <a:endParaRPr lang="en-US" sz="750" dirty="0"/>
          </a:p>
        </p:txBody>
      </p:sp>
      <p:sp>
        <p:nvSpPr>
          <p:cNvPr id="12" name="!!btn-nav-3">
            <a:hlinkClick r:id="rId7" action="ppaction://hlinksldjump"/>
          </p:cNvPr>
          <p:cNvSpPr/>
          <p:nvPr/>
        </p:nvSpPr>
        <p:spPr>
          <a:xfrm>
            <a:off x="5231740"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3</a:t>
            </a:r>
            <a:endParaRPr lang="en-US" sz="750" dirty="0"/>
          </a:p>
        </p:txBody>
      </p:sp>
      <p:sp>
        <p:nvSpPr>
          <p:cNvPr id="13" name="!!btn-nav-4">
            <a:hlinkClick r:id="rId8" action="ppaction://hlinksldjump"/>
          </p:cNvPr>
          <p:cNvSpPr/>
          <p:nvPr/>
        </p:nvSpPr>
        <p:spPr>
          <a:xfrm>
            <a:off x="5533492"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4</a:t>
            </a:r>
            <a:endParaRPr lang="en-US" sz="750" dirty="0"/>
          </a:p>
        </p:txBody>
      </p:sp>
      <p:sp>
        <p:nvSpPr>
          <p:cNvPr id="14" name="!!btn-nav-5">
            <a:hlinkClick r:id="rId9" action="ppaction://hlinksldjump"/>
          </p:cNvPr>
          <p:cNvSpPr/>
          <p:nvPr/>
        </p:nvSpPr>
        <p:spPr>
          <a:xfrm>
            <a:off x="5835244"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5</a:t>
            </a:r>
            <a:endParaRPr lang="en-US" sz="750" dirty="0"/>
          </a:p>
        </p:txBody>
      </p:sp>
      <p:sp>
        <p:nvSpPr>
          <p:cNvPr id="15" name="!!btn-nav-6">
            <a:hlinkClick r:id="rId10" action="ppaction://hlinksldjump"/>
          </p:cNvPr>
          <p:cNvSpPr/>
          <p:nvPr/>
        </p:nvSpPr>
        <p:spPr>
          <a:xfrm>
            <a:off x="6136996"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6</a:t>
            </a:r>
            <a:endParaRPr lang="en-US" sz="750" dirty="0"/>
          </a:p>
        </p:txBody>
      </p:sp>
      <p:sp>
        <p:nvSpPr>
          <p:cNvPr id="16" name="!!btn-nav-7">
            <a:hlinkClick r:id="rId11" action="ppaction://hlinksldjump"/>
          </p:cNvPr>
          <p:cNvSpPr/>
          <p:nvPr/>
        </p:nvSpPr>
        <p:spPr>
          <a:xfrm>
            <a:off x="6438748" y="6336792"/>
            <a:ext cx="219456" cy="219456"/>
          </a:xfrm>
          <a:prstGeom prst="ellipse">
            <a:avLst/>
          </a:prstGeom>
          <a:solidFill>
            <a:srgbClr val="6C5CE7"/>
          </a:solidFill>
          <a:ln w="9525">
            <a:solidFill>
              <a:srgbClr val="6C5CE7"/>
            </a:solid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7</a:t>
            </a:r>
            <a:endParaRPr lang="en-US" sz="750" dirty="0"/>
          </a:p>
        </p:txBody>
      </p:sp>
      <p:sp>
        <p:nvSpPr>
          <p:cNvPr id="17" name="!!btn-nav-8">
            <a:hlinkClick r:id="rId12" action="ppaction://hlinksldjump"/>
          </p:cNvPr>
          <p:cNvSpPr/>
          <p:nvPr/>
        </p:nvSpPr>
        <p:spPr>
          <a:xfrm>
            <a:off x="6740500"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8</a:t>
            </a:r>
            <a:endParaRPr lang="en-US" sz="750" dirty="0"/>
          </a:p>
        </p:txBody>
      </p:sp>
      <p:sp>
        <p:nvSpPr>
          <p:cNvPr id="18" name="!!btn-nav-9">
            <a:hlinkClick r:id="rId13" action="ppaction://hlinksldjump"/>
          </p:cNvPr>
          <p:cNvSpPr/>
          <p:nvPr/>
        </p:nvSpPr>
        <p:spPr>
          <a:xfrm>
            <a:off x="7042252"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9</a:t>
            </a:r>
            <a:endParaRPr lang="en-US" sz="750" dirty="0"/>
          </a:p>
        </p:txBody>
      </p:sp>
      <p:sp>
        <p:nvSpPr>
          <p:cNvPr id="19" name="!!btn-nav-10">
            <a:hlinkClick r:id="rId14" action="ppaction://hlinksldjump"/>
          </p:cNvPr>
          <p:cNvSpPr/>
          <p:nvPr/>
        </p:nvSpPr>
        <p:spPr>
          <a:xfrm>
            <a:off x="7344004"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10</a:t>
            </a:r>
            <a:endParaRPr lang="en-US" sz="750" dirty="0"/>
          </a:p>
        </p:txBody>
      </p:sp>
      <p:sp>
        <p:nvSpPr>
          <p:cNvPr id="20" name="!!btn-live">
            <a:hlinkClick r:id="rId15"/>
          </p:cNvPr>
          <p:cNvSpPr/>
          <p:nvPr/>
        </p:nvSpPr>
        <p:spPr>
          <a:xfrm>
            <a:off x="8503920" y="6309360"/>
            <a:ext cx="3246120" cy="274320"/>
          </a:xfrm>
          <a:prstGeom prst="rect">
            <a:avLst/>
          </a:prstGeom>
          <a:noFill/>
          <a:ln/>
        </p:spPr>
        <p:txBody>
          <a:bodyPr wrap="square" lIns="0" tIns="0" rIns="0" bIns="0" rtlCol="0" anchor="ctr"/>
          <a:lstStyle/>
          <a:p>
            <a:pPr algn="r" indent="0" marL="0">
              <a:buNone/>
            </a:pPr>
            <a:r>
              <a:rPr lang="en-US" sz="900" b="1" dirty="0">
                <a:solidFill>
                  <a:srgbClr val="6C5CE7"/>
                </a:solidFill>
                <a:latin typeface="Poppins" pitchFamily="34" charset="0"/>
                <a:ea typeface="Poppins" pitchFamily="34" charset="-122"/>
                <a:cs typeface="Poppins" pitchFamily="34" charset="-120"/>
              </a:rPr>
              <a:t>● Live: mixcheck-elrata.streamlit.app</a:t>
            </a:r>
            <a:endParaRPr lang="en-US" sz="900" dirty="0"/>
          </a:p>
        </p:txBody>
      </p:sp>
      <p:sp>
        <p:nvSpPr>
          <p:cNvPr id="21" name="card-42"/>
          <p:cNvSpPr/>
          <p:nvPr/>
        </p:nvSpPr>
        <p:spPr>
          <a:xfrm>
            <a:off x="548640" y="1965960"/>
            <a:ext cx="3291840" cy="1965960"/>
          </a:xfrm>
          <a:prstGeom prst="roundRect">
            <a:avLst>
              <a:gd name="adj" fmla="val 6512"/>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22" name="dot-43"/>
          <p:cNvSpPr/>
          <p:nvPr/>
        </p:nvSpPr>
        <p:spPr>
          <a:xfrm>
            <a:off x="777240" y="2194560"/>
            <a:ext cx="566928" cy="566928"/>
          </a:xfrm>
          <a:prstGeom prst="ellipse">
            <a:avLst/>
          </a:prstGeom>
          <a:solidFill>
            <a:srgbClr val="6C5CE7"/>
          </a:solidFill>
          <a:ln/>
        </p:spPr>
      </p:sp>
      <p:pic>
        <p:nvPicPr>
          <p:cNvPr id="23" name="icon-44" descr="/home/claude/pitch/a/ic/FaLaptopCode_w.png">    </p:cNvPr>
          <p:cNvPicPr>
            <a:picLocks noChangeAspect="1"/>
          </p:cNvPicPr>
          <p:nvPr/>
        </p:nvPicPr>
        <p:blipFill>
          <a:blip r:embed="rId16"/>
          <a:stretch>
            <a:fillRect/>
          </a:stretch>
        </p:blipFill>
        <p:spPr>
          <a:xfrm>
            <a:off x="924641" y="2341961"/>
            <a:ext cx="272125" cy="272125"/>
          </a:xfrm>
          <a:prstGeom prst="rect">
            <a:avLst/>
          </a:prstGeom>
        </p:spPr>
      </p:pic>
      <p:sp>
        <p:nvSpPr>
          <p:cNvPr id="24" name="Text 17"/>
          <p:cNvSpPr txBox="1"/>
          <p:nvPr/>
        </p:nvSpPr>
        <p:spPr>
          <a:xfrm>
            <a:off x="777240" y="2880360"/>
            <a:ext cx="2880360" cy="310896"/>
          </a:xfrm>
          <a:prstGeom prst="rect">
            <a:avLst/>
          </a:prstGeom>
          <a:noFill/>
          <a:ln/>
        </p:spPr>
        <p:txBody>
          <a:bodyPr wrap="square" lIns="0" tIns="0" rIns="0" bIns="0" rtlCol="0" anchor="t"/>
          <a:lstStyle/>
          <a:p>
            <a:pPr indent="0" marL="0">
              <a:buNone/>
            </a:pPr>
            <a:r>
              <a:rPr lang="en-US" sz="1400" b="1" dirty="0">
                <a:solidFill>
                  <a:srgbClr val="1E1A4D"/>
                </a:solidFill>
                <a:latin typeface="Poppins" pitchFamily="34" charset="0"/>
                <a:ea typeface="Poppins" pitchFamily="34" charset="-122"/>
                <a:cs typeface="Poppins" pitchFamily="34" charset="-120"/>
              </a:rPr>
              <a:t>AI tool builders</a:t>
            </a:r>
            <a:endParaRPr lang="en-US" sz="1400" dirty="0"/>
          </a:p>
        </p:txBody>
      </p:sp>
      <p:sp>
        <p:nvSpPr>
          <p:cNvPr id="25" name="Text 18"/>
          <p:cNvSpPr txBox="1"/>
          <p:nvPr/>
        </p:nvSpPr>
        <p:spPr>
          <a:xfrm>
            <a:off x="777240" y="3209544"/>
            <a:ext cx="2880360" cy="640080"/>
          </a:xfrm>
          <a:prstGeom prst="rect">
            <a:avLst/>
          </a:prstGeom>
          <a:noFill/>
          <a:ln/>
        </p:spPr>
        <p:txBody>
          <a:bodyPr wrap="square" lIns="0" tIns="0" rIns="0" bIns="0" rtlCol="0" anchor="t"/>
          <a:lstStyle/>
          <a:p>
            <a:pPr indent="0" marL="0">
              <a:buNone/>
            </a:pPr>
            <a:r>
              <a:rPr lang="en-US" sz="1000" dirty="0">
                <a:solidFill>
                  <a:srgbClr val="5B577E"/>
                </a:solidFill>
                <a:latin typeface="Poppins" pitchFamily="34" charset="0"/>
                <a:ea typeface="Poppins" pitchFamily="34" charset="-122"/>
                <a:cs typeface="Poppins" pitchFamily="34" charset="-120"/>
              </a:rPr>
              <a:t>Find language blind spots before an Indian launch.</a:t>
            </a:r>
            <a:endParaRPr lang="en-US" sz="1000" dirty="0"/>
          </a:p>
        </p:txBody>
      </p:sp>
      <p:sp>
        <p:nvSpPr>
          <p:cNvPr id="26" name="card-45"/>
          <p:cNvSpPr/>
          <p:nvPr/>
        </p:nvSpPr>
        <p:spPr>
          <a:xfrm>
            <a:off x="3977640" y="1965960"/>
            <a:ext cx="3291840" cy="1965960"/>
          </a:xfrm>
          <a:prstGeom prst="roundRect">
            <a:avLst>
              <a:gd name="adj" fmla="val 6512"/>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27" name="dot-46"/>
          <p:cNvSpPr/>
          <p:nvPr/>
        </p:nvSpPr>
        <p:spPr>
          <a:xfrm>
            <a:off x="4206240" y="2194560"/>
            <a:ext cx="566928" cy="566928"/>
          </a:xfrm>
          <a:prstGeom prst="ellipse">
            <a:avLst/>
          </a:prstGeom>
          <a:solidFill>
            <a:srgbClr val="D97706"/>
          </a:solidFill>
          <a:ln/>
        </p:spPr>
      </p:sp>
      <p:pic>
        <p:nvPicPr>
          <p:cNvPr id="28" name="icon-47" descr="/home/claude/pitch/a/ic/FaUserGraduate_w.png">    </p:cNvPr>
          <p:cNvPicPr>
            <a:picLocks noChangeAspect="1"/>
          </p:cNvPicPr>
          <p:nvPr/>
        </p:nvPicPr>
        <p:blipFill>
          <a:blip r:embed="rId17"/>
          <a:stretch>
            <a:fillRect/>
          </a:stretch>
        </p:blipFill>
        <p:spPr>
          <a:xfrm>
            <a:off x="4353641" y="2341961"/>
            <a:ext cx="272125" cy="272125"/>
          </a:xfrm>
          <a:prstGeom prst="rect">
            <a:avLst/>
          </a:prstGeom>
        </p:spPr>
      </p:pic>
      <p:sp>
        <p:nvSpPr>
          <p:cNvPr id="29" name="Text 21"/>
          <p:cNvSpPr txBox="1"/>
          <p:nvPr/>
        </p:nvSpPr>
        <p:spPr>
          <a:xfrm>
            <a:off x="4206240" y="2880360"/>
            <a:ext cx="2880360" cy="310896"/>
          </a:xfrm>
          <a:prstGeom prst="rect">
            <a:avLst/>
          </a:prstGeom>
          <a:noFill/>
          <a:ln/>
        </p:spPr>
        <p:txBody>
          <a:bodyPr wrap="square" lIns="0" tIns="0" rIns="0" bIns="0" rtlCol="0" anchor="t"/>
          <a:lstStyle/>
          <a:p>
            <a:pPr indent="0" marL="0">
              <a:buNone/>
            </a:pPr>
            <a:r>
              <a:rPr lang="en-US" sz="1400" b="1" dirty="0">
                <a:solidFill>
                  <a:srgbClr val="1E1A4D"/>
                </a:solidFill>
                <a:latin typeface="Poppins" pitchFamily="34" charset="0"/>
                <a:ea typeface="Poppins" pitchFamily="34" charset="-122"/>
                <a:cs typeface="Poppins" pitchFamily="34" charset="-120"/>
              </a:rPr>
              <a:t>Colleges and edtech</a:t>
            </a:r>
            <a:endParaRPr lang="en-US" sz="1400" dirty="0"/>
          </a:p>
        </p:txBody>
      </p:sp>
      <p:sp>
        <p:nvSpPr>
          <p:cNvPr id="30" name="Text 22"/>
          <p:cNvSpPr txBox="1"/>
          <p:nvPr/>
        </p:nvSpPr>
        <p:spPr>
          <a:xfrm>
            <a:off x="4206240" y="3209544"/>
            <a:ext cx="2880360" cy="640080"/>
          </a:xfrm>
          <a:prstGeom prst="rect">
            <a:avLst/>
          </a:prstGeom>
          <a:noFill/>
          <a:ln/>
        </p:spPr>
        <p:txBody>
          <a:bodyPr wrap="square" lIns="0" tIns="0" rIns="0" bIns="0" rtlCol="0" anchor="t"/>
          <a:lstStyle/>
          <a:p>
            <a:pPr indent="0" marL="0">
              <a:buNone/>
            </a:pPr>
            <a:r>
              <a:rPr lang="en-US" sz="1000" dirty="0">
                <a:solidFill>
                  <a:srgbClr val="5B577E"/>
                </a:solidFill>
                <a:latin typeface="Poppins" pitchFamily="34" charset="0"/>
                <a:ea typeface="Poppins" pitchFamily="34" charset="-122"/>
                <a:cs typeface="Poppins" pitchFamily="34" charset="-120"/>
              </a:rPr>
              <a:t>Students ask in Hinglish. Know when answers can be trusted.</a:t>
            </a:r>
            <a:endParaRPr lang="en-US" sz="1000" dirty="0"/>
          </a:p>
        </p:txBody>
      </p:sp>
      <p:sp>
        <p:nvSpPr>
          <p:cNvPr id="31" name="card-48"/>
          <p:cNvSpPr/>
          <p:nvPr/>
        </p:nvSpPr>
        <p:spPr>
          <a:xfrm>
            <a:off x="548640" y="4069080"/>
            <a:ext cx="3291840" cy="1965960"/>
          </a:xfrm>
          <a:prstGeom prst="roundRect">
            <a:avLst>
              <a:gd name="adj" fmla="val 6512"/>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32" name="dot-49"/>
          <p:cNvSpPr/>
          <p:nvPr/>
        </p:nvSpPr>
        <p:spPr>
          <a:xfrm>
            <a:off x="777240" y="4297680"/>
            <a:ext cx="566928" cy="566928"/>
          </a:xfrm>
          <a:prstGeom prst="ellipse">
            <a:avLst/>
          </a:prstGeom>
          <a:solidFill>
            <a:srgbClr val="C2477D"/>
          </a:solidFill>
          <a:ln/>
        </p:spPr>
      </p:sp>
      <p:pic>
        <p:nvPicPr>
          <p:cNvPr id="33" name="icon-50" descr="/home/claude/pitch/a/ic/FaFlask_w.png">    </p:cNvPr>
          <p:cNvPicPr>
            <a:picLocks noChangeAspect="1"/>
          </p:cNvPicPr>
          <p:nvPr/>
        </p:nvPicPr>
        <p:blipFill>
          <a:blip r:embed="rId18"/>
          <a:stretch>
            <a:fillRect/>
          </a:stretch>
        </p:blipFill>
        <p:spPr>
          <a:xfrm>
            <a:off x="924641" y="4445081"/>
            <a:ext cx="272125" cy="272125"/>
          </a:xfrm>
          <a:prstGeom prst="rect">
            <a:avLst/>
          </a:prstGeom>
        </p:spPr>
      </p:pic>
      <p:sp>
        <p:nvSpPr>
          <p:cNvPr id="34" name="Text 25"/>
          <p:cNvSpPr txBox="1"/>
          <p:nvPr/>
        </p:nvSpPr>
        <p:spPr>
          <a:xfrm>
            <a:off x="777240" y="4983480"/>
            <a:ext cx="2880360" cy="310896"/>
          </a:xfrm>
          <a:prstGeom prst="rect">
            <a:avLst/>
          </a:prstGeom>
          <a:noFill/>
          <a:ln/>
        </p:spPr>
        <p:txBody>
          <a:bodyPr wrap="square" lIns="0" tIns="0" rIns="0" bIns="0" rtlCol="0" anchor="t"/>
          <a:lstStyle/>
          <a:p>
            <a:pPr indent="0" marL="0">
              <a:buNone/>
            </a:pPr>
            <a:r>
              <a:rPr lang="en-US" sz="1400" b="1" dirty="0">
                <a:solidFill>
                  <a:srgbClr val="1E1A4D"/>
                </a:solidFill>
                <a:latin typeface="Poppins" pitchFamily="34" charset="0"/>
                <a:ea typeface="Poppins" pitchFamily="34" charset="-122"/>
                <a:cs typeface="Poppins" pitchFamily="34" charset="-120"/>
              </a:rPr>
              <a:t>Researchers</a:t>
            </a:r>
            <a:endParaRPr lang="en-US" sz="1400" dirty="0"/>
          </a:p>
        </p:txBody>
      </p:sp>
      <p:sp>
        <p:nvSpPr>
          <p:cNvPr id="35" name="Text 26"/>
          <p:cNvSpPr txBox="1"/>
          <p:nvPr/>
        </p:nvSpPr>
        <p:spPr>
          <a:xfrm>
            <a:off x="777240" y="5312664"/>
            <a:ext cx="2880360" cy="640080"/>
          </a:xfrm>
          <a:prstGeom prst="rect">
            <a:avLst/>
          </a:prstGeom>
          <a:noFill/>
          <a:ln/>
        </p:spPr>
        <p:txBody>
          <a:bodyPr wrap="square" lIns="0" tIns="0" rIns="0" bIns="0" rtlCol="0" anchor="t"/>
          <a:lstStyle/>
          <a:p>
            <a:pPr indent="0" marL="0">
              <a:buNone/>
            </a:pPr>
            <a:r>
              <a:rPr lang="en-US" sz="1000" dirty="0">
                <a:solidFill>
                  <a:srgbClr val="5B577E"/>
                </a:solidFill>
                <a:latin typeface="Poppins" pitchFamily="34" charset="0"/>
                <a:ea typeface="Poppins" pitchFamily="34" charset="-122"/>
                <a:cs typeface="Poppins" pitchFamily="34" charset="-120"/>
              </a:rPr>
              <a:t>An open benchmark: a new language is one new column.</a:t>
            </a:r>
            <a:endParaRPr lang="en-US" sz="1000" dirty="0"/>
          </a:p>
        </p:txBody>
      </p:sp>
      <p:sp>
        <p:nvSpPr>
          <p:cNvPr id="36" name="card-51"/>
          <p:cNvSpPr/>
          <p:nvPr/>
        </p:nvSpPr>
        <p:spPr>
          <a:xfrm>
            <a:off x="3977640" y="4069080"/>
            <a:ext cx="3291840" cy="1965960"/>
          </a:xfrm>
          <a:prstGeom prst="roundRect">
            <a:avLst>
              <a:gd name="adj" fmla="val 6512"/>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37" name="dot-52"/>
          <p:cNvSpPr/>
          <p:nvPr/>
        </p:nvSpPr>
        <p:spPr>
          <a:xfrm>
            <a:off x="4206240" y="4297680"/>
            <a:ext cx="566928" cy="566928"/>
          </a:xfrm>
          <a:prstGeom prst="ellipse">
            <a:avLst/>
          </a:prstGeom>
          <a:solidFill>
            <a:srgbClr val="1590B8"/>
          </a:solidFill>
          <a:ln/>
        </p:spPr>
      </p:sp>
      <p:pic>
        <p:nvPicPr>
          <p:cNvPr id="38" name="icon-53" descr="/home/claude/pitch/a/ic/FaUsers_w.png">    </p:cNvPr>
          <p:cNvPicPr>
            <a:picLocks noChangeAspect="1"/>
          </p:cNvPicPr>
          <p:nvPr/>
        </p:nvPicPr>
        <p:blipFill>
          <a:blip r:embed="rId19"/>
          <a:stretch>
            <a:fillRect/>
          </a:stretch>
        </p:blipFill>
        <p:spPr>
          <a:xfrm>
            <a:off x="4353641" y="4445081"/>
            <a:ext cx="272125" cy="272125"/>
          </a:xfrm>
          <a:prstGeom prst="rect">
            <a:avLst/>
          </a:prstGeom>
        </p:spPr>
      </p:pic>
      <p:sp>
        <p:nvSpPr>
          <p:cNvPr id="39" name="Text 29"/>
          <p:cNvSpPr txBox="1"/>
          <p:nvPr/>
        </p:nvSpPr>
        <p:spPr>
          <a:xfrm>
            <a:off x="4206240" y="4983480"/>
            <a:ext cx="2880360" cy="310896"/>
          </a:xfrm>
          <a:prstGeom prst="rect">
            <a:avLst/>
          </a:prstGeom>
          <a:noFill/>
          <a:ln/>
        </p:spPr>
        <p:txBody>
          <a:bodyPr wrap="square" lIns="0" tIns="0" rIns="0" bIns="0" rtlCol="0" anchor="t"/>
          <a:lstStyle/>
          <a:p>
            <a:pPr indent="0" marL="0">
              <a:buNone/>
            </a:pPr>
            <a:r>
              <a:rPr lang="en-US" sz="1400" b="1" dirty="0">
                <a:solidFill>
                  <a:srgbClr val="1E1A4D"/>
                </a:solidFill>
                <a:latin typeface="Poppins" pitchFamily="34" charset="0"/>
                <a:ea typeface="Poppins" pitchFamily="34" charset="-122"/>
                <a:cs typeface="Poppins" pitchFamily="34" charset="-120"/>
              </a:rPr>
              <a:t>Indian developers</a:t>
            </a:r>
            <a:endParaRPr lang="en-US" sz="1400" dirty="0"/>
          </a:p>
        </p:txBody>
      </p:sp>
      <p:sp>
        <p:nvSpPr>
          <p:cNvPr id="40" name="Text 30"/>
          <p:cNvSpPr txBox="1"/>
          <p:nvPr/>
        </p:nvSpPr>
        <p:spPr>
          <a:xfrm>
            <a:off x="4206240" y="5312664"/>
            <a:ext cx="2880360" cy="640080"/>
          </a:xfrm>
          <a:prstGeom prst="rect">
            <a:avLst/>
          </a:prstGeom>
          <a:noFill/>
          <a:ln/>
        </p:spPr>
        <p:txBody>
          <a:bodyPr wrap="square" lIns="0" tIns="0" rIns="0" bIns="0" rtlCol="0" anchor="t"/>
          <a:lstStyle/>
          <a:p>
            <a:pPr indent="0" marL="0">
              <a:buNone/>
            </a:pPr>
            <a:r>
              <a:rPr lang="en-US" sz="1000" dirty="0">
                <a:solidFill>
                  <a:srgbClr val="5B577E"/>
                </a:solidFill>
                <a:latin typeface="Poppins" pitchFamily="34" charset="0"/>
                <a:ea typeface="Poppins" pitchFamily="34" charset="-122"/>
                <a:cs typeface="Poppins" pitchFamily="34" charset="-120"/>
              </a:rPr>
              <a:t>Asking in your own language shouldn't cost working code.</a:t>
            </a:r>
            <a:endParaRPr lang="en-US" sz="1000" dirty="0"/>
          </a:p>
        </p:txBody>
      </p:sp>
      <p:sp>
        <p:nvSpPr>
          <p:cNvPr id="41" name="card-54"/>
          <p:cNvSpPr/>
          <p:nvPr/>
        </p:nvSpPr>
        <p:spPr>
          <a:xfrm>
            <a:off x="7452360" y="1965960"/>
            <a:ext cx="4206240" cy="4069080"/>
          </a:xfrm>
          <a:prstGeom prst="roundRect">
            <a:avLst>
              <a:gd name="adj" fmla="val 3146"/>
            </a:avLst>
          </a:prstGeom>
          <a:solidFill>
            <a:srgbClr val="FFFFFF"/>
          </a:solidFill>
          <a:ln w="19050">
            <a:solidFill>
              <a:srgbClr val="FF9F1C"/>
            </a:solidFill>
            <a:prstDash val="solid"/>
          </a:ln>
          <a:effectLst>
            <a:outerShdw sx="100000" sy="100000" kx="0" ky="0" algn="bl" rotWithShape="0" blurRad="152400" dist="38100" dir="5400000">
              <a:srgbClr val="6C5CE7">
                <a:alpha val="16000"/>
              </a:srgbClr>
            </a:outerShdw>
          </a:effectLst>
        </p:spPr>
      </p:sp>
      <p:sp>
        <p:nvSpPr>
          <p:cNvPr id="42" name="Text 32"/>
          <p:cNvSpPr txBox="1"/>
          <p:nvPr/>
        </p:nvSpPr>
        <p:spPr>
          <a:xfrm>
            <a:off x="7680960" y="2121408"/>
            <a:ext cx="3657600" cy="219456"/>
          </a:xfrm>
          <a:prstGeom prst="rect">
            <a:avLst/>
          </a:prstGeom>
          <a:noFill/>
          <a:ln/>
        </p:spPr>
        <p:txBody>
          <a:bodyPr wrap="square" lIns="0" tIns="0" rIns="0" bIns="0" rtlCol="0" anchor="t"/>
          <a:lstStyle/>
          <a:p>
            <a:pPr indent="0" marL="0">
              <a:buNone/>
            </a:pPr>
            <a:r>
              <a:rPr lang="en-US" sz="900" b="1" spc="150" kern="0" dirty="0">
                <a:solidFill>
                  <a:srgbClr val="D97706"/>
                </a:solidFill>
                <a:latin typeface="Poppins" pitchFamily="34" charset="0"/>
                <a:ea typeface="Poppins" pitchFamily="34" charset="-122"/>
                <a:cs typeface="Poppins" pitchFamily="34" charset="-120"/>
              </a:rPr>
              <a:t>AI CODE TOOLS MARKET</a:t>
            </a:r>
            <a:endParaRPr lang="en-US" sz="900" dirty="0"/>
          </a:p>
        </p:txBody>
      </p:sp>
      <p:sp>
        <p:nvSpPr>
          <p:cNvPr id="43" name="wipe300-mk0"/>
          <p:cNvSpPr/>
          <p:nvPr/>
        </p:nvSpPr>
        <p:spPr>
          <a:xfrm>
            <a:off x="8001000" y="3976914"/>
            <a:ext cx="960120" cy="686526"/>
          </a:xfrm>
          <a:prstGeom prst="roundRect">
            <a:avLst>
              <a:gd name="adj" fmla="val 10655"/>
            </a:avLst>
          </a:prstGeom>
          <a:solidFill>
            <a:srgbClr val="9B8CFF"/>
          </a:solidFill>
          <a:ln/>
        </p:spPr>
      </p:sp>
      <p:sp>
        <p:nvSpPr>
          <p:cNvPr id="44" name="auto700-mv0"/>
          <p:cNvSpPr txBox="1"/>
          <p:nvPr/>
        </p:nvSpPr>
        <p:spPr>
          <a:xfrm>
            <a:off x="7726680" y="3647730"/>
            <a:ext cx="1508760" cy="292608"/>
          </a:xfrm>
          <a:prstGeom prst="rect">
            <a:avLst/>
          </a:prstGeom>
          <a:noFill/>
          <a:ln/>
        </p:spPr>
        <p:txBody>
          <a:bodyPr wrap="square" lIns="0" tIns="0" rIns="0" bIns="0" rtlCol="0" anchor="t"/>
          <a:lstStyle/>
          <a:p>
            <a:pPr algn="ctr" indent="0" marL="0">
              <a:buNone/>
            </a:pPr>
            <a:r>
              <a:rPr lang="en-US" sz="1500" b="1" dirty="0">
                <a:solidFill>
                  <a:srgbClr val="6C5CE7"/>
                </a:solidFill>
                <a:latin typeface="Lora" pitchFamily="34" charset="0"/>
                <a:ea typeface="Lora" pitchFamily="34" charset="-122"/>
                <a:cs typeface="Lora" pitchFamily="34" charset="-120"/>
              </a:rPr>
              <a:t>USD 4.3B</a:t>
            </a:r>
            <a:endParaRPr lang="en-US" sz="1500" dirty="0"/>
          </a:p>
        </p:txBody>
      </p:sp>
      <p:sp>
        <p:nvSpPr>
          <p:cNvPr id="45" name="Text 35"/>
          <p:cNvSpPr txBox="1"/>
          <p:nvPr/>
        </p:nvSpPr>
        <p:spPr>
          <a:xfrm>
            <a:off x="8001000" y="4718304"/>
            <a:ext cx="960120" cy="237744"/>
          </a:xfrm>
          <a:prstGeom prst="rect">
            <a:avLst/>
          </a:prstGeom>
          <a:noFill/>
          <a:ln/>
        </p:spPr>
        <p:txBody>
          <a:bodyPr wrap="square" lIns="0" tIns="0" rIns="0" bIns="0" rtlCol="0" anchor="t"/>
          <a:lstStyle/>
          <a:p>
            <a:pPr algn="ctr" indent="0" marL="0">
              <a:buNone/>
            </a:pPr>
            <a:r>
              <a:rPr lang="en-US" sz="1000" dirty="0">
                <a:solidFill>
                  <a:srgbClr val="5B577E"/>
                </a:solidFill>
                <a:latin typeface="Poppins" pitchFamily="34" charset="0"/>
                <a:ea typeface="Poppins" pitchFamily="34" charset="-122"/>
                <a:cs typeface="Poppins" pitchFamily="34" charset="-120"/>
              </a:rPr>
              <a:t>2023</a:t>
            </a:r>
            <a:endParaRPr lang="en-US" sz="1000" dirty="0"/>
          </a:p>
        </p:txBody>
      </p:sp>
      <p:sp>
        <p:nvSpPr>
          <p:cNvPr id="46" name="wipe600-mk1"/>
          <p:cNvSpPr/>
          <p:nvPr/>
        </p:nvSpPr>
        <p:spPr>
          <a:xfrm>
            <a:off x="9464040" y="2651760"/>
            <a:ext cx="960120" cy="2011680"/>
          </a:xfrm>
          <a:prstGeom prst="roundRect">
            <a:avLst>
              <a:gd name="adj" fmla="val 7619"/>
            </a:avLst>
          </a:prstGeom>
          <a:solidFill>
            <a:srgbClr val="FF9F1C"/>
          </a:solidFill>
          <a:ln/>
        </p:spPr>
      </p:sp>
      <p:sp>
        <p:nvSpPr>
          <p:cNvPr id="47" name="auto1000-mv1"/>
          <p:cNvSpPr txBox="1"/>
          <p:nvPr/>
        </p:nvSpPr>
        <p:spPr>
          <a:xfrm>
            <a:off x="9189720" y="2322576"/>
            <a:ext cx="1508760" cy="292608"/>
          </a:xfrm>
          <a:prstGeom prst="rect">
            <a:avLst/>
          </a:prstGeom>
          <a:noFill/>
          <a:ln/>
        </p:spPr>
        <p:txBody>
          <a:bodyPr wrap="square" lIns="0" tIns="0" rIns="0" bIns="0" rtlCol="0" anchor="t"/>
          <a:lstStyle/>
          <a:p>
            <a:pPr algn="ctr" indent="0" marL="0">
              <a:buNone/>
            </a:pPr>
            <a:r>
              <a:rPr lang="en-US" sz="1500" b="1" dirty="0">
                <a:solidFill>
                  <a:srgbClr val="D97706"/>
                </a:solidFill>
                <a:latin typeface="Lora" pitchFamily="34" charset="0"/>
                <a:ea typeface="Lora" pitchFamily="34" charset="-122"/>
                <a:cs typeface="Lora" pitchFamily="34" charset="-120"/>
              </a:rPr>
              <a:t>USD 12.6B</a:t>
            </a:r>
            <a:endParaRPr lang="en-US" sz="1500" dirty="0"/>
          </a:p>
        </p:txBody>
      </p:sp>
      <p:sp>
        <p:nvSpPr>
          <p:cNvPr id="48" name="Text 38"/>
          <p:cNvSpPr txBox="1"/>
          <p:nvPr/>
        </p:nvSpPr>
        <p:spPr>
          <a:xfrm>
            <a:off x="9464040" y="4718304"/>
            <a:ext cx="960120" cy="237744"/>
          </a:xfrm>
          <a:prstGeom prst="rect">
            <a:avLst/>
          </a:prstGeom>
          <a:noFill/>
          <a:ln/>
        </p:spPr>
        <p:txBody>
          <a:bodyPr wrap="square" lIns="0" tIns="0" rIns="0" bIns="0" rtlCol="0" anchor="t"/>
          <a:lstStyle/>
          <a:p>
            <a:pPr algn="ctr" indent="0" marL="0">
              <a:buNone/>
            </a:pPr>
            <a:r>
              <a:rPr lang="en-US" sz="1000" dirty="0">
                <a:solidFill>
                  <a:srgbClr val="5B577E"/>
                </a:solidFill>
                <a:latin typeface="Poppins" pitchFamily="34" charset="0"/>
                <a:ea typeface="Poppins" pitchFamily="34" charset="-122"/>
                <a:cs typeface="Poppins" pitchFamily="34" charset="-120"/>
              </a:rPr>
              <a:t>2028</a:t>
            </a:r>
            <a:endParaRPr lang="en-US" sz="1000" dirty="0"/>
          </a:p>
        </p:txBody>
      </p:sp>
      <p:sp>
        <p:nvSpPr>
          <p:cNvPr id="49" name="Text 39"/>
          <p:cNvSpPr txBox="1"/>
          <p:nvPr/>
        </p:nvSpPr>
        <p:spPr>
          <a:xfrm>
            <a:off x="10469880" y="2926080"/>
            <a:ext cx="1051560" cy="548640"/>
          </a:xfrm>
          <a:prstGeom prst="rect">
            <a:avLst/>
          </a:prstGeom>
          <a:noFill/>
          <a:ln/>
        </p:spPr>
        <p:txBody>
          <a:bodyPr wrap="square" lIns="0" tIns="0" rIns="0" bIns="0" rtlCol="0" anchor="t"/>
          <a:lstStyle/>
          <a:p>
            <a:pPr indent="0" marL="0">
              <a:buNone/>
            </a:pPr>
            <a:r>
              <a:rPr lang="en-US" sz="900" b="1" dirty="0">
                <a:solidFill>
                  <a:srgbClr val="D97706"/>
                </a:solidFill>
                <a:latin typeface="Poppins" pitchFamily="34" charset="0"/>
                <a:ea typeface="Poppins" pitchFamily="34" charset="-122"/>
                <a:cs typeface="Poppins" pitchFamily="34" charset="-120"/>
              </a:rPr>
              <a:t>about 24% growth a year</a:t>
            </a:r>
            <a:endParaRPr lang="en-US" sz="900" dirty="0"/>
          </a:p>
        </p:txBody>
      </p:sp>
      <p:sp>
        <p:nvSpPr>
          <p:cNvPr id="50" name="Text 40"/>
          <p:cNvSpPr txBox="1"/>
          <p:nvPr/>
        </p:nvSpPr>
        <p:spPr>
          <a:xfrm>
            <a:off x="7680960" y="4919472"/>
            <a:ext cx="3749040" cy="182880"/>
          </a:xfrm>
          <a:prstGeom prst="rect">
            <a:avLst/>
          </a:prstGeom>
          <a:noFill/>
          <a:ln/>
        </p:spPr>
        <p:txBody>
          <a:bodyPr wrap="square" lIns="0" tIns="0" rIns="0" bIns="0" rtlCol="0" anchor="t"/>
          <a:lstStyle/>
          <a:p>
            <a:pPr algn="ctr" indent="0" marL="0">
              <a:buNone/>
            </a:pPr>
            <a:r>
              <a:rPr lang="en-US" sz="800" dirty="0">
                <a:solidFill>
                  <a:srgbClr val="8D88B5"/>
                </a:solidFill>
                <a:latin typeface="Poppins" pitchFamily="34" charset="0"/>
                <a:ea typeface="Poppins" pitchFamily="34" charset="-122"/>
                <a:cs typeface="Poppins" pitchFamily="34" charset="-120"/>
              </a:rPr>
              <a:t>Source: MarketsandMarkets</a:t>
            </a:r>
            <a:endParaRPr lang="en-US" sz="800" dirty="0"/>
          </a:p>
        </p:txBody>
      </p:sp>
      <p:sp>
        <p:nvSpPr>
          <p:cNvPr id="51" name="Shape 41"/>
          <p:cNvSpPr/>
          <p:nvPr/>
        </p:nvSpPr>
        <p:spPr>
          <a:xfrm>
            <a:off x="7680960" y="5166360"/>
            <a:ext cx="3749040" cy="0"/>
          </a:xfrm>
          <a:prstGeom prst="line">
            <a:avLst/>
          </a:prstGeom>
          <a:noFill/>
          <a:ln w="12700">
            <a:solidFill>
              <a:srgbClr val="DCD6F7"/>
            </a:solidFill>
            <a:prstDash val="solid"/>
          </a:ln>
        </p:spPr>
      </p:sp>
      <p:sp>
        <p:nvSpPr>
          <p:cNvPr id="52" name="Text 42"/>
          <p:cNvSpPr txBox="1"/>
          <p:nvPr/>
        </p:nvSpPr>
        <p:spPr>
          <a:xfrm>
            <a:off x="7680960" y="5212080"/>
            <a:ext cx="3794760" cy="731520"/>
          </a:xfrm>
          <a:prstGeom prst="rect">
            <a:avLst/>
          </a:prstGeom>
          <a:noFill/>
          <a:ln/>
        </p:spPr>
        <p:txBody>
          <a:bodyPr wrap="square" lIns="0" tIns="0" rIns="0" bIns="0" rtlCol="0" anchor="t"/>
          <a:lstStyle/>
          <a:p>
            <a:pPr indent="0" marL="0">
              <a:buNone/>
            </a:pPr>
            <a:r>
              <a:rPr lang="en-US" sz="1600" b="1" dirty="0">
                <a:solidFill>
                  <a:srgbClr val="D97706"/>
                </a:solidFill>
                <a:latin typeface="Lora" pitchFamily="34" charset="0"/>
                <a:ea typeface="Lora" pitchFamily="34" charset="-122"/>
                <a:cs typeface="Lora" pitchFamily="34" charset="-120"/>
              </a:rPr>
              <a:t>314.9M </a:t>
            </a:r>
            <a:pPr indent="0" marL="0">
              <a:buNone/>
            </a:pPr>
            <a:r>
              <a:rPr lang="en-US" sz="1000" dirty="0">
                <a:solidFill>
                  <a:srgbClr val="5B577E"/>
                </a:solidFill>
                <a:latin typeface="Poppins" pitchFamily="34" charset="0"/>
                <a:ea typeface="Poppins" pitchFamily="34" charset="-122"/>
                <a:cs typeface="Poppins" pitchFamily="34" charset="-120"/>
              </a:rPr>
              <a:t>bilingual Indians who could be typing those prompts (Census 2011).</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15" dur="indefinite" nodeType="mainSeq">
                <p:childTnLst>
                  <p:par>
                    <p:cTn id="16" fill="hold">
                      <p:stCondLst>
                        <p:cond delay="indefinite"/>
                        <p:cond evt="onBegin" delay="0">
                          <p:tn val="15"/>
                        </p:cond>
                      </p:stCondLst>
                      <p:childTnLst>
                        <p:par>
                          <p:cTn id="17" fill="hold">
                            <p:stCondLst>
                              <p:cond delay="0"/>
                            </p:stCondLst>
                            <p:childTnLst>
                              <p:par>
                                <p:cTn id="5" presetID="22" presetClass="entr" presetSubtype="4" fill="hold" grpId="0" nodeType="withEffect">
                                  <p:stCondLst>
                                    <p:cond delay="300"/>
                                  </p:stCondLst>
                                  <p:childTnLst>
                                    <p:set>
                                      <p:cBhvr>
                                        <p:cTn id="3" dur="1" fill="hold">
                                          <p:stCondLst>
                                            <p:cond delay="0"/>
                                          </p:stCondLst>
                                        </p:cTn>
                                        <p:tgtEl>
                                          <p:spTgt spid="43"/>
                                        </p:tgtEl>
                                        <p:attrNameLst>
                                          <p:attrName>style.visibility</p:attrName>
                                        </p:attrNameLst>
                                      </p:cBhvr>
                                      <p:to>
                                        <p:strVal val="visible"/>
                                      </p:to>
                                    </p:set>
                                    <p:animEffect transition="in" filter="wipe(up)">
                                      <p:cBhvr>
                                        <p:cTn id="4" dur="600"/>
                                        <p:tgtEl>
                                          <p:spTgt spid="43"/>
                                        </p:tgtEl>
                                      </p:cBhvr>
                                    </p:animEffect>
                                  </p:childTnLst>
                                </p:cTn>
                              </p:par>
                              <p:par>
                                <p:cTn id="8" presetID="22" presetClass="entr" presetSubtype="4" fill="hold" grpId="0" nodeType="withEffect">
                                  <p:stCondLst>
                                    <p:cond delay="600"/>
                                  </p:stCondLst>
                                  <p:childTnLst>
                                    <p:set>
                                      <p:cBhvr>
                                        <p:cTn id="6" dur="1" fill="hold">
                                          <p:stCondLst>
                                            <p:cond delay="0"/>
                                          </p:stCondLst>
                                        </p:cTn>
                                        <p:tgtEl>
                                          <p:spTgt spid="46"/>
                                        </p:tgtEl>
                                        <p:attrNameLst>
                                          <p:attrName>style.visibility</p:attrName>
                                        </p:attrNameLst>
                                      </p:cBhvr>
                                      <p:to>
                                        <p:strVal val="visible"/>
                                      </p:to>
                                    </p:set>
                                    <p:animEffect transition="in" filter="wipe(up)">
                                      <p:cBhvr>
                                        <p:cTn id="7" dur="600"/>
                                        <p:tgtEl>
                                          <p:spTgt spid="46"/>
                                        </p:tgtEl>
                                      </p:cBhvr>
                                    </p:animEffect>
                                  </p:childTnLst>
                                </p:cTn>
                              </p:par>
                              <p:par>
                                <p:cTn id="11" presetID="10" presetClass="entr" presetSubtype="0" fill="hold" grpId="0" nodeType="withEffect">
                                  <p:stCondLst>
                                    <p:cond delay="70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450"/>
                                        <p:tgtEl>
                                          <p:spTgt spid="44"/>
                                        </p:tgtEl>
                                      </p:cBhvr>
                                    </p:animEffect>
                                  </p:childTnLst>
                                </p:cTn>
                              </p:par>
                              <p:par>
                                <p:cTn id="14" presetID="10" presetClass="entr" presetSubtype="0" fill="hold" grpId="0" nodeType="withEffect">
                                  <p:stCondLst>
                                    <p:cond delay="100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4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AFB"/>
        </a:solidFill>
      </p:bgPr>
    </p:bg>
    <p:spTree>
      <p:nvGrpSpPr>
        <p:cNvPr id="1" name=""/>
        <p:cNvGrpSpPr/>
        <p:nvPr/>
      </p:nvGrpSpPr>
      <p:grpSpPr>
        <a:xfrm>
          <a:off x="0" y="0"/>
          <a:ext cx="0" cy="0"/>
          <a:chOff x="0" y="0"/>
          <a:chExt cx="0" cy="0"/>
        </a:xfrm>
      </p:grpSpPr>
      <p:pic>
        <p:nvPicPr>
          <p:cNvPr id="2" name="!!bg" descr="/home/claude/pitch/a/bg.jpg">    </p:cNvPr>
          <p:cNvPicPr>
            <a:picLocks noChangeAspect="1"/>
          </p:cNvPicPr>
          <p:nvPr/>
        </p:nvPicPr>
        <p:blipFill>
          <a:blip r:embed="rId1"/>
          <a:stretch>
            <a:fillRect/>
          </a:stretch>
        </p:blipFill>
        <p:spPr>
          <a:xfrm>
            <a:off x="0" y="0"/>
            <a:ext cx="12191695" cy="6858000"/>
          </a:xfrm>
          <a:prstGeom prst="rect">
            <a:avLst/>
          </a:prstGeom>
        </p:spPr>
      </p:pic>
      <p:sp>
        <p:nvSpPr>
          <p:cNvPr id="3" name="!!frame"/>
          <p:cNvSpPr/>
          <p:nvPr/>
        </p:nvSpPr>
        <p:spPr>
          <a:xfrm>
            <a:off x="182880" y="182880"/>
            <a:ext cx="11823192" cy="6492240"/>
          </a:xfrm>
          <a:prstGeom prst="roundRect">
            <a:avLst>
              <a:gd name="adj" fmla="val 2817"/>
            </a:avLst>
          </a:prstGeom>
          <a:ln w="28575">
            <a:solidFill>
              <a:srgbClr val="7F79B6"/>
            </a:solidFill>
            <a:prstDash val="solid"/>
          </a:ln>
        </p:spPr>
      </p:sp>
      <p:pic>
        <p:nvPicPr>
          <p:cNvPr id="4" name="!!logo-jain" descr="/home/claude/pitch/a/logo_jain.png">    </p:cNvPr>
          <p:cNvPicPr>
            <a:picLocks noChangeAspect="1"/>
          </p:cNvPicPr>
          <p:nvPr/>
        </p:nvPicPr>
        <p:blipFill>
          <a:blip r:embed="rId2"/>
          <a:stretch>
            <a:fillRect/>
          </a:stretch>
        </p:blipFill>
        <p:spPr>
          <a:xfrm>
            <a:off x="411480" y="329184"/>
            <a:ext cx="1316736" cy="384048"/>
          </a:xfrm>
          <a:prstGeom prst="rect">
            <a:avLst/>
          </a:prstGeom>
        </p:spPr>
      </p:pic>
      <p:pic>
        <p:nvPicPr>
          <p:cNvPr id="5" name="!!logo-avi" descr="/home/claude/pitch/a/logo_avi.png">    </p:cNvPr>
          <p:cNvPicPr>
            <a:picLocks noChangeAspect="1"/>
          </p:cNvPicPr>
          <p:nvPr/>
        </p:nvPicPr>
        <p:blipFill>
          <a:blip r:embed="rId3"/>
          <a:stretch>
            <a:fillRect/>
          </a:stretch>
        </p:blipFill>
        <p:spPr>
          <a:xfrm>
            <a:off x="5304892" y="320040"/>
            <a:ext cx="1581912" cy="393192"/>
          </a:xfrm>
          <a:prstGeom prst="rect">
            <a:avLst/>
          </a:prstGeom>
        </p:spPr>
      </p:pic>
      <p:pic>
        <p:nvPicPr>
          <p:cNvPr id="6" name="!!logo-fet" descr="/home/claude/pitch/a/logo_fet.png">    </p:cNvPr>
          <p:cNvPicPr>
            <a:picLocks noChangeAspect="1"/>
          </p:cNvPicPr>
          <p:nvPr/>
        </p:nvPicPr>
        <p:blipFill>
          <a:blip r:embed="rId4"/>
          <a:stretch>
            <a:fillRect/>
          </a:stretch>
        </p:blipFill>
        <p:spPr>
          <a:xfrm>
            <a:off x="10771632" y="274320"/>
            <a:ext cx="1005840" cy="457200"/>
          </a:xfrm>
          <a:prstGeom prst="rect">
            <a:avLst/>
          </a:prstGeom>
        </p:spPr>
      </p:pic>
      <p:sp>
        <p:nvSpPr>
          <p:cNvPr id="7" name="!!title"/>
          <p:cNvSpPr txBox="1"/>
          <p:nvPr/>
        </p:nvSpPr>
        <p:spPr>
          <a:xfrm>
            <a:off x="548640" y="841248"/>
            <a:ext cx="11094415" cy="566928"/>
          </a:xfrm>
          <a:prstGeom prst="rect">
            <a:avLst/>
          </a:prstGeom>
          <a:noFill/>
          <a:ln/>
        </p:spPr>
        <p:txBody>
          <a:bodyPr wrap="square" lIns="0" tIns="0" rIns="0" bIns="0" rtlCol="0" anchor="ctr"/>
          <a:lstStyle/>
          <a:p>
            <a:pPr algn="ctr" indent="0" marL="0">
              <a:buNone/>
            </a:pPr>
            <a:r>
              <a:rPr lang="en-US" sz="3000" b="1" dirty="0">
                <a:solidFill>
                  <a:srgbClr val="1E1A4D"/>
                </a:solidFill>
                <a:latin typeface="Lora" pitchFamily="34" charset="0"/>
                <a:ea typeface="Lora" pitchFamily="34" charset="-122"/>
                <a:cs typeface="Lora" pitchFamily="34" charset="-120"/>
              </a:rPr>
              <a:t>Revenue Model</a:t>
            </a:r>
            <a:endParaRPr lang="en-US" sz="3000" dirty="0"/>
          </a:p>
        </p:txBody>
      </p:sp>
      <p:sp>
        <p:nvSpPr>
          <p:cNvPr id="8" name="!!sub"/>
          <p:cNvSpPr txBox="1"/>
          <p:nvPr/>
        </p:nvSpPr>
        <p:spPr>
          <a:xfrm>
            <a:off x="1097280" y="1389888"/>
            <a:ext cx="9997135" cy="365760"/>
          </a:xfrm>
          <a:prstGeom prst="rect">
            <a:avLst/>
          </a:prstGeom>
          <a:noFill/>
          <a:ln/>
        </p:spPr>
        <p:txBody>
          <a:bodyPr wrap="square" lIns="0" tIns="0" rIns="0" bIns="0" rtlCol="0" anchor="ctr"/>
          <a:lstStyle/>
          <a:p>
            <a:pPr algn="ctr" indent="0" marL="0">
              <a:buNone/>
            </a:pPr>
            <a:r>
              <a:rPr lang="en-US" sz="1300" dirty="0">
                <a:solidFill>
                  <a:srgbClr val="6C5CE7"/>
                </a:solidFill>
                <a:latin typeface="Poppins" pitchFamily="34" charset="0"/>
                <a:ea typeface="Poppins" pitchFamily="34" charset="-122"/>
                <a:cs typeface="Poppins" pitchFamily="34" charset="-120"/>
              </a:rPr>
              <a:t>A free open core builds trust. Teams pay to test their own models.</a:t>
            </a:r>
            <a:endParaRPr lang="en-US" sz="1300" dirty="0"/>
          </a:p>
        </p:txBody>
      </p:sp>
      <p:sp>
        <p:nvSpPr>
          <p:cNvPr id="9" name="!!foot-l"/>
          <p:cNvSpPr txBox="1"/>
          <p:nvPr/>
        </p:nvSpPr>
        <p:spPr>
          <a:xfrm>
            <a:off x="457200" y="6336792"/>
            <a:ext cx="3108960" cy="219456"/>
          </a:xfrm>
          <a:prstGeom prst="rect">
            <a:avLst/>
          </a:prstGeom>
          <a:noFill/>
          <a:ln/>
        </p:spPr>
        <p:txBody>
          <a:bodyPr wrap="square" lIns="0" tIns="0" rIns="0" bIns="0" rtlCol="0" anchor="t"/>
          <a:lstStyle/>
          <a:p>
            <a:pPr indent="0" marL="0">
              <a:buNone/>
            </a:pPr>
            <a:r>
              <a:rPr lang="en-US" sz="900" dirty="0">
                <a:solidFill>
                  <a:srgbClr val="8D88B5"/>
                </a:solidFill>
                <a:latin typeface="Poppins" pitchFamily="34" charset="0"/>
                <a:ea typeface="Poppins" pitchFamily="34" charset="-122"/>
                <a:cs typeface="Poppins" pitchFamily="34" charset="-120"/>
              </a:rPr>
              <a:t>MixCheck  ·  Team El Rata Alada</a:t>
            </a:r>
            <a:endParaRPr lang="en-US" sz="900" dirty="0"/>
          </a:p>
        </p:txBody>
      </p:sp>
      <p:sp>
        <p:nvSpPr>
          <p:cNvPr id="10" name="!!btn-nav-1">
            <a:hlinkClick r:id="rId5" action="ppaction://hlinksldjump"/>
          </p:cNvPr>
          <p:cNvSpPr/>
          <p:nvPr/>
        </p:nvSpPr>
        <p:spPr>
          <a:xfrm>
            <a:off x="4628236"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1</a:t>
            </a:r>
            <a:endParaRPr lang="en-US" sz="750" dirty="0"/>
          </a:p>
        </p:txBody>
      </p:sp>
      <p:sp>
        <p:nvSpPr>
          <p:cNvPr id="11" name="!!btn-nav-2">
            <a:hlinkClick r:id="rId6" action="ppaction://hlinksldjump"/>
          </p:cNvPr>
          <p:cNvSpPr/>
          <p:nvPr/>
        </p:nvSpPr>
        <p:spPr>
          <a:xfrm>
            <a:off x="4929988"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2</a:t>
            </a:r>
            <a:endParaRPr lang="en-US" sz="750" dirty="0"/>
          </a:p>
        </p:txBody>
      </p:sp>
      <p:sp>
        <p:nvSpPr>
          <p:cNvPr id="12" name="!!btn-nav-3">
            <a:hlinkClick r:id="rId7" action="ppaction://hlinksldjump"/>
          </p:cNvPr>
          <p:cNvSpPr/>
          <p:nvPr/>
        </p:nvSpPr>
        <p:spPr>
          <a:xfrm>
            <a:off x="5231740"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3</a:t>
            </a:r>
            <a:endParaRPr lang="en-US" sz="750" dirty="0"/>
          </a:p>
        </p:txBody>
      </p:sp>
      <p:sp>
        <p:nvSpPr>
          <p:cNvPr id="13" name="!!btn-nav-4">
            <a:hlinkClick r:id="rId8" action="ppaction://hlinksldjump"/>
          </p:cNvPr>
          <p:cNvSpPr/>
          <p:nvPr/>
        </p:nvSpPr>
        <p:spPr>
          <a:xfrm>
            <a:off x="5533492"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4</a:t>
            </a:r>
            <a:endParaRPr lang="en-US" sz="750" dirty="0"/>
          </a:p>
        </p:txBody>
      </p:sp>
      <p:sp>
        <p:nvSpPr>
          <p:cNvPr id="14" name="!!btn-nav-5">
            <a:hlinkClick r:id="rId9" action="ppaction://hlinksldjump"/>
          </p:cNvPr>
          <p:cNvSpPr/>
          <p:nvPr/>
        </p:nvSpPr>
        <p:spPr>
          <a:xfrm>
            <a:off x="5835244"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5</a:t>
            </a:r>
            <a:endParaRPr lang="en-US" sz="750" dirty="0"/>
          </a:p>
        </p:txBody>
      </p:sp>
      <p:sp>
        <p:nvSpPr>
          <p:cNvPr id="15" name="!!btn-nav-6">
            <a:hlinkClick r:id="rId10" action="ppaction://hlinksldjump"/>
          </p:cNvPr>
          <p:cNvSpPr/>
          <p:nvPr/>
        </p:nvSpPr>
        <p:spPr>
          <a:xfrm>
            <a:off x="6136996"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6</a:t>
            </a:r>
            <a:endParaRPr lang="en-US" sz="750" dirty="0"/>
          </a:p>
        </p:txBody>
      </p:sp>
      <p:sp>
        <p:nvSpPr>
          <p:cNvPr id="16" name="!!btn-nav-7">
            <a:hlinkClick r:id="rId11" action="ppaction://hlinksldjump"/>
          </p:cNvPr>
          <p:cNvSpPr/>
          <p:nvPr/>
        </p:nvSpPr>
        <p:spPr>
          <a:xfrm>
            <a:off x="6438748"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7</a:t>
            </a:r>
            <a:endParaRPr lang="en-US" sz="750" dirty="0"/>
          </a:p>
        </p:txBody>
      </p:sp>
      <p:sp>
        <p:nvSpPr>
          <p:cNvPr id="17" name="!!btn-nav-8">
            <a:hlinkClick r:id="rId12" action="ppaction://hlinksldjump"/>
          </p:cNvPr>
          <p:cNvSpPr/>
          <p:nvPr/>
        </p:nvSpPr>
        <p:spPr>
          <a:xfrm>
            <a:off x="6740500" y="6336792"/>
            <a:ext cx="219456" cy="219456"/>
          </a:xfrm>
          <a:prstGeom prst="ellipse">
            <a:avLst/>
          </a:prstGeom>
          <a:solidFill>
            <a:srgbClr val="6C5CE7"/>
          </a:solidFill>
          <a:ln w="9525">
            <a:solidFill>
              <a:srgbClr val="6C5CE7"/>
            </a:solid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8</a:t>
            </a:r>
            <a:endParaRPr lang="en-US" sz="750" dirty="0"/>
          </a:p>
        </p:txBody>
      </p:sp>
      <p:sp>
        <p:nvSpPr>
          <p:cNvPr id="18" name="!!btn-nav-9">
            <a:hlinkClick r:id="rId13" action="ppaction://hlinksldjump"/>
          </p:cNvPr>
          <p:cNvSpPr/>
          <p:nvPr/>
        </p:nvSpPr>
        <p:spPr>
          <a:xfrm>
            <a:off x="7042252"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9</a:t>
            </a:r>
            <a:endParaRPr lang="en-US" sz="750" dirty="0"/>
          </a:p>
        </p:txBody>
      </p:sp>
      <p:sp>
        <p:nvSpPr>
          <p:cNvPr id="19" name="!!btn-nav-10">
            <a:hlinkClick r:id="rId14" action="ppaction://hlinksldjump"/>
          </p:cNvPr>
          <p:cNvSpPr/>
          <p:nvPr/>
        </p:nvSpPr>
        <p:spPr>
          <a:xfrm>
            <a:off x="7344004"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10</a:t>
            </a:r>
            <a:endParaRPr lang="en-US" sz="750" dirty="0"/>
          </a:p>
        </p:txBody>
      </p:sp>
      <p:sp>
        <p:nvSpPr>
          <p:cNvPr id="20" name="!!btn-live">
            <a:hlinkClick r:id="rId15"/>
          </p:cNvPr>
          <p:cNvSpPr/>
          <p:nvPr/>
        </p:nvSpPr>
        <p:spPr>
          <a:xfrm>
            <a:off x="8503920" y="6309360"/>
            <a:ext cx="3246120" cy="274320"/>
          </a:xfrm>
          <a:prstGeom prst="rect">
            <a:avLst/>
          </a:prstGeom>
          <a:noFill/>
          <a:ln/>
        </p:spPr>
        <p:txBody>
          <a:bodyPr wrap="square" lIns="0" tIns="0" rIns="0" bIns="0" rtlCol="0" anchor="ctr"/>
          <a:lstStyle/>
          <a:p>
            <a:pPr algn="r" indent="0" marL="0">
              <a:buNone/>
            </a:pPr>
            <a:r>
              <a:rPr lang="en-US" sz="900" b="1" dirty="0">
                <a:solidFill>
                  <a:srgbClr val="6C5CE7"/>
                </a:solidFill>
                <a:latin typeface="Poppins" pitchFamily="34" charset="0"/>
                <a:ea typeface="Poppins" pitchFamily="34" charset="-122"/>
                <a:cs typeface="Poppins" pitchFamily="34" charset="-120"/>
              </a:rPr>
              <a:t>● Live: mixcheck-elrata.streamlit.app</a:t>
            </a:r>
            <a:endParaRPr lang="en-US" sz="900" dirty="0"/>
          </a:p>
        </p:txBody>
      </p:sp>
      <p:sp>
        <p:nvSpPr>
          <p:cNvPr id="21" name="auto150-t0"/>
          <p:cNvSpPr/>
          <p:nvPr/>
        </p:nvSpPr>
        <p:spPr>
          <a:xfrm>
            <a:off x="548640" y="2011680"/>
            <a:ext cx="3566160" cy="3931920"/>
          </a:xfrm>
          <a:prstGeom prst="roundRect">
            <a:avLst>
              <a:gd name="adj" fmla="val 3590"/>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22" name="auto150-ti0-c"/>
          <p:cNvSpPr/>
          <p:nvPr/>
        </p:nvSpPr>
        <p:spPr>
          <a:xfrm>
            <a:off x="804672" y="2240280"/>
            <a:ext cx="566928" cy="566928"/>
          </a:xfrm>
          <a:prstGeom prst="ellipse">
            <a:avLst/>
          </a:prstGeom>
          <a:solidFill>
            <a:srgbClr val="6C5CE7"/>
          </a:solidFill>
          <a:ln/>
        </p:spPr>
      </p:sp>
      <p:pic>
        <p:nvPicPr>
          <p:cNvPr id="23" name="auto150-ti0-i" descr="/home/claude/pitch/a/ic/FaGithub_w.png">    </p:cNvPr>
          <p:cNvPicPr>
            <a:picLocks noChangeAspect="1"/>
          </p:cNvPicPr>
          <p:nvPr/>
        </p:nvPicPr>
        <p:blipFill>
          <a:blip r:embed="rId16"/>
          <a:stretch>
            <a:fillRect/>
          </a:stretch>
        </p:blipFill>
        <p:spPr>
          <a:xfrm>
            <a:off x="952073" y="2387681"/>
            <a:ext cx="272125" cy="272125"/>
          </a:xfrm>
          <a:prstGeom prst="rect">
            <a:avLst/>
          </a:prstGeom>
        </p:spPr>
      </p:pic>
      <p:sp>
        <p:nvSpPr>
          <p:cNvPr id="24" name="auto150-th0"/>
          <p:cNvSpPr txBox="1"/>
          <p:nvPr/>
        </p:nvSpPr>
        <p:spPr>
          <a:xfrm>
            <a:off x="804672" y="2944368"/>
            <a:ext cx="3108960" cy="329184"/>
          </a:xfrm>
          <a:prstGeom prst="rect">
            <a:avLst/>
          </a:prstGeom>
          <a:noFill/>
          <a:ln/>
        </p:spPr>
        <p:txBody>
          <a:bodyPr wrap="square" lIns="0" tIns="0" rIns="0" bIns="0" rtlCol="0" anchor="t"/>
          <a:lstStyle/>
          <a:p>
            <a:pPr indent="0" marL="0">
              <a:buNone/>
            </a:pPr>
            <a:r>
              <a:rPr lang="en-US" sz="1500" b="1" dirty="0">
                <a:solidFill>
                  <a:srgbClr val="1E1A4D"/>
                </a:solidFill>
                <a:latin typeface="Poppins" pitchFamily="34" charset="0"/>
                <a:ea typeface="Poppins" pitchFamily="34" charset="-122"/>
                <a:cs typeface="Poppins" pitchFamily="34" charset="-120"/>
              </a:rPr>
              <a:t>Open-source core</a:t>
            </a:r>
            <a:endParaRPr lang="en-US" sz="1500" dirty="0"/>
          </a:p>
        </p:txBody>
      </p:sp>
      <p:sp>
        <p:nvSpPr>
          <p:cNvPr id="25" name="auto150-tp0"/>
          <p:cNvSpPr txBox="1"/>
          <p:nvPr/>
        </p:nvSpPr>
        <p:spPr>
          <a:xfrm>
            <a:off x="804672" y="3291840"/>
            <a:ext cx="3108960" cy="457200"/>
          </a:xfrm>
          <a:prstGeom prst="rect">
            <a:avLst/>
          </a:prstGeom>
          <a:noFill/>
          <a:ln/>
        </p:spPr>
        <p:txBody>
          <a:bodyPr wrap="square" lIns="0" tIns="0" rIns="0" bIns="0" rtlCol="0" anchor="t"/>
          <a:lstStyle/>
          <a:p>
            <a:pPr indent="0" marL="0">
              <a:buNone/>
            </a:pPr>
            <a:r>
              <a:rPr lang="en-US" sz="2200" b="1" dirty="0">
                <a:solidFill>
                  <a:srgbClr val="6C5CE7"/>
                </a:solidFill>
                <a:latin typeface="Lora" pitchFamily="34" charset="0"/>
                <a:ea typeface="Lora" pitchFamily="34" charset="-122"/>
                <a:cs typeface="Lora" pitchFamily="34" charset="-120"/>
              </a:rPr>
              <a:t>Free</a:t>
            </a:r>
            <a:endParaRPr lang="en-US" sz="2200" dirty="0"/>
          </a:p>
        </p:txBody>
      </p:sp>
      <p:sp>
        <p:nvSpPr>
          <p:cNvPr id="26" name="auto150-tl0"/>
          <p:cNvSpPr/>
          <p:nvPr/>
        </p:nvSpPr>
        <p:spPr>
          <a:xfrm>
            <a:off x="804672" y="3840480"/>
            <a:ext cx="3054096" cy="0"/>
          </a:xfrm>
          <a:prstGeom prst="line">
            <a:avLst/>
          </a:prstGeom>
          <a:noFill/>
          <a:ln w="12700">
            <a:solidFill>
              <a:srgbClr val="DCD6F7"/>
            </a:solidFill>
            <a:prstDash val="solid"/>
          </a:ln>
        </p:spPr>
      </p:sp>
      <p:pic>
        <p:nvPicPr>
          <p:cNvPr id="27" name="auto150-tc00" descr="/home/claude/pitch/a/ic/FaCheck_g.png">    </p:cNvPr>
          <p:cNvPicPr>
            <a:picLocks noChangeAspect="1"/>
          </p:cNvPicPr>
          <p:nvPr/>
        </p:nvPicPr>
        <p:blipFill>
          <a:blip r:embed="rId17"/>
          <a:stretch>
            <a:fillRect/>
          </a:stretch>
        </p:blipFill>
        <p:spPr>
          <a:xfrm>
            <a:off x="804672" y="4069080"/>
            <a:ext cx="182880" cy="182880"/>
          </a:xfrm>
          <a:prstGeom prst="rect">
            <a:avLst/>
          </a:prstGeom>
        </p:spPr>
      </p:pic>
      <p:sp>
        <p:nvSpPr>
          <p:cNvPr id="28" name="auto150-tx00"/>
          <p:cNvSpPr txBox="1"/>
          <p:nvPr/>
        </p:nvSpPr>
        <p:spPr>
          <a:xfrm>
            <a:off x="1097280" y="4005072"/>
            <a:ext cx="2834640" cy="457200"/>
          </a:xfrm>
          <a:prstGeom prst="rect">
            <a:avLst/>
          </a:prstGeom>
          <a:noFill/>
          <a:ln/>
        </p:spPr>
        <p:txBody>
          <a:bodyPr wrap="square" lIns="0" tIns="0" rIns="0" bIns="0" rtlCol="0" anchor="t"/>
          <a:lstStyle/>
          <a:p>
            <a:pPr indent="0" marL="0">
              <a:buNone/>
            </a:pPr>
            <a:r>
              <a:rPr lang="en-US" sz="1050" dirty="0">
                <a:solidFill>
                  <a:srgbClr val="5B577E"/>
                </a:solidFill>
                <a:latin typeface="Poppins" pitchFamily="34" charset="0"/>
                <a:ea typeface="Poppins" pitchFamily="34" charset="-122"/>
                <a:cs typeface="Poppins" pitchFamily="34" charset="-120"/>
              </a:rPr>
              <a:t>Benchmark + dashboard on GitHub</a:t>
            </a:r>
            <a:endParaRPr lang="en-US" sz="1050" dirty="0"/>
          </a:p>
        </p:txBody>
      </p:sp>
      <p:pic>
        <p:nvPicPr>
          <p:cNvPr id="29" name="auto150-tc01" descr="/home/claude/pitch/a/ic/FaCheck_g.png">    </p:cNvPr>
          <p:cNvPicPr>
            <a:picLocks noChangeAspect="1"/>
          </p:cNvPicPr>
          <p:nvPr/>
        </p:nvPicPr>
        <p:blipFill>
          <a:blip r:embed="rId18"/>
          <a:stretch>
            <a:fillRect/>
          </a:stretch>
        </p:blipFill>
        <p:spPr>
          <a:xfrm>
            <a:off x="804672" y="4599432"/>
            <a:ext cx="182880" cy="182880"/>
          </a:xfrm>
          <a:prstGeom prst="rect">
            <a:avLst/>
          </a:prstGeom>
        </p:spPr>
      </p:pic>
      <p:sp>
        <p:nvSpPr>
          <p:cNvPr id="30" name="auto150-tx01"/>
          <p:cNvSpPr txBox="1"/>
          <p:nvPr/>
        </p:nvSpPr>
        <p:spPr>
          <a:xfrm>
            <a:off x="1097280" y="4535424"/>
            <a:ext cx="2834640" cy="457200"/>
          </a:xfrm>
          <a:prstGeom prst="rect">
            <a:avLst/>
          </a:prstGeom>
          <a:noFill/>
          <a:ln/>
        </p:spPr>
        <p:txBody>
          <a:bodyPr wrap="square" lIns="0" tIns="0" rIns="0" bIns="0" rtlCol="0" anchor="t"/>
          <a:lstStyle/>
          <a:p>
            <a:pPr indent="0" marL="0">
              <a:buNone/>
            </a:pPr>
            <a:r>
              <a:rPr lang="en-US" sz="1050" dirty="0">
                <a:solidFill>
                  <a:srgbClr val="5B577E"/>
                </a:solidFill>
                <a:latin typeface="Poppins" pitchFamily="34" charset="0"/>
                <a:ea typeface="Poppins" pitchFamily="34" charset="-122"/>
                <a:cs typeface="Poppins" pitchFamily="34" charset="-120"/>
              </a:rPr>
              <a:t>Community adds languages</a:t>
            </a:r>
            <a:endParaRPr lang="en-US" sz="1050" dirty="0"/>
          </a:p>
        </p:txBody>
      </p:sp>
      <p:pic>
        <p:nvPicPr>
          <p:cNvPr id="31" name="auto150-tc02" descr="/home/claude/pitch/a/ic/FaCheck_g.png">    </p:cNvPr>
          <p:cNvPicPr>
            <a:picLocks noChangeAspect="1"/>
          </p:cNvPicPr>
          <p:nvPr/>
        </p:nvPicPr>
        <p:blipFill>
          <a:blip r:embed="rId19"/>
          <a:stretch>
            <a:fillRect/>
          </a:stretch>
        </p:blipFill>
        <p:spPr>
          <a:xfrm>
            <a:off x="804672" y="5129784"/>
            <a:ext cx="182880" cy="182880"/>
          </a:xfrm>
          <a:prstGeom prst="rect">
            <a:avLst/>
          </a:prstGeom>
        </p:spPr>
      </p:pic>
      <p:sp>
        <p:nvSpPr>
          <p:cNvPr id="32" name="auto150-tx02"/>
          <p:cNvSpPr txBox="1"/>
          <p:nvPr/>
        </p:nvSpPr>
        <p:spPr>
          <a:xfrm>
            <a:off x="1097280" y="5065776"/>
            <a:ext cx="2834640" cy="457200"/>
          </a:xfrm>
          <a:prstGeom prst="rect">
            <a:avLst/>
          </a:prstGeom>
          <a:noFill/>
          <a:ln/>
        </p:spPr>
        <p:txBody>
          <a:bodyPr wrap="square" lIns="0" tIns="0" rIns="0" bIns="0" rtlCol="0" anchor="t"/>
          <a:lstStyle/>
          <a:p>
            <a:pPr indent="0" marL="0">
              <a:buNone/>
            </a:pPr>
            <a:r>
              <a:rPr lang="en-US" sz="1050" dirty="0">
                <a:solidFill>
                  <a:srgbClr val="5B577E"/>
                </a:solidFill>
                <a:latin typeface="Poppins" pitchFamily="34" charset="0"/>
                <a:ea typeface="Poppins" pitchFamily="34" charset="-122"/>
                <a:cs typeface="Poppins" pitchFamily="34" charset="-120"/>
              </a:rPr>
              <a:t>Builds trust and adoption</a:t>
            </a:r>
            <a:endParaRPr lang="en-US" sz="1050" dirty="0"/>
          </a:p>
        </p:txBody>
      </p:sp>
      <p:sp>
        <p:nvSpPr>
          <p:cNvPr id="33" name="auto150-tw0"/>
          <p:cNvSpPr/>
          <p:nvPr/>
        </p:nvSpPr>
        <p:spPr>
          <a:xfrm>
            <a:off x="804672" y="5394960"/>
            <a:ext cx="3054096" cy="347472"/>
          </a:xfrm>
          <a:prstGeom prst="roundRect">
            <a:avLst>
              <a:gd name="adj" fmla="val 50000"/>
            </a:avLst>
          </a:prstGeom>
          <a:solidFill>
            <a:srgbClr val="F4F1FF"/>
          </a:solidFill>
          <a:ln w="12700">
            <a:solidFill>
              <a:srgbClr val="DCD6F7"/>
            </a:solidFill>
          </a:ln>
        </p:spPr>
        <p:txBody>
          <a:bodyPr wrap="square" lIns="0" tIns="0" rIns="0" bIns="0" rtlCol="0" anchor="ctr"/>
          <a:lstStyle/>
          <a:p>
            <a:pPr algn="ctr" indent="0" marL="0">
              <a:buNone/>
            </a:pPr>
            <a:r>
              <a:rPr lang="en-US" sz="950" b="1" dirty="0">
                <a:solidFill>
                  <a:srgbClr val="6C5CE7"/>
                </a:solidFill>
                <a:latin typeface="Poppins" pitchFamily="34" charset="0"/>
                <a:ea typeface="Poppins" pitchFamily="34" charset="-122"/>
                <a:cs typeface="Poppins" pitchFamily="34" charset="-120"/>
              </a:rPr>
              <a:t>For students and researchers</a:t>
            </a:r>
            <a:endParaRPr lang="en-US" sz="950" dirty="0"/>
          </a:p>
        </p:txBody>
      </p:sp>
      <p:sp>
        <p:nvSpPr>
          <p:cNvPr id="34" name="auto350-t1"/>
          <p:cNvSpPr/>
          <p:nvPr/>
        </p:nvSpPr>
        <p:spPr>
          <a:xfrm>
            <a:off x="4297680" y="1874520"/>
            <a:ext cx="3566160" cy="4206240"/>
          </a:xfrm>
          <a:prstGeom prst="roundRect">
            <a:avLst>
              <a:gd name="adj" fmla="val 3590"/>
            </a:avLst>
          </a:prstGeom>
          <a:solidFill>
            <a:srgbClr val="FFFFFF"/>
          </a:solidFill>
          <a:ln w="25400">
            <a:solidFill>
              <a:srgbClr val="FF9F1C"/>
            </a:solidFill>
            <a:prstDash val="solid"/>
          </a:ln>
          <a:effectLst>
            <a:outerShdw sx="100000" sy="100000" kx="0" ky="0" algn="bl" rotWithShape="0" blurRad="152400" dist="38100" dir="5400000">
              <a:srgbClr val="6C5CE7">
                <a:alpha val="16000"/>
              </a:srgbClr>
            </a:outerShdw>
          </a:effectLst>
        </p:spPr>
      </p:sp>
      <p:sp>
        <p:nvSpPr>
          <p:cNvPr id="35" name="auto350-tag"/>
          <p:cNvSpPr/>
          <p:nvPr/>
        </p:nvSpPr>
        <p:spPr>
          <a:xfrm>
            <a:off x="6583680" y="2075688"/>
            <a:ext cx="1097280" cy="274320"/>
          </a:xfrm>
          <a:prstGeom prst="roundRect">
            <a:avLst>
              <a:gd name="adj" fmla="val 50000"/>
            </a:avLst>
          </a:prstGeom>
          <a:solidFill>
            <a:srgbClr val="FF9F1C"/>
          </a:solid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MOST TEAMS</a:t>
            </a:r>
            <a:endParaRPr lang="en-US" sz="850" dirty="0"/>
          </a:p>
        </p:txBody>
      </p:sp>
      <p:sp>
        <p:nvSpPr>
          <p:cNvPr id="36" name="auto350-ti1-c"/>
          <p:cNvSpPr/>
          <p:nvPr/>
        </p:nvSpPr>
        <p:spPr>
          <a:xfrm>
            <a:off x="4553712" y="2103120"/>
            <a:ext cx="566928" cy="566928"/>
          </a:xfrm>
          <a:prstGeom prst="ellipse">
            <a:avLst/>
          </a:prstGeom>
          <a:solidFill>
            <a:srgbClr val="D97706"/>
          </a:solidFill>
          <a:ln/>
        </p:spPr>
      </p:sp>
      <p:pic>
        <p:nvPicPr>
          <p:cNvPr id="37" name="auto350-ti1-i" descr="/home/claude/pitch/a/ic/FaServer_w.png">    </p:cNvPr>
          <p:cNvPicPr>
            <a:picLocks noChangeAspect="1"/>
          </p:cNvPicPr>
          <p:nvPr/>
        </p:nvPicPr>
        <p:blipFill>
          <a:blip r:embed="rId20"/>
          <a:stretch>
            <a:fillRect/>
          </a:stretch>
        </p:blipFill>
        <p:spPr>
          <a:xfrm>
            <a:off x="4701113" y="2250521"/>
            <a:ext cx="272125" cy="272125"/>
          </a:xfrm>
          <a:prstGeom prst="rect">
            <a:avLst/>
          </a:prstGeom>
        </p:spPr>
      </p:pic>
      <p:sp>
        <p:nvSpPr>
          <p:cNvPr id="38" name="auto350-th1"/>
          <p:cNvSpPr txBox="1"/>
          <p:nvPr/>
        </p:nvSpPr>
        <p:spPr>
          <a:xfrm>
            <a:off x="4553712" y="2807208"/>
            <a:ext cx="3108960" cy="329184"/>
          </a:xfrm>
          <a:prstGeom prst="rect">
            <a:avLst/>
          </a:prstGeom>
          <a:noFill/>
          <a:ln/>
        </p:spPr>
        <p:txBody>
          <a:bodyPr wrap="square" lIns="0" tIns="0" rIns="0" bIns="0" rtlCol="0" anchor="t"/>
          <a:lstStyle/>
          <a:p>
            <a:pPr indent="0" marL="0">
              <a:buNone/>
            </a:pPr>
            <a:r>
              <a:rPr lang="en-US" sz="1500" b="1" dirty="0">
                <a:solidFill>
                  <a:srgbClr val="1E1A4D"/>
                </a:solidFill>
                <a:latin typeface="Poppins" pitchFamily="34" charset="0"/>
                <a:ea typeface="Poppins" pitchFamily="34" charset="-122"/>
                <a:cs typeface="Poppins" pitchFamily="34" charset="-120"/>
              </a:rPr>
              <a:t>MixCheck Pro</a:t>
            </a:r>
            <a:endParaRPr lang="en-US" sz="1500" dirty="0"/>
          </a:p>
        </p:txBody>
      </p:sp>
      <p:sp>
        <p:nvSpPr>
          <p:cNvPr id="39" name="auto350-tp1"/>
          <p:cNvSpPr txBox="1"/>
          <p:nvPr/>
        </p:nvSpPr>
        <p:spPr>
          <a:xfrm>
            <a:off x="4553712" y="3154680"/>
            <a:ext cx="3108960" cy="457200"/>
          </a:xfrm>
          <a:prstGeom prst="rect">
            <a:avLst/>
          </a:prstGeom>
          <a:noFill/>
          <a:ln/>
        </p:spPr>
        <p:txBody>
          <a:bodyPr wrap="square" lIns="0" tIns="0" rIns="0" bIns="0" rtlCol="0" anchor="t"/>
          <a:lstStyle/>
          <a:p>
            <a:pPr indent="0" marL="0">
              <a:buNone/>
            </a:pPr>
            <a:r>
              <a:rPr lang="en-US" sz="2200" b="1" dirty="0">
                <a:solidFill>
                  <a:srgbClr val="D97706"/>
                </a:solidFill>
                <a:latin typeface="Lora" pitchFamily="34" charset="0"/>
                <a:ea typeface="Lora" pitchFamily="34" charset="-122"/>
                <a:cs typeface="Lora" pitchFamily="34" charset="-120"/>
              </a:rPr>
              <a:t>₹799 / month</a:t>
            </a:r>
            <a:endParaRPr lang="en-US" sz="2200" dirty="0"/>
          </a:p>
        </p:txBody>
      </p:sp>
      <p:sp>
        <p:nvSpPr>
          <p:cNvPr id="40" name="auto350-tl1"/>
          <p:cNvSpPr/>
          <p:nvPr/>
        </p:nvSpPr>
        <p:spPr>
          <a:xfrm>
            <a:off x="4553712" y="3703320"/>
            <a:ext cx="3054096" cy="0"/>
          </a:xfrm>
          <a:prstGeom prst="line">
            <a:avLst/>
          </a:prstGeom>
          <a:noFill/>
          <a:ln w="12700">
            <a:solidFill>
              <a:srgbClr val="DCD6F7"/>
            </a:solidFill>
            <a:prstDash val="solid"/>
          </a:ln>
        </p:spPr>
      </p:sp>
      <p:pic>
        <p:nvPicPr>
          <p:cNvPr id="41" name="auto350-tc10" descr="/home/claude/pitch/a/ic/FaCheck_g.png">    </p:cNvPr>
          <p:cNvPicPr>
            <a:picLocks noChangeAspect="1"/>
          </p:cNvPicPr>
          <p:nvPr/>
        </p:nvPicPr>
        <p:blipFill>
          <a:blip r:embed="rId21"/>
          <a:stretch>
            <a:fillRect/>
          </a:stretch>
        </p:blipFill>
        <p:spPr>
          <a:xfrm>
            <a:off x="4553712" y="3931920"/>
            <a:ext cx="182880" cy="182880"/>
          </a:xfrm>
          <a:prstGeom prst="rect">
            <a:avLst/>
          </a:prstGeom>
        </p:spPr>
      </p:pic>
      <p:sp>
        <p:nvSpPr>
          <p:cNvPr id="42" name="auto350-tx10"/>
          <p:cNvSpPr txBox="1"/>
          <p:nvPr/>
        </p:nvSpPr>
        <p:spPr>
          <a:xfrm>
            <a:off x="4846320" y="3867912"/>
            <a:ext cx="2834640" cy="457200"/>
          </a:xfrm>
          <a:prstGeom prst="rect">
            <a:avLst/>
          </a:prstGeom>
          <a:noFill/>
          <a:ln/>
        </p:spPr>
        <p:txBody>
          <a:bodyPr wrap="square" lIns="0" tIns="0" rIns="0" bIns="0" rtlCol="0" anchor="t"/>
          <a:lstStyle/>
          <a:p>
            <a:pPr indent="0" marL="0">
              <a:buNone/>
            </a:pPr>
            <a:r>
              <a:rPr lang="en-US" sz="1050" dirty="0">
                <a:solidFill>
                  <a:srgbClr val="5B577E"/>
                </a:solidFill>
                <a:latin typeface="Poppins" pitchFamily="34" charset="0"/>
                <a:ea typeface="Poppins" pitchFamily="34" charset="-122"/>
                <a:cs typeface="Poppins" pitchFamily="34" charset="-120"/>
              </a:rPr>
              <a:t>Test your own model via an API</a:t>
            </a:r>
            <a:endParaRPr lang="en-US" sz="1050" dirty="0"/>
          </a:p>
        </p:txBody>
      </p:sp>
      <p:pic>
        <p:nvPicPr>
          <p:cNvPr id="43" name="auto350-tc11" descr="/home/claude/pitch/a/ic/FaCheck_g.png">    </p:cNvPr>
          <p:cNvPicPr>
            <a:picLocks noChangeAspect="1"/>
          </p:cNvPicPr>
          <p:nvPr/>
        </p:nvPicPr>
        <p:blipFill>
          <a:blip r:embed="rId22"/>
          <a:stretch>
            <a:fillRect/>
          </a:stretch>
        </p:blipFill>
        <p:spPr>
          <a:xfrm>
            <a:off x="4553712" y="4462272"/>
            <a:ext cx="182880" cy="182880"/>
          </a:xfrm>
          <a:prstGeom prst="rect">
            <a:avLst/>
          </a:prstGeom>
        </p:spPr>
      </p:pic>
      <p:sp>
        <p:nvSpPr>
          <p:cNvPr id="44" name="auto350-tx11"/>
          <p:cNvSpPr txBox="1"/>
          <p:nvPr/>
        </p:nvSpPr>
        <p:spPr>
          <a:xfrm>
            <a:off x="4846320" y="4398264"/>
            <a:ext cx="2834640" cy="457200"/>
          </a:xfrm>
          <a:prstGeom prst="rect">
            <a:avLst/>
          </a:prstGeom>
          <a:noFill/>
          <a:ln/>
        </p:spPr>
        <p:txBody>
          <a:bodyPr wrap="square" lIns="0" tIns="0" rIns="0" bIns="0" rtlCol="0" anchor="t"/>
          <a:lstStyle/>
          <a:p>
            <a:pPr indent="0" marL="0">
              <a:buNone/>
            </a:pPr>
            <a:r>
              <a:rPr lang="en-US" sz="1050" dirty="0">
                <a:solidFill>
                  <a:srgbClr val="5B577E"/>
                </a:solidFill>
                <a:latin typeface="Poppins" pitchFamily="34" charset="0"/>
                <a:ea typeface="Poppins" pitchFamily="34" charset="-122"/>
                <a:cs typeface="Poppins" pitchFamily="34" charset="-120"/>
              </a:rPr>
              <a:t>Private reports for your team</a:t>
            </a:r>
            <a:endParaRPr lang="en-US" sz="1050" dirty="0"/>
          </a:p>
        </p:txBody>
      </p:sp>
      <p:pic>
        <p:nvPicPr>
          <p:cNvPr id="45" name="auto350-tc12" descr="/home/claude/pitch/a/ic/FaCheck_g.png">    </p:cNvPr>
          <p:cNvPicPr>
            <a:picLocks noChangeAspect="1"/>
          </p:cNvPicPr>
          <p:nvPr/>
        </p:nvPicPr>
        <p:blipFill>
          <a:blip r:embed="rId23"/>
          <a:stretch>
            <a:fillRect/>
          </a:stretch>
        </p:blipFill>
        <p:spPr>
          <a:xfrm>
            <a:off x="4553712" y="4992624"/>
            <a:ext cx="182880" cy="182880"/>
          </a:xfrm>
          <a:prstGeom prst="rect">
            <a:avLst/>
          </a:prstGeom>
        </p:spPr>
      </p:pic>
      <p:sp>
        <p:nvSpPr>
          <p:cNvPr id="46" name="auto350-tx12"/>
          <p:cNvSpPr txBox="1"/>
          <p:nvPr/>
        </p:nvSpPr>
        <p:spPr>
          <a:xfrm>
            <a:off x="4846320" y="4928616"/>
            <a:ext cx="2834640" cy="457200"/>
          </a:xfrm>
          <a:prstGeom prst="rect">
            <a:avLst/>
          </a:prstGeom>
          <a:noFill/>
          <a:ln/>
        </p:spPr>
        <p:txBody>
          <a:bodyPr wrap="square" lIns="0" tIns="0" rIns="0" bIns="0" rtlCol="0" anchor="t"/>
          <a:lstStyle/>
          <a:p>
            <a:pPr indent="0" marL="0">
              <a:buNone/>
            </a:pPr>
            <a:r>
              <a:rPr lang="en-US" sz="1050" dirty="0">
                <a:solidFill>
                  <a:srgbClr val="5B577E"/>
                </a:solidFill>
                <a:latin typeface="Poppins" pitchFamily="34" charset="0"/>
                <a:ea typeface="Poppins" pitchFamily="34" charset="-122"/>
                <a:cs typeface="Poppins" pitchFamily="34" charset="-120"/>
              </a:rPr>
              <a:t>Alerts when an update gets worse</a:t>
            </a:r>
            <a:endParaRPr lang="en-US" sz="1050" dirty="0"/>
          </a:p>
        </p:txBody>
      </p:sp>
      <p:sp>
        <p:nvSpPr>
          <p:cNvPr id="47" name="auto350-tw1"/>
          <p:cNvSpPr/>
          <p:nvPr/>
        </p:nvSpPr>
        <p:spPr>
          <a:xfrm>
            <a:off x="4553712" y="5532120"/>
            <a:ext cx="3054096" cy="347472"/>
          </a:xfrm>
          <a:prstGeom prst="roundRect">
            <a:avLst>
              <a:gd name="adj" fmla="val 50000"/>
            </a:avLst>
          </a:prstGeom>
          <a:solidFill>
            <a:srgbClr val="FFF4E3"/>
          </a:solidFill>
          <a:ln w="12700">
            <a:solidFill>
              <a:srgbClr val="FF9F1C"/>
            </a:solidFill>
          </a:ln>
        </p:spPr>
        <p:txBody>
          <a:bodyPr wrap="square" lIns="0" tIns="0" rIns="0" bIns="0" rtlCol="0" anchor="ctr"/>
          <a:lstStyle/>
          <a:p>
            <a:pPr algn="ctr" indent="0" marL="0">
              <a:buNone/>
            </a:pPr>
            <a:r>
              <a:rPr lang="en-US" sz="950" b="1" dirty="0">
                <a:solidFill>
                  <a:srgbClr val="D97706"/>
                </a:solidFill>
                <a:latin typeface="Poppins" pitchFamily="34" charset="0"/>
                <a:ea typeface="Poppins" pitchFamily="34" charset="-122"/>
                <a:cs typeface="Poppins" pitchFamily="34" charset="-120"/>
              </a:rPr>
              <a:t>For startups and product teams</a:t>
            </a:r>
            <a:endParaRPr lang="en-US" sz="950" dirty="0"/>
          </a:p>
        </p:txBody>
      </p:sp>
      <p:sp>
        <p:nvSpPr>
          <p:cNvPr id="48" name="auto550-t2"/>
          <p:cNvSpPr/>
          <p:nvPr/>
        </p:nvSpPr>
        <p:spPr>
          <a:xfrm>
            <a:off x="8046720" y="2011680"/>
            <a:ext cx="3566160" cy="3931920"/>
          </a:xfrm>
          <a:prstGeom prst="roundRect">
            <a:avLst>
              <a:gd name="adj" fmla="val 3590"/>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49" name="auto550-ti2-c"/>
          <p:cNvSpPr/>
          <p:nvPr/>
        </p:nvSpPr>
        <p:spPr>
          <a:xfrm>
            <a:off x="8302752" y="2240280"/>
            <a:ext cx="566928" cy="566928"/>
          </a:xfrm>
          <a:prstGeom prst="ellipse">
            <a:avLst/>
          </a:prstGeom>
          <a:solidFill>
            <a:srgbClr val="C2477D"/>
          </a:solidFill>
          <a:ln/>
        </p:spPr>
      </p:sp>
      <p:pic>
        <p:nvPicPr>
          <p:cNvPr id="50" name="auto550-ti2-i" descr="/home/claude/pitch/a/ic/FaShieldAlt_w.png">    </p:cNvPr>
          <p:cNvPicPr>
            <a:picLocks noChangeAspect="1"/>
          </p:cNvPicPr>
          <p:nvPr/>
        </p:nvPicPr>
        <p:blipFill>
          <a:blip r:embed="rId24"/>
          <a:stretch>
            <a:fillRect/>
          </a:stretch>
        </p:blipFill>
        <p:spPr>
          <a:xfrm>
            <a:off x="8450153" y="2387681"/>
            <a:ext cx="272125" cy="272125"/>
          </a:xfrm>
          <a:prstGeom prst="rect">
            <a:avLst/>
          </a:prstGeom>
        </p:spPr>
      </p:pic>
      <p:sp>
        <p:nvSpPr>
          <p:cNvPr id="51" name="auto550-th2"/>
          <p:cNvSpPr txBox="1"/>
          <p:nvPr/>
        </p:nvSpPr>
        <p:spPr>
          <a:xfrm>
            <a:off x="8302752" y="2944368"/>
            <a:ext cx="3108960" cy="329184"/>
          </a:xfrm>
          <a:prstGeom prst="rect">
            <a:avLst/>
          </a:prstGeom>
          <a:noFill/>
          <a:ln/>
        </p:spPr>
        <p:txBody>
          <a:bodyPr wrap="square" lIns="0" tIns="0" rIns="0" bIns="0" rtlCol="0" anchor="t"/>
          <a:lstStyle/>
          <a:p>
            <a:pPr indent="0" marL="0">
              <a:buNone/>
            </a:pPr>
            <a:r>
              <a:rPr lang="en-US" sz="1500" b="1" dirty="0">
                <a:solidFill>
                  <a:srgbClr val="1E1A4D"/>
                </a:solidFill>
                <a:latin typeface="Poppins" pitchFamily="34" charset="0"/>
                <a:ea typeface="Poppins" pitchFamily="34" charset="-122"/>
                <a:cs typeface="Poppins" pitchFamily="34" charset="-120"/>
              </a:rPr>
              <a:t>Custom audits</a:t>
            </a:r>
            <a:endParaRPr lang="en-US" sz="1500" dirty="0"/>
          </a:p>
        </p:txBody>
      </p:sp>
      <p:sp>
        <p:nvSpPr>
          <p:cNvPr id="52" name="auto550-tp2"/>
          <p:cNvSpPr txBox="1"/>
          <p:nvPr/>
        </p:nvSpPr>
        <p:spPr>
          <a:xfrm>
            <a:off x="8302752" y="3291840"/>
            <a:ext cx="3108960" cy="457200"/>
          </a:xfrm>
          <a:prstGeom prst="rect">
            <a:avLst/>
          </a:prstGeom>
          <a:noFill/>
          <a:ln/>
        </p:spPr>
        <p:txBody>
          <a:bodyPr wrap="square" lIns="0" tIns="0" rIns="0" bIns="0" rtlCol="0" anchor="t"/>
          <a:lstStyle/>
          <a:p>
            <a:pPr indent="0" marL="0">
              <a:buNone/>
            </a:pPr>
            <a:r>
              <a:rPr lang="en-US" sz="2200" b="1" dirty="0">
                <a:solidFill>
                  <a:srgbClr val="C2477D"/>
                </a:solidFill>
                <a:latin typeface="Lora" pitchFamily="34" charset="0"/>
                <a:ea typeface="Lora" pitchFamily="34" charset="-122"/>
                <a:cs typeface="Lora" pitchFamily="34" charset="-120"/>
              </a:rPr>
              <a:t>One-time fee</a:t>
            </a:r>
            <a:endParaRPr lang="en-US" sz="2200" dirty="0"/>
          </a:p>
        </p:txBody>
      </p:sp>
      <p:sp>
        <p:nvSpPr>
          <p:cNvPr id="53" name="auto550-tl2"/>
          <p:cNvSpPr/>
          <p:nvPr/>
        </p:nvSpPr>
        <p:spPr>
          <a:xfrm>
            <a:off x="8302752" y="3840480"/>
            <a:ext cx="3054096" cy="0"/>
          </a:xfrm>
          <a:prstGeom prst="line">
            <a:avLst/>
          </a:prstGeom>
          <a:noFill/>
          <a:ln w="12700">
            <a:solidFill>
              <a:srgbClr val="DCD6F7"/>
            </a:solidFill>
            <a:prstDash val="solid"/>
          </a:ln>
        </p:spPr>
      </p:sp>
      <p:pic>
        <p:nvPicPr>
          <p:cNvPr id="54" name="auto550-tc20" descr="/home/claude/pitch/a/ic/FaCheck_g.png">    </p:cNvPr>
          <p:cNvPicPr>
            <a:picLocks noChangeAspect="1"/>
          </p:cNvPicPr>
          <p:nvPr/>
        </p:nvPicPr>
        <p:blipFill>
          <a:blip r:embed="rId25"/>
          <a:stretch>
            <a:fillRect/>
          </a:stretch>
        </p:blipFill>
        <p:spPr>
          <a:xfrm>
            <a:off x="8302752" y="4069080"/>
            <a:ext cx="182880" cy="182880"/>
          </a:xfrm>
          <a:prstGeom prst="rect">
            <a:avLst/>
          </a:prstGeom>
        </p:spPr>
      </p:pic>
      <p:sp>
        <p:nvSpPr>
          <p:cNvPr id="55" name="auto550-tx20"/>
          <p:cNvSpPr txBox="1"/>
          <p:nvPr/>
        </p:nvSpPr>
        <p:spPr>
          <a:xfrm>
            <a:off x="8595360" y="4005072"/>
            <a:ext cx="2834640" cy="457200"/>
          </a:xfrm>
          <a:prstGeom prst="rect">
            <a:avLst/>
          </a:prstGeom>
          <a:noFill/>
          <a:ln/>
        </p:spPr>
        <p:txBody>
          <a:bodyPr wrap="square" lIns="0" tIns="0" rIns="0" bIns="0" rtlCol="0" anchor="t"/>
          <a:lstStyle/>
          <a:p>
            <a:pPr indent="0" marL="0">
              <a:buNone/>
            </a:pPr>
            <a:r>
              <a:rPr lang="en-US" sz="1050" dirty="0">
                <a:solidFill>
                  <a:srgbClr val="5B577E"/>
                </a:solidFill>
                <a:latin typeface="Poppins" pitchFamily="34" charset="0"/>
                <a:ea typeface="Poppins" pitchFamily="34" charset="-122"/>
                <a:cs typeface="Poppins" pitchFamily="34" charset="-120"/>
              </a:rPr>
              <a:t>Pre-launch testing of your product</a:t>
            </a:r>
            <a:endParaRPr lang="en-US" sz="1050" dirty="0"/>
          </a:p>
        </p:txBody>
      </p:sp>
      <p:pic>
        <p:nvPicPr>
          <p:cNvPr id="56" name="auto550-tc21" descr="/home/claude/pitch/a/ic/FaCheck_g.png">    </p:cNvPr>
          <p:cNvPicPr>
            <a:picLocks noChangeAspect="1"/>
          </p:cNvPicPr>
          <p:nvPr/>
        </p:nvPicPr>
        <p:blipFill>
          <a:blip r:embed="rId26"/>
          <a:stretch>
            <a:fillRect/>
          </a:stretch>
        </p:blipFill>
        <p:spPr>
          <a:xfrm>
            <a:off x="8302752" y="4599432"/>
            <a:ext cx="182880" cy="182880"/>
          </a:xfrm>
          <a:prstGeom prst="rect">
            <a:avLst/>
          </a:prstGeom>
        </p:spPr>
      </p:pic>
      <p:sp>
        <p:nvSpPr>
          <p:cNvPr id="57" name="auto550-tx21"/>
          <p:cNvSpPr txBox="1"/>
          <p:nvPr/>
        </p:nvSpPr>
        <p:spPr>
          <a:xfrm>
            <a:off x="8595360" y="4535424"/>
            <a:ext cx="2834640" cy="457200"/>
          </a:xfrm>
          <a:prstGeom prst="rect">
            <a:avLst/>
          </a:prstGeom>
          <a:noFill/>
          <a:ln/>
        </p:spPr>
        <p:txBody>
          <a:bodyPr wrap="square" lIns="0" tIns="0" rIns="0" bIns="0" rtlCol="0" anchor="t"/>
          <a:lstStyle/>
          <a:p>
            <a:pPr indent="0" marL="0">
              <a:buNone/>
            </a:pPr>
            <a:r>
              <a:rPr lang="en-US" sz="1050" dirty="0">
                <a:solidFill>
                  <a:srgbClr val="5B577E"/>
                </a:solidFill>
                <a:latin typeface="Poppins" pitchFamily="34" charset="0"/>
                <a:ea typeface="Poppins" pitchFamily="34" charset="-122"/>
                <a:cs typeface="Poppins" pitchFamily="34" charset="-120"/>
              </a:rPr>
              <a:t>Your languages and domains</a:t>
            </a:r>
            <a:endParaRPr lang="en-US" sz="1050" dirty="0"/>
          </a:p>
        </p:txBody>
      </p:sp>
      <p:pic>
        <p:nvPicPr>
          <p:cNvPr id="58" name="auto550-tc22" descr="/home/claude/pitch/a/ic/FaCheck_g.png">    </p:cNvPr>
          <p:cNvPicPr>
            <a:picLocks noChangeAspect="1"/>
          </p:cNvPicPr>
          <p:nvPr/>
        </p:nvPicPr>
        <p:blipFill>
          <a:blip r:embed="rId27"/>
          <a:stretch>
            <a:fillRect/>
          </a:stretch>
        </p:blipFill>
        <p:spPr>
          <a:xfrm>
            <a:off x="8302752" y="5129784"/>
            <a:ext cx="182880" cy="182880"/>
          </a:xfrm>
          <a:prstGeom prst="rect">
            <a:avLst/>
          </a:prstGeom>
        </p:spPr>
      </p:pic>
      <p:sp>
        <p:nvSpPr>
          <p:cNvPr id="59" name="auto550-tx22"/>
          <p:cNvSpPr txBox="1"/>
          <p:nvPr/>
        </p:nvSpPr>
        <p:spPr>
          <a:xfrm>
            <a:off x="8595360" y="5065776"/>
            <a:ext cx="2834640" cy="457200"/>
          </a:xfrm>
          <a:prstGeom prst="rect">
            <a:avLst/>
          </a:prstGeom>
          <a:noFill/>
          <a:ln/>
        </p:spPr>
        <p:txBody>
          <a:bodyPr wrap="square" lIns="0" tIns="0" rIns="0" bIns="0" rtlCol="0" anchor="t"/>
          <a:lstStyle/>
          <a:p>
            <a:pPr indent="0" marL="0">
              <a:buNone/>
            </a:pPr>
            <a:r>
              <a:rPr lang="en-US" sz="1050" dirty="0">
                <a:solidFill>
                  <a:srgbClr val="5B577E"/>
                </a:solidFill>
                <a:latin typeface="Poppins" pitchFamily="34" charset="0"/>
                <a:ea typeface="Poppins" pitchFamily="34" charset="-122"/>
                <a:cs typeface="Poppins" pitchFamily="34" charset="-120"/>
              </a:rPr>
              <a:t>A “MixCheck Verified” report</a:t>
            </a:r>
            <a:endParaRPr lang="en-US" sz="1050" dirty="0"/>
          </a:p>
        </p:txBody>
      </p:sp>
      <p:sp>
        <p:nvSpPr>
          <p:cNvPr id="60" name="auto550-tw2"/>
          <p:cNvSpPr/>
          <p:nvPr/>
        </p:nvSpPr>
        <p:spPr>
          <a:xfrm>
            <a:off x="8302752" y="5394960"/>
            <a:ext cx="3054096" cy="347472"/>
          </a:xfrm>
          <a:prstGeom prst="roundRect">
            <a:avLst>
              <a:gd name="adj" fmla="val 50000"/>
            </a:avLst>
          </a:prstGeom>
          <a:solidFill>
            <a:srgbClr val="F4F1FF"/>
          </a:solidFill>
          <a:ln w="12700">
            <a:solidFill>
              <a:srgbClr val="DCD6F7"/>
            </a:solidFill>
          </a:ln>
        </p:spPr>
        <p:txBody>
          <a:bodyPr wrap="square" lIns="0" tIns="0" rIns="0" bIns="0" rtlCol="0" anchor="ctr"/>
          <a:lstStyle/>
          <a:p>
            <a:pPr algn="ctr" indent="0" marL="0">
              <a:buNone/>
            </a:pPr>
            <a:r>
              <a:rPr lang="en-US" sz="950" b="1" dirty="0">
                <a:solidFill>
                  <a:srgbClr val="C2477D"/>
                </a:solidFill>
                <a:latin typeface="Poppins" pitchFamily="34" charset="0"/>
                <a:ea typeface="Poppins" pitchFamily="34" charset="-122"/>
                <a:cs typeface="Poppins" pitchFamily="34" charset="-120"/>
              </a:rPr>
              <a:t>For companies launching in India</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123" dur="indefinite" nodeType="mainSeq">
                <p:childTnLst>
                  <p:par>
                    <p:cTn id="124" fill="hold">
                      <p:stCondLst>
                        <p:cond delay="indefinite"/>
                        <p:cond evt="onBegin" delay="0">
                          <p:tn val="123"/>
                        </p:cond>
                      </p:stCondLst>
                      <p:childTnLst>
                        <p:par>
                          <p:cTn id="125" fill="hold">
                            <p:stCondLst>
                              <p:cond delay="0"/>
                            </p:stCondLst>
                            <p:childTnLst>
                              <p:par>
                                <p:cTn id="5" presetID="10" presetClass="entr" presetSubtype="0" fill="hold" grpId="0" nodeType="withEffect">
                                  <p:stCondLst>
                                    <p:cond delay="15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50"/>
                                        <p:tgtEl>
                                          <p:spTgt spid="21"/>
                                        </p:tgtEl>
                                      </p:cBhvr>
                                    </p:animEffect>
                                  </p:childTnLst>
                                </p:cTn>
                              </p:par>
                              <p:par>
                                <p:cTn id="8" presetID="10" presetClass="entr" presetSubtype="0" fill="hold" grpId="0" nodeType="withEffect">
                                  <p:stCondLst>
                                    <p:cond delay="15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50"/>
                                        <p:tgtEl>
                                          <p:spTgt spid="22"/>
                                        </p:tgtEl>
                                      </p:cBhvr>
                                    </p:animEffect>
                                  </p:childTnLst>
                                </p:cTn>
                              </p:par>
                              <p:par>
                                <p:cTn id="11" presetID="10" presetClass="entr" presetSubtype="0" fill="hold" grpId="0" nodeType="withEffect">
                                  <p:stCondLst>
                                    <p:cond delay="15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450"/>
                                        <p:tgtEl>
                                          <p:spTgt spid="23"/>
                                        </p:tgtEl>
                                      </p:cBhvr>
                                    </p:animEffect>
                                  </p:childTnLst>
                                </p:cTn>
                              </p:par>
                              <p:par>
                                <p:cTn id="14" presetID="10" presetClass="entr" presetSubtype="0" fill="hold" grpId="0" nodeType="withEffect">
                                  <p:stCondLst>
                                    <p:cond delay="15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50"/>
                                        <p:tgtEl>
                                          <p:spTgt spid="24"/>
                                        </p:tgtEl>
                                      </p:cBhvr>
                                    </p:animEffect>
                                  </p:childTnLst>
                                </p:cTn>
                              </p:par>
                              <p:par>
                                <p:cTn id="17" presetID="10" presetClass="entr" presetSubtype="0" fill="hold" grpId="0" nodeType="withEffect">
                                  <p:stCondLst>
                                    <p:cond delay="15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50"/>
                                        <p:tgtEl>
                                          <p:spTgt spid="25"/>
                                        </p:tgtEl>
                                      </p:cBhvr>
                                    </p:animEffect>
                                  </p:childTnLst>
                                </p:cTn>
                              </p:par>
                              <p:par>
                                <p:cTn id="20" presetID="10" presetClass="entr" presetSubtype="0" fill="hold" grpId="0" nodeType="withEffect">
                                  <p:stCondLst>
                                    <p:cond delay="15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50"/>
                                        <p:tgtEl>
                                          <p:spTgt spid="26"/>
                                        </p:tgtEl>
                                      </p:cBhvr>
                                    </p:animEffect>
                                  </p:childTnLst>
                                </p:cTn>
                              </p:par>
                              <p:par>
                                <p:cTn id="23" presetID="10" presetClass="entr" presetSubtype="0" fill="hold" grpId="0" nodeType="withEffect">
                                  <p:stCondLst>
                                    <p:cond delay="15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50"/>
                                        <p:tgtEl>
                                          <p:spTgt spid="27"/>
                                        </p:tgtEl>
                                      </p:cBhvr>
                                    </p:animEffect>
                                  </p:childTnLst>
                                </p:cTn>
                              </p:par>
                              <p:par>
                                <p:cTn id="26" presetID="10" presetClass="entr" presetSubtype="0" fill="hold" grpId="0" nodeType="withEffect">
                                  <p:stCondLst>
                                    <p:cond delay="15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50"/>
                                        <p:tgtEl>
                                          <p:spTgt spid="28"/>
                                        </p:tgtEl>
                                      </p:cBhvr>
                                    </p:animEffect>
                                  </p:childTnLst>
                                </p:cTn>
                              </p:par>
                              <p:par>
                                <p:cTn id="29" presetID="10" presetClass="entr" presetSubtype="0" fill="hold" grpId="0" nodeType="withEffect">
                                  <p:stCondLst>
                                    <p:cond delay="15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50"/>
                                        <p:tgtEl>
                                          <p:spTgt spid="29"/>
                                        </p:tgtEl>
                                      </p:cBhvr>
                                    </p:animEffect>
                                  </p:childTnLst>
                                </p:cTn>
                              </p:par>
                              <p:par>
                                <p:cTn id="32" presetID="10" presetClass="entr" presetSubtype="0" fill="hold" grpId="0" nodeType="withEffect">
                                  <p:stCondLst>
                                    <p:cond delay="15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50"/>
                                        <p:tgtEl>
                                          <p:spTgt spid="30"/>
                                        </p:tgtEl>
                                      </p:cBhvr>
                                    </p:animEffect>
                                  </p:childTnLst>
                                </p:cTn>
                              </p:par>
                              <p:par>
                                <p:cTn id="35" presetID="10" presetClass="entr" presetSubtype="0" fill="hold" grpId="0" nodeType="withEffect">
                                  <p:stCondLst>
                                    <p:cond delay="15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450"/>
                                        <p:tgtEl>
                                          <p:spTgt spid="31"/>
                                        </p:tgtEl>
                                      </p:cBhvr>
                                    </p:animEffect>
                                  </p:childTnLst>
                                </p:cTn>
                              </p:par>
                              <p:par>
                                <p:cTn id="38" presetID="10" presetClass="entr" presetSubtype="0" fill="hold" grpId="0" nodeType="withEffect">
                                  <p:stCondLst>
                                    <p:cond delay="15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50"/>
                                        <p:tgtEl>
                                          <p:spTgt spid="32"/>
                                        </p:tgtEl>
                                      </p:cBhvr>
                                    </p:animEffect>
                                  </p:childTnLst>
                                </p:cTn>
                              </p:par>
                              <p:par>
                                <p:cTn id="41" presetID="10" presetClass="entr" presetSubtype="0" fill="hold" grpId="0" nodeType="withEffect">
                                  <p:stCondLst>
                                    <p:cond delay="15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450"/>
                                        <p:tgtEl>
                                          <p:spTgt spid="33"/>
                                        </p:tgtEl>
                                      </p:cBhvr>
                                    </p:animEffect>
                                  </p:childTnLst>
                                </p:cTn>
                              </p:par>
                              <p:par>
                                <p:cTn id="44" presetID="10" presetClass="entr" presetSubtype="0" fill="hold" grpId="0" nodeType="withEffect">
                                  <p:stCondLst>
                                    <p:cond delay="35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450"/>
                                        <p:tgtEl>
                                          <p:spTgt spid="34"/>
                                        </p:tgtEl>
                                      </p:cBhvr>
                                    </p:animEffect>
                                  </p:childTnLst>
                                </p:cTn>
                              </p:par>
                              <p:par>
                                <p:cTn id="47" presetID="10" presetClass="entr" presetSubtype="0" fill="hold" grpId="0" nodeType="withEffect">
                                  <p:stCondLst>
                                    <p:cond delay="35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450"/>
                                        <p:tgtEl>
                                          <p:spTgt spid="35"/>
                                        </p:tgtEl>
                                      </p:cBhvr>
                                    </p:animEffect>
                                  </p:childTnLst>
                                </p:cTn>
                              </p:par>
                              <p:par>
                                <p:cTn id="50" presetID="10" presetClass="entr" presetSubtype="0" fill="hold" grpId="0" nodeType="withEffect">
                                  <p:stCondLst>
                                    <p:cond delay="35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450"/>
                                        <p:tgtEl>
                                          <p:spTgt spid="36"/>
                                        </p:tgtEl>
                                      </p:cBhvr>
                                    </p:animEffect>
                                  </p:childTnLst>
                                </p:cTn>
                              </p:par>
                              <p:par>
                                <p:cTn id="53" presetID="10" presetClass="entr" presetSubtype="0" fill="hold" grpId="0" nodeType="withEffect">
                                  <p:stCondLst>
                                    <p:cond delay="35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450"/>
                                        <p:tgtEl>
                                          <p:spTgt spid="37"/>
                                        </p:tgtEl>
                                      </p:cBhvr>
                                    </p:animEffect>
                                  </p:childTnLst>
                                </p:cTn>
                              </p:par>
                              <p:par>
                                <p:cTn id="56" presetID="10" presetClass="entr" presetSubtype="0" fill="hold" grpId="0" nodeType="withEffect">
                                  <p:stCondLst>
                                    <p:cond delay="35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450"/>
                                        <p:tgtEl>
                                          <p:spTgt spid="38"/>
                                        </p:tgtEl>
                                      </p:cBhvr>
                                    </p:animEffect>
                                  </p:childTnLst>
                                </p:cTn>
                              </p:par>
                              <p:par>
                                <p:cTn id="59" presetID="10" presetClass="entr" presetSubtype="0" fill="hold" grpId="0" nodeType="withEffect">
                                  <p:stCondLst>
                                    <p:cond delay="35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450"/>
                                        <p:tgtEl>
                                          <p:spTgt spid="39"/>
                                        </p:tgtEl>
                                      </p:cBhvr>
                                    </p:animEffect>
                                  </p:childTnLst>
                                </p:cTn>
                              </p:par>
                              <p:par>
                                <p:cTn id="62" presetID="10" presetClass="entr" presetSubtype="0" fill="hold" grpId="0" nodeType="withEffect">
                                  <p:stCondLst>
                                    <p:cond delay="350"/>
                                  </p:stCondLst>
                                  <p:childTnLst>
                                    <p:set>
                                      <p:cBhvr>
                                        <p:cTn id="60" dur="1" fill="hold">
                                          <p:stCondLst>
                                            <p:cond delay="0"/>
                                          </p:stCondLst>
                                        </p:cTn>
                                        <p:tgtEl>
                                          <p:spTgt spid="40"/>
                                        </p:tgtEl>
                                        <p:attrNameLst>
                                          <p:attrName>style.visibility</p:attrName>
                                        </p:attrNameLst>
                                      </p:cBhvr>
                                      <p:to>
                                        <p:strVal val="visible"/>
                                      </p:to>
                                    </p:set>
                                    <p:animEffect transition="in" filter="fade">
                                      <p:cBhvr>
                                        <p:cTn id="61" dur="450"/>
                                        <p:tgtEl>
                                          <p:spTgt spid="40"/>
                                        </p:tgtEl>
                                      </p:cBhvr>
                                    </p:animEffect>
                                  </p:childTnLst>
                                </p:cTn>
                              </p:par>
                              <p:par>
                                <p:cTn id="65" presetID="10" presetClass="entr" presetSubtype="0" fill="hold" grpId="0" nodeType="withEffect">
                                  <p:stCondLst>
                                    <p:cond delay="350"/>
                                  </p:stCondLst>
                                  <p:childTnLst>
                                    <p:set>
                                      <p:cBhvr>
                                        <p:cTn id="63" dur="1" fill="hold">
                                          <p:stCondLst>
                                            <p:cond delay="0"/>
                                          </p:stCondLst>
                                        </p:cTn>
                                        <p:tgtEl>
                                          <p:spTgt spid="41"/>
                                        </p:tgtEl>
                                        <p:attrNameLst>
                                          <p:attrName>style.visibility</p:attrName>
                                        </p:attrNameLst>
                                      </p:cBhvr>
                                      <p:to>
                                        <p:strVal val="visible"/>
                                      </p:to>
                                    </p:set>
                                    <p:animEffect transition="in" filter="fade">
                                      <p:cBhvr>
                                        <p:cTn id="64" dur="450"/>
                                        <p:tgtEl>
                                          <p:spTgt spid="41"/>
                                        </p:tgtEl>
                                      </p:cBhvr>
                                    </p:animEffect>
                                  </p:childTnLst>
                                </p:cTn>
                              </p:par>
                              <p:par>
                                <p:cTn id="68" presetID="10" presetClass="entr" presetSubtype="0" fill="hold" grpId="0" nodeType="withEffect">
                                  <p:stCondLst>
                                    <p:cond delay="350"/>
                                  </p:stCondLst>
                                  <p:childTnLst>
                                    <p:set>
                                      <p:cBhvr>
                                        <p:cTn id="66" dur="1" fill="hold">
                                          <p:stCondLst>
                                            <p:cond delay="0"/>
                                          </p:stCondLst>
                                        </p:cTn>
                                        <p:tgtEl>
                                          <p:spTgt spid="42"/>
                                        </p:tgtEl>
                                        <p:attrNameLst>
                                          <p:attrName>style.visibility</p:attrName>
                                        </p:attrNameLst>
                                      </p:cBhvr>
                                      <p:to>
                                        <p:strVal val="visible"/>
                                      </p:to>
                                    </p:set>
                                    <p:animEffect transition="in" filter="fade">
                                      <p:cBhvr>
                                        <p:cTn id="67" dur="450"/>
                                        <p:tgtEl>
                                          <p:spTgt spid="42"/>
                                        </p:tgtEl>
                                      </p:cBhvr>
                                    </p:animEffect>
                                  </p:childTnLst>
                                </p:cTn>
                              </p:par>
                              <p:par>
                                <p:cTn id="71" presetID="10" presetClass="entr" presetSubtype="0" fill="hold" grpId="0" nodeType="withEffect">
                                  <p:stCondLst>
                                    <p:cond delay="350"/>
                                  </p:stCondLst>
                                  <p:childTnLst>
                                    <p:set>
                                      <p:cBhvr>
                                        <p:cTn id="69" dur="1" fill="hold">
                                          <p:stCondLst>
                                            <p:cond delay="0"/>
                                          </p:stCondLst>
                                        </p:cTn>
                                        <p:tgtEl>
                                          <p:spTgt spid="43"/>
                                        </p:tgtEl>
                                        <p:attrNameLst>
                                          <p:attrName>style.visibility</p:attrName>
                                        </p:attrNameLst>
                                      </p:cBhvr>
                                      <p:to>
                                        <p:strVal val="visible"/>
                                      </p:to>
                                    </p:set>
                                    <p:animEffect transition="in" filter="fade">
                                      <p:cBhvr>
                                        <p:cTn id="70" dur="450"/>
                                        <p:tgtEl>
                                          <p:spTgt spid="43"/>
                                        </p:tgtEl>
                                      </p:cBhvr>
                                    </p:animEffect>
                                  </p:childTnLst>
                                </p:cTn>
                              </p:par>
                              <p:par>
                                <p:cTn id="74" presetID="10" presetClass="entr" presetSubtype="0" fill="hold" grpId="0" nodeType="withEffect">
                                  <p:stCondLst>
                                    <p:cond delay="350"/>
                                  </p:stCondLst>
                                  <p:childTnLst>
                                    <p:set>
                                      <p:cBhvr>
                                        <p:cTn id="72" dur="1" fill="hold">
                                          <p:stCondLst>
                                            <p:cond delay="0"/>
                                          </p:stCondLst>
                                        </p:cTn>
                                        <p:tgtEl>
                                          <p:spTgt spid="44"/>
                                        </p:tgtEl>
                                        <p:attrNameLst>
                                          <p:attrName>style.visibility</p:attrName>
                                        </p:attrNameLst>
                                      </p:cBhvr>
                                      <p:to>
                                        <p:strVal val="visible"/>
                                      </p:to>
                                    </p:set>
                                    <p:animEffect transition="in" filter="fade">
                                      <p:cBhvr>
                                        <p:cTn id="73" dur="450"/>
                                        <p:tgtEl>
                                          <p:spTgt spid="44"/>
                                        </p:tgtEl>
                                      </p:cBhvr>
                                    </p:animEffect>
                                  </p:childTnLst>
                                </p:cTn>
                              </p:par>
                              <p:par>
                                <p:cTn id="77" presetID="10" presetClass="entr" presetSubtype="0" fill="hold" grpId="0" nodeType="withEffect">
                                  <p:stCondLst>
                                    <p:cond delay="350"/>
                                  </p:stCondLst>
                                  <p:childTnLst>
                                    <p:set>
                                      <p:cBhvr>
                                        <p:cTn id="75" dur="1" fill="hold">
                                          <p:stCondLst>
                                            <p:cond delay="0"/>
                                          </p:stCondLst>
                                        </p:cTn>
                                        <p:tgtEl>
                                          <p:spTgt spid="45"/>
                                        </p:tgtEl>
                                        <p:attrNameLst>
                                          <p:attrName>style.visibility</p:attrName>
                                        </p:attrNameLst>
                                      </p:cBhvr>
                                      <p:to>
                                        <p:strVal val="visible"/>
                                      </p:to>
                                    </p:set>
                                    <p:animEffect transition="in" filter="fade">
                                      <p:cBhvr>
                                        <p:cTn id="76" dur="450"/>
                                        <p:tgtEl>
                                          <p:spTgt spid="45"/>
                                        </p:tgtEl>
                                      </p:cBhvr>
                                    </p:animEffect>
                                  </p:childTnLst>
                                </p:cTn>
                              </p:par>
                              <p:par>
                                <p:cTn id="80" presetID="10" presetClass="entr" presetSubtype="0" fill="hold" grpId="0" nodeType="withEffect">
                                  <p:stCondLst>
                                    <p:cond delay="350"/>
                                  </p:stCondLst>
                                  <p:childTnLst>
                                    <p:set>
                                      <p:cBhvr>
                                        <p:cTn id="78" dur="1" fill="hold">
                                          <p:stCondLst>
                                            <p:cond delay="0"/>
                                          </p:stCondLst>
                                        </p:cTn>
                                        <p:tgtEl>
                                          <p:spTgt spid="46"/>
                                        </p:tgtEl>
                                        <p:attrNameLst>
                                          <p:attrName>style.visibility</p:attrName>
                                        </p:attrNameLst>
                                      </p:cBhvr>
                                      <p:to>
                                        <p:strVal val="visible"/>
                                      </p:to>
                                    </p:set>
                                    <p:animEffect transition="in" filter="fade">
                                      <p:cBhvr>
                                        <p:cTn id="79" dur="450"/>
                                        <p:tgtEl>
                                          <p:spTgt spid="46"/>
                                        </p:tgtEl>
                                      </p:cBhvr>
                                    </p:animEffect>
                                  </p:childTnLst>
                                </p:cTn>
                              </p:par>
                              <p:par>
                                <p:cTn id="83" presetID="10" presetClass="entr" presetSubtype="0" fill="hold" grpId="0" nodeType="withEffect">
                                  <p:stCondLst>
                                    <p:cond delay="350"/>
                                  </p:stCondLst>
                                  <p:childTnLst>
                                    <p:set>
                                      <p:cBhvr>
                                        <p:cTn id="81" dur="1" fill="hold">
                                          <p:stCondLst>
                                            <p:cond delay="0"/>
                                          </p:stCondLst>
                                        </p:cTn>
                                        <p:tgtEl>
                                          <p:spTgt spid="47"/>
                                        </p:tgtEl>
                                        <p:attrNameLst>
                                          <p:attrName>style.visibility</p:attrName>
                                        </p:attrNameLst>
                                      </p:cBhvr>
                                      <p:to>
                                        <p:strVal val="visible"/>
                                      </p:to>
                                    </p:set>
                                    <p:animEffect transition="in" filter="fade">
                                      <p:cBhvr>
                                        <p:cTn id="82" dur="450"/>
                                        <p:tgtEl>
                                          <p:spTgt spid="47"/>
                                        </p:tgtEl>
                                      </p:cBhvr>
                                    </p:animEffect>
                                  </p:childTnLst>
                                </p:cTn>
                              </p:par>
                              <p:par>
                                <p:cTn id="86" presetID="10" presetClass="entr" presetSubtype="0" fill="hold" grpId="0" nodeType="withEffect">
                                  <p:stCondLst>
                                    <p:cond delay="550"/>
                                  </p:stCondLst>
                                  <p:childTnLst>
                                    <p:set>
                                      <p:cBhvr>
                                        <p:cTn id="84" dur="1" fill="hold">
                                          <p:stCondLst>
                                            <p:cond delay="0"/>
                                          </p:stCondLst>
                                        </p:cTn>
                                        <p:tgtEl>
                                          <p:spTgt spid="48"/>
                                        </p:tgtEl>
                                        <p:attrNameLst>
                                          <p:attrName>style.visibility</p:attrName>
                                        </p:attrNameLst>
                                      </p:cBhvr>
                                      <p:to>
                                        <p:strVal val="visible"/>
                                      </p:to>
                                    </p:set>
                                    <p:animEffect transition="in" filter="fade">
                                      <p:cBhvr>
                                        <p:cTn id="85" dur="450"/>
                                        <p:tgtEl>
                                          <p:spTgt spid="48"/>
                                        </p:tgtEl>
                                      </p:cBhvr>
                                    </p:animEffect>
                                  </p:childTnLst>
                                </p:cTn>
                              </p:par>
                              <p:par>
                                <p:cTn id="89" presetID="10" presetClass="entr" presetSubtype="0" fill="hold" grpId="0" nodeType="withEffect">
                                  <p:stCondLst>
                                    <p:cond delay="550"/>
                                  </p:stCondLst>
                                  <p:childTnLst>
                                    <p:set>
                                      <p:cBhvr>
                                        <p:cTn id="87" dur="1" fill="hold">
                                          <p:stCondLst>
                                            <p:cond delay="0"/>
                                          </p:stCondLst>
                                        </p:cTn>
                                        <p:tgtEl>
                                          <p:spTgt spid="49"/>
                                        </p:tgtEl>
                                        <p:attrNameLst>
                                          <p:attrName>style.visibility</p:attrName>
                                        </p:attrNameLst>
                                      </p:cBhvr>
                                      <p:to>
                                        <p:strVal val="visible"/>
                                      </p:to>
                                    </p:set>
                                    <p:animEffect transition="in" filter="fade">
                                      <p:cBhvr>
                                        <p:cTn id="88" dur="450"/>
                                        <p:tgtEl>
                                          <p:spTgt spid="49"/>
                                        </p:tgtEl>
                                      </p:cBhvr>
                                    </p:animEffect>
                                  </p:childTnLst>
                                </p:cTn>
                              </p:par>
                              <p:par>
                                <p:cTn id="92" presetID="10" presetClass="entr" presetSubtype="0" fill="hold" grpId="0" nodeType="withEffect">
                                  <p:stCondLst>
                                    <p:cond delay="550"/>
                                  </p:stCondLst>
                                  <p:childTnLst>
                                    <p:set>
                                      <p:cBhvr>
                                        <p:cTn id="90" dur="1" fill="hold">
                                          <p:stCondLst>
                                            <p:cond delay="0"/>
                                          </p:stCondLst>
                                        </p:cTn>
                                        <p:tgtEl>
                                          <p:spTgt spid="50"/>
                                        </p:tgtEl>
                                        <p:attrNameLst>
                                          <p:attrName>style.visibility</p:attrName>
                                        </p:attrNameLst>
                                      </p:cBhvr>
                                      <p:to>
                                        <p:strVal val="visible"/>
                                      </p:to>
                                    </p:set>
                                    <p:animEffect transition="in" filter="fade">
                                      <p:cBhvr>
                                        <p:cTn id="91" dur="450"/>
                                        <p:tgtEl>
                                          <p:spTgt spid="50"/>
                                        </p:tgtEl>
                                      </p:cBhvr>
                                    </p:animEffect>
                                  </p:childTnLst>
                                </p:cTn>
                              </p:par>
                              <p:par>
                                <p:cTn id="95" presetID="10" presetClass="entr" presetSubtype="0" fill="hold" grpId="0" nodeType="withEffect">
                                  <p:stCondLst>
                                    <p:cond delay="550"/>
                                  </p:stCondLst>
                                  <p:childTnLst>
                                    <p:set>
                                      <p:cBhvr>
                                        <p:cTn id="93" dur="1" fill="hold">
                                          <p:stCondLst>
                                            <p:cond delay="0"/>
                                          </p:stCondLst>
                                        </p:cTn>
                                        <p:tgtEl>
                                          <p:spTgt spid="51"/>
                                        </p:tgtEl>
                                        <p:attrNameLst>
                                          <p:attrName>style.visibility</p:attrName>
                                        </p:attrNameLst>
                                      </p:cBhvr>
                                      <p:to>
                                        <p:strVal val="visible"/>
                                      </p:to>
                                    </p:set>
                                    <p:animEffect transition="in" filter="fade">
                                      <p:cBhvr>
                                        <p:cTn id="94" dur="450"/>
                                        <p:tgtEl>
                                          <p:spTgt spid="51"/>
                                        </p:tgtEl>
                                      </p:cBhvr>
                                    </p:animEffect>
                                  </p:childTnLst>
                                </p:cTn>
                              </p:par>
                              <p:par>
                                <p:cTn id="98" presetID="10" presetClass="entr" presetSubtype="0" fill="hold" grpId="0" nodeType="withEffect">
                                  <p:stCondLst>
                                    <p:cond delay="550"/>
                                  </p:stCondLst>
                                  <p:childTnLst>
                                    <p:set>
                                      <p:cBhvr>
                                        <p:cTn id="96" dur="1" fill="hold">
                                          <p:stCondLst>
                                            <p:cond delay="0"/>
                                          </p:stCondLst>
                                        </p:cTn>
                                        <p:tgtEl>
                                          <p:spTgt spid="52"/>
                                        </p:tgtEl>
                                        <p:attrNameLst>
                                          <p:attrName>style.visibility</p:attrName>
                                        </p:attrNameLst>
                                      </p:cBhvr>
                                      <p:to>
                                        <p:strVal val="visible"/>
                                      </p:to>
                                    </p:set>
                                    <p:animEffect transition="in" filter="fade">
                                      <p:cBhvr>
                                        <p:cTn id="97" dur="450"/>
                                        <p:tgtEl>
                                          <p:spTgt spid="52"/>
                                        </p:tgtEl>
                                      </p:cBhvr>
                                    </p:animEffect>
                                  </p:childTnLst>
                                </p:cTn>
                              </p:par>
                              <p:par>
                                <p:cTn id="101" presetID="10" presetClass="entr" presetSubtype="0" fill="hold" grpId="0" nodeType="withEffect">
                                  <p:stCondLst>
                                    <p:cond delay="550"/>
                                  </p:stCondLst>
                                  <p:childTnLst>
                                    <p:set>
                                      <p:cBhvr>
                                        <p:cTn id="99" dur="1" fill="hold">
                                          <p:stCondLst>
                                            <p:cond delay="0"/>
                                          </p:stCondLst>
                                        </p:cTn>
                                        <p:tgtEl>
                                          <p:spTgt spid="53"/>
                                        </p:tgtEl>
                                        <p:attrNameLst>
                                          <p:attrName>style.visibility</p:attrName>
                                        </p:attrNameLst>
                                      </p:cBhvr>
                                      <p:to>
                                        <p:strVal val="visible"/>
                                      </p:to>
                                    </p:set>
                                    <p:animEffect transition="in" filter="fade">
                                      <p:cBhvr>
                                        <p:cTn id="100" dur="450"/>
                                        <p:tgtEl>
                                          <p:spTgt spid="53"/>
                                        </p:tgtEl>
                                      </p:cBhvr>
                                    </p:animEffect>
                                  </p:childTnLst>
                                </p:cTn>
                              </p:par>
                              <p:par>
                                <p:cTn id="104" presetID="10" presetClass="entr" presetSubtype="0" fill="hold" grpId="0" nodeType="withEffect">
                                  <p:stCondLst>
                                    <p:cond delay="550"/>
                                  </p:stCondLst>
                                  <p:childTnLst>
                                    <p:set>
                                      <p:cBhvr>
                                        <p:cTn id="102" dur="1" fill="hold">
                                          <p:stCondLst>
                                            <p:cond delay="0"/>
                                          </p:stCondLst>
                                        </p:cTn>
                                        <p:tgtEl>
                                          <p:spTgt spid="54"/>
                                        </p:tgtEl>
                                        <p:attrNameLst>
                                          <p:attrName>style.visibility</p:attrName>
                                        </p:attrNameLst>
                                      </p:cBhvr>
                                      <p:to>
                                        <p:strVal val="visible"/>
                                      </p:to>
                                    </p:set>
                                    <p:animEffect transition="in" filter="fade">
                                      <p:cBhvr>
                                        <p:cTn id="103" dur="450"/>
                                        <p:tgtEl>
                                          <p:spTgt spid="54"/>
                                        </p:tgtEl>
                                      </p:cBhvr>
                                    </p:animEffect>
                                  </p:childTnLst>
                                </p:cTn>
                              </p:par>
                              <p:par>
                                <p:cTn id="107" presetID="10" presetClass="entr" presetSubtype="0" fill="hold" grpId="0" nodeType="withEffect">
                                  <p:stCondLst>
                                    <p:cond delay="550"/>
                                  </p:stCondLst>
                                  <p:childTnLst>
                                    <p:set>
                                      <p:cBhvr>
                                        <p:cTn id="105" dur="1" fill="hold">
                                          <p:stCondLst>
                                            <p:cond delay="0"/>
                                          </p:stCondLst>
                                        </p:cTn>
                                        <p:tgtEl>
                                          <p:spTgt spid="55"/>
                                        </p:tgtEl>
                                        <p:attrNameLst>
                                          <p:attrName>style.visibility</p:attrName>
                                        </p:attrNameLst>
                                      </p:cBhvr>
                                      <p:to>
                                        <p:strVal val="visible"/>
                                      </p:to>
                                    </p:set>
                                    <p:animEffect transition="in" filter="fade">
                                      <p:cBhvr>
                                        <p:cTn id="106" dur="450"/>
                                        <p:tgtEl>
                                          <p:spTgt spid="55"/>
                                        </p:tgtEl>
                                      </p:cBhvr>
                                    </p:animEffect>
                                  </p:childTnLst>
                                </p:cTn>
                              </p:par>
                              <p:par>
                                <p:cTn id="110" presetID="10" presetClass="entr" presetSubtype="0" fill="hold" grpId="0" nodeType="withEffect">
                                  <p:stCondLst>
                                    <p:cond delay="550"/>
                                  </p:stCondLst>
                                  <p:childTnLst>
                                    <p:set>
                                      <p:cBhvr>
                                        <p:cTn id="108" dur="1" fill="hold">
                                          <p:stCondLst>
                                            <p:cond delay="0"/>
                                          </p:stCondLst>
                                        </p:cTn>
                                        <p:tgtEl>
                                          <p:spTgt spid="56"/>
                                        </p:tgtEl>
                                        <p:attrNameLst>
                                          <p:attrName>style.visibility</p:attrName>
                                        </p:attrNameLst>
                                      </p:cBhvr>
                                      <p:to>
                                        <p:strVal val="visible"/>
                                      </p:to>
                                    </p:set>
                                    <p:animEffect transition="in" filter="fade">
                                      <p:cBhvr>
                                        <p:cTn id="109" dur="450"/>
                                        <p:tgtEl>
                                          <p:spTgt spid="56"/>
                                        </p:tgtEl>
                                      </p:cBhvr>
                                    </p:animEffect>
                                  </p:childTnLst>
                                </p:cTn>
                              </p:par>
                              <p:par>
                                <p:cTn id="113" presetID="10" presetClass="entr" presetSubtype="0" fill="hold" grpId="0" nodeType="withEffect">
                                  <p:stCondLst>
                                    <p:cond delay="550"/>
                                  </p:stCondLst>
                                  <p:childTnLst>
                                    <p:set>
                                      <p:cBhvr>
                                        <p:cTn id="111" dur="1" fill="hold">
                                          <p:stCondLst>
                                            <p:cond delay="0"/>
                                          </p:stCondLst>
                                        </p:cTn>
                                        <p:tgtEl>
                                          <p:spTgt spid="57"/>
                                        </p:tgtEl>
                                        <p:attrNameLst>
                                          <p:attrName>style.visibility</p:attrName>
                                        </p:attrNameLst>
                                      </p:cBhvr>
                                      <p:to>
                                        <p:strVal val="visible"/>
                                      </p:to>
                                    </p:set>
                                    <p:animEffect transition="in" filter="fade">
                                      <p:cBhvr>
                                        <p:cTn id="112" dur="450"/>
                                        <p:tgtEl>
                                          <p:spTgt spid="57"/>
                                        </p:tgtEl>
                                      </p:cBhvr>
                                    </p:animEffect>
                                  </p:childTnLst>
                                </p:cTn>
                              </p:par>
                              <p:par>
                                <p:cTn id="116" presetID="10" presetClass="entr" presetSubtype="0" fill="hold" grpId="0" nodeType="withEffect">
                                  <p:stCondLst>
                                    <p:cond delay="550"/>
                                  </p:stCondLst>
                                  <p:childTnLst>
                                    <p:set>
                                      <p:cBhvr>
                                        <p:cTn id="114" dur="1" fill="hold">
                                          <p:stCondLst>
                                            <p:cond delay="0"/>
                                          </p:stCondLst>
                                        </p:cTn>
                                        <p:tgtEl>
                                          <p:spTgt spid="58"/>
                                        </p:tgtEl>
                                        <p:attrNameLst>
                                          <p:attrName>style.visibility</p:attrName>
                                        </p:attrNameLst>
                                      </p:cBhvr>
                                      <p:to>
                                        <p:strVal val="visible"/>
                                      </p:to>
                                    </p:set>
                                    <p:animEffect transition="in" filter="fade">
                                      <p:cBhvr>
                                        <p:cTn id="115" dur="450"/>
                                        <p:tgtEl>
                                          <p:spTgt spid="58"/>
                                        </p:tgtEl>
                                      </p:cBhvr>
                                    </p:animEffect>
                                  </p:childTnLst>
                                </p:cTn>
                              </p:par>
                              <p:par>
                                <p:cTn id="119" presetID="10" presetClass="entr" presetSubtype="0" fill="hold" grpId="0" nodeType="withEffect">
                                  <p:stCondLst>
                                    <p:cond delay="550"/>
                                  </p:stCondLst>
                                  <p:childTnLst>
                                    <p:set>
                                      <p:cBhvr>
                                        <p:cTn id="117" dur="1" fill="hold">
                                          <p:stCondLst>
                                            <p:cond delay="0"/>
                                          </p:stCondLst>
                                        </p:cTn>
                                        <p:tgtEl>
                                          <p:spTgt spid="59"/>
                                        </p:tgtEl>
                                        <p:attrNameLst>
                                          <p:attrName>style.visibility</p:attrName>
                                        </p:attrNameLst>
                                      </p:cBhvr>
                                      <p:to>
                                        <p:strVal val="visible"/>
                                      </p:to>
                                    </p:set>
                                    <p:animEffect transition="in" filter="fade">
                                      <p:cBhvr>
                                        <p:cTn id="118" dur="450"/>
                                        <p:tgtEl>
                                          <p:spTgt spid="59"/>
                                        </p:tgtEl>
                                      </p:cBhvr>
                                    </p:animEffect>
                                  </p:childTnLst>
                                </p:cTn>
                              </p:par>
                              <p:par>
                                <p:cTn id="122" presetID="10" presetClass="entr" presetSubtype="0" fill="hold" grpId="0" nodeType="withEffect">
                                  <p:stCondLst>
                                    <p:cond delay="550"/>
                                  </p:stCondLst>
                                  <p:childTnLst>
                                    <p:set>
                                      <p:cBhvr>
                                        <p:cTn id="120" dur="1" fill="hold">
                                          <p:stCondLst>
                                            <p:cond delay="0"/>
                                          </p:stCondLst>
                                        </p:cTn>
                                        <p:tgtEl>
                                          <p:spTgt spid="60"/>
                                        </p:tgtEl>
                                        <p:attrNameLst>
                                          <p:attrName>style.visibility</p:attrName>
                                        </p:attrNameLst>
                                      </p:cBhvr>
                                      <p:to>
                                        <p:strVal val="visible"/>
                                      </p:to>
                                    </p:set>
                                    <p:animEffect transition="in" filter="fade">
                                      <p:cBhvr>
                                        <p:cTn id="121" dur="4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AFB"/>
        </a:solidFill>
      </p:bgPr>
    </p:bg>
    <p:spTree>
      <p:nvGrpSpPr>
        <p:cNvPr id="1" name=""/>
        <p:cNvGrpSpPr/>
        <p:nvPr/>
      </p:nvGrpSpPr>
      <p:grpSpPr>
        <a:xfrm>
          <a:off x="0" y="0"/>
          <a:ext cx="0" cy="0"/>
          <a:chOff x="0" y="0"/>
          <a:chExt cx="0" cy="0"/>
        </a:xfrm>
      </p:grpSpPr>
      <p:pic>
        <p:nvPicPr>
          <p:cNvPr id="2" name="!!bg" descr="/home/claude/pitch/a/bg.jpg">    </p:cNvPr>
          <p:cNvPicPr>
            <a:picLocks noChangeAspect="1"/>
          </p:cNvPicPr>
          <p:nvPr/>
        </p:nvPicPr>
        <p:blipFill>
          <a:blip r:embed="rId1"/>
          <a:stretch>
            <a:fillRect/>
          </a:stretch>
        </p:blipFill>
        <p:spPr>
          <a:xfrm>
            <a:off x="0" y="0"/>
            <a:ext cx="12191695" cy="6858000"/>
          </a:xfrm>
          <a:prstGeom prst="rect">
            <a:avLst/>
          </a:prstGeom>
        </p:spPr>
      </p:pic>
      <p:sp>
        <p:nvSpPr>
          <p:cNvPr id="3" name="!!frame"/>
          <p:cNvSpPr/>
          <p:nvPr/>
        </p:nvSpPr>
        <p:spPr>
          <a:xfrm>
            <a:off x="182880" y="182880"/>
            <a:ext cx="11823192" cy="6492240"/>
          </a:xfrm>
          <a:prstGeom prst="roundRect">
            <a:avLst>
              <a:gd name="adj" fmla="val 2817"/>
            </a:avLst>
          </a:prstGeom>
          <a:ln w="28575">
            <a:solidFill>
              <a:srgbClr val="7F79B6"/>
            </a:solidFill>
            <a:prstDash val="solid"/>
          </a:ln>
        </p:spPr>
      </p:sp>
      <p:pic>
        <p:nvPicPr>
          <p:cNvPr id="4" name="!!logo-jain" descr="/home/claude/pitch/a/logo_jain.png">    </p:cNvPr>
          <p:cNvPicPr>
            <a:picLocks noChangeAspect="1"/>
          </p:cNvPicPr>
          <p:nvPr/>
        </p:nvPicPr>
        <p:blipFill>
          <a:blip r:embed="rId2"/>
          <a:stretch>
            <a:fillRect/>
          </a:stretch>
        </p:blipFill>
        <p:spPr>
          <a:xfrm>
            <a:off x="411480" y="329184"/>
            <a:ext cx="1316736" cy="384048"/>
          </a:xfrm>
          <a:prstGeom prst="rect">
            <a:avLst/>
          </a:prstGeom>
        </p:spPr>
      </p:pic>
      <p:pic>
        <p:nvPicPr>
          <p:cNvPr id="5" name="!!logo-avi" descr="/home/claude/pitch/a/logo_avi.png">    </p:cNvPr>
          <p:cNvPicPr>
            <a:picLocks noChangeAspect="1"/>
          </p:cNvPicPr>
          <p:nvPr/>
        </p:nvPicPr>
        <p:blipFill>
          <a:blip r:embed="rId3"/>
          <a:stretch>
            <a:fillRect/>
          </a:stretch>
        </p:blipFill>
        <p:spPr>
          <a:xfrm>
            <a:off x="5304892" y="320040"/>
            <a:ext cx="1581912" cy="393192"/>
          </a:xfrm>
          <a:prstGeom prst="rect">
            <a:avLst/>
          </a:prstGeom>
        </p:spPr>
      </p:pic>
      <p:pic>
        <p:nvPicPr>
          <p:cNvPr id="6" name="!!logo-fet" descr="/home/claude/pitch/a/logo_fet.png">    </p:cNvPr>
          <p:cNvPicPr>
            <a:picLocks noChangeAspect="1"/>
          </p:cNvPicPr>
          <p:nvPr/>
        </p:nvPicPr>
        <p:blipFill>
          <a:blip r:embed="rId4"/>
          <a:stretch>
            <a:fillRect/>
          </a:stretch>
        </p:blipFill>
        <p:spPr>
          <a:xfrm>
            <a:off x="10771632" y="274320"/>
            <a:ext cx="1005840" cy="457200"/>
          </a:xfrm>
          <a:prstGeom prst="rect">
            <a:avLst/>
          </a:prstGeom>
        </p:spPr>
      </p:pic>
      <p:sp>
        <p:nvSpPr>
          <p:cNvPr id="7" name="!!title"/>
          <p:cNvSpPr txBox="1"/>
          <p:nvPr/>
        </p:nvSpPr>
        <p:spPr>
          <a:xfrm>
            <a:off x="548640" y="841248"/>
            <a:ext cx="11094415" cy="566928"/>
          </a:xfrm>
          <a:prstGeom prst="rect">
            <a:avLst/>
          </a:prstGeom>
          <a:noFill/>
          <a:ln/>
        </p:spPr>
        <p:txBody>
          <a:bodyPr wrap="square" lIns="0" tIns="0" rIns="0" bIns="0" rtlCol="0" anchor="ctr"/>
          <a:lstStyle/>
          <a:p>
            <a:pPr algn="ctr" indent="0" marL="0">
              <a:buNone/>
            </a:pPr>
            <a:r>
              <a:rPr lang="en-US" sz="3000" b="1" dirty="0">
                <a:solidFill>
                  <a:srgbClr val="1E1A4D"/>
                </a:solidFill>
                <a:latin typeface="Lora" pitchFamily="34" charset="0"/>
                <a:ea typeface="Lora" pitchFamily="34" charset="-122"/>
                <a:cs typeface="Lora" pitchFamily="34" charset="-120"/>
              </a:rPr>
              <a:t>Future Improvements</a:t>
            </a:r>
            <a:endParaRPr lang="en-US" sz="3000" dirty="0"/>
          </a:p>
        </p:txBody>
      </p:sp>
      <p:sp>
        <p:nvSpPr>
          <p:cNvPr id="8" name="!!sub"/>
          <p:cNvSpPr txBox="1"/>
          <p:nvPr/>
        </p:nvSpPr>
        <p:spPr>
          <a:xfrm>
            <a:off x="1097280" y="1389888"/>
            <a:ext cx="9997135" cy="365760"/>
          </a:xfrm>
          <a:prstGeom prst="rect">
            <a:avLst/>
          </a:prstGeom>
          <a:noFill/>
          <a:ln/>
        </p:spPr>
        <p:txBody>
          <a:bodyPr wrap="square" lIns="0" tIns="0" rIns="0" bIns="0" rtlCol="0" anchor="ctr"/>
          <a:lstStyle/>
          <a:p>
            <a:pPr algn="ctr" indent="0" marL="0">
              <a:buNone/>
            </a:pPr>
            <a:r>
              <a:rPr lang="en-US" sz="1300" dirty="0">
                <a:solidFill>
                  <a:srgbClr val="6C5CE7"/>
                </a:solidFill>
                <a:latin typeface="Poppins" pitchFamily="34" charset="0"/>
                <a:ea typeface="Poppins" pitchFamily="34" charset="-122"/>
                <a:cs typeface="Poppins" pitchFamily="34" charset="-120"/>
              </a:rPr>
              <a:t>From a benchmark to a safety net for every AI coding tool used in India.</a:t>
            </a:r>
            <a:endParaRPr lang="en-US" sz="1300" dirty="0"/>
          </a:p>
        </p:txBody>
      </p:sp>
      <p:sp>
        <p:nvSpPr>
          <p:cNvPr id="9" name="!!foot-l"/>
          <p:cNvSpPr txBox="1"/>
          <p:nvPr/>
        </p:nvSpPr>
        <p:spPr>
          <a:xfrm>
            <a:off x="457200" y="6336792"/>
            <a:ext cx="3108960" cy="219456"/>
          </a:xfrm>
          <a:prstGeom prst="rect">
            <a:avLst/>
          </a:prstGeom>
          <a:noFill/>
          <a:ln/>
        </p:spPr>
        <p:txBody>
          <a:bodyPr wrap="square" lIns="0" tIns="0" rIns="0" bIns="0" rtlCol="0" anchor="t"/>
          <a:lstStyle/>
          <a:p>
            <a:pPr indent="0" marL="0">
              <a:buNone/>
            </a:pPr>
            <a:r>
              <a:rPr lang="en-US" sz="900" dirty="0">
                <a:solidFill>
                  <a:srgbClr val="8D88B5"/>
                </a:solidFill>
                <a:latin typeface="Poppins" pitchFamily="34" charset="0"/>
                <a:ea typeface="Poppins" pitchFamily="34" charset="-122"/>
                <a:cs typeface="Poppins" pitchFamily="34" charset="-120"/>
              </a:rPr>
              <a:t>MixCheck  ·  Team El Rata Alada</a:t>
            </a:r>
            <a:endParaRPr lang="en-US" sz="900" dirty="0"/>
          </a:p>
        </p:txBody>
      </p:sp>
      <p:sp>
        <p:nvSpPr>
          <p:cNvPr id="10" name="!!btn-nav-1">
            <a:hlinkClick r:id="rId5" action="ppaction://hlinksldjump"/>
          </p:cNvPr>
          <p:cNvSpPr/>
          <p:nvPr/>
        </p:nvSpPr>
        <p:spPr>
          <a:xfrm>
            <a:off x="4628236"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1</a:t>
            </a:r>
            <a:endParaRPr lang="en-US" sz="750" dirty="0"/>
          </a:p>
        </p:txBody>
      </p:sp>
      <p:sp>
        <p:nvSpPr>
          <p:cNvPr id="11" name="!!btn-nav-2">
            <a:hlinkClick r:id="rId6" action="ppaction://hlinksldjump"/>
          </p:cNvPr>
          <p:cNvSpPr/>
          <p:nvPr/>
        </p:nvSpPr>
        <p:spPr>
          <a:xfrm>
            <a:off x="4929988"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2</a:t>
            </a:r>
            <a:endParaRPr lang="en-US" sz="750" dirty="0"/>
          </a:p>
        </p:txBody>
      </p:sp>
      <p:sp>
        <p:nvSpPr>
          <p:cNvPr id="12" name="!!btn-nav-3">
            <a:hlinkClick r:id="rId7" action="ppaction://hlinksldjump"/>
          </p:cNvPr>
          <p:cNvSpPr/>
          <p:nvPr/>
        </p:nvSpPr>
        <p:spPr>
          <a:xfrm>
            <a:off x="5231740"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3</a:t>
            </a:r>
            <a:endParaRPr lang="en-US" sz="750" dirty="0"/>
          </a:p>
        </p:txBody>
      </p:sp>
      <p:sp>
        <p:nvSpPr>
          <p:cNvPr id="13" name="!!btn-nav-4">
            <a:hlinkClick r:id="rId8" action="ppaction://hlinksldjump"/>
          </p:cNvPr>
          <p:cNvSpPr/>
          <p:nvPr/>
        </p:nvSpPr>
        <p:spPr>
          <a:xfrm>
            <a:off x="5533492"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4</a:t>
            </a:r>
            <a:endParaRPr lang="en-US" sz="750" dirty="0"/>
          </a:p>
        </p:txBody>
      </p:sp>
      <p:sp>
        <p:nvSpPr>
          <p:cNvPr id="14" name="!!btn-nav-5">
            <a:hlinkClick r:id="rId9" action="ppaction://hlinksldjump"/>
          </p:cNvPr>
          <p:cNvSpPr/>
          <p:nvPr/>
        </p:nvSpPr>
        <p:spPr>
          <a:xfrm>
            <a:off x="5835244"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5</a:t>
            </a:r>
            <a:endParaRPr lang="en-US" sz="750" dirty="0"/>
          </a:p>
        </p:txBody>
      </p:sp>
      <p:sp>
        <p:nvSpPr>
          <p:cNvPr id="15" name="!!btn-nav-6">
            <a:hlinkClick r:id="rId10" action="ppaction://hlinksldjump"/>
          </p:cNvPr>
          <p:cNvSpPr/>
          <p:nvPr/>
        </p:nvSpPr>
        <p:spPr>
          <a:xfrm>
            <a:off x="6136996"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6</a:t>
            </a:r>
            <a:endParaRPr lang="en-US" sz="750" dirty="0"/>
          </a:p>
        </p:txBody>
      </p:sp>
      <p:sp>
        <p:nvSpPr>
          <p:cNvPr id="16" name="!!btn-nav-7">
            <a:hlinkClick r:id="rId11" action="ppaction://hlinksldjump"/>
          </p:cNvPr>
          <p:cNvSpPr/>
          <p:nvPr/>
        </p:nvSpPr>
        <p:spPr>
          <a:xfrm>
            <a:off x="6438748"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7</a:t>
            </a:r>
            <a:endParaRPr lang="en-US" sz="750" dirty="0"/>
          </a:p>
        </p:txBody>
      </p:sp>
      <p:sp>
        <p:nvSpPr>
          <p:cNvPr id="17" name="!!btn-nav-8">
            <a:hlinkClick r:id="rId12" action="ppaction://hlinksldjump"/>
          </p:cNvPr>
          <p:cNvSpPr/>
          <p:nvPr/>
        </p:nvSpPr>
        <p:spPr>
          <a:xfrm>
            <a:off x="6740500"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8</a:t>
            </a:r>
            <a:endParaRPr lang="en-US" sz="750" dirty="0"/>
          </a:p>
        </p:txBody>
      </p:sp>
      <p:sp>
        <p:nvSpPr>
          <p:cNvPr id="18" name="!!btn-nav-9">
            <a:hlinkClick r:id="rId13" action="ppaction://hlinksldjump"/>
          </p:cNvPr>
          <p:cNvSpPr/>
          <p:nvPr/>
        </p:nvSpPr>
        <p:spPr>
          <a:xfrm>
            <a:off x="7042252" y="6336792"/>
            <a:ext cx="219456" cy="219456"/>
          </a:xfrm>
          <a:prstGeom prst="ellipse">
            <a:avLst/>
          </a:prstGeom>
          <a:solidFill>
            <a:srgbClr val="6C5CE7"/>
          </a:solidFill>
          <a:ln w="9525">
            <a:solidFill>
              <a:srgbClr val="6C5CE7"/>
            </a:solid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9</a:t>
            </a:r>
            <a:endParaRPr lang="en-US" sz="750" dirty="0"/>
          </a:p>
        </p:txBody>
      </p:sp>
      <p:sp>
        <p:nvSpPr>
          <p:cNvPr id="19" name="!!btn-nav-10">
            <a:hlinkClick r:id="rId14" action="ppaction://hlinksldjump"/>
          </p:cNvPr>
          <p:cNvSpPr/>
          <p:nvPr/>
        </p:nvSpPr>
        <p:spPr>
          <a:xfrm>
            <a:off x="7344004"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10</a:t>
            </a:r>
            <a:endParaRPr lang="en-US" sz="750" dirty="0"/>
          </a:p>
        </p:txBody>
      </p:sp>
      <p:sp>
        <p:nvSpPr>
          <p:cNvPr id="20" name="!!btn-live">
            <a:hlinkClick r:id="rId15"/>
          </p:cNvPr>
          <p:cNvSpPr/>
          <p:nvPr/>
        </p:nvSpPr>
        <p:spPr>
          <a:xfrm>
            <a:off x="8503920" y="6309360"/>
            <a:ext cx="3246120" cy="274320"/>
          </a:xfrm>
          <a:prstGeom prst="rect">
            <a:avLst/>
          </a:prstGeom>
          <a:noFill/>
          <a:ln/>
        </p:spPr>
        <p:txBody>
          <a:bodyPr wrap="square" lIns="0" tIns="0" rIns="0" bIns="0" rtlCol="0" anchor="ctr"/>
          <a:lstStyle/>
          <a:p>
            <a:pPr algn="r" indent="0" marL="0">
              <a:buNone/>
            </a:pPr>
            <a:r>
              <a:rPr lang="en-US" sz="900" b="1" dirty="0">
                <a:solidFill>
                  <a:srgbClr val="6C5CE7"/>
                </a:solidFill>
                <a:latin typeface="Poppins" pitchFamily="34" charset="0"/>
                <a:ea typeface="Poppins" pitchFamily="34" charset="-122"/>
                <a:cs typeface="Poppins" pitchFamily="34" charset="-120"/>
              </a:rPr>
              <a:t>● Live: mixcheck-elrata.streamlit.app</a:t>
            </a:r>
            <a:endParaRPr lang="en-US" sz="900" dirty="0"/>
          </a:p>
        </p:txBody>
      </p:sp>
      <p:sp>
        <p:nvSpPr>
          <p:cNvPr id="21" name="Shape 15"/>
          <p:cNvSpPr/>
          <p:nvPr/>
        </p:nvSpPr>
        <p:spPr>
          <a:xfrm>
            <a:off x="1737360" y="2395728"/>
            <a:ext cx="8686800" cy="0"/>
          </a:xfrm>
          <a:prstGeom prst="line">
            <a:avLst/>
          </a:prstGeom>
          <a:noFill/>
          <a:ln w="25400">
            <a:solidFill>
              <a:srgbClr val="9B8CFF"/>
            </a:solidFill>
            <a:prstDash val="dash"/>
          </a:ln>
        </p:spPr>
      </p:sp>
      <p:sp>
        <p:nvSpPr>
          <p:cNvPr id="22" name="auto150-rb0-c"/>
          <p:cNvSpPr/>
          <p:nvPr/>
        </p:nvSpPr>
        <p:spPr>
          <a:xfrm>
            <a:off x="1463040" y="1993392"/>
            <a:ext cx="804672" cy="804672"/>
          </a:xfrm>
          <a:prstGeom prst="ellipse">
            <a:avLst/>
          </a:prstGeom>
          <a:solidFill>
            <a:srgbClr val="FF9F1C"/>
          </a:solidFill>
          <a:ln/>
        </p:spPr>
      </p:sp>
      <p:pic>
        <p:nvPicPr>
          <p:cNvPr id="23" name="auto150-rb0-i" descr="/home/claude/pitch/a/ic/FaUserCheck_w.png">    </p:cNvPr>
          <p:cNvPicPr>
            <a:picLocks noChangeAspect="1"/>
          </p:cNvPicPr>
          <p:nvPr/>
        </p:nvPicPr>
        <p:blipFill>
          <a:blip r:embed="rId16"/>
          <a:stretch>
            <a:fillRect/>
          </a:stretch>
        </p:blipFill>
        <p:spPr>
          <a:xfrm>
            <a:off x="1672255" y="2202607"/>
            <a:ext cx="386243" cy="386243"/>
          </a:xfrm>
          <a:prstGeom prst="rect">
            <a:avLst/>
          </a:prstGeom>
        </p:spPr>
      </p:pic>
      <p:sp>
        <p:nvSpPr>
          <p:cNvPr id="24" name="auto150-rc0"/>
          <p:cNvSpPr/>
          <p:nvPr/>
        </p:nvSpPr>
        <p:spPr>
          <a:xfrm>
            <a:off x="548640" y="3063240"/>
            <a:ext cx="2651760" cy="2286000"/>
          </a:xfrm>
          <a:prstGeom prst="roundRect">
            <a:avLst>
              <a:gd name="adj" fmla="val 5600"/>
            </a:avLst>
          </a:prstGeom>
          <a:solidFill>
            <a:srgbClr val="FFFFFF"/>
          </a:solidFill>
          <a:ln w="22225">
            <a:solidFill>
              <a:srgbClr val="FF9F1C"/>
            </a:solidFill>
            <a:prstDash val="solid"/>
          </a:ln>
          <a:effectLst>
            <a:outerShdw sx="100000" sy="100000" kx="0" ky="0" algn="bl" rotWithShape="0" blurRad="152400" dist="38100" dir="5400000">
              <a:srgbClr val="6C5CE7">
                <a:alpha val="16000"/>
              </a:srgbClr>
            </a:outerShdw>
          </a:effectLst>
        </p:spPr>
      </p:sp>
      <p:sp>
        <p:nvSpPr>
          <p:cNvPr id="25" name="auto150-rl0"/>
          <p:cNvSpPr txBox="1"/>
          <p:nvPr/>
        </p:nvSpPr>
        <p:spPr>
          <a:xfrm>
            <a:off x="777240" y="3218688"/>
            <a:ext cx="2194560" cy="237744"/>
          </a:xfrm>
          <a:prstGeom prst="rect">
            <a:avLst/>
          </a:prstGeom>
          <a:noFill/>
          <a:ln/>
        </p:spPr>
        <p:txBody>
          <a:bodyPr wrap="square" lIns="0" tIns="0" rIns="0" bIns="0" rtlCol="0" anchor="t"/>
          <a:lstStyle/>
          <a:p>
            <a:pPr indent="0" marL="0">
              <a:buNone/>
            </a:pPr>
            <a:r>
              <a:rPr lang="en-US" sz="1000" b="1" spc="200" kern="0" dirty="0">
                <a:solidFill>
                  <a:srgbClr val="D97706"/>
                </a:solidFill>
                <a:latin typeface="Poppins" pitchFamily="34" charset="0"/>
                <a:ea typeface="Poppins" pitchFamily="34" charset="-122"/>
                <a:cs typeface="Poppins" pitchFamily="34" charset="-120"/>
              </a:rPr>
              <a:t>NOW</a:t>
            </a:r>
            <a:endParaRPr lang="en-US" sz="1000" dirty="0"/>
          </a:p>
        </p:txBody>
      </p:sp>
      <p:sp>
        <p:nvSpPr>
          <p:cNvPr id="26" name="auto150-rh0"/>
          <p:cNvSpPr txBox="1"/>
          <p:nvPr/>
        </p:nvSpPr>
        <p:spPr>
          <a:xfrm>
            <a:off x="777240" y="3520440"/>
            <a:ext cx="2240280" cy="566928"/>
          </a:xfrm>
          <a:prstGeom prst="rect">
            <a:avLst/>
          </a:prstGeom>
          <a:noFill/>
          <a:ln/>
        </p:spPr>
        <p:txBody>
          <a:bodyPr wrap="square" lIns="0" tIns="0" rIns="0" bIns="0" rtlCol="0" anchor="t"/>
          <a:lstStyle/>
          <a:p>
            <a:pPr indent="0" marL="0">
              <a:buNone/>
            </a:pPr>
            <a:r>
              <a:rPr lang="en-US" sz="1400" b="1" dirty="0">
                <a:solidFill>
                  <a:srgbClr val="1E1A4D"/>
                </a:solidFill>
                <a:latin typeface="Poppins" pitchFamily="34" charset="0"/>
                <a:ea typeface="Poppins" pitchFamily="34" charset="-122"/>
                <a:cs typeface="Poppins" pitchFamily="34" charset="-120"/>
              </a:rPr>
              <a:t>Started today</a:t>
            </a:r>
            <a:endParaRPr lang="en-US" sz="1400" dirty="0"/>
          </a:p>
        </p:txBody>
      </p:sp>
      <p:sp>
        <p:nvSpPr>
          <p:cNvPr id="27" name="auto150-rt0"/>
          <p:cNvSpPr txBox="1"/>
          <p:nvPr/>
        </p:nvSpPr>
        <p:spPr>
          <a:xfrm>
            <a:off x="777240" y="4114800"/>
            <a:ext cx="2240280" cy="1188720"/>
          </a:xfrm>
          <a:prstGeom prst="rect">
            <a:avLst/>
          </a:prstGeom>
          <a:noFill/>
          <a:ln/>
        </p:spPr>
        <p:txBody>
          <a:bodyPr wrap="square" lIns="0" tIns="0" rIns="0" bIns="0" rtlCol="0" anchor="t"/>
          <a:lstStyle/>
          <a:p>
            <a:pPr indent="0" marL="0">
              <a:buNone/>
            </a:pPr>
            <a:r>
              <a:rPr lang="en-US" sz="1050" dirty="0">
                <a:solidFill>
                  <a:srgbClr val="5B577E"/>
                </a:solidFill>
                <a:latin typeface="Poppins" pitchFamily="34" charset="0"/>
                <a:ea typeface="Poppins" pitchFamily="34" charset="-122"/>
                <a:cs typeface="Poppins" pitchFamily="34" charset="-120"/>
              </a:rPr>
              <a:t>A native Kannada speaker reviewed our Kanglish prompts. A fix experiment tests an English guard line vs translate-first.</a:t>
            </a:r>
            <a:endParaRPr lang="en-US" sz="1050" dirty="0"/>
          </a:p>
        </p:txBody>
      </p:sp>
      <p:sp>
        <p:nvSpPr>
          <p:cNvPr id="28" name="auto410-rb1-c"/>
          <p:cNvSpPr/>
          <p:nvPr/>
        </p:nvSpPr>
        <p:spPr>
          <a:xfrm>
            <a:off x="4270248" y="1993392"/>
            <a:ext cx="804672" cy="804672"/>
          </a:xfrm>
          <a:prstGeom prst="ellipse">
            <a:avLst/>
          </a:prstGeom>
          <a:solidFill>
            <a:srgbClr val="6C5CE7"/>
          </a:solidFill>
          <a:ln/>
        </p:spPr>
      </p:sp>
      <p:pic>
        <p:nvPicPr>
          <p:cNvPr id="29" name="auto410-rb1-i" descr="/home/claude/pitch/a/ic/FaLanguage_w.png">    </p:cNvPr>
          <p:cNvPicPr>
            <a:picLocks noChangeAspect="1"/>
          </p:cNvPicPr>
          <p:nvPr/>
        </p:nvPicPr>
        <p:blipFill>
          <a:blip r:embed="rId17"/>
          <a:stretch>
            <a:fillRect/>
          </a:stretch>
        </p:blipFill>
        <p:spPr>
          <a:xfrm>
            <a:off x="4479463" y="2202607"/>
            <a:ext cx="386243" cy="386243"/>
          </a:xfrm>
          <a:prstGeom prst="rect">
            <a:avLst/>
          </a:prstGeom>
        </p:spPr>
      </p:pic>
      <p:sp>
        <p:nvSpPr>
          <p:cNvPr id="30" name="auto410-rc1"/>
          <p:cNvSpPr/>
          <p:nvPr/>
        </p:nvSpPr>
        <p:spPr>
          <a:xfrm>
            <a:off x="3355848" y="3063240"/>
            <a:ext cx="2651760" cy="2286000"/>
          </a:xfrm>
          <a:prstGeom prst="roundRect">
            <a:avLst>
              <a:gd name="adj" fmla="val 5600"/>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31" name="auto410-rl1"/>
          <p:cNvSpPr txBox="1"/>
          <p:nvPr/>
        </p:nvSpPr>
        <p:spPr>
          <a:xfrm>
            <a:off x="3584448" y="3218688"/>
            <a:ext cx="2194560" cy="237744"/>
          </a:xfrm>
          <a:prstGeom prst="rect">
            <a:avLst/>
          </a:prstGeom>
          <a:noFill/>
          <a:ln/>
        </p:spPr>
        <p:txBody>
          <a:bodyPr wrap="square" lIns="0" tIns="0" rIns="0" bIns="0" rtlCol="0" anchor="t"/>
          <a:lstStyle/>
          <a:p>
            <a:pPr indent="0" marL="0">
              <a:buNone/>
            </a:pPr>
            <a:r>
              <a:rPr lang="en-US" sz="1000" b="1" spc="200" kern="0" dirty="0">
                <a:solidFill>
                  <a:srgbClr val="6C5CE7"/>
                </a:solidFill>
                <a:latin typeface="Poppins" pitchFamily="34" charset="0"/>
                <a:ea typeface="Poppins" pitchFamily="34" charset="-122"/>
                <a:cs typeface="Poppins" pitchFamily="34" charset="-120"/>
              </a:rPr>
              <a:t>NEXT</a:t>
            </a:r>
            <a:endParaRPr lang="en-US" sz="1000" dirty="0"/>
          </a:p>
        </p:txBody>
      </p:sp>
      <p:sp>
        <p:nvSpPr>
          <p:cNvPr id="32" name="auto410-rh1"/>
          <p:cNvSpPr txBox="1"/>
          <p:nvPr/>
        </p:nvSpPr>
        <p:spPr>
          <a:xfrm>
            <a:off x="3584448" y="3520440"/>
            <a:ext cx="2240280" cy="566928"/>
          </a:xfrm>
          <a:prstGeom prst="rect">
            <a:avLst/>
          </a:prstGeom>
          <a:noFill/>
          <a:ln/>
        </p:spPr>
        <p:txBody>
          <a:bodyPr wrap="square" lIns="0" tIns="0" rIns="0" bIns="0" rtlCol="0" anchor="t"/>
          <a:lstStyle/>
          <a:p>
            <a:pPr indent="0" marL="0">
              <a:buNone/>
            </a:pPr>
            <a:r>
              <a:rPr lang="en-US" sz="1400" b="1" dirty="0">
                <a:solidFill>
                  <a:srgbClr val="1E1A4D"/>
                </a:solidFill>
                <a:latin typeface="Poppins" pitchFamily="34" charset="0"/>
                <a:ea typeface="Poppins" pitchFamily="34" charset="-122"/>
                <a:cs typeface="Poppins" pitchFamily="34" charset="-120"/>
              </a:rPr>
              <a:t>Wider and stronger</a:t>
            </a:r>
            <a:endParaRPr lang="en-US" sz="1400" dirty="0"/>
          </a:p>
        </p:txBody>
      </p:sp>
      <p:sp>
        <p:nvSpPr>
          <p:cNvPr id="33" name="auto410-rt1"/>
          <p:cNvSpPr txBox="1"/>
          <p:nvPr/>
        </p:nvSpPr>
        <p:spPr>
          <a:xfrm>
            <a:off x="3584448" y="4114800"/>
            <a:ext cx="2240280" cy="1188720"/>
          </a:xfrm>
          <a:prstGeom prst="rect">
            <a:avLst/>
          </a:prstGeom>
          <a:noFill/>
          <a:ln/>
        </p:spPr>
        <p:txBody>
          <a:bodyPr wrap="square" lIns="0" tIns="0" rIns="0" bIns="0" rtlCol="0" anchor="t"/>
          <a:lstStyle/>
          <a:p>
            <a:pPr indent="0" marL="0">
              <a:buNone/>
            </a:pPr>
            <a:r>
              <a:rPr lang="en-US" sz="1050" dirty="0">
                <a:solidFill>
                  <a:srgbClr val="5B577E"/>
                </a:solidFill>
                <a:latin typeface="Poppins" pitchFamily="34" charset="0"/>
                <a:ea typeface="Poppins" pitchFamily="34" charset="-122"/>
                <a:cs typeface="Poppins" pitchFamily="34" charset="-120"/>
              </a:rPr>
              <a:t>Native review of every prompt. Marathi, Telugu, Malayalam. Several runs per prompt.</a:t>
            </a:r>
            <a:endParaRPr lang="en-US" sz="1050" dirty="0"/>
          </a:p>
        </p:txBody>
      </p:sp>
      <p:sp>
        <p:nvSpPr>
          <p:cNvPr id="34" name="auto670-rb2-c"/>
          <p:cNvSpPr/>
          <p:nvPr/>
        </p:nvSpPr>
        <p:spPr>
          <a:xfrm>
            <a:off x="7077456" y="1993392"/>
            <a:ext cx="804672" cy="804672"/>
          </a:xfrm>
          <a:prstGeom prst="ellipse">
            <a:avLst/>
          </a:prstGeom>
          <a:solidFill>
            <a:srgbClr val="6C5CE7"/>
          </a:solidFill>
          <a:ln/>
        </p:spPr>
      </p:sp>
      <p:pic>
        <p:nvPicPr>
          <p:cNvPr id="35" name="auto670-rb2-i" descr="/home/claude/pitch/a/ic/FaWrench_w.png">    </p:cNvPr>
          <p:cNvPicPr>
            <a:picLocks noChangeAspect="1"/>
          </p:cNvPicPr>
          <p:nvPr/>
        </p:nvPicPr>
        <p:blipFill>
          <a:blip r:embed="rId18"/>
          <a:stretch>
            <a:fillRect/>
          </a:stretch>
        </p:blipFill>
        <p:spPr>
          <a:xfrm>
            <a:off x="7286671" y="2202607"/>
            <a:ext cx="386243" cy="386243"/>
          </a:xfrm>
          <a:prstGeom prst="rect">
            <a:avLst/>
          </a:prstGeom>
        </p:spPr>
      </p:pic>
      <p:sp>
        <p:nvSpPr>
          <p:cNvPr id="36" name="auto670-rc2"/>
          <p:cNvSpPr/>
          <p:nvPr/>
        </p:nvSpPr>
        <p:spPr>
          <a:xfrm>
            <a:off x="6163056" y="3063240"/>
            <a:ext cx="2651760" cy="2286000"/>
          </a:xfrm>
          <a:prstGeom prst="roundRect">
            <a:avLst>
              <a:gd name="adj" fmla="val 5600"/>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37" name="auto670-rl2"/>
          <p:cNvSpPr txBox="1"/>
          <p:nvPr/>
        </p:nvSpPr>
        <p:spPr>
          <a:xfrm>
            <a:off x="6391656" y="3218688"/>
            <a:ext cx="2194560" cy="237744"/>
          </a:xfrm>
          <a:prstGeom prst="rect">
            <a:avLst/>
          </a:prstGeom>
          <a:noFill/>
          <a:ln/>
        </p:spPr>
        <p:txBody>
          <a:bodyPr wrap="square" lIns="0" tIns="0" rIns="0" bIns="0" rtlCol="0" anchor="t"/>
          <a:lstStyle/>
          <a:p>
            <a:pPr indent="0" marL="0">
              <a:buNone/>
            </a:pPr>
            <a:r>
              <a:rPr lang="en-US" sz="1000" b="1" spc="200" kern="0" dirty="0">
                <a:solidFill>
                  <a:srgbClr val="6C5CE7"/>
                </a:solidFill>
                <a:latin typeface="Poppins" pitchFamily="34" charset="0"/>
                <a:ea typeface="Poppins" pitchFamily="34" charset="-122"/>
                <a:cs typeface="Poppins" pitchFamily="34" charset="-120"/>
              </a:rPr>
              <a:t>THEN</a:t>
            </a:r>
            <a:endParaRPr lang="en-US" sz="1000" dirty="0"/>
          </a:p>
        </p:txBody>
      </p:sp>
      <p:sp>
        <p:nvSpPr>
          <p:cNvPr id="38" name="auto670-rh2"/>
          <p:cNvSpPr txBox="1"/>
          <p:nvPr/>
        </p:nvSpPr>
        <p:spPr>
          <a:xfrm>
            <a:off x="6391656" y="3520440"/>
            <a:ext cx="2240280" cy="566928"/>
          </a:xfrm>
          <a:prstGeom prst="rect">
            <a:avLst/>
          </a:prstGeom>
          <a:noFill/>
          <a:ln/>
        </p:spPr>
        <p:txBody>
          <a:bodyPr wrap="square" lIns="0" tIns="0" rIns="0" bIns="0" rtlCol="0" anchor="t"/>
          <a:lstStyle/>
          <a:p>
            <a:pPr indent="0" marL="0">
              <a:buNone/>
            </a:pPr>
            <a:r>
              <a:rPr lang="en-US" sz="1400" b="1" dirty="0">
                <a:solidFill>
                  <a:srgbClr val="1E1A4D"/>
                </a:solidFill>
                <a:latin typeface="Poppins" pitchFamily="34" charset="0"/>
                <a:ea typeface="Poppins" pitchFamily="34" charset="-122"/>
                <a:cs typeface="Poppins" pitchFamily="34" charset="-120"/>
              </a:rPr>
              <a:t>Fix it, not just find it</a:t>
            </a:r>
            <a:endParaRPr lang="en-US" sz="1400" dirty="0"/>
          </a:p>
        </p:txBody>
      </p:sp>
      <p:sp>
        <p:nvSpPr>
          <p:cNvPr id="39" name="auto670-rt2"/>
          <p:cNvSpPr txBox="1"/>
          <p:nvPr/>
        </p:nvSpPr>
        <p:spPr>
          <a:xfrm>
            <a:off x="6391656" y="4114800"/>
            <a:ext cx="2240280" cy="1188720"/>
          </a:xfrm>
          <a:prstGeom prst="rect">
            <a:avLst/>
          </a:prstGeom>
          <a:noFill/>
          <a:ln/>
        </p:spPr>
        <p:txBody>
          <a:bodyPr wrap="square" lIns="0" tIns="0" rIns="0" bIns="0" rtlCol="0" anchor="t"/>
          <a:lstStyle/>
          <a:p>
            <a:pPr indent="0" marL="0">
              <a:buNone/>
            </a:pPr>
            <a:r>
              <a:rPr lang="en-US" sz="1050" dirty="0">
                <a:solidFill>
                  <a:srgbClr val="5B577E"/>
                </a:solidFill>
                <a:latin typeface="Poppins" pitchFamily="34" charset="0"/>
                <a:ea typeface="Poppins" pitchFamily="34" charset="-122"/>
                <a:cs typeface="Poppins" pitchFamily="34" charset="-120"/>
              </a:rPr>
              <a:t>A plug-in for coding tools that applies the fix that works best, plus voice prompts.</a:t>
            </a:r>
            <a:endParaRPr lang="en-US" sz="1050" dirty="0"/>
          </a:p>
        </p:txBody>
      </p:sp>
      <p:sp>
        <p:nvSpPr>
          <p:cNvPr id="40" name="auto930-rb3-c"/>
          <p:cNvSpPr/>
          <p:nvPr/>
        </p:nvSpPr>
        <p:spPr>
          <a:xfrm>
            <a:off x="9884664" y="1993392"/>
            <a:ext cx="804672" cy="804672"/>
          </a:xfrm>
          <a:prstGeom prst="ellipse">
            <a:avLst/>
          </a:prstGeom>
          <a:solidFill>
            <a:srgbClr val="6C5CE7"/>
          </a:solidFill>
          <a:ln/>
        </p:spPr>
      </p:sp>
      <p:pic>
        <p:nvPicPr>
          <p:cNvPr id="41" name="auto930-rb3-i" descr="/home/claude/pitch/a/ic/FaTrophy_w.png">    </p:cNvPr>
          <p:cNvPicPr>
            <a:picLocks noChangeAspect="1"/>
          </p:cNvPicPr>
          <p:nvPr/>
        </p:nvPicPr>
        <p:blipFill>
          <a:blip r:embed="rId19"/>
          <a:stretch>
            <a:fillRect/>
          </a:stretch>
        </p:blipFill>
        <p:spPr>
          <a:xfrm>
            <a:off x="10093879" y="2202607"/>
            <a:ext cx="386243" cy="386243"/>
          </a:xfrm>
          <a:prstGeom prst="rect">
            <a:avLst/>
          </a:prstGeom>
        </p:spPr>
      </p:pic>
      <p:sp>
        <p:nvSpPr>
          <p:cNvPr id="42" name="auto930-rc3"/>
          <p:cNvSpPr/>
          <p:nvPr/>
        </p:nvSpPr>
        <p:spPr>
          <a:xfrm>
            <a:off x="8970264" y="3063240"/>
            <a:ext cx="2651760" cy="2286000"/>
          </a:xfrm>
          <a:prstGeom prst="roundRect">
            <a:avLst>
              <a:gd name="adj" fmla="val 5600"/>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43" name="auto930-rl3"/>
          <p:cNvSpPr txBox="1"/>
          <p:nvPr/>
        </p:nvSpPr>
        <p:spPr>
          <a:xfrm>
            <a:off x="9198864" y="3218688"/>
            <a:ext cx="2194560" cy="237744"/>
          </a:xfrm>
          <a:prstGeom prst="rect">
            <a:avLst/>
          </a:prstGeom>
          <a:noFill/>
          <a:ln/>
        </p:spPr>
        <p:txBody>
          <a:bodyPr wrap="square" lIns="0" tIns="0" rIns="0" bIns="0" rtlCol="0" anchor="t"/>
          <a:lstStyle/>
          <a:p>
            <a:pPr indent="0" marL="0">
              <a:buNone/>
            </a:pPr>
            <a:r>
              <a:rPr lang="en-US" sz="1000" b="1" spc="200" kern="0" dirty="0">
                <a:solidFill>
                  <a:srgbClr val="6C5CE7"/>
                </a:solidFill>
                <a:latin typeface="Poppins" pitchFamily="34" charset="0"/>
                <a:ea typeface="Poppins" pitchFamily="34" charset="-122"/>
                <a:cs typeface="Poppins" pitchFamily="34" charset="-120"/>
              </a:rPr>
              <a:t>VISION</a:t>
            </a:r>
            <a:endParaRPr lang="en-US" sz="1000" dirty="0"/>
          </a:p>
        </p:txBody>
      </p:sp>
      <p:sp>
        <p:nvSpPr>
          <p:cNvPr id="44" name="auto930-rh3"/>
          <p:cNvSpPr txBox="1"/>
          <p:nvPr/>
        </p:nvSpPr>
        <p:spPr>
          <a:xfrm>
            <a:off x="9198864" y="3520440"/>
            <a:ext cx="2240280" cy="566928"/>
          </a:xfrm>
          <a:prstGeom prst="rect">
            <a:avLst/>
          </a:prstGeom>
          <a:noFill/>
          <a:ln/>
        </p:spPr>
        <p:txBody>
          <a:bodyPr wrap="square" lIns="0" tIns="0" rIns="0" bIns="0" rtlCol="0" anchor="t"/>
          <a:lstStyle/>
          <a:p>
            <a:pPr indent="0" marL="0">
              <a:buNone/>
            </a:pPr>
            <a:r>
              <a:rPr lang="en-US" sz="1400" b="1" dirty="0">
                <a:solidFill>
                  <a:srgbClr val="1E1A4D"/>
                </a:solidFill>
                <a:latin typeface="Poppins" pitchFamily="34" charset="0"/>
                <a:ea typeface="Poppins" pitchFamily="34" charset="-122"/>
                <a:cs typeface="Poppins" pitchFamily="34" charset="-120"/>
              </a:rPr>
              <a:t>Public leaderboard</a:t>
            </a:r>
            <a:endParaRPr lang="en-US" sz="1400" dirty="0"/>
          </a:p>
        </p:txBody>
      </p:sp>
      <p:sp>
        <p:nvSpPr>
          <p:cNvPr id="45" name="auto930-rt3"/>
          <p:cNvSpPr txBox="1"/>
          <p:nvPr/>
        </p:nvSpPr>
        <p:spPr>
          <a:xfrm>
            <a:off x="9198864" y="4114800"/>
            <a:ext cx="2240280" cy="1188720"/>
          </a:xfrm>
          <a:prstGeom prst="rect">
            <a:avLst/>
          </a:prstGeom>
          <a:noFill/>
          <a:ln/>
        </p:spPr>
        <p:txBody>
          <a:bodyPr wrap="square" lIns="0" tIns="0" rIns="0" bIns="0" rtlCol="0" anchor="t"/>
          <a:lstStyle/>
          <a:p>
            <a:pPr indent="0" marL="0">
              <a:buNone/>
            </a:pPr>
            <a:r>
              <a:rPr lang="en-US" sz="1050" dirty="0">
                <a:solidFill>
                  <a:srgbClr val="5B577E"/>
                </a:solidFill>
                <a:latin typeface="Poppins" pitchFamily="34" charset="0"/>
                <a:ea typeface="Poppins" pitchFamily="34" charset="-122"/>
                <a:cs typeface="Poppins" pitchFamily="34" charset="-120"/>
              </a:rPr>
              <a:t>Re-run MixCheck on every model update and publish the results for everyone.</a:t>
            </a:r>
            <a:endParaRPr lang="en-US" sz="1050" dirty="0"/>
          </a:p>
        </p:txBody>
      </p:sp>
      <p:sp>
        <p:nvSpPr>
          <p:cNvPr id="46" name="auto1300-goal"/>
          <p:cNvSpPr/>
          <p:nvPr/>
        </p:nvSpPr>
        <p:spPr>
          <a:xfrm>
            <a:off x="548640" y="5532120"/>
            <a:ext cx="11091672" cy="548640"/>
          </a:xfrm>
          <a:prstGeom prst="roundRect">
            <a:avLst>
              <a:gd name="adj" fmla="val 23333"/>
            </a:avLst>
          </a:prstGeom>
          <a:solidFill>
            <a:srgbClr val="1E1A4D"/>
          </a:solidFill>
          <a:ln w="12700">
            <a:solidFill>
              <a:srgbClr val="1E1A4D"/>
            </a:solidFill>
            <a:prstDash val="solid"/>
          </a:ln>
        </p:spPr>
      </p:sp>
      <p:sp>
        <p:nvSpPr>
          <p:cNvPr id="47" name="auto1300-goalt"/>
          <p:cNvSpPr txBox="1"/>
          <p:nvPr/>
        </p:nvSpPr>
        <p:spPr>
          <a:xfrm>
            <a:off x="731520" y="5532120"/>
            <a:ext cx="10698480" cy="548640"/>
          </a:xfrm>
          <a:prstGeom prst="rect">
            <a:avLst/>
          </a:prstGeom>
          <a:noFill/>
          <a:ln/>
        </p:spPr>
        <p:txBody>
          <a:bodyPr wrap="square" lIns="0" tIns="0" rIns="0" bIns="0" rtlCol="0" anchor="ctr"/>
          <a:lstStyle/>
          <a:p>
            <a:pPr algn="ctr" indent="0" marL="0">
              <a:buNone/>
            </a:pPr>
            <a:r>
              <a:rPr lang="en-US" sz="1350" b="1" dirty="0">
                <a:solidFill>
                  <a:srgbClr val="FF9F1C"/>
                </a:solidFill>
                <a:latin typeface="Poppins" pitchFamily="34" charset="0"/>
                <a:ea typeface="Poppins" pitchFamily="34" charset="-122"/>
                <a:cs typeface="Poppins" pitchFamily="34" charset="-120"/>
              </a:rPr>
              <a:t>Goal: </a:t>
            </a:r>
            <a:pPr algn="ctr" indent="0" marL="0">
              <a:buNone/>
            </a:pPr>
            <a:r>
              <a:rPr lang="en-US" sz="1350" b="1" dirty="0">
                <a:solidFill>
                  <a:srgbClr val="FFFFFF"/>
                </a:solidFill>
                <a:latin typeface="Poppins" pitchFamily="34" charset="0"/>
                <a:ea typeface="Poppins" pitchFamily="34" charset="-122"/>
                <a:cs typeface="Poppins" pitchFamily="34" charset="-120"/>
              </a:rPr>
              <a:t>AI coding tools that work as well in Kanglish as they do in English.</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81" dur="indefinite" nodeType="mainSeq">
                <p:childTnLst>
                  <p:par>
                    <p:cTn id="82" fill="hold">
                      <p:stCondLst>
                        <p:cond delay="indefinite"/>
                        <p:cond evt="onBegin" delay="0">
                          <p:tn val="81"/>
                        </p:cond>
                      </p:stCondLst>
                      <p:childTnLst>
                        <p:par>
                          <p:cTn id="83" fill="hold">
                            <p:stCondLst>
                              <p:cond delay="0"/>
                            </p:stCondLst>
                            <p:childTnLst>
                              <p:par>
                                <p:cTn id="5" presetID="10" presetClass="entr" presetSubtype="0" fill="hold" grpId="0" nodeType="withEffect">
                                  <p:stCondLst>
                                    <p:cond delay="150"/>
                                  </p:stCondLst>
                                  <p:childTnLst>
                                    <p:set>
                                      <p:cBhvr>
                                        <p:cTn id="3" dur="1" fill="hold">
                                          <p:stCondLst>
                                            <p:cond delay="0"/>
                                          </p:stCondLst>
                                        </p:cTn>
                                        <p:tgtEl>
                                          <p:spTgt spid="22"/>
                                        </p:tgtEl>
                                        <p:attrNameLst>
                                          <p:attrName>style.visibility</p:attrName>
                                        </p:attrNameLst>
                                      </p:cBhvr>
                                      <p:to>
                                        <p:strVal val="visible"/>
                                      </p:to>
                                    </p:set>
                                    <p:animEffect transition="in" filter="fade">
                                      <p:cBhvr>
                                        <p:cTn id="4" dur="450"/>
                                        <p:tgtEl>
                                          <p:spTgt spid="22"/>
                                        </p:tgtEl>
                                      </p:cBhvr>
                                    </p:animEffect>
                                  </p:childTnLst>
                                </p:cTn>
                              </p:par>
                              <p:par>
                                <p:cTn id="8" presetID="10" presetClass="entr" presetSubtype="0" fill="hold" grpId="0" nodeType="withEffect">
                                  <p:stCondLst>
                                    <p:cond delay="15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50"/>
                                        <p:tgtEl>
                                          <p:spTgt spid="23"/>
                                        </p:tgtEl>
                                      </p:cBhvr>
                                    </p:animEffect>
                                  </p:childTnLst>
                                </p:cTn>
                              </p:par>
                              <p:par>
                                <p:cTn id="11" presetID="10" presetClass="entr" presetSubtype="0" fill="hold" grpId="0" nodeType="withEffect">
                                  <p:stCondLst>
                                    <p:cond delay="15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50"/>
                                        <p:tgtEl>
                                          <p:spTgt spid="24"/>
                                        </p:tgtEl>
                                      </p:cBhvr>
                                    </p:animEffect>
                                  </p:childTnLst>
                                </p:cTn>
                              </p:par>
                              <p:par>
                                <p:cTn id="14" presetID="10" presetClass="entr" presetSubtype="0" fill="hold" grpId="0" nodeType="withEffect">
                                  <p:stCondLst>
                                    <p:cond delay="15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50"/>
                                        <p:tgtEl>
                                          <p:spTgt spid="25"/>
                                        </p:tgtEl>
                                      </p:cBhvr>
                                    </p:animEffect>
                                  </p:childTnLst>
                                </p:cTn>
                              </p:par>
                              <p:par>
                                <p:cTn id="17" presetID="10" presetClass="entr" presetSubtype="0" fill="hold" grpId="0" nodeType="withEffect">
                                  <p:stCondLst>
                                    <p:cond delay="15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450"/>
                                        <p:tgtEl>
                                          <p:spTgt spid="26"/>
                                        </p:tgtEl>
                                      </p:cBhvr>
                                    </p:animEffect>
                                  </p:childTnLst>
                                </p:cTn>
                              </p:par>
                              <p:par>
                                <p:cTn id="20" presetID="10" presetClass="entr" presetSubtype="0" fill="hold" grpId="0" nodeType="withEffect">
                                  <p:stCondLst>
                                    <p:cond delay="15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450"/>
                                        <p:tgtEl>
                                          <p:spTgt spid="27"/>
                                        </p:tgtEl>
                                      </p:cBhvr>
                                    </p:animEffect>
                                  </p:childTnLst>
                                </p:cTn>
                              </p:par>
                              <p:par>
                                <p:cTn id="23" presetID="10" presetClass="entr" presetSubtype="0" fill="hold" grpId="0" nodeType="withEffect">
                                  <p:stCondLst>
                                    <p:cond delay="41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50"/>
                                        <p:tgtEl>
                                          <p:spTgt spid="28"/>
                                        </p:tgtEl>
                                      </p:cBhvr>
                                    </p:animEffect>
                                  </p:childTnLst>
                                </p:cTn>
                              </p:par>
                              <p:par>
                                <p:cTn id="26" presetID="10" presetClass="entr" presetSubtype="0" fill="hold" grpId="0" nodeType="withEffect">
                                  <p:stCondLst>
                                    <p:cond delay="41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450"/>
                                        <p:tgtEl>
                                          <p:spTgt spid="29"/>
                                        </p:tgtEl>
                                      </p:cBhvr>
                                    </p:animEffect>
                                  </p:childTnLst>
                                </p:cTn>
                              </p:par>
                              <p:par>
                                <p:cTn id="29" presetID="10" presetClass="entr" presetSubtype="0" fill="hold" grpId="0" nodeType="withEffect">
                                  <p:stCondLst>
                                    <p:cond delay="41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450"/>
                                        <p:tgtEl>
                                          <p:spTgt spid="30"/>
                                        </p:tgtEl>
                                      </p:cBhvr>
                                    </p:animEffect>
                                  </p:childTnLst>
                                </p:cTn>
                              </p:par>
                              <p:par>
                                <p:cTn id="32" presetID="10" presetClass="entr" presetSubtype="0" fill="hold" grpId="0" nodeType="withEffect">
                                  <p:stCondLst>
                                    <p:cond delay="41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450"/>
                                        <p:tgtEl>
                                          <p:spTgt spid="31"/>
                                        </p:tgtEl>
                                      </p:cBhvr>
                                    </p:animEffect>
                                  </p:childTnLst>
                                </p:cTn>
                              </p:par>
                              <p:par>
                                <p:cTn id="35" presetID="10" presetClass="entr" presetSubtype="0" fill="hold" grpId="0" nodeType="withEffect">
                                  <p:stCondLst>
                                    <p:cond delay="41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450"/>
                                        <p:tgtEl>
                                          <p:spTgt spid="32"/>
                                        </p:tgtEl>
                                      </p:cBhvr>
                                    </p:animEffect>
                                  </p:childTnLst>
                                </p:cTn>
                              </p:par>
                              <p:par>
                                <p:cTn id="38" presetID="10" presetClass="entr" presetSubtype="0" fill="hold" grpId="0" nodeType="withEffect">
                                  <p:stCondLst>
                                    <p:cond delay="41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450"/>
                                        <p:tgtEl>
                                          <p:spTgt spid="33"/>
                                        </p:tgtEl>
                                      </p:cBhvr>
                                    </p:animEffect>
                                  </p:childTnLst>
                                </p:cTn>
                              </p:par>
                              <p:par>
                                <p:cTn id="41" presetID="10" presetClass="entr" presetSubtype="0" fill="hold" grpId="0" nodeType="withEffect">
                                  <p:stCondLst>
                                    <p:cond delay="67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450"/>
                                        <p:tgtEl>
                                          <p:spTgt spid="34"/>
                                        </p:tgtEl>
                                      </p:cBhvr>
                                    </p:animEffect>
                                  </p:childTnLst>
                                </p:cTn>
                              </p:par>
                              <p:par>
                                <p:cTn id="44" presetID="10" presetClass="entr" presetSubtype="0" fill="hold" grpId="0" nodeType="withEffect">
                                  <p:stCondLst>
                                    <p:cond delay="670"/>
                                  </p:stCondLst>
                                  <p:childTnLst>
                                    <p:set>
                                      <p:cBhvr>
                                        <p:cTn id="42" dur="1" fill="hold">
                                          <p:stCondLst>
                                            <p:cond delay="0"/>
                                          </p:stCondLst>
                                        </p:cTn>
                                        <p:tgtEl>
                                          <p:spTgt spid="35"/>
                                        </p:tgtEl>
                                        <p:attrNameLst>
                                          <p:attrName>style.visibility</p:attrName>
                                        </p:attrNameLst>
                                      </p:cBhvr>
                                      <p:to>
                                        <p:strVal val="visible"/>
                                      </p:to>
                                    </p:set>
                                    <p:animEffect transition="in" filter="fade">
                                      <p:cBhvr>
                                        <p:cTn id="43" dur="450"/>
                                        <p:tgtEl>
                                          <p:spTgt spid="35"/>
                                        </p:tgtEl>
                                      </p:cBhvr>
                                    </p:animEffect>
                                  </p:childTnLst>
                                </p:cTn>
                              </p:par>
                              <p:par>
                                <p:cTn id="47" presetID="10" presetClass="entr" presetSubtype="0" fill="hold" grpId="0" nodeType="withEffect">
                                  <p:stCondLst>
                                    <p:cond delay="670"/>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450"/>
                                        <p:tgtEl>
                                          <p:spTgt spid="36"/>
                                        </p:tgtEl>
                                      </p:cBhvr>
                                    </p:animEffect>
                                  </p:childTnLst>
                                </p:cTn>
                              </p:par>
                              <p:par>
                                <p:cTn id="50" presetID="10" presetClass="entr" presetSubtype="0" fill="hold" grpId="0" nodeType="withEffect">
                                  <p:stCondLst>
                                    <p:cond delay="670"/>
                                  </p:stCondLst>
                                  <p:childTnLst>
                                    <p:set>
                                      <p:cBhvr>
                                        <p:cTn id="48" dur="1" fill="hold">
                                          <p:stCondLst>
                                            <p:cond delay="0"/>
                                          </p:stCondLst>
                                        </p:cTn>
                                        <p:tgtEl>
                                          <p:spTgt spid="37"/>
                                        </p:tgtEl>
                                        <p:attrNameLst>
                                          <p:attrName>style.visibility</p:attrName>
                                        </p:attrNameLst>
                                      </p:cBhvr>
                                      <p:to>
                                        <p:strVal val="visible"/>
                                      </p:to>
                                    </p:set>
                                    <p:animEffect transition="in" filter="fade">
                                      <p:cBhvr>
                                        <p:cTn id="49" dur="450"/>
                                        <p:tgtEl>
                                          <p:spTgt spid="37"/>
                                        </p:tgtEl>
                                      </p:cBhvr>
                                    </p:animEffect>
                                  </p:childTnLst>
                                </p:cTn>
                              </p:par>
                              <p:par>
                                <p:cTn id="53" presetID="10" presetClass="entr" presetSubtype="0" fill="hold" grpId="0" nodeType="withEffect">
                                  <p:stCondLst>
                                    <p:cond delay="67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450"/>
                                        <p:tgtEl>
                                          <p:spTgt spid="38"/>
                                        </p:tgtEl>
                                      </p:cBhvr>
                                    </p:animEffect>
                                  </p:childTnLst>
                                </p:cTn>
                              </p:par>
                              <p:par>
                                <p:cTn id="56" presetID="10" presetClass="entr" presetSubtype="0" fill="hold" grpId="0" nodeType="withEffect">
                                  <p:stCondLst>
                                    <p:cond delay="670"/>
                                  </p:stCondLst>
                                  <p:childTnLst>
                                    <p:set>
                                      <p:cBhvr>
                                        <p:cTn id="54" dur="1" fill="hold">
                                          <p:stCondLst>
                                            <p:cond delay="0"/>
                                          </p:stCondLst>
                                        </p:cTn>
                                        <p:tgtEl>
                                          <p:spTgt spid="39"/>
                                        </p:tgtEl>
                                        <p:attrNameLst>
                                          <p:attrName>style.visibility</p:attrName>
                                        </p:attrNameLst>
                                      </p:cBhvr>
                                      <p:to>
                                        <p:strVal val="visible"/>
                                      </p:to>
                                    </p:set>
                                    <p:animEffect transition="in" filter="fade">
                                      <p:cBhvr>
                                        <p:cTn id="55" dur="450"/>
                                        <p:tgtEl>
                                          <p:spTgt spid="39"/>
                                        </p:tgtEl>
                                      </p:cBhvr>
                                    </p:animEffect>
                                  </p:childTnLst>
                                </p:cTn>
                              </p:par>
                              <p:par>
                                <p:cTn id="59" presetID="10" presetClass="entr" presetSubtype="0" fill="hold" grpId="0" nodeType="withEffect">
                                  <p:stCondLst>
                                    <p:cond delay="930"/>
                                  </p:stCondLst>
                                  <p:childTnLst>
                                    <p:set>
                                      <p:cBhvr>
                                        <p:cTn id="57" dur="1" fill="hold">
                                          <p:stCondLst>
                                            <p:cond delay="0"/>
                                          </p:stCondLst>
                                        </p:cTn>
                                        <p:tgtEl>
                                          <p:spTgt spid="40"/>
                                        </p:tgtEl>
                                        <p:attrNameLst>
                                          <p:attrName>style.visibility</p:attrName>
                                        </p:attrNameLst>
                                      </p:cBhvr>
                                      <p:to>
                                        <p:strVal val="visible"/>
                                      </p:to>
                                    </p:set>
                                    <p:animEffect transition="in" filter="fade">
                                      <p:cBhvr>
                                        <p:cTn id="58" dur="450"/>
                                        <p:tgtEl>
                                          <p:spTgt spid="40"/>
                                        </p:tgtEl>
                                      </p:cBhvr>
                                    </p:animEffect>
                                  </p:childTnLst>
                                </p:cTn>
                              </p:par>
                              <p:par>
                                <p:cTn id="62" presetID="10" presetClass="entr" presetSubtype="0" fill="hold" grpId="0" nodeType="withEffect">
                                  <p:stCondLst>
                                    <p:cond delay="930"/>
                                  </p:stCondLst>
                                  <p:childTnLst>
                                    <p:set>
                                      <p:cBhvr>
                                        <p:cTn id="60" dur="1" fill="hold">
                                          <p:stCondLst>
                                            <p:cond delay="0"/>
                                          </p:stCondLst>
                                        </p:cTn>
                                        <p:tgtEl>
                                          <p:spTgt spid="41"/>
                                        </p:tgtEl>
                                        <p:attrNameLst>
                                          <p:attrName>style.visibility</p:attrName>
                                        </p:attrNameLst>
                                      </p:cBhvr>
                                      <p:to>
                                        <p:strVal val="visible"/>
                                      </p:to>
                                    </p:set>
                                    <p:animEffect transition="in" filter="fade">
                                      <p:cBhvr>
                                        <p:cTn id="61" dur="450"/>
                                        <p:tgtEl>
                                          <p:spTgt spid="41"/>
                                        </p:tgtEl>
                                      </p:cBhvr>
                                    </p:animEffect>
                                  </p:childTnLst>
                                </p:cTn>
                              </p:par>
                              <p:par>
                                <p:cTn id="65" presetID="10" presetClass="entr" presetSubtype="0" fill="hold" grpId="0" nodeType="withEffect">
                                  <p:stCondLst>
                                    <p:cond delay="93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450"/>
                                        <p:tgtEl>
                                          <p:spTgt spid="42"/>
                                        </p:tgtEl>
                                      </p:cBhvr>
                                    </p:animEffect>
                                  </p:childTnLst>
                                </p:cTn>
                              </p:par>
                              <p:par>
                                <p:cTn id="68" presetID="10" presetClass="entr" presetSubtype="0" fill="hold" grpId="0" nodeType="withEffect">
                                  <p:stCondLst>
                                    <p:cond delay="930"/>
                                  </p:stCondLst>
                                  <p:childTnLst>
                                    <p:set>
                                      <p:cBhvr>
                                        <p:cTn id="66" dur="1" fill="hold">
                                          <p:stCondLst>
                                            <p:cond delay="0"/>
                                          </p:stCondLst>
                                        </p:cTn>
                                        <p:tgtEl>
                                          <p:spTgt spid="43"/>
                                        </p:tgtEl>
                                        <p:attrNameLst>
                                          <p:attrName>style.visibility</p:attrName>
                                        </p:attrNameLst>
                                      </p:cBhvr>
                                      <p:to>
                                        <p:strVal val="visible"/>
                                      </p:to>
                                    </p:set>
                                    <p:animEffect transition="in" filter="fade">
                                      <p:cBhvr>
                                        <p:cTn id="67" dur="450"/>
                                        <p:tgtEl>
                                          <p:spTgt spid="43"/>
                                        </p:tgtEl>
                                      </p:cBhvr>
                                    </p:animEffect>
                                  </p:childTnLst>
                                </p:cTn>
                              </p:par>
                              <p:par>
                                <p:cTn id="71" presetID="10" presetClass="entr" presetSubtype="0" fill="hold" grpId="0" nodeType="withEffect">
                                  <p:stCondLst>
                                    <p:cond delay="93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450"/>
                                        <p:tgtEl>
                                          <p:spTgt spid="44"/>
                                        </p:tgtEl>
                                      </p:cBhvr>
                                    </p:animEffect>
                                  </p:childTnLst>
                                </p:cTn>
                              </p:par>
                              <p:par>
                                <p:cTn id="74" presetID="10" presetClass="entr" presetSubtype="0" fill="hold" grpId="0" nodeType="withEffect">
                                  <p:stCondLst>
                                    <p:cond delay="93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450"/>
                                        <p:tgtEl>
                                          <p:spTgt spid="45"/>
                                        </p:tgtEl>
                                      </p:cBhvr>
                                    </p:animEffect>
                                  </p:childTnLst>
                                </p:cTn>
                              </p:par>
                              <p:par>
                                <p:cTn id="77" presetID="10" presetClass="entr" presetSubtype="0" fill="hold" grpId="0" nodeType="withEffect">
                                  <p:stCondLst>
                                    <p:cond delay="130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450"/>
                                        <p:tgtEl>
                                          <p:spTgt spid="46"/>
                                        </p:tgtEl>
                                      </p:cBhvr>
                                    </p:animEffect>
                                  </p:childTnLst>
                                </p:cTn>
                              </p:par>
                              <p:par>
                                <p:cTn id="80" presetID="10" presetClass="entr" presetSubtype="0" fill="hold" grpId="0" nodeType="withEffect">
                                  <p:stCondLst>
                                    <p:cond delay="1300"/>
                                  </p:stCondLst>
                                  <p:childTnLst>
                                    <p:set>
                                      <p:cBhvr>
                                        <p:cTn id="78" dur="1" fill="hold">
                                          <p:stCondLst>
                                            <p:cond delay="0"/>
                                          </p:stCondLst>
                                        </p:cTn>
                                        <p:tgtEl>
                                          <p:spTgt spid="47"/>
                                        </p:tgtEl>
                                        <p:attrNameLst>
                                          <p:attrName>style.visibility</p:attrName>
                                        </p:attrNameLst>
                                      </p:cBhvr>
                                      <p:to>
                                        <p:strVal val="visible"/>
                                      </p:to>
                                    </p:set>
                                    <p:animEffect transition="in" filter="fade">
                                      <p:cBhvr>
                                        <p:cTn id="79" dur="4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AFB"/>
        </a:solidFill>
      </p:bgPr>
    </p:bg>
    <p:spTree>
      <p:nvGrpSpPr>
        <p:cNvPr id="1" name=""/>
        <p:cNvGrpSpPr/>
        <p:nvPr/>
      </p:nvGrpSpPr>
      <p:grpSpPr>
        <a:xfrm>
          <a:off x="0" y="0"/>
          <a:ext cx="0" cy="0"/>
          <a:chOff x="0" y="0"/>
          <a:chExt cx="0" cy="0"/>
        </a:xfrm>
      </p:grpSpPr>
      <p:pic>
        <p:nvPicPr>
          <p:cNvPr id="2" name="!!bg" descr="/home/claude/pitch/a/bg_title.jpg">    </p:cNvPr>
          <p:cNvPicPr>
            <a:picLocks noChangeAspect="1"/>
          </p:cNvPicPr>
          <p:nvPr/>
        </p:nvPicPr>
        <p:blipFill>
          <a:blip r:embed="rId1"/>
          <a:stretch>
            <a:fillRect/>
          </a:stretch>
        </p:blipFill>
        <p:spPr>
          <a:xfrm>
            <a:off x="0" y="0"/>
            <a:ext cx="12191695" cy="6858000"/>
          </a:xfrm>
          <a:prstGeom prst="rect">
            <a:avLst/>
          </a:prstGeom>
        </p:spPr>
      </p:pic>
      <p:sp>
        <p:nvSpPr>
          <p:cNvPr id="3" name="!!frame"/>
          <p:cNvSpPr/>
          <p:nvPr/>
        </p:nvSpPr>
        <p:spPr>
          <a:xfrm>
            <a:off x="182880" y="182880"/>
            <a:ext cx="11823192" cy="6492240"/>
          </a:xfrm>
          <a:prstGeom prst="roundRect">
            <a:avLst>
              <a:gd name="adj" fmla="val 2817"/>
            </a:avLst>
          </a:prstGeom>
          <a:ln w="28575">
            <a:solidFill>
              <a:srgbClr val="7F79B6"/>
            </a:solidFill>
            <a:prstDash val="solid"/>
          </a:ln>
        </p:spPr>
      </p:sp>
      <p:pic>
        <p:nvPicPr>
          <p:cNvPr id="4" name="!!logo-jain" descr="/home/claude/pitch/a/logo_jain.png">    </p:cNvPr>
          <p:cNvPicPr>
            <a:picLocks noChangeAspect="1"/>
          </p:cNvPicPr>
          <p:nvPr/>
        </p:nvPicPr>
        <p:blipFill>
          <a:blip r:embed="rId2"/>
          <a:stretch>
            <a:fillRect/>
          </a:stretch>
        </p:blipFill>
        <p:spPr>
          <a:xfrm>
            <a:off x="411480" y="329184"/>
            <a:ext cx="1316736" cy="384048"/>
          </a:xfrm>
          <a:prstGeom prst="rect">
            <a:avLst/>
          </a:prstGeom>
        </p:spPr>
      </p:pic>
      <p:pic>
        <p:nvPicPr>
          <p:cNvPr id="5" name="!!logo-avi" descr="/home/claude/pitch/a/logo_avi.png">    </p:cNvPr>
          <p:cNvPicPr>
            <a:picLocks noChangeAspect="1"/>
          </p:cNvPicPr>
          <p:nvPr/>
        </p:nvPicPr>
        <p:blipFill>
          <a:blip r:embed="rId3"/>
          <a:stretch>
            <a:fillRect/>
          </a:stretch>
        </p:blipFill>
        <p:spPr>
          <a:xfrm>
            <a:off x="5304892" y="320040"/>
            <a:ext cx="1581912" cy="393192"/>
          </a:xfrm>
          <a:prstGeom prst="rect">
            <a:avLst/>
          </a:prstGeom>
        </p:spPr>
      </p:pic>
      <p:pic>
        <p:nvPicPr>
          <p:cNvPr id="6" name="!!logo-fet" descr="/home/claude/pitch/a/logo_fet.png">    </p:cNvPr>
          <p:cNvPicPr>
            <a:picLocks noChangeAspect="1"/>
          </p:cNvPicPr>
          <p:nvPr/>
        </p:nvPicPr>
        <p:blipFill>
          <a:blip r:embed="rId4"/>
          <a:stretch>
            <a:fillRect/>
          </a:stretch>
        </p:blipFill>
        <p:spPr>
          <a:xfrm>
            <a:off x="10771632" y="274320"/>
            <a:ext cx="1005840" cy="457200"/>
          </a:xfrm>
          <a:prstGeom prst="rect">
            <a:avLst/>
          </a:prstGeom>
        </p:spPr>
      </p:pic>
      <p:sp>
        <p:nvSpPr>
          <p:cNvPr id="7" name="!!foot-l"/>
          <p:cNvSpPr txBox="1"/>
          <p:nvPr/>
        </p:nvSpPr>
        <p:spPr>
          <a:xfrm>
            <a:off x="457200" y="6336792"/>
            <a:ext cx="3108960" cy="219456"/>
          </a:xfrm>
          <a:prstGeom prst="rect">
            <a:avLst/>
          </a:prstGeom>
          <a:noFill/>
          <a:ln/>
        </p:spPr>
        <p:txBody>
          <a:bodyPr wrap="square" lIns="0" tIns="0" rIns="0" bIns="0" rtlCol="0" anchor="t"/>
          <a:lstStyle/>
          <a:p>
            <a:pPr indent="0" marL="0">
              <a:buNone/>
            </a:pPr>
            <a:r>
              <a:rPr lang="en-US" sz="900" dirty="0">
                <a:solidFill>
                  <a:srgbClr val="8D88B5"/>
                </a:solidFill>
                <a:latin typeface="Poppins" pitchFamily="34" charset="0"/>
                <a:ea typeface="Poppins" pitchFamily="34" charset="-122"/>
                <a:cs typeface="Poppins" pitchFamily="34" charset="-120"/>
              </a:rPr>
              <a:t>MixCheck  ·  Team El Rata Alada</a:t>
            </a:r>
            <a:endParaRPr lang="en-US" sz="900" dirty="0"/>
          </a:p>
        </p:txBody>
      </p:sp>
      <p:sp>
        <p:nvSpPr>
          <p:cNvPr id="8" name="!!btn-nav-1">
            <a:hlinkClick r:id="rId5" action="ppaction://hlinksldjump"/>
          </p:cNvPr>
          <p:cNvSpPr/>
          <p:nvPr/>
        </p:nvSpPr>
        <p:spPr>
          <a:xfrm>
            <a:off x="4628236"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1</a:t>
            </a:r>
            <a:endParaRPr lang="en-US" sz="750" dirty="0"/>
          </a:p>
        </p:txBody>
      </p:sp>
      <p:sp>
        <p:nvSpPr>
          <p:cNvPr id="9" name="!!btn-nav-2">
            <a:hlinkClick r:id="rId6" action="ppaction://hlinksldjump"/>
          </p:cNvPr>
          <p:cNvSpPr/>
          <p:nvPr/>
        </p:nvSpPr>
        <p:spPr>
          <a:xfrm>
            <a:off x="4929988"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2</a:t>
            </a:r>
            <a:endParaRPr lang="en-US" sz="750" dirty="0"/>
          </a:p>
        </p:txBody>
      </p:sp>
      <p:sp>
        <p:nvSpPr>
          <p:cNvPr id="10" name="!!btn-nav-3">
            <a:hlinkClick r:id="rId7" action="ppaction://hlinksldjump"/>
          </p:cNvPr>
          <p:cNvSpPr/>
          <p:nvPr/>
        </p:nvSpPr>
        <p:spPr>
          <a:xfrm>
            <a:off x="5231740"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3</a:t>
            </a:r>
            <a:endParaRPr lang="en-US" sz="750" dirty="0"/>
          </a:p>
        </p:txBody>
      </p:sp>
      <p:sp>
        <p:nvSpPr>
          <p:cNvPr id="11" name="!!btn-nav-4">
            <a:hlinkClick r:id="rId8" action="ppaction://hlinksldjump"/>
          </p:cNvPr>
          <p:cNvSpPr/>
          <p:nvPr/>
        </p:nvSpPr>
        <p:spPr>
          <a:xfrm>
            <a:off x="5533492"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4</a:t>
            </a:r>
            <a:endParaRPr lang="en-US" sz="750" dirty="0"/>
          </a:p>
        </p:txBody>
      </p:sp>
      <p:sp>
        <p:nvSpPr>
          <p:cNvPr id="12" name="!!btn-nav-5">
            <a:hlinkClick r:id="rId9" action="ppaction://hlinksldjump"/>
          </p:cNvPr>
          <p:cNvSpPr/>
          <p:nvPr/>
        </p:nvSpPr>
        <p:spPr>
          <a:xfrm>
            <a:off x="5835244"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5</a:t>
            </a:r>
            <a:endParaRPr lang="en-US" sz="750" dirty="0"/>
          </a:p>
        </p:txBody>
      </p:sp>
      <p:sp>
        <p:nvSpPr>
          <p:cNvPr id="13" name="!!btn-nav-6">
            <a:hlinkClick r:id="rId10" action="ppaction://hlinksldjump"/>
          </p:cNvPr>
          <p:cNvSpPr/>
          <p:nvPr/>
        </p:nvSpPr>
        <p:spPr>
          <a:xfrm>
            <a:off x="6136996"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6</a:t>
            </a:r>
            <a:endParaRPr lang="en-US" sz="750" dirty="0"/>
          </a:p>
        </p:txBody>
      </p:sp>
      <p:sp>
        <p:nvSpPr>
          <p:cNvPr id="14" name="!!btn-nav-7">
            <a:hlinkClick r:id="rId11" action="ppaction://hlinksldjump"/>
          </p:cNvPr>
          <p:cNvSpPr/>
          <p:nvPr/>
        </p:nvSpPr>
        <p:spPr>
          <a:xfrm>
            <a:off x="6438748"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7</a:t>
            </a:r>
            <a:endParaRPr lang="en-US" sz="750" dirty="0"/>
          </a:p>
        </p:txBody>
      </p:sp>
      <p:sp>
        <p:nvSpPr>
          <p:cNvPr id="15" name="!!btn-nav-8">
            <a:hlinkClick r:id="rId12" action="ppaction://hlinksldjump"/>
          </p:cNvPr>
          <p:cNvSpPr/>
          <p:nvPr/>
        </p:nvSpPr>
        <p:spPr>
          <a:xfrm>
            <a:off x="6740500"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8</a:t>
            </a:r>
            <a:endParaRPr lang="en-US" sz="750" dirty="0"/>
          </a:p>
        </p:txBody>
      </p:sp>
      <p:sp>
        <p:nvSpPr>
          <p:cNvPr id="16" name="!!btn-nav-9">
            <a:hlinkClick r:id="rId13" action="ppaction://hlinksldjump"/>
          </p:cNvPr>
          <p:cNvSpPr/>
          <p:nvPr/>
        </p:nvSpPr>
        <p:spPr>
          <a:xfrm>
            <a:off x="7042252" y="6336792"/>
            <a:ext cx="219456" cy="219456"/>
          </a:xfrm>
          <a:prstGeom prst="ellipse">
            <a:avLst/>
          </a:prstGeom>
          <a:solidFill>
            <a:srgbClr val="FFFFFF">
              <a:alpha val="90000"/>
            </a:srgbClr>
          </a:solidFill>
          <a:ln w="9525">
            <a:solidFill>
              <a:srgbClr val="DCD6F7"/>
            </a:solidFill>
          </a:ln>
        </p:spPr>
        <p:txBody>
          <a:bodyPr wrap="square" lIns="0" tIns="0" rIns="0" bIns="0" rtlCol="0" anchor="ctr"/>
          <a:lstStyle/>
          <a:p>
            <a:pPr algn="ctr" indent="0" marL="0">
              <a:buNone/>
            </a:pPr>
            <a:r>
              <a:rPr lang="en-US" sz="750" b="1" dirty="0">
                <a:solidFill>
                  <a:srgbClr val="5B577E"/>
                </a:solidFill>
                <a:latin typeface="Poppins" pitchFamily="34" charset="0"/>
                <a:ea typeface="Poppins" pitchFamily="34" charset="-122"/>
                <a:cs typeface="Poppins" pitchFamily="34" charset="-120"/>
              </a:rPr>
              <a:t>9</a:t>
            </a:r>
            <a:endParaRPr lang="en-US" sz="750" dirty="0"/>
          </a:p>
        </p:txBody>
      </p:sp>
      <p:sp>
        <p:nvSpPr>
          <p:cNvPr id="17" name="!!btn-nav-10">
            <a:hlinkClick r:id="rId14" action="ppaction://hlinksldjump"/>
          </p:cNvPr>
          <p:cNvSpPr/>
          <p:nvPr/>
        </p:nvSpPr>
        <p:spPr>
          <a:xfrm>
            <a:off x="7344004" y="6336792"/>
            <a:ext cx="219456" cy="219456"/>
          </a:xfrm>
          <a:prstGeom prst="ellipse">
            <a:avLst/>
          </a:prstGeom>
          <a:solidFill>
            <a:srgbClr val="6C5CE7"/>
          </a:solidFill>
          <a:ln w="9525">
            <a:solidFill>
              <a:srgbClr val="6C5CE7"/>
            </a:solid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10</a:t>
            </a:r>
            <a:endParaRPr lang="en-US" sz="750" dirty="0"/>
          </a:p>
        </p:txBody>
      </p:sp>
      <p:sp>
        <p:nvSpPr>
          <p:cNvPr id="18" name="!!btn-live">
            <a:hlinkClick r:id="rId15"/>
          </p:cNvPr>
          <p:cNvSpPr/>
          <p:nvPr/>
        </p:nvSpPr>
        <p:spPr>
          <a:xfrm>
            <a:off x="8503920" y="6309360"/>
            <a:ext cx="3246120" cy="274320"/>
          </a:xfrm>
          <a:prstGeom prst="rect">
            <a:avLst/>
          </a:prstGeom>
          <a:noFill/>
          <a:ln/>
        </p:spPr>
        <p:txBody>
          <a:bodyPr wrap="square" lIns="0" tIns="0" rIns="0" bIns="0" rtlCol="0" anchor="ctr"/>
          <a:lstStyle/>
          <a:p>
            <a:pPr algn="r" indent="0" marL="0">
              <a:buNone/>
            </a:pPr>
            <a:r>
              <a:rPr lang="en-US" sz="900" b="1" dirty="0">
                <a:solidFill>
                  <a:srgbClr val="6C5CE7"/>
                </a:solidFill>
                <a:latin typeface="Poppins" pitchFamily="34" charset="0"/>
                <a:ea typeface="Poppins" pitchFamily="34" charset="-122"/>
                <a:cs typeface="Poppins" pitchFamily="34" charset="-120"/>
              </a:rPr>
              <a:t>● Live: mixcheck-elrata.streamlit.app</a:t>
            </a:r>
            <a:endParaRPr lang="en-US" sz="900" dirty="0"/>
          </a:p>
        </p:txBody>
      </p:sp>
      <p:pic>
        <p:nvPicPr>
          <p:cNvPr id="19" name="!!wordmark" descr="/home/claude/pitch/a/wordmark.png">    </p:cNvPr>
          <p:cNvPicPr>
            <a:picLocks noChangeAspect="1"/>
          </p:cNvPicPr>
          <p:nvPr/>
        </p:nvPicPr>
        <p:blipFill>
          <a:blip r:embed="rId16"/>
          <a:stretch>
            <a:fillRect/>
          </a:stretch>
        </p:blipFill>
        <p:spPr>
          <a:xfrm>
            <a:off x="502920" y="1051560"/>
            <a:ext cx="3291840" cy="955475"/>
          </a:xfrm>
          <a:prstGeom prst="rect">
            <a:avLst/>
          </a:prstGeom>
        </p:spPr>
      </p:pic>
      <p:sp>
        <p:nvSpPr>
          <p:cNvPr id="20" name="!!title"/>
          <p:cNvSpPr txBox="1"/>
          <p:nvPr/>
        </p:nvSpPr>
        <p:spPr>
          <a:xfrm>
            <a:off x="548640" y="2057400"/>
            <a:ext cx="6583680" cy="914400"/>
          </a:xfrm>
          <a:prstGeom prst="rect">
            <a:avLst/>
          </a:prstGeom>
          <a:noFill/>
          <a:ln/>
        </p:spPr>
        <p:txBody>
          <a:bodyPr wrap="square" lIns="0" tIns="0" rIns="0" bIns="0" rtlCol="0" anchor="t"/>
          <a:lstStyle/>
          <a:p>
            <a:pPr indent="0" marL="0">
              <a:buNone/>
            </a:pPr>
            <a:r>
              <a:rPr lang="en-US" sz="5400" b="1" dirty="0">
                <a:solidFill>
                  <a:srgbClr val="1E1A4D"/>
                </a:solidFill>
                <a:latin typeface="Lora" pitchFamily="34" charset="0"/>
                <a:ea typeface="Lora" pitchFamily="34" charset="-122"/>
                <a:cs typeface="Lora" pitchFamily="34" charset="-120"/>
              </a:rPr>
              <a:t>Thank You</a:t>
            </a:r>
            <a:endParaRPr lang="en-US" sz="5400" dirty="0"/>
          </a:p>
        </p:txBody>
      </p:sp>
      <p:sp>
        <p:nvSpPr>
          <p:cNvPr id="21" name="Text 14"/>
          <p:cNvSpPr txBox="1"/>
          <p:nvPr/>
        </p:nvSpPr>
        <p:spPr>
          <a:xfrm>
            <a:off x="548640" y="2971800"/>
            <a:ext cx="6583680" cy="594360"/>
          </a:xfrm>
          <a:prstGeom prst="rect">
            <a:avLst/>
          </a:prstGeom>
          <a:noFill/>
          <a:ln/>
        </p:spPr>
        <p:txBody>
          <a:bodyPr wrap="square" lIns="0" tIns="0" rIns="0" bIns="0" rtlCol="0" anchor="t"/>
          <a:lstStyle/>
          <a:p>
            <a:pPr indent="0" marL="0">
              <a:buNone/>
            </a:pPr>
            <a:r>
              <a:rPr lang="en-US" sz="3000" b="1" dirty="0">
                <a:solidFill>
                  <a:srgbClr val="6C5CE7"/>
                </a:solidFill>
                <a:latin typeface="Lora" pitchFamily="34" charset="0"/>
                <a:ea typeface="Lora" pitchFamily="34" charset="-122"/>
                <a:cs typeface="Lora" pitchFamily="34" charset="-120"/>
              </a:rPr>
              <a:t>Questions?</a:t>
            </a:r>
            <a:endParaRPr lang="en-US" sz="3000" dirty="0"/>
          </a:p>
        </p:txBody>
      </p:sp>
      <p:sp>
        <p:nvSpPr>
          <p:cNvPr id="22" name="qr-card"/>
          <p:cNvSpPr/>
          <p:nvPr/>
        </p:nvSpPr>
        <p:spPr>
          <a:xfrm>
            <a:off x="8366760" y="1097280"/>
            <a:ext cx="3291840" cy="2880360"/>
          </a:xfrm>
          <a:prstGeom prst="roundRect">
            <a:avLst>
              <a:gd name="adj" fmla="val 4444"/>
            </a:avLst>
          </a:prstGeom>
          <a:solidFill>
            <a:srgbClr val="FFFFFF"/>
          </a:solidFill>
          <a:ln w="19050">
            <a:solidFill>
              <a:srgbClr val="6C5CE7"/>
            </a:solidFill>
            <a:prstDash val="solid"/>
          </a:ln>
          <a:effectLst>
            <a:outerShdw sx="100000" sy="100000" kx="0" ky="0" algn="bl" rotWithShape="0" blurRad="152400" dist="38100" dir="5400000">
              <a:srgbClr val="6C5CE7">
                <a:alpha val="16000"/>
              </a:srgbClr>
            </a:outerShdw>
          </a:effectLst>
        </p:spPr>
      </p:sp>
      <p:pic>
        <p:nvPicPr>
          <p:cNvPr id="23" name="qr" descr="/home/claude/pitch/a/qr.png">
            <a:hlinkClick r:id="rId18" tooltip="https://mixcheck-elrata.streamlit.app"/>
          </p:cNvPr>
          <p:cNvPicPr>
            <a:picLocks noChangeAspect="1"/>
          </p:cNvPicPr>
          <p:nvPr/>
        </p:nvPicPr>
        <p:blipFill>
          <a:blip r:embed="rId17"/>
          <a:stretch>
            <a:fillRect/>
          </a:stretch>
        </p:blipFill>
        <p:spPr>
          <a:xfrm>
            <a:off x="9098280" y="1261872"/>
            <a:ext cx="1828800" cy="1828800"/>
          </a:xfrm>
          <a:prstGeom prst="rect">
            <a:avLst/>
          </a:prstGeom>
        </p:spPr>
      </p:pic>
      <p:sp>
        <p:nvSpPr>
          <p:cNvPr id="24" name="Text 16"/>
          <p:cNvSpPr txBox="1"/>
          <p:nvPr/>
        </p:nvSpPr>
        <p:spPr>
          <a:xfrm>
            <a:off x="8503920" y="3127248"/>
            <a:ext cx="3017520" cy="274320"/>
          </a:xfrm>
          <a:prstGeom prst="rect">
            <a:avLst/>
          </a:prstGeom>
          <a:noFill/>
          <a:ln/>
        </p:spPr>
        <p:txBody>
          <a:bodyPr wrap="square" lIns="0" tIns="0" rIns="0" bIns="0" rtlCol="0" anchor="t"/>
          <a:lstStyle/>
          <a:p>
            <a:pPr algn="ctr" indent="0" marL="0">
              <a:buNone/>
            </a:pPr>
            <a:r>
              <a:rPr lang="en-US" sz="1050" b="1" dirty="0">
                <a:solidFill>
                  <a:srgbClr val="1E1A4D"/>
                </a:solidFill>
                <a:latin typeface="Poppins" pitchFamily="34" charset="0"/>
                <a:ea typeface="Poppins" pitchFamily="34" charset="-122"/>
                <a:cs typeface="Poppins" pitchFamily="34" charset="-120"/>
              </a:rPr>
              <a:t>Scan or click to try MixCheck live</a:t>
            </a:r>
            <a:endParaRPr lang="en-US" sz="1050" dirty="0"/>
          </a:p>
        </p:txBody>
      </p:sp>
      <p:sp>
        <p:nvSpPr>
          <p:cNvPr id="25" name="btn-url10">
            <a:hlinkClick r:id="rId19"/>
          </p:cNvPr>
          <p:cNvSpPr/>
          <p:nvPr/>
        </p:nvSpPr>
        <p:spPr>
          <a:xfrm>
            <a:off x="8503920" y="3429000"/>
            <a:ext cx="3017520" cy="274320"/>
          </a:xfrm>
          <a:prstGeom prst="rect">
            <a:avLst/>
          </a:prstGeom>
          <a:noFill/>
          <a:ln/>
        </p:spPr>
        <p:txBody>
          <a:bodyPr wrap="square" lIns="0" tIns="0" rIns="0" bIns="0" rtlCol="0" anchor="ctr"/>
          <a:lstStyle/>
          <a:p>
            <a:pPr algn="ctr" indent="0" marL="0">
              <a:buNone/>
            </a:pPr>
            <a:r>
              <a:rPr lang="en-US" sz="1000" b="1" dirty="0">
                <a:solidFill>
                  <a:srgbClr val="6C5CE7"/>
                </a:solidFill>
                <a:latin typeface="Poppins" pitchFamily="34" charset="0"/>
                <a:ea typeface="Poppins" pitchFamily="34" charset="-122"/>
                <a:cs typeface="Poppins" pitchFamily="34" charset="-120"/>
              </a:rPr>
              <a:t>mixcheck-elrata.streamlit.app</a:t>
            </a:r>
            <a:endParaRPr lang="en-US" sz="1000" dirty="0"/>
          </a:p>
        </p:txBody>
      </p:sp>
      <p:sp>
        <p:nvSpPr>
          <p:cNvPr id="26" name="auto200-mc0"/>
          <p:cNvSpPr/>
          <p:nvPr/>
        </p:nvSpPr>
        <p:spPr>
          <a:xfrm>
            <a:off x="548640" y="4206240"/>
            <a:ext cx="2651760" cy="1463040"/>
          </a:xfrm>
          <a:prstGeom prst="roundRect">
            <a:avLst>
              <a:gd name="adj" fmla="val 8750"/>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27" name="auto200-md0"/>
          <p:cNvSpPr/>
          <p:nvPr/>
        </p:nvSpPr>
        <p:spPr>
          <a:xfrm>
            <a:off x="777240" y="4407408"/>
            <a:ext cx="566928" cy="566928"/>
          </a:xfrm>
          <a:prstGeom prst="ellipse">
            <a:avLst/>
          </a:prstGeom>
          <a:solidFill>
            <a:srgbClr val="6C5CE7"/>
          </a:solidFill>
          <a:ln/>
        </p:spPr>
      </p:sp>
      <p:sp>
        <p:nvSpPr>
          <p:cNvPr id="28" name="auto200-mi0"/>
          <p:cNvSpPr txBox="1"/>
          <p:nvPr/>
        </p:nvSpPr>
        <p:spPr>
          <a:xfrm>
            <a:off x="777240" y="440740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Lora" pitchFamily="34" charset="0"/>
                <a:ea typeface="Lora" pitchFamily="34" charset="-122"/>
                <a:cs typeface="Lora" pitchFamily="34" charset="-120"/>
              </a:rPr>
              <a:t>T</a:t>
            </a:r>
            <a:endParaRPr lang="en-US" sz="2000" dirty="0"/>
          </a:p>
        </p:txBody>
      </p:sp>
      <p:sp>
        <p:nvSpPr>
          <p:cNvPr id="29" name="auto200-mn0"/>
          <p:cNvSpPr txBox="1"/>
          <p:nvPr/>
        </p:nvSpPr>
        <p:spPr>
          <a:xfrm>
            <a:off x="1463040" y="4425696"/>
            <a:ext cx="1691640" cy="292608"/>
          </a:xfrm>
          <a:prstGeom prst="rect">
            <a:avLst/>
          </a:prstGeom>
          <a:noFill/>
          <a:ln/>
        </p:spPr>
        <p:txBody>
          <a:bodyPr wrap="square" lIns="0" tIns="0" rIns="0" bIns="0" rtlCol="0" anchor="t"/>
          <a:lstStyle/>
          <a:p>
            <a:pPr indent="0" marL="0">
              <a:buNone/>
            </a:pPr>
            <a:r>
              <a:rPr lang="en-US" sz="1500" b="1" dirty="0">
                <a:solidFill>
                  <a:srgbClr val="1E1A4D"/>
                </a:solidFill>
                <a:latin typeface="Poppins" pitchFamily="34" charset="0"/>
                <a:ea typeface="Poppins" pitchFamily="34" charset="-122"/>
                <a:cs typeface="Poppins" pitchFamily="34" charset="-120"/>
              </a:rPr>
              <a:t>Tanmay</a:t>
            </a:r>
            <a:endParaRPr lang="en-US" sz="1500" dirty="0"/>
          </a:p>
        </p:txBody>
      </p:sp>
      <p:sp>
        <p:nvSpPr>
          <p:cNvPr id="30" name="auto200-mr0"/>
          <p:cNvSpPr txBox="1"/>
          <p:nvPr/>
        </p:nvSpPr>
        <p:spPr>
          <a:xfrm>
            <a:off x="1463040" y="4718304"/>
            <a:ext cx="1691640" cy="256032"/>
          </a:xfrm>
          <a:prstGeom prst="rect">
            <a:avLst/>
          </a:prstGeom>
          <a:noFill/>
          <a:ln/>
        </p:spPr>
        <p:txBody>
          <a:bodyPr wrap="square" lIns="0" tIns="0" rIns="0" bIns="0" rtlCol="0" anchor="t"/>
          <a:lstStyle/>
          <a:p>
            <a:pPr indent="0" marL="0">
              <a:buNone/>
            </a:pPr>
            <a:r>
              <a:rPr lang="en-US" sz="850" b="1" dirty="0">
                <a:solidFill>
                  <a:srgbClr val="6C5CE7"/>
                </a:solidFill>
                <a:latin typeface="Poppins" pitchFamily="34" charset="0"/>
                <a:ea typeface="Poppins" pitchFamily="34" charset="-122"/>
                <a:cs typeface="Poppins" pitchFamily="34" charset="-120"/>
              </a:rPr>
              <a:t>Team lead &amp; developer</a:t>
            </a:r>
            <a:endParaRPr lang="en-US" sz="850" dirty="0"/>
          </a:p>
        </p:txBody>
      </p:sp>
      <p:sp>
        <p:nvSpPr>
          <p:cNvPr id="31" name="auto200-mb0"/>
          <p:cNvSpPr txBox="1"/>
          <p:nvPr/>
        </p:nvSpPr>
        <p:spPr>
          <a:xfrm>
            <a:off x="777240" y="5120640"/>
            <a:ext cx="2240280" cy="457200"/>
          </a:xfrm>
          <a:prstGeom prst="rect">
            <a:avLst/>
          </a:prstGeom>
          <a:noFill/>
          <a:ln/>
        </p:spPr>
        <p:txBody>
          <a:bodyPr wrap="square" lIns="0" tIns="0" rIns="0" bIns="0" rtlCol="0" anchor="t"/>
          <a:lstStyle/>
          <a:p>
            <a:pPr indent="0" marL="0">
              <a:buNone/>
            </a:pPr>
            <a:r>
              <a:rPr lang="en-US" sz="1000" dirty="0">
                <a:solidFill>
                  <a:srgbClr val="5B577E"/>
                </a:solidFill>
                <a:latin typeface="Poppins" pitchFamily="34" charset="0"/>
                <a:ea typeface="Poppins" pitchFamily="34" charset="-122"/>
                <a:cs typeface="Poppins" pitchFamily="34" charset="-120"/>
              </a:rPr>
              <a:t>Builds the app, runs the live demo</a:t>
            </a:r>
            <a:endParaRPr lang="en-US" sz="1000" dirty="0"/>
          </a:p>
        </p:txBody>
      </p:sp>
      <p:sp>
        <p:nvSpPr>
          <p:cNvPr id="32" name="auto350-mc1"/>
          <p:cNvSpPr/>
          <p:nvPr/>
        </p:nvSpPr>
        <p:spPr>
          <a:xfrm>
            <a:off x="3355848" y="4206240"/>
            <a:ext cx="2651760" cy="1463040"/>
          </a:xfrm>
          <a:prstGeom prst="roundRect">
            <a:avLst>
              <a:gd name="adj" fmla="val 8750"/>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33" name="auto350-md1"/>
          <p:cNvSpPr/>
          <p:nvPr/>
        </p:nvSpPr>
        <p:spPr>
          <a:xfrm>
            <a:off x="3584448" y="4407408"/>
            <a:ext cx="566928" cy="566928"/>
          </a:xfrm>
          <a:prstGeom prst="ellipse">
            <a:avLst/>
          </a:prstGeom>
          <a:solidFill>
            <a:srgbClr val="1590B8"/>
          </a:solidFill>
          <a:ln/>
        </p:spPr>
      </p:sp>
      <p:sp>
        <p:nvSpPr>
          <p:cNvPr id="34" name="auto350-mi1"/>
          <p:cNvSpPr txBox="1"/>
          <p:nvPr/>
        </p:nvSpPr>
        <p:spPr>
          <a:xfrm>
            <a:off x="3584448" y="440740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Lora" pitchFamily="34" charset="0"/>
                <a:ea typeface="Lora" pitchFamily="34" charset="-122"/>
                <a:cs typeface="Lora" pitchFamily="34" charset="-120"/>
              </a:rPr>
              <a:t>R</a:t>
            </a:r>
            <a:endParaRPr lang="en-US" sz="2000" dirty="0"/>
          </a:p>
        </p:txBody>
      </p:sp>
      <p:sp>
        <p:nvSpPr>
          <p:cNvPr id="35" name="auto350-mn1"/>
          <p:cNvSpPr txBox="1"/>
          <p:nvPr/>
        </p:nvSpPr>
        <p:spPr>
          <a:xfrm>
            <a:off x="4270248" y="4425696"/>
            <a:ext cx="1691640" cy="292608"/>
          </a:xfrm>
          <a:prstGeom prst="rect">
            <a:avLst/>
          </a:prstGeom>
          <a:noFill/>
          <a:ln/>
        </p:spPr>
        <p:txBody>
          <a:bodyPr wrap="square" lIns="0" tIns="0" rIns="0" bIns="0" rtlCol="0" anchor="t"/>
          <a:lstStyle/>
          <a:p>
            <a:pPr indent="0" marL="0">
              <a:buNone/>
            </a:pPr>
            <a:r>
              <a:rPr lang="en-US" sz="1500" b="1" dirty="0">
                <a:solidFill>
                  <a:srgbClr val="1E1A4D"/>
                </a:solidFill>
                <a:latin typeface="Poppins" pitchFamily="34" charset="0"/>
                <a:ea typeface="Poppins" pitchFamily="34" charset="-122"/>
                <a:cs typeface="Poppins" pitchFamily="34" charset="-120"/>
              </a:rPr>
              <a:t>Ritobroto</a:t>
            </a:r>
            <a:endParaRPr lang="en-US" sz="1500" dirty="0"/>
          </a:p>
        </p:txBody>
      </p:sp>
      <p:sp>
        <p:nvSpPr>
          <p:cNvPr id="36" name="auto350-mr1"/>
          <p:cNvSpPr txBox="1"/>
          <p:nvPr/>
        </p:nvSpPr>
        <p:spPr>
          <a:xfrm>
            <a:off x="4270248" y="4718304"/>
            <a:ext cx="1691640" cy="256032"/>
          </a:xfrm>
          <a:prstGeom prst="rect">
            <a:avLst/>
          </a:prstGeom>
          <a:noFill/>
          <a:ln/>
        </p:spPr>
        <p:txBody>
          <a:bodyPr wrap="square" lIns="0" tIns="0" rIns="0" bIns="0" rtlCol="0" anchor="t"/>
          <a:lstStyle/>
          <a:p>
            <a:pPr indent="0" marL="0">
              <a:buNone/>
            </a:pPr>
            <a:r>
              <a:rPr lang="en-US" sz="850" b="1" dirty="0">
                <a:solidFill>
                  <a:srgbClr val="1590B8"/>
                </a:solidFill>
                <a:latin typeface="Poppins" pitchFamily="34" charset="0"/>
                <a:ea typeface="Poppins" pitchFamily="34" charset="-122"/>
                <a:cs typeface="Poppins" pitchFamily="34" charset="-120"/>
              </a:rPr>
              <a:t>Testing &amp; evaluation</a:t>
            </a:r>
            <a:endParaRPr lang="en-US" sz="850" dirty="0"/>
          </a:p>
        </p:txBody>
      </p:sp>
      <p:sp>
        <p:nvSpPr>
          <p:cNvPr id="37" name="auto350-mb1"/>
          <p:cNvSpPr txBox="1"/>
          <p:nvPr/>
        </p:nvSpPr>
        <p:spPr>
          <a:xfrm>
            <a:off x="3584448" y="5120640"/>
            <a:ext cx="2240280" cy="457200"/>
          </a:xfrm>
          <a:prstGeom prst="rect">
            <a:avLst/>
          </a:prstGeom>
          <a:noFill/>
          <a:ln/>
        </p:spPr>
        <p:txBody>
          <a:bodyPr wrap="square" lIns="0" tIns="0" rIns="0" bIns="0" rtlCol="0" anchor="t"/>
          <a:lstStyle/>
          <a:p>
            <a:pPr indent="0" marL="0">
              <a:buNone/>
            </a:pPr>
            <a:r>
              <a:rPr lang="en-US" sz="1000" dirty="0">
                <a:solidFill>
                  <a:srgbClr val="5B577E"/>
                </a:solidFill>
                <a:latin typeface="Poppins" pitchFamily="34" charset="0"/>
                <a:ea typeface="Poppins" pitchFamily="34" charset="-122"/>
                <a:cs typeface="Poppins" pitchFamily="34" charset="-120"/>
              </a:rPr>
              <a:t>Runs the models, checks the results</a:t>
            </a:r>
            <a:endParaRPr lang="en-US" sz="1000" dirty="0"/>
          </a:p>
        </p:txBody>
      </p:sp>
      <p:sp>
        <p:nvSpPr>
          <p:cNvPr id="38" name="auto500-mc2"/>
          <p:cNvSpPr/>
          <p:nvPr/>
        </p:nvSpPr>
        <p:spPr>
          <a:xfrm>
            <a:off x="6163056" y="4206240"/>
            <a:ext cx="2651760" cy="1463040"/>
          </a:xfrm>
          <a:prstGeom prst="roundRect">
            <a:avLst>
              <a:gd name="adj" fmla="val 8750"/>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39" name="auto500-md2"/>
          <p:cNvSpPr/>
          <p:nvPr/>
        </p:nvSpPr>
        <p:spPr>
          <a:xfrm>
            <a:off x="6391656" y="4407408"/>
            <a:ext cx="566928" cy="566928"/>
          </a:xfrm>
          <a:prstGeom prst="ellipse">
            <a:avLst/>
          </a:prstGeom>
          <a:solidFill>
            <a:srgbClr val="D97706"/>
          </a:solidFill>
          <a:ln/>
        </p:spPr>
      </p:sp>
      <p:sp>
        <p:nvSpPr>
          <p:cNvPr id="40" name="auto500-mi2"/>
          <p:cNvSpPr txBox="1"/>
          <p:nvPr/>
        </p:nvSpPr>
        <p:spPr>
          <a:xfrm>
            <a:off x="6391656" y="440740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Lora" pitchFamily="34" charset="0"/>
                <a:ea typeface="Lora" pitchFamily="34" charset="-122"/>
                <a:cs typeface="Lora" pitchFamily="34" charset="-120"/>
              </a:rPr>
              <a:t>A</a:t>
            </a:r>
            <a:endParaRPr lang="en-US" sz="2000" dirty="0"/>
          </a:p>
        </p:txBody>
      </p:sp>
      <p:sp>
        <p:nvSpPr>
          <p:cNvPr id="41" name="auto500-mn2"/>
          <p:cNvSpPr txBox="1"/>
          <p:nvPr/>
        </p:nvSpPr>
        <p:spPr>
          <a:xfrm>
            <a:off x="7077456" y="4425696"/>
            <a:ext cx="1691640" cy="292608"/>
          </a:xfrm>
          <a:prstGeom prst="rect">
            <a:avLst/>
          </a:prstGeom>
          <a:noFill/>
          <a:ln/>
        </p:spPr>
        <p:txBody>
          <a:bodyPr wrap="square" lIns="0" tIns="0" rIns="0" bIns="0" rtlCol="0" anchor="t"/>
          <a:lstStyle/>
          <a:p>
            <a:pPr indent="0" marL="0">
              <a:buNone/>
            </a:pPr>
            <a:r>
              <a:rPr lang="en-US" sz="1500" b="1" dirty="0">
                <a:solidFill>
                  <a:srgbClr val="1E1A4D"/>
                </a:solidFill>
                <a:latin typeface="Poppins" pitchFamily="34" charset="0"/>
                <a:ea typeface="Poppins" pitchFamily="34" charset="-122"/>
                <a:cs typeface="Poppins" pitchFamily="34" charset="-120"/>
              </a:rPr>
              <a:t>Aaditya</a:t>
            </a:r>
            <a:endParaRPr lang="en-US" sz="1500" dirty="0"/>
          </a:p>
        </p:txBody>
      </p:sp>
      <p:sp>
        <p:nvSpPr>
          <p:cNvPr id="42" name="auto500-mr2"/>
          <p:cNvSpPr txBox="1"/>
          <p:nvPr/>
        </p:nvSpPr>
        <p:spPr>
          <a:xfrm>
            <a:off x="7077456" y="4718304"/>
            <a:ext cx="1691640" cy="256032"/>
          </a:xfrm>
          <a:prstGeom prst="rect">
            <a:avLst/>
          </a:prstGeom>
          <a:noFill/>
          <a:ln/>
        </p:spPr>
        <p:txBody>
          <a:bodyPr wrap="square" lIns="0" tIns="0" rIns="0" bIns="0" rtlCol="0" anchor="t"/>
          <a:lstStyle/>
          <a:p>
            <a:pPr indent="0" marL="0">
              <a:buNone/>
            </a:pPr>
            <a:r>
              <a:rPr lang="en-US" sz="850" b="1" dirty="0">
                <a:solidFill>
                  <a:srgbClr val="D97706"/>
                </a:solidFill>
                <a:latin typeface="Poppins" pitchFamily="34" charset="0"/>
                <a:ea typeface="Poppins" pitchFamily="34" charset="-122"/>
                <a:cs typeface="Poppins" pitchFamily="34" charset="-120"/>
              </a:rPr>
              <a:t>Dataset &amp; design</a:t>
            </a:r>
            <a:endParaRPr lang="en-US" sz="850" dirty="0"/>
          </a:p>
        </p:txBody>
      </p:sp>
      <p:sp>
        <p:nvSpPr>
          <p:cNvPr id="43" name="auto500-mb2"/>
          <p:cNvSpPr txBox="1"/>
          <p:nvPr/>
        </p:nvSpPr>
        <p:spPr>
          <a:xfrm>
            <a:off x="6391656" y="5120640"/>
            <a:ext cx="2240280" cy="457200"/>
          </a:xfrm>
          <a:prstGeom prst="rect">
            <a:avLst/>
          </a:prstGeom>
          <a:noFill/>
          <a:ln/>
        </p:spPr>
        <p:txBody>
          <a:bodyPr wrap="square" lIns="0" tIns="0" rIns="0" bIns="0" rtlCol="0" anchor="t"/>
          <a:lstStyle/>
          <a:p>
            <a:pPr indent="0" marL="0">
              <a:buNone/>
            </a:pPr>
            <a:r>
              <a:rPr lang="en-US" sz="1000" dirty="0">
                <a:solidFill>
                  <a:srgbClr val="5B577E"/>
                </a:solidFill>
                <a:latin typeface="Poppins" pitchFamily="34" charset="0"/>
                <a:ea typeface="Poppins" pitchFamily="34" charset="-122"/>
                <a:cs typeface="Poppins" pitchFamily="34" charset="-120"/>
              </a:rPr>
              <a:t>Coding tasks, prompts, design</a:t>
            </a:r>
            <a:endParaRPr lang="en-US" sz="1000" dirty="0"/>
          </a:p>
        </p:txBody>
      </p:sp>
      <p:sp>
        <p:nvSpPr>
          <p:cNvPr id="44" name="auto650-mc3"/>
          <p:cNvSpPr/>
          <p:nvPr/>
        </p:nvSpPr>
        <p:spPr>
          <a:xfrm>
            <a:off x="8970264" y="4206240"/>
            <a:ext cx="2651760" cy="1463040"/>
          </a:xfrm>
          <a:prstGeom prst="roundRect">
            <a:avLst>
              <a:gd name="adj" fmla="val 8750"/>
            </a:avLst>
          </a:prstGeom>
          <a:solidFill>
            <a:srgbClr val="FFFFFF"/>
          </a:solidFill>
          <a:ln w="12700">
            <a:solidFill>
              <a:srgbClr val="DCD6F7"/>
            </a:solidFill>
            <a:prstDash val="solid"/>
          </a:ln>
          <a:effectLst>
            <a:outerShdw sx="100000" sy="100000" kx="0" ky="0" algn="bl" rotWithShape="0" blurRad="152400" dist="38100" dir="5400000">
              <a:srgbClr val="6C5CE7">
                <a:alpha val="16000"/>
              </a:srgbClr>
            </a:outerShdw>
          </a:effectLst>
        </p:spPr>
      </p:sp>
      <p:sp>
        <p:nvSpPr>
          <p:cNvPr id="45" name="auto650-md3"/>
          <p:cNvSpPr/>
          <p:nvPr/>
        </p:nvSpPr>
        <p:spPr>
          <a:xfrm>
            <a:off x="9198864" y="4407408"/>
            <a:ext cx="566928" cy="566928"/>
          </a:xfrm>
          <a:prstGeom prst="ellipse">
            <a:avLst/>
          </a:prstGeom>
          <a:solidFill>
            <a:srgbClr val="C2477D"/>
          </a:solidFill>
          <a:ln/>
        </p:spPr>
      </p:sp>
      <p:sp>
        <p:nvSpPr>
          <p:cNvPr id="46" name="auto650-mi3"/>
          <p:cNvSpPr txBox="1"/>
          <p:nvPr/>
        </p:nvSpPr>
        <p:spPr>
          <a:xfrm>
            <a:off x="9198864" y="440740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Lora" pitchFamily="34" charset="0"/>
                <a:ea typeface="Lora" pitchFamily="34" charset="-122"/>
                <a:cs typeface="Lora" pitchFamily="34" charset="-120"/>
              </a:rPr>
              <a:t>A</a:t>
            </a:r>
            <a:endParaRPr lang="en-US" sz="2000" dirty="0"/>
          </a:p>
        </p:txBody>
      </p:sp>
      <p:sp>
        <p:nvSpPr>
          <p:cNvPr id="47" name="auto650-mn3"/>
          <p:cNvSpPr txBox="1"/>
          <p:nvPr/>
        </p:nvSpPr>
        <p:spPr>
          <a:xfrm>
            <a:off x="9884664" y="4425696"/>
            <a:ext cx="1691640" cy="292608"/>
          </a:xfrm>
          <a:prstGeom prst="rect">
            <a:avLst/>
          </a:prstGeom>
          <a:noFill/>
          <a:ln/>
        </p:spPr>
        <p:txBody>
          <a:bodyPr wrap="square" lIns="0" tIns="0" rIns="0" bIns="0" rtlCol="0" anchor="t"/>
          <a:lstStyle/>
          <a:p>
            <a:pPr indent="0" marL="0">
              <a:buNone/>
            </a:pPr>
            <a:r>
              <a:rPr lang="en-US" sz="1500" b="1" dirty="0">
                <a:solidFill>
                  <a:srgbClr val="1E1A4D"/>
                </a:solidFill>
                <a:latin typeface="Poppins" pitchFamily="34" charset="0"/>
                <a:ea typeface="Poppins" pitchFamily="34" charset="-122"/>
                <a:cs typeface="Poppins" pitchFamily="34" charset="-120"/>
              </a:rPr>
              <a:t>Aaliya</a:t>
            </a:r>
            <a:endParaRPr lang="en-US" sz="1500" dirty="0"/>
          </a:p>
        </p:txBody>
      </p:sp>
      <p:sp>
        <p:nvSpPr>
          <p:cNvPr id="48" name="auto650-mr3"/>
          <p:cNvSpPr txBox="1"/>
          <p:nvPr/>
        </p:nvSpPr>
        <p:spPr>
          <a:xfrm>
            <a:off x="9884664" y="4718304"/>
            <a:ext cx="1691640" cy="256032"/>
          </a:xfrm>
          <a:prstGeom prst="rect">
            <a:avLst/>
          </a:prstGeom>
          <a:noFill/>
          <a:ln/>
        </p:spPr>
        <p:txBody>
          <a:bodyPr wrap="square" lIns="0" tIns="0" rIns="0" bIns="0" rtlCol="0" anchor="t"/>
          <a:lstStyle/>
          <a:p>
            <a:pPr indent="0" marL="0">
              <a:buNone/>
            </a:pPr>
            <a:r>
              <a:rPr lang="en-US" sz="850" b="1" dirty="0">
                <a:solidFill>
                  <a:srgbClr val="C2477D"/>
                </a:solidFill>
                <a:latin typeface="Poppins" pitchFamily="34" charset="0"/>
                <a:ea typeface="Poppins" pitchFamily="34" charset="-122"/>
                <a:cs typeface="Poppins" pitchFamily="34" charset="-120"/>
              </a:rPr>
              <a:t>Research &amp; presentation</a:t>
            </a:r>
            <a:endParaRPr lang="en-US" sz="850" dirty="0"/>
          </a:p>
        </p:txBody>
      </p:sp>
      <p:sp>
        <p:nvSpPr>
          <p:cNvPr id="49" name="auto650-mb3"/>
          <p:cNvSpPr txBox="1"/>
          <p:nvPr/>
        </p:nvSpPr>
        <p:spPr>
          <a:xfrm>
            <a:off x="9198864" y="5120640"/>
            <a:ext cx="2240280" cy="457200"/>
          </a:xfrm>
          <a:prstGeom prst="rect">
            <a:avLst/>
          </a:prstGeom>
          <a:noFill/>
          <a:ln/>
        </p:spPr>
        <p:txBody>
          <a:bodyPr wrap="square" lIns="0" tIns="0" rIns="0" bIns="0" rtlCol="0" anchor="t"/>
          <a:lstStyle/>
          <a:p>
            <a:pPr indent="0" marL="0">
              <a:buNone/>
            </a:pPr>
            <a:r>
              <a:rPr lang="en-US" sz="1000" dirty="0">
                <a:solidFill>
                  <a:srgbClr val="5B577E"/>
                </a:solidFill>
                <a:latin typeface="Poppins" pitchFamily="34" charset="0"/>
                <a:ea typeface="Poppins" pitchFamily="34" charset="-122"/>
                <a:cs typeface="Poppins" pitchFamily="34" charset="-120"/>
              </a:rPr>
              <a:t>Problem research, the pitch</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75" dur="indefinite" nodeType="mainSeq">
                <p:childTnLst>
                  <p:par>
                    <p:cTn id="76" fill="hold">
                      <p:stCondLst>
                        <p:cond delay="indefinite"/>
                        <p:cond evt="onBegin" delay="0">
                          <p:tn val="75"/>
                        </p:cond>
                      </p:stCondLst>
                      <p:childTnLst>
                        <p:par>
                          <p:cTn id="77" fill="hold">
                            <p:stCondLst>
                              <p:cond delay="0"/>
                            </p:stCondLst>
                            <p:childTnLst>
                              <p:par>
                                <p:cTn id="5" presetID="10" presetClass="entr" presetSubtype="0" fill="hold" grpId="0" nodeType="withEffect">
                                  <p:stCondLst>
                                    <p:cond delay="200"/>
                                  </p:stCondLst>
                                  <p:childTnLst>
                                    <p:set>
                                      <p:cBhvr>
                                        <p:cTn id="3" dur="1" fill="hold">
                                          <p:stCondLst>
                                            <p:cond delay="0"/>
                                          </p:stCondLst>
                                        </p:cTn>
                                        <p:tgtEl>
                                          <p:spTgt spid="26"/>
                                        </p:tgtEl>
                                        <p:attrNameLst>
                                          <p:attrName>style.visibility</p:attrName>
                                        </p:attrNameLst>
                                      </p:cBhvr>
                                      <p:to>
                                        <p:strVal val="visible"/>
                                      </p:to>
                                    </p:set>
                                    <p:animEffect transition="in" filter="fade">
                                      <p:cBhvr>
                                        <p:cTn id="4" dur="450"/>
                                        <p:tgtEl>
                                          <p:spTgt spid="26"/>
                                        </p:tgtEl>
                                      </p:cBhvr>
                                    </p:animEffect>
                                  </p:childTnLst>
                                </p:cTn>
                              </p:par>
                              <p:par>
                                <p:cTn id="8" presetID="10" presetClass="entr" presetSubtype="0" fill="hold" grpId="0" nodeType="withEffect">
                                  <p:stCondLst>
                                    <p:cond delay="20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50"/>
                                        <p:tgtEl>
                                          <p:spTgt spid="27"/>
                                        </p:tgtEl>
                                      </p:cBhvr>
                                    </p:animEffect>
                                  </p:childTnLst>
                                </p:cTn>
                              </p:par>
                              <p:par>
                                <p:cTn id="11" presetID="10" presetClass="entr" presetSubtype="0" fill="hold" grpId="0" nodeType="withEffect">
                                  <p:stCondLst>
                                    <p:cond delay="20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450"/>
                                        <p:tgtEl>
                                          <p:spTgt spid="28"/>
                                        </p:tgtEl>
                                      </p:cBhvr>
                                    </p:animEffect>
                                  </p:childTnLst>
                                </p:cTn>
                              </p:par>
                              <p:par>
                                <p:cTn id="14" presetID="10" presetClass="entr" presetSubtype="0" fill="hold" grpId="0" nodeType="withEffect">
                                  <p:stCondLst>
                                    <p:cond delay="20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450"/>
                                        <p:tgtEl>
                                          <p:spTgt spid="29"/>
                                        </p:tgtEl>
                                      </p:cBhvr>
                                    </p:animEffect>
                                  </p:childTnLst>
                                </p:cTn>
                              </p:par>
                              <p:par>
                                <p:cTn id="17" presetID="10" presetClass="entr" presetSubtype="0" fill="hold" grpId="0" nodeType="withEffect">
                                  <p:stCondLst>
                                    <p:cond delay="20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450"/>
                                        <p:tgtEl>
                                          <p:spTgt spid="30"/>
                                        </p:tgtEl>
                                      </p:cBhvr>
                                    </p:animEffect>
                                  </p:childTnLst>
                                </p:cTn>
                              </p:par>
                              <p:par>
                                <p:cTn id="20" presetID="10" presetClass="entr" presetSubtype="0" fill="hold" grpId="0" nodeType="withEffect">
                                  <p:stCondLst>
                                    <p:cond delay="20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450"/>
                                        <p:tgtEl>
                                          <p:spTgt spid="31"/>
                                        </p:tgtEl>
                                      </p:cBhvr>
                                    </p:animEffect>
                                  </p:childTnLst>
                                </p:cTn>
                              </p:par>
                              <p:par>
                                <p:cTn id="23" presetID="10" presetClass="entr" presetSubtype="0" fill="hold" grpId="0" nodeType="withEffect">
                                  <p:stCondLst>
                                    <p:cond delay="35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50"/>
                                        <p:tgtEl>
                                          <p:spTgt spid="32"/>
                                        </p:tgtEl>
                                      </p:cBhvr>
                                    </p:animEffect>
                                  </p:childTnLst>
                                </p:cTn>
                              </p:par>
                              <p:par>
                                <p:cTn id="26" presetID="10" presetClass="entr" presetSubtype="0" fill="hold" grpId="0" nodeType="withEffect">
                                  <p:stCondLst>
                                    <p:cond delay="35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450"/>
                                        <p:tgtEl>
                                          <p:spTgt spid="33"/>
                                        </p:tgtEl>
                                      </p:cBhvr>
                                    </p:animEffect>
                                  </p:childTnLst>
                                </p:cTn>
                              </p:par>
                              <p:par>
                                <p:cTn id="29" presetID="10" presetClass="entr" presetSubtype="0" fill="hold" grpId="0" nodeType="withEffect">
                                  <p:stCondLst>
                                    <p:cond delay="35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450"/>
                                        <p:tgtEl>
                                          <p:spTgt spid="34"/>
                                        </p:tgtEl>
                                      </p:cBhvr>
                                    </p:animEffect>
                                  </p:childTnLst>
                                </p:cTn>
                              </p:par>
                              <p:par>
                                <p:cTn id="32" presetID="10" presetClass="entr" presetSubtype="0" fill="hold" grpId="0" nodeType="withEffect">
                                  <p:stCondLst>
                                    <p:cond delay="35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450"/>
                                        <p:tgtEl>
                                          <p:spTgt spid="35"/>
                                        </p:tgtEl>
                                      </p:cBhvr>
                                    </p:animEffect>
                                  </p:childTnLst>
                                </p:cTn>
                              </p:par>
                              <p:par>
                                <p:cTn id="35" presetID="10" presetClass="entr" presetSubtype="0" fill="hold" grpId="0" nodeType="withEffect">
                                  <p:stCondLst>
                                    <p:cond delay="35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450"/>
                                        <p:tgtEl>
                                          <p:spTgt spid="36"/>
                                        </p:tgtEl>
                                      </p:cBhvr>
                                    </p:animEffect>
                                  </p:childTnLst>
                                </p:cTn>
                              </p:par>
                              <p:par>
                                <p:cTn id="38" presetID="10" presetClass="entr" presetSubtype="0" fill="hold" grpId="0" nodeType="withEffect">
                                  <p:stCondLst>
                                    <p:cond delay="35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450"/>
                                        <p:tgtEl>
                                          <p:spTgt spid="37"/>
                                        </p:tgtEl>
                                      </p:cBhvr>
                                    </p:animEffect>
                                  </p:childTnLst>
                                </p:cTn>
                              </p:par>
                              <p:par>
                                <p:cTn id="41" presetID="10" presetClass="entr" presetSubtype="0" fill="hold" grpId="0" nodeType="withEffect">
                                  <p:stCondLst>
                                    <p:cond delay="50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450"/>
                                        <p:tgtEl>
                                          <p:spTgt spid="38"/>
                                        </p:tgtEl>
                                      </p:cBhvr>
                                    </p:animEffect>
                                  </p:childTnLst>
                                </p:cTn>
                              </p:par>
                              <p:par>
                                <p:cTn id="44" presetID="10" presetClass="entr" presetSubtype="0" fill="hold" grpId="0" nodeType="withEffect">
                                  <p:stCondLst>
                                    <p:cond delay="50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450"/>
                                        <p:tgtEl>
                                          <p:spTgt spid="39"/>
                                        </p:tgtEl>
                                      </p:cBhvr>
                                    </p:animEffect>
                                  </p:childTnLst>
                                </p:cTn>
                              </p:par>
                              <p:par>
                                <p:cTn id="47" presetID="10" presetClass="entr" presetSubtype="0" fill="hold" grpId="0" nodeType="withEffect">
                                  <p:stCondLst>
                                    <p:cond delay="50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450"/>
                                        <p:tgtEl>
                                          <p:spTgt spid="40"/>
                                        </p:tgtEl>
                                      </p:cBhvr>
                                    </p:animEffect>
                                  </p:childTnLst>
                                </p:cTn>
                              </p:par>
                              <p:par>
                                <p:cTn id="50" presetID="10" presetClass="entr" presetSubtype="0" fill="hold" grpId="0" nodeType="withEffect">
                                  <p:stCondLst>
                                    <p:cond delay="500"/>
                                  </p:stCondLst>
                                  <p:childTnLst>
                                    <p:set>
                                      <p:cBhvr>
                                        <p:cTn id="48" dur="1" fill="hold">
                                          <p:stCondLst>
                                            <p:cond delay="0"/>
                                          </p:stCondLst>
                                        </p:cTn>
                                        <p:tgtEl>
                                          <p:spTgt spid="41"/>
                                        </p:tgtEl>
                                        <p:attrNameLst>
                                          <p:attrName>style.visibility</p:attrName>
                                        </p:attrNameLst>
                                      </p:cBhvr>
                                      <p:to>
                                        <p:strVal val="visible"/>
                                      </p:to>
                                    </p:set>
                                    <p:animEffect transition="in" filter="fade">
                                      <p:cBhvr>
                                        <p:cTn id="49" dur="450"/>
                                        <p:tgtEl>
                                          <p:spTgt spid="41"/>
                                        </p:tgtEl>
                                      </p:cBhvr>
                                    </p:animEffect>
                                  </p:childTnLst>
                                </p:cTn>
                              </p:par>
                              <p:par>
                                <p:cTn id="53" presetID="10" presetClass="entr" presetSubtype="0" fill="hold" grpId="0" nodeType="withEffect">
                                  <p:stCondLst>
                                    <p:cond delay="500"/>
                                  </p:stCondLst>
                                  <p:childTnLst>
                                    <p:set>
                                      <p:cBhvr>
                                        <p:cTn id="51" dur="1" fill="hold">
                                          <p:stCondLst>
                                            <p:cond delay="0"/>
                                          </p:stCondLst>
                                        </p:cTn>
                                        <p:tgtEl>
                                          <p:spTgt spid="42"/>
                                        </p:tgtEl>
                                        <p:attrNameLst>
                                          <p:attrName>style.visibility</p:attrName>
                                        </p:attrNameLst>
                                      </p:cBhvr>
                                      <p:to>
                                        <p:strVal val="visible"/>
                                      </p:to>
                                    </p:set>
                                    <p:animEffect transition="in" filter="fade">
                                      <p:cBhvr>
                                        <p:cTn id="52" dur="450"/>
                                        <p:tgtEl>
                                          <p:spTgt spid="42"/>
                                        </p:tgtEl>
                                      </p:cBhvr>
                                    </p:animEffect>
                                  </p:childTnLst>
                                </p:cTn>
                              </p:par>
                              <p:par>
                                <p:cTn id="56" presetID="10" presetClass="entr" presetSubtype="0" fill="hold" grpId="0" nodeType="withEffect">
                                  <p:stCondLst>
                                    <p:cond delay="500"/>
                                  </p:stCondLst>
                                  <p:childTnLst>
                                    <p:set>
                                      <p:cBhvr>
                                        <p:cTn id="54" dur="1" fill="hold">
                                          <p:stCondLst>
                                            <p:cond delay="0"/>
                                          </p:stCondLst>
                                        </p:cTn>
                                        <p:tgtEl>
                                          <p:spTgt spid="43"/>
                                        </p:tgtEl>
                                        <p:attrNameLst>
                                          <p:attrName>style.visibility</p:attrName>
                                        </p:attrNameLst>
                                      </p:cBhvr>
                                      <p:to>
                                        <p:strVal val="visible"/>
                                      </p:to>
                                    </p:set>
                                    <p:animEffect transition="in" filter="fade">
                                      <p:cBhvr>
                                        <p:cTn id="55" dur="450"/>
                                        <p:tgtEl>
                                          <p:spTgt spid="43"/>
                                        </p:tgtEl>
                                      </p:cBhvr>
                                    </p:animEffect>
                                  </p:childTnLst>
                                </p:cTn>
                              </p:par>
                              <p:par>
                                <p:cTn id="59" presetID="10" presetClass="entr" presetSubtype="0" fill="hold" grpId="0" nodeType="withEffect">
                                  <p:stCondLst>
                                    <p:cond delay="650"/>
                                  </p:stCondLst>
                                  <p:childTnLst>
                                    <p:set>
                                      <p:cBhvr>
                                        <p:cTn id="57" dur="1" fill="hold">
                                          <p:stCondLst>
                                            <p:cond delay="0"/>
                                          </p:stCondLst>
                                        </p:cTn>
                                        <p:tgtEl>
                                          <p:spTgt spid="44"/>
                                        </p:tgtEl>
                                        <p:attrNameLst>
                                          <p:attrName>style.visibility</p:attrName>
                                        </p:attrNameLst>
                                      </p:cBhvr>
                                      <p:to>
                                        <p:strVal val="visible"/>
                                      </p:to>
                                    </p:set>
                                    <p:animEffect transition="in" filter="fade">
                                      <p:cBhvr>
                                        <p:cTn id="58" dur="450"/>
                                        <p:tgtEl>
                                          <p:spTgt spid="44"/>
                                        </p:tgtEl>
                                      </p:cBhvr>
                                    </p:animEffect>
                                  </p:childTnLst>
                                </p:cTn>
                              </p:par>
                              <p:par>
                                <p:cTn id="62" presetID="10" presetClass="entr" presetSubtype="0" fill="hold" grpId="0" nodeType="withEffect">
                                  <p:stCondLst>
                                    <p:cond delay="650"/>
                                  </p:stCondLst>
                                  <p:childTnLst>
                                    <p:set>
                                      <p:cBhvr>
                                        <p:cTn id="60" dur="1" fill="hold">
                                          <p:stCondLst>
                                            <p:cond delay="0"/>
                                          </p:stCondLst>
                                        </p:cTn>
                                        <p:tgtEl>
                                          <p:spTgt spid="45"/>
                                        </p:tgtEl>
                                        <p:attrNameLst>
                                          <p:attrName>style.visibility</p:attrName>
                                        </p:attrNameLst>
                                      </p:cBhvr>
                                      <p:to>
                                        <p:strVal val="visible"/>
                                      </p:to>
                                    </p:set>
                                    <p:animEffect transition="in" filter="fade">
                                      <p:cBhvr>
                                        <p:cTn id="61" dur="450"/>
                                        <p:tgtEl>
                                          <p:spTgt spid="45"/>
                                        </p:tgtEl>
                                      </p:cBhvr>
                                    </p:animEffect>
                                  </p:childTnLst>
                                </p:cTn>
                              </p:par>
                              <p:par>
                                <p:cTn id="65" presetID="10" presetClass="entr" presetSubtype="0" fill="hold" grpId="0" nodeType="withEffect">
                                  <p:stCondLst>
                                    <p:cond delay="650"/>
                                  </p:stCondLst>
                                  <p:childTnLst>
                                    <p:set>
                                      <p:cBhvr>
                                        <p:cTn id="63" dur="1" fill="hold">
                                          <p:stCondLst>
                                            <p:cond delay="0"/>
                                          </p:stCondLst>
                                        </p:cTn>
                                        <p:tgtEl>
                                          <p:spTgt spid="46"/>
                                        </p:tgtEl>
                                        <p:attrNameLst>
                                          <p:attrName>style.visibility</p:attrName>
                                        </p:attrNameLst>
                                      </p:cBhvr>
                                      <p:to>
                                        <p:strVal val="visible"/>
                                      </p:to>
                                    </p:set>
                                    <p:animEffect transition="in" filter="fade">
                                      <p:cBhvr>
                                        <p:cTn id="64" dur="450"/>
                                        <p:tgtEl>
                                          <p:spTgt spid="46"/>
                                        </p:tgtEl>
                                      </p:cBhvr>
                                    </p:animEffect>
                                  </p:childTnLst>
                                </p:cTn>
                              </p:par>
                              <p:par>
                                <p:cTn id="68" presetID="10" presetClass="entr" presetSubtype="0" fill="hold" grpId="0" nodeType="withEffect">
                                  <p:stCondLst>
                                    <p:cond delay="65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450"/>
                                        <p:tgtEl>
                                          <p:spTgt spid="47"/>
                                        </p:tgtEl>
                                      </p:cBhvr>
                                    </p:animEffect>
                                  </p:childTnLst>
                                </p:cTn>
                              </p:par>
                              <p:par>
                                <p:cTn id="71" presetID="10" presetClass="entr" presetSubtype="0" fill="hold" grpId="0" nodeType="withEffect">
                                  <p:stCondLst>
                                    <p:cond delay="650"/>
                                  </p:stCondLst>
                                  <p:childTnLst>
                                    <p:set>
                                      <p:cBhvr>
                                        <p:cTn id="69" dur="1" fill="hold">
                                          <p:stCondLst>
                                            <p:cond delay="0"/>
                                          </p:stCondLst>
                                        </p:cTn>
                                        <p:tgtEl>
                                          <p:spTgt spid="48"/>
                                        </p:tgtEl>
                                        <p:attrNameLst>
                                          <p:attrName>style.visibility</p:attrName>
                                        </p:attrNameLst>
                                      </p:cBhvr>
                                      <p:to>
                                        <p:strVal val="visible"/>
                                      </p:to>
                                    </p:set>
                                    <p:animEffect transition="in" filter="fade">
                                      <p:cBhvr>
                                        <p:cTn id="70" dur="450"/>
                                        <p:tgtEl>
                                          <p:spTgt spid="48"/>
                                        </p:tgtEl>
                                      </p:cBhvr>
                                    </p:animEffect>
                                  </p:childTnLst>
                                </p:cTn>
                              </p:par>
                              <p:par>
                                <p:cTn id="74" presetID="10" presetClass="entr" presetSubtype="0" fill="hold" grpId="0" nodeType="withEffect">
                                  <p:stCondLst>
                                    <p:cond delay="650"/>
                                  </p:stCondLst>
                                  <p:childTnLst>
                                    <p:set>
                                      <p:cBhvr>
                                        <p:cTn id="72" dur="1" fill="hold">
                                          <p:stCondLst>
                                            <p:cond delay="0"/>
                                          </p:stCondLst>
                                        </p:cTn>
                                        <p:tgtEl>
                                          <p:spTgt spid="49"/>
                                        </p:tgtEl>
                                        <p:attrNameLst>
                                          <p:attrName>style.visibility</p:attrName>
                                        </p:attrNameLst>
                                      </p:cBhvr>
                                      <p:to>
                                        <p:strVal val="visible"/>
                                      </p:to>
                                    </p:set>
                                    <p:animEffect transition="in" filter="fade">
                                      <p:cBhvr>
                                        <p:cTn id="73" dur="45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or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MixCheck - AVISHKAR 2026</dc:title>
  <dc:subject>PptxGenJS Presentation</dc:subject>
  <dc:creator>Team El Rata Alada</dc:creator>
  <cp:lastModifiedBy>Team El Rata Alada</cp:lastModifiedBy>
  <cp:revision>1</cp:revision>
  <dcterms:created xsi:type="dcterms:W3CDTF">2026-10-31T07:26:02Z</dcterms:created>
  <dcterms:modified xsi:type="dcterms:W3CDTF">2026-10-31T07:26:02Z</dcterms:modified>
</cp:coreProperties>
</file>