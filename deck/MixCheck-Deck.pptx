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Aaliya opens: Hi, we are El Rata Alada. Our project is MixCheck. Millions of us ask AI for code the way we talk: in Hinglish, Benglish, Kanglish. We tested what that does to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314.9 million Indians are bilingual. We type to AI the way we talk. But AI coding tools are tested in clean English. Nobody measures what mixing languages does to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Tanmay or Aaliya: Here is one real task from our 25. Write indian_format: 1234567 becomes 12,34,567. In clean English, all three models pass.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task in casual Hinglish. GPT-OSS 120B's code now crashes on 1000. Same model, same task, only the language changed.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Casual Benglish. GPT-OSS 20B named the function bhai_indian_format. It thought 'bhai' was part of the name. Any code calling indian_format breaks.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Kanglish, our lowest-resource mix. Both GPT-OSS models ignored 'bari code kodu', only code, and wrote essays, partly in Kannada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25 tasks in 10 versions. We send each to 3 models, find the function in the reply, run it against test cases in a separate process, and give two scores: does the code work, and did the AI follow our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tasks, 10 ways of asking, 3 models: 750 answers, and every one was graded by actually running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grid: 3 models by 10 versions. Most cells are 96 to 100 percent. The red ones are mixed prompts; the lowest is GPT-OSS 120B on Kanglish. The small red English cells are an edge case all models found hard, plus 3 API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headline. Purple is correct code: it stays in the 90s for every language, Kanglish lowest. Orange is following instructions: casual English 100 percent, Kanglish 35. And 9 answers renamed the function, all from mixed prompts, zero from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ask a judge to pick. Click the button they choose. (It fails: the code ignores upper and lower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slips we found: the AI renames the function, ignores 'only code' and writes essays, or changes the inputs. Each is easy to fix by hand, but you only find out when the code runs. MixCheck runs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new: paired prompts, grading by running code, two scores, and low-resource mixes. Existing benchmarks either test code in single languages, or test mixed Hindi-English on understanding tasks. Nobody tests code generation from mixed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 stack: Python and pandas for data, Gemini and Groq APIs for the models, a subprocess runner with a 10 second limit for grading, and a Streamlit dashboard with custom interactive widgets. Free tiers, no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Tanmay: click 'Open the live dashboard' (the app must already be running: streamlit run app.py). If the internet is down, click Backup tour instead: the dial, grid and failures are saved as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it helps: AI tool builders, colleges and edtech, researchers, and every Indian developer. And the market for AI code tools is growing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model: the benchmark stays free and open. Teams pay for Pro, 799 rupees a month, to test their own model. Companies can buy a one-time audit before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native-speaker review of every prompt, more languages, several runs per prompt. Then voice. The vision is a public leaderboard that re-runs on every model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We're happy to take questions. (If asked about weaknesses, click 'Limits we know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Benglish prompt asked to ignore case; the code didn't. Then click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Benglish prompt asked to ignore case; the code didn't. Then click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screenshots of the real dashboard, for when the live demo can't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screenshots of the real dashboard, for when the live demo can't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screenshots of the real dashboard, for when the live demo can't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screenshots of the real dashboard, for when the live demo can't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if a judge asks about weaknesses.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1" Type="http://schemas.openxmlformats.org/officeDocument/2006/relationships/image" Target="../media/image-1-1.jpg"/><Relationship Id="rId2"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slideLayout" Target="../slideLayouts/slideLayout1.xml"/><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1" Type="http://schemas.openxmlformats.org/officeDocument/2006/relationships/image" Target="../media/image-2-1.jpg"/><Relationship Id="rId2"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1" Type="http://schemas.openxmlformats.org/officeDocument/2006/relationships/image" Target="../media/image-3-1.jpg"/><Relationship Id="rId2" Type="http://schemas.openxmlformats.org/officeDocument/2006/relationships/image" Target="../media/image-3-2.png"/><Relationship Id="rId8" Type="http://schemas.openxmlformats.org/officeDocument/2006/relationships/image" Target="../media/image-3-3.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1" Type="http://schemas.openxmlformats.org/officeDocument/2006/relationships/image" Target="../media/image-4-1.jpg"/><Relationship Id="rId2"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1" Type="http://schemas.openxmlformats.org/officeDocument/2006/relationships/image" Target="../media/image-5-1.jpg"/><Relationship Id="rId2" Type="http://schemas.openxmlformats.org/officeDocument/2006/relationships/image" Target="../media/image-5-2.png"/><Relationship Id="rId8" Type="http://schemas.openxmlformats.org/officeDocument/2006/relationships/image" Target="../media/image-5-3.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1" Type="http://schemas.openxmlformats.org/officeDocument/2006/relationships/image" Target="../media/image-6-1.jpg"/><Relationship Id="rId2" Type="http://schemas.openxmlformats.org/officeDocument/2006/relationships/image" Target="../media/image-6-2.png"/><Relationship Id="rId8" Type="http://schemas.openxmlformats.org/officeDocument/2006/relationships/image" Target="../media/image-6-3.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1" Type="http://schemas.openxmlformats.org/officeDocument/2006/relationships/image" Target="../media/image-7-1.jpg"/><Relationship Id="rId2" Type="http://schemas.openxmlformats.org/officeDocument/2006/relationships/image" Target="../media/image-7-2.png"/><Relationship Id="rId8" Type="http://schemas.openxmlformats.org/officeDocument/2006/relationships/image" Target="../media/image-7-3.png"/><Relationship Id="rId9" Type="http://schemas.openxmlformats.org/officeDocument/2006/relationships/image" Target="../media/image-7-4.png"/><Relationship Id="rId10" Type="http://schemas.openxmlformats.org/officeDocument/2006/relationships/image" Target="../media/image-7-5.png"/><Relationship Id="rId11" Type="http://schemas.openxmlformats.org/officeDocument/2006/relationships/image" Target="../media/image-7-4.png"/><Relationship Id="rId12" Type="http://schemas.openxmlformats.org/officeDocument/2006/relationships/image" Target="../media/image-7-7.png"/><Relationship Id="rId13" Type="http://schemas.openxmlformats.org/officeDocument/2006/relationships/image" Target="../media/image-7-4.png"/><Relationship Id="rId14" Type="http://schemas.openxmlformats.org/officeDocument/2006/relationships/image" Target="../media/image-7-9.png"/><Relationship Id="rId15" Type="http://schemas.openxmlformats.org/officeDocument/2006/relationships/image" Target="../media/image-7-4.png"/><Relationship Id="rId16" Type="http://schemas.openxmlformats.org/officeDocument/2006/relationships/image" Target="../media/image-7-11.png"/><Relationship Id="rId17" Type="http://schemas.openxmlformats.org/officeDocument/2006/relationships/slideLayout" Target="../slideLayouts/slideLayout1.xml"/><Relationship Id="rId1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1" Type="http://schemas.openxmlformats.org/officeDocument/2006/relationships/image" Target="../media/image-8-1.jpg"/><Relationship Id="rId2" Type="http://schemas.openxmlformats.org/officeDocument/2006/relationships/image" Target="../media/image-8-2.png"/><Relationship Id="rId8" Type="http://schemas.openxmlformats.org/officeDocument/2006/relationships/image" Target="../media/image-8-3.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8" Type="http://schemas.openxmlformats.org/officeDocument/2006/relationships/slide" Target="slide12.xml"/><Relationship Id="rId1" Type="http://schemas.openxmlformats.org/officeDocument/2006/relationships/image" Target="../media/image-9-1.jpg"/><Relationship Id="rId2" Type="http://schemas.openxmlformats.org/officeDocument/2006/relationships/image" Target="../media/image-9-2.png"/><Relationship Id="rId9" Type="http://schemas.openxmlformats.org/officeDocument/2006/relationships/image" Target="../media/image-9-3.pn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1" Type="http://schemas.openxmlformats.org/officeDocument/2006/relationships/image" Target="../media/image-10-1.jpg"/><Relationship Id="rId2" Type="http://schemas.openxmlformats.org/officeDocument/2006/relationships/image" Target="../media/image-10-2.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9" Type="http://schemas.openxmlformats.org/officeDocument/2006/relationships/slide" Target="slide21.xml"/><Relationship Id="rId10" Type="http://schemas.openxmlformats.org/officeDocument/2006/relationships/slide" Target="slide20.xml"/><Relationship Id="rId1" Type="http://schemas.openxmlformats.org/officeDocument/2006/relationships/image" Target="../media/image-11-1.jpg"/><Relationship Id="rId2" Type="http://schemas.openxmlformats.org/officeDocument/2006/relationships/image" Target="../media/image-11-2.png"/><Relationship Id="rId8" Type="http://schemas.openxmlformats.org/officeDocument/2006/relationships/image" Target="../media/image-11-3.png"/><Relationship Id="rId11" Type="http://schemas.openxmlformats.org/officeDocument/2006/relationships/slideLayout" Target="../slideLayouts/slideLayout1.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1" Type="http://schemas.openxmlformats.org/officeDocument/2006/relationships/image" Target="../media/image-12-1.jpg"/><Relationship Id="rId2" Type="http://schemas.openxmlformats.org/officeDocument/2006/relationships/image" Target="../media/image-12-2.png"/><Relationship Id="rId8" Type="http://schemas.openxmlformats.org/officeDocument/2006/relationships/image" Target="../media/image-12-3.png"/><Relationship Id="rId9" Type="http://schemas.openxmlformats.org/officeDocument/2006/relationships/image" Target="../media/image-12-4.png"/><Relationship Id="rId10" Type="http://schemas.openxmlformats.org/officeDocument/2006/relationships/image" Target="../media/image-12-5.png"/><Relationship Id="rId11" Type="http://schemas.openxmlformats.org/officeDocument/2006/relationships/image" Target="../media/image-12-6.png"/><Relationship Id="rId12" Type="http://schemas.openxmlformats.org/officeDocument/2006/relationships/slideLayout" Target="../slideLayouts/slideLayout1.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1" Type="http://schemas.openxmlformats.org/officeDocument/2006/relationships/image" Target="../media/image-13-1.jpg"/><Relationship Id="rId2" Type="http://schemas.openxmlformats.org/officeDocument/2006/relationships/image" Target="../media/image-13-2.png"/><Relationship Id="rId8" Type="http://schemas.openxmlformats.org/officeDocument/2006/relationships/image" Target="../media/image-13-3.png"/><Relationship Id="rId9" Type="http://schemas.openxmlformats.org/officeDocument/2006/relationships/image" Target="../media/image-13-4.png"/><Relationship Id="rId10" Type="http://schemas.openxmlformats.org/officeDocument/2006/relationships/image" Target="../media/image-13-5.png"/><Relationship Id="rId11" Type="http://schemas.openxmlformats.org/officeDocument/2006/relationships/image" Target="../media/image-13-6.png"/><Relationship Id="rId12" Type="http://schemas.openxmlformats.org/officeDocument/2006/relationships/image" Target="../media/image-13-7.png"/><Relationship Id="rId13" Type="http://schemas.openxmlformats.org/officeDocument/2006/relationships/image" Target="../media/image-13-7.png"/><Relationship Id="rId14" Type="http://schemas.openxmlformats.org/officeDocument/2006/relationships/image" Target="../media/image-13-9.png"/><Relationship Id="rId15" Type="http://schemas.openxmlformats.org/officeDocument/2006/relationships/image" Target="../media/image-13-7.png"/><Relationship Id="rId16" Type="http://schemas.openxmlformats.org/officeDocument/2006/relationships/image" Target="../media/image-13-9.png"/><Relationship Id="rId17" Type="http://schemas.openxmlformats.org/officeDocument/2006/relationships/image" Target="../media/image-13-9.png"/><Relationship Id="rId18" Type="http://schemas.openxmlformats.org/officeDocument/2006/relationships/image" Target="../media/image-13-7.png"/><Relationship Id="rId19" Type="http://schemas.openxmlformats.org/officeDocument/2006/relationships/image" Target="../media/image-13-7.png"/><Relationship Id="rId20" Type="http://schemas.openxmlformats.org/officeDocument/2006/relationships/image" Target="../media/image-13-9.png"/><Relationship Id="rId21" Type="http://schemas.openxmlformats.org/officeDocument/2006/relationships/image" Target="../media/image-13-9.png"/><Relationship Id="rId22" Type="http://schemas.openxmlformats.org/officeDocument/2006/relationships/image" Target="../media/image-13-7.png"/><Relationship Id="rId23" Type="http://schemas.openxmlformats.org/officeDocument/2006/relationships/image" Target="../media/image-13-7.png"/><Relationship Id="rId24" Type="http://schemas.openxmlformats.org/officeDocument/2006/relationships/image" Target="../media/image-13-9.png"/><Relationship Id="rId25" Type="http://schemas.openxmlformats.org/officeDocument/2006/relationships/image" Target="../media/image-13-9.png"/><Relationship Id="rId26" Type="http://schemas.openxmlformats.org/officeDocument/2006/relationships/image" Target="../media/image-13-9.png"/><Relationship Id="rId27" Type="http://schemas.openxmlformats.org/officeDocument/2006/relationships/image" Target="../media/image-13-9.png"/><Relationship Id="rId28" Type="http://schemas.openxmlformats.org/officeDocument/2006/relationships/slideLayout" Target="../slideLayouts/slideLayout1.xml"/><Relationship Id="rId2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1" Type="http://schemas.openxmlformats.org/officeDocument/2006/relationships/image" Target="../media/image-14-1.jpg"/><Relationship Id="rId2" Type="http://schemas.openxmlformats.org/officeDocument/2006/relationships/image" Target="../media/image-14-2.png"/><Relationship Id="rId8" Type="http://schemas.openxmlformats.org/officeDocument/2006/relationships/image" Target="../media/image-14-3.png"/><Relationship Id="rId9" Type="http://schemas.openxmlformats.org/officeDocument/2006/relationships/image" Target="../media/image-14-4.png"/><Relationship Id="rId10" Type="http://schemas.openxmlformats.org/officeDocument/2006/relationships/image" Target="../media/image-14-5.png"/><Relationship Id="rId11" Type="http://schemas.openxmlformats.org/officeDocument/2006/relationships/image" Target="../media/image-14-4.png"/><Relationship Id="rId12" Type="http://schemas.openxmlformats.org/officeDocument/2006/relationships/image" Target="../media/image-14-7.png"/><Relationship Id="rId13" Type="http://schemas.openxmlformats.org/officeDocument/2006/relationships/image" Target="../media/image-14-4.png"/><Relationship Id="rId14" Type="http://schemas.openxmlformats.org/officeDocument/2006/relationships/image" Target="../media/image-14-9.png"/><Relationship Id="rId15" Type="http://schemas.openxmlformats.org/officeDocument/2006/relationships/image" Target="../media/image-14-10.png"/><Relationship Id="rId16" Type="http://schemas.openxmlformats.org/officeDocument/2006/relationships/slideLayout" Target="../slideLayouts/slideLayout1.xml"/><Relationship Id="rId1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9" Type="http://schemas.openxmlformats.org/officeDocument/2006/relationships/hyperlink" Target="http://localhost:8501" TargetMode="External"/><Relationship Id="rId13" Type="http://schemas.openxmlformats.org/officeDocument/2006/relationships/slide" Target="slide22.xml"/><Relationship Id="rId1" Type="http://schemas.openxmlformats.org/officeDocument/2006/relationships/image" Target="../media/image-15-1.jpg"/><Relationship Id="rId2" Type="http://schemas.openxmlformats.org/officeDocument/2006/relationships/image" Target="../media/image-15-2.png"/><Relationship Id="rId8" Type="http://schemas.openxmlformats.org/officeDocument/2006/relationships/image" Target="../media/image-15-3.png"/><Relationship Id="rId10" Type="http://schemas.openxmlformats.org/officeDocument/2006/relationships/image" Target="../media/image-15-4.png"/><Relationship Id="rId11" Type="http://schemas.openxmlformats.org/officeDocument/2006/relationships/image" Target="../media/image-15-5.png"/><Relationship Id="rId12" Type="http://schemas.openxmlformats.org/officeDocument/2006/relationships/image" Target="../media/image-15-6.png"/><Relationship Id="rId14" Type="http://schemas.openxmlformats.org/officeDocument/2006/relationships/slideLayout" Target="../slideLayouts/slideLayout1.xml"/><Relationship Id="rId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1" Type="http://schemas.openxmlformats.org/officeDocument/2006/relationships/image" Target="../media/image-16-1.jpg"/><Relationship Id="rId2" Type="http://schemas.openxmlformats.org/officeDocument/2006/relationships/image" Target="../media/image-16-2.png"/><Relationship Id="rId8" Type="http://schemas.openxmlformats.org/officeDocument/2006/relationships/image" Target="../media/image-16-3.png"/><Relationship Id="rId9" Type="http://schemas.openxmlformats.org/officeDocument/2006/relationships/image" Target="../media/image-16-4.png"/><Relationship Id="rId10" Type="http://schemas.openxmlformats.org/officeDocument/2006/relationships/image" Target="../media/image-16-5.png"/><Relationship Id="rId11" Type="http://schemas.openxmlformats.org/officeDocument/2006/relationships/image" Target="../media/image-16-6.png"/><Relationship Id="rId12" Type="http://schemas.openxmlformats.org/officeDocument/2006/relationships/image" Target="../media/image-16-7.png"/><Relationship Id="rId13" Type="http://schemas.openxmlformats.org/officeDocument/2006/relationships/slideLayout" Target="../slideLayouts/slideLayout1.xml"/><Relationship Id="rId1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1" Type="http://schemas.openxmlformats.org/officeDocument/2006/relationships/image" Target="../media/image-17-1.jpg"/><Relationship Id="rId2" Type="http://schemas.openxmlformats.org/officeDocument/2006/relationships/image" Target="../media/image-17-2.png"/><Relationship Id="rId8" Type="http://schemas.openxmlformats.org/officeDocument/2006/relationships/image" Target="../media/image-17-3.png"/><Relationship Id="rId9" Type="http://schemas.openxmlformats.org/officeDocument/2006/relationships/image" Target="../media/image-17-4.png"/><Relationship Id="rId10" Type="http://schemas.openxmlformats.org/officeDocument/2006/relationships/image" Target="../media/image-17-4.png"/><Relationship Id="rId11" Type="http://schemas.openxmlformats.org/officeDocument/2006/relationships/image" Target="../media/image-17-4.png"/><Relationship Id="rId12" Type="http://schemas.openxmlformats.org/officeDocument/2006/relationships/image" Target="../media/image-17-7.png"/><Relationship Id="rId13" Type="http://schemas.openxmlformats.org/officeDocument/2006/relationships/image" Target="../media/image-17-4.png"/><Relationship Id="rId14" Type="http://schemas.openxmlformats.org/officeDocument/2006/relationships/image" Target="../media/image-17-4.png"/><Relationship Id="rId15" Type="http://schemas.openxmlformats.org/officeDocument/2006/relationships/image" Target="../media/image-17-4.png"/><Relationship Id="rId16" Type="http://schemas.openxmlformats.org/officeDocument/2006/relationships/image" Target="../media/image-17-11.png"/><Relationship Id="rId17" Type="http://schemas.openxmlformats.org/officeDocument/2006/relationships/image" Target="../media/image-17-4.png"/><Relationship Id="rId18" Type="http://schemas.openxmlformats.org/officeDocument/2006/relationships/image" Target="../media/image-17-4.png"/><Relationship Id="rId19" Type="http://schemas.openxmlformats.org/officeDocument/2006/relationships/image" Target="../media/image-17-4.png"/><Relationship Id="rId20" Type="http://schemas.openxmlformats.org/officeDocument/2006/relationships/slideLayout" Target="../slideLayouts/slideLayout1.xml"/><Relationship Id="rId2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1" Type="http://schemas.openxmlformats.org/officeDocument/2006/relationships/image" Target="../media/image-18-1.jpg"/><Relationship Id="rId2" Type="http://schemas.openxmlformats.org/officeDocument/2006/relationships/image" Target="../media/image-18-2.png"/><Relationship Id="rId8" Type="http://schemas.openxmlformats.org/officeDocument/2006/relationships/image" Target="../media/image-18-3.png"/><Relationship Id="rId9" Type="http://schemas.openxmlformats.org/officeDocument/2006/relationships/image" Target="../media/image-18-4.png"/><Relationship Id="rId10" Type="http://schemas.openxmlformats.org/officeDocument/2006/relationships/image" Target="../media/image-18-5.png"/><Relationship Id="rId11" Type="http://schemas.openxmlformats.org/officeDocument/2006/relationships/image" Target="../media/image-18-6.png"/><Relationship Id="rId12" Type="http://schemas.openxmlformats.org/officeDocument/2006/relationships/slideLayout" Target="../slideLayouts/slideLayout1.xml"/><Relationship Id="rId1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9" Type="http://schemas.openxmlformats.org/officeDocument/2006/relationships/slide" Target="slide26.xml"/><Relationship Id="rId1" Type="http://schemas.openxmlformats.org/officeDocument/2006/relationships/image" Target="../media/image-19-1.jpg"/><Relationship Id="rId2" Type="http://schemas.openxmlformats.org/officeDocument/2006/relationships/image" Target="../media/image-19-2.png"/><Relationship Id="rId8" Type="http://schemas.openxmlformats.org/officeDocument/2006/relationships/image" Target="../media/image-19-3.png"/><Relationship Id="rId10" Type="http://schemas.openxmlformats.org/officeDocument/2006/relationships/slideLayout" Target="../slideLayouts/slideLayout1.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14" Type="http://schemas.openxmlformats.org/officeDocument/2006/relationships/slide" Target="slide12.xml"/><Relationship Id="rId1" Type="http://schemas.openxmlformats.org/officeDocument/2006/relationships/image" Target="../media/image-20-1.jpg"/><Relationship Id="rId2" Type="http://schemas.openxmlformats.org/officeDocument/2006/relationships/image" Target="../media/image-20-2.png"/><Relationship Id="rId8" Type="http://schemas.openxmlformats.org/officeDocument/2006/relationships/image" Target="../media/image-20-3.png"/><Relationship Id="rId9" Type="http://schemas.openxmlformats.org/officeDocument/2006/relationships/image" Target="../media/image-20-4.png"/><Relationship Id="rId10" Type="http://schemas.openxmlformats.org/officeDocument/2006/relationships/image" Target="../media/image-20-4.png"/><Relationship Id="rId11" Type="http://schemas.openxmlformats.org/officeDocument/2006/relationships/image" Target="../media/image-20-6.png"/><Relationship Id="rId12" Type="http://schemas.openxmlformats.org/officeDocument/2006/relationships/image" Target="../media/image-20-6.png"/><Relationship Id="rId13" Type="http://schemas.openxmlformats.org/officeDocument/2006/relationships/image" Target="../media/image-20-6.png"/><Relationship Id="rId15" Type="http://schemas.openxmlformats.org/officeDocument/2006/relationships/slideLayout" Target="../slideLayouts/slideLayout1.xml"/><Relationship Id="rId1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14" Type="http://schemas.openxmlformats.org/officeDocument/2006/relationships/slide" Target="slide12.xml"/><Relationship Id="rId1" Type="http://schemas.openxmlformats.org/officeDocument/2006/relationships/image" Target="../media/image-21-1.jpg"/><Relationship Id="rId2" Type="http://schemas.openxmlformats.org/officeDocument/2006/relationships/image" Target="../media/image-21-2.png"/><Relationship Id="rId8" Type="http://schemas.openxmlformats.org/officeDocument/2006/relationships/image" Target="../media/image-21-3.png"/><Relationship Id="rId9" Type="http://schemas.openxmlformats.org/officeDocument/2006/relationships/image" Target="../media/image-21-4.png"/><Relationship Id="rId10" Type="http://schemas.openxmlformats.org/officeDocument/2006/relationships/image" Target="../media/image-21-4.png"/><Relationship Id="rId11" Type="http://schemas.openxmlformats.org/officeDocument/2006/relationships/image" Target="../media/image-21-6.png"/><Relationship Id="rId12" Type="http://schemas.openxmlformats.org/officeDocument/2006/relationships/image" Target="../media/image-21-6.png"/><Relationship Id="rId13" Type="http://schemas.openxmlformats.org/officeDocument/2006/relationships/image" Target="../media/image-21-6.png"/><Relationship Id="rId15" Type="http://schemas.openxmlformats.org/officeDocument/2006/relationships/slideLayout" Target="../slideLayouts/slideLayout1.xml"/><Relationship Id="rId1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9" Type="http://schemas.openxmlformats.org/officeDocument/2006/relationships/slide" Target="slide15.xml"/><Relationship Id="rId10" Type="http://schemas.openxmlformats.org/officeDocument/2006/relationships/slide" Target="slide23.xml"/><Relationship Id="rId1" Type="http://schemas.openxmlformats.org/officeDocument/2006/relationships/image" Target="../media/image-22-1.jpg"/><Relationship Id="rId2" Type="http://schemas.openxmlformats.org/officeDocument/2006/relationships/image" Target="../media/image-22-2.png"/><Relationship Id="rId8" Type="http://schemas.openxmlformats.org/officeDocument/2006/relationships/image" Target="../media/image-22-3.png"/><Relationship Id="rId11" Type="http://schemas.openxmlformats.org/officeDocument/2006/relationships/slideLayout" Target="../slideLayouts/slideLayout1.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9" Type="http://schemas.openxmlformats.org/officeDocument/2006/relationships/slide" Target="slide15.xml"/><Relationship Id="rId10" Type="http://schemas.openxmlformats.org/officeDocument/2006/relationships/slide" Target="slide24.xml"/><Relationship Id="rId1" Type="http://schemas.openxmlformats.org/officeDocument/2006/relationships/image" Target="../media/image-23-1.jpg"/><Relationship Id="rId2" Type="http://schemas.openxmlformats.org/officeDocument/2006/relationships/image" Target="../media/image-23-2.png"/><Relationship Id="rId8" Type="http://schemas.openxmlformats.org/officeDocument/2006/relationships/image" Target="../media/image-23-3.png"/><Relationship Id="rId11" Type="http://schemas.openxmlformats.org/officeDocument/2006/relationships/slideLayout" Target="../slideLayouts/slideLayout1.xml"/><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9" Type="http://schemas.openxmlformats.org/officeDocument/2006/relationships/slide" Target="slide15.xml"/><Relationship Id="rId10" Type="http://schemas.openxmlformats.org/officeDocument/2006/relationships/slide" Target="slide25.xml"/><Relationship Id="rId1" Type="http://schemas.openxmlformats.org/officeDocument/2006/relationships/image" Target="../media/image-24-1.jpg"/><Relationship Id="rId2" Type="http://schemas.openxmlformats.org/officeDocument/2006/relationships/image" Target="../media/image-24-2.png"/><Relationship Id="rId8" Type="http://schemas.openxmlformats.org/officeDocument/2006/relationships/image" Target="../media/image-24-3.png"/><Relationship Id="rId11" Type="http://schemas.openxmlformats.org/officeDocument/2006/relationships/slideLayout" Target="../slideLayouts/slideLayout1.xml"/><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9" Type="http://schemas.openxmlformats.org/officeDocument/2006/relationships/slide" Target="slide15.xml"/><Relationship Id="rId10" Type="http://schemas.openxmlformats.org/officeDocument/2006/relationships/slide" Target="slide16.xml"/><Relationship Id="rId1" Type="http://schemas.openxmlformats.org/officeDocument/2006/relationships/image" Target="../media/image-25-1.jpg"/><Relationship Id="rId2" Type="http://schemas.openxmlformats.org/officeDocument/2006/relationships/image" Target="../media/image-25-2.png"/><Relationship Id="rId8" Type="http://schemas.openxmlformats.org/officeDocument/2006/relationships/image" Target="../media/image-25-3.png"/><Relationship Id="rId11" Type="http://schemas.openxmlformats.org/officeDocument/2006/relationships/slideLayout" Target="../slideLayouts/slideLayout1.xml"/><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 Target="slide16.xml"/><Relationship Id="rId4" Type="http://schemas.openxmlformats.org/officeDocument/2006/relationships/slide" Target="slide14.xml"/><Relationship Id="rId5" Type="http://schemas.openxmlformats.org/officeDocument/2006/relationships/slide" Target="slide9.xml"/><Relationship Id="rId6" Type="http://schemas.openxmlformats.org/officeDocument/2006/relationships/slide" Target="slide3.xml"/><Relationship Id="rId7" Type="http://schemas.openxmlformats.org/officeDocument/2006/relationships/slide" Target="slide2.xml"/><Relationship Id="rId8" Type="http://schemas.openxmlformats.org/officeDocument/2006/relationships/slide" Target="slide19.xml"/><Relationship Id="rId1" Type="http://schemas.openxmlformats.org/officeDocument/2006/relationships/image" Target="../media/image-26-1.jpg"/><Relationship Id="rId2" Type="http://schemas.openxmlformats.org/officeDocument/2006/relationships/image" Target="../media/image-26-2.pn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title.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01 / 19</a:t>
            </a:r>
            <a:endParaRPr lang="en-US" sz="900" dirty="0"/>
          </a:p>
        </p:txBody>
      </p:sp>
      <p:pic>
        <p:nvPicPr>
          <p:cNvPr id="11" name="Image 2" descr="/tmp/claude-0/-home-claude/cf1b82dd-723a-5c0d-b3ee-f6062e85aabe/scratchpad/nd/glow_b.png">    </p:cNvPr>
          <p:cNvPicPr>
            <a:picLocks noChangeAspect="1"/>
          </p:cNvPicPr>
          <p:nvPr/>
        </p:nvPicPr>
        <p:blipFill>
          <a:blip r:embed="rId8">
            <a:alphaModFix amt="70000"/>
          </a:blip>
          <a:stretch>
            <a:fillRect/>
          </a:stretch>
        </p:blipFill>
        <p:spPr>
          <a:xfrm>
            <a:off x="182880" y="1097280"/>
            <a:ext cx="4572000" cy="4572000"/>
          </a:xfrm>
          <a:prstGeom prst="rect">
            <a:avLst/>
          </a:prstGeom>
        </p:spPr>
      </p:pic>
      <p:pic>
        <p:nvPicPr>
          <p:cNvPr id="12" name="!!wordmark" descr="/tmp/claude-0/-home-claude/cf1b82dd-723a-5c0d-b3ee-f6062e85aabe/scratchpad/nd/wm.png">    </p:cNvPr>
          <p:cNvPicPr>
            <a:picLocks noChangeAspect="1"/>
          </p:cNvPicPr>
          <p:nvPr/>
        </p:nvPicPr>
        <p:blipFill>
          <a:blip r:embed="rId9"/>
          <a:stretch>
            <a:fillRect/>
          </a:stretch>
        </p:blipFill>
        <p:spPr>
          <a:xfrm>
            <a:off x="411480" y="1417320"/>
            <a:ext cx="6583680" cy="1951327"/>
          </a:xfrm>
          <a:prstGeom prst="rect">
            <a:avLst/>
          </a:prstGeom>
        </p:spPr>
      </p:pic>
      <p:sp>
        <p:nvSpPr>
          <p:cNvPr id="13" name="Text 7"/>
          <p:cNvSpPr txBox="1"/>
          <p:nvPr/>
        </p:nvSpPr>
        <p:spPr>
          <a:xfrm>
            <a:off x="594360" y="3520440"/>
            <a:ext cx="6858000" cy="457200"/>
          </a:xfrm>
          <a:prstGeom prst="rect">
            <a:avLst/>
          </a:prstGeom>
          <a:noFill/>
          <a:ln/>
        </p:spPr>
        <p:txBody>
          <a:bodyPr wrap="square" lIns="0" tIns="0" rIns="0" bIns="0" rtlCol="0" anchor="t"/>
          <a:lstStyle/>
          <a:p>
            <a:pPr indent="0" marL="0">
              <a:buNone/>
            </a:pPr>
            <a:r>
              <a:rPr lang="en-US" sz="2400" b="1" dirty="0">
                <a:solidFill>
                  <a:srgbClr val="F2EFFF"/>
                </a:solidFill>
                <a:latin typeface="Segoe UI" pitchFamily="34" charset="0"/>
                <a:ea typeface="Segoe UI" pitchFamily="34" charset="-122"/>
                <a:cs typeface="Segoe UI" pitchFamily="34" charset="-120"/>
              </a:rPr>
              <a:t>Same coding task. Different language.</a:t>
            </a:r>
            <a:endParaRPr lang="en-US" sz="2400" dirty="0"/>
          </a:p>
        </p:txBody>
      </p:sp>
      <p:sp>
        <p:nvSpPr>
          <p:cNvPr id="14" name="Text 8"/>
          <p:cNvSpPr txBox="1"/>
          <p:nvPr/>
        </p:nvSpPr>
        <p:spPr>
          <a:xfrm>
            <a:off x="594360" y="3977640"/>
            <a:ext cx="6858000" cy="457200"/>
          </a:xfrm>
          <a:prstGeom prst="rect">
            <a:avLst/>
          </a:prstGeom>
          <a:noFill/>
          <a:ln/>
        </p:spPr>
        <p:txBody>
          <a:bodyPr wrap="square" lIns="0" tIns="0" rIns="0" bIns="0" rtlCol="0" anchor="t"/>
          <a:lstStyle/>
          <a:p>
            <a:pPr indent="0" marL="0">
              <a:buNone/>
            </a:pPr>
            <a:r>
              <a:rPr lang="en-US" sz="2400" b="1" dirty="0">
                <a:solidFill>
                  <a:srgbClr val="FF9F1C"/>
                </a:solidFill>
                <a:latin typeface="Segoe UI" pitchFamily="34" charset="0"/>
                <a:ea typeface="Segoe UI" pitchFamily="34" charset="-122"/>
                <a:cs typeface="Segoe UI" pitchFamily="34" charset="-120"/>
              </a:rPr>
              <a:t>Does the AI still get it right?</a:t>
            </a:r>
            <a:endParaRPr lang="en-US" sz="2400" dirty="0"/>
          </a:p>
        </p:txBody>
      </p:sp>
      <p:sp>
        <p:nvSpPr>
          <p:cNvPr id="15" name="Text 9"/>
          <p:cNvSpPr txBox="1"/>
          <p:nvPr/>
        </p:nvSpPr>
        <p:spPr>
          <a:xfrm>
            <a:off x="594360" y="4572000"/>
            <a:ext cx="5852160" cy="548640"/>
          </a:xfrm>
          <a:prstGeom prst="rect">
            <a:avLst/>
          </a:prstGeom>
          <a:noFill/>
          <a:ln/>
        </p:spPr>
        <p:txBody>
          <a:bodyPr wrap="square" lIns="0" tIns="0" rIns="0" bIns="0" rtlCol="0" anchor="t"/>
          <a:lstStyle/>
          <a:p>
            <a:pPr indent="0" marL="0">
              <a:buNone/>
            </a:pPr>
            <a:r>
              <a:rPr lang="en-US" sz="1400" dirty="0">
                <a:solidFill>
                  <a:srgbClr val="A9A3CF"/>
                </a:solidFill>
                <a:latin typeface="Segoe UI" pitchFamily="34" charset="0"/>
                <a:ea typeface="Segoe UI" pitchFamily="34" charset="-122"/>
                <a:cs typeface="Segoe UI" pitchFamily="34" charset="-120"/>
              </a:rPr>
              <a:t>A robustness tester for AI coding assistants, using prompts in code-mixed Indian languages.</a:t>
            </a:r>
            <a:endParaRPr lang="en-US" sz="1400" dirty="0"/>
          </a:p>
        </p:txBody>
      </p:sp>
      <p:sp>
        <p:nvSpPr>
          <p:cNvPr id="16" name="Text 10"/>
          <p:cNvSpPr txBox="1"/>
          <p:nvPr/>
        </p:nvSpPr>
        <p:spPr>
          <a:xfrm>
            <a:off x="594360" y="5303520"/>
            <a:ext cx="1362456" cy="347472"/>
          </a:xfrm>
          <a:prstGeom prst="roundRect">
            <a:avLst>
              <a:gd name="adj" fmla="val 50000"/>
            </a:avLst>
          </a:prstGeom>
          <a:solidFill>
            <a:srgbClr val="211B42"/>
          </a:solidFill>
          <a:ln w="12700">
            <a:solidFill>
              <a:srgbClr val="9B8CFF"/>
            </a:solidFill>
          </a:ln>
        </p:spPr>
        <p:txBody>
          <a:bodyPr wrap="square" lIns="0" tIns="0" rIns="0" bIns="0" rtlCol="0" anchor="ctr"/>
          <a:lstStyle/>
          <a:p>
            <a:pPr algn="ctr" indent="0" marL="0">
              <a:buNone/>
            </a:pPr>
            <a:r>
              <a:rPr lang="en-US" sz="1100" b="1" dirty="0">
                <a:solidFill>
                  <a:srgbClr val="9B8CFF"/>
                </a:solidFill>
                <a:latin typeface="Segoe UI" pitchFamily="34" charset="0"/>
                <a:ea typeface="Segoe UI" pitchFamily="34" charset="-122"/>
                <a:cs typeface="Segoe UI" pitchFamily="34" charset="-120"/>
              </a:rPr>
              <a:t>AI &amp; IoT track</a:t>
            </a:r>
            <a:endParaRPr lang="en-US" sz="1100" dirty="0"/>
          </a:p>
        </p:txBody>
      </p:sp>
      <p:sp>
        <p:nvSpPr>
          <p:cNvPr id="17" name="Text 11"/>
          <p:cNvSpPr txBox="1"/>
          <p:nvPr/>
        </p:nvSpPr>
        <p:spPr>
          <a:xfrm>
            <a:off x="2084832" y="5303520"/>
            <a:ext cx="3849624" cy="347472"/>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100" b="1" dirty="0">
                <a:solidFill>
                  <a:srgbClr val="FF9F1C"/>
                </a:solidFill>
                <a:latin typeface="Segoe UI" pitchFamily="34" charset="0"/>
                <a:ea typeface="Segoe UI" pitchFamily="34" charset="-122"/>
                <a:cs typeface="Segoe UI" pitchFamily="34" charset="-120"/>
              </a:rPr>
              <a:t>Cross-lingual code-switching robustness tester</a:t>
            </a:r>
            <a:endParaRPr lang="en-US" sz="1100" dirty="0"/>
          </a:p>
        </p:txBody>
      </p:sp>
      <p:sp>
        <p:nvSpPr>
          <p:cNvPr id="18" name="Text 12"/>
          <p:cNvSpPr txBox="1"/>
          <p:nvPr/>
        </p:nvSpPr>
        <p:spPr>
          <a:xfrm>
            <a:off x="594360" y="5897880"/>
            <a:ext cx="6858000" cy="292608"/>
          </a:xfrm>
          <a:prstGeom prst="rect">
            <a:avLst/>
          </a:prstGeom>
          <a:noFill/>
          <a:ln/>
        </p:spPr>
        <p:txBody>
          <a:bodyPr wrap="square" lIns="0" tIns="0" rIns="0" bIns="0" rtlCol="0" anchor="t"/>
          <a:lstStyle/>
          <a:p>
            <a:pPr indent="0" marL="0">
              <a:buNone/>
            </a:pPr>
            <a:r>
              <a:rPr lang="en-US" sz="1300" b="1" dirty="0">
                <a:solidFill>
                  <a:srgbClr val="F2EFFF"/>
                </a:solidFill>
                <a:latin typeface="Segoe UI" pitchFamily="34" charset="0"/>
                <a:ea typeface="Segoe UI" pitchFamily="34" charset="-122"/>
                <a:cs typeface="Segoe UI" pitchFamily="34" charset="-120"/>
              </a:rPr>
              <a:t>Team El Rata Alada</a:t>
            </a:r>
            <a:pPr indent="0" marL="0">
              <a:buNone/>
            </a:pPr>
            <a:r>
              <a:rPr lang="en-US" sz="1300" dirty="0">
                <a:solidFill>
                  <a:srgbClr val="A9A3CF"/>
                </a:solidFill>
                <a:latin typeface="Segoe UI" pitchFamily="34" charset="0"/>
                <a:ea typeface="Segoe UI" pitchFamily="34" charset="-122"/>
                <a:cs typeface="Segoe UI" pitchFamily="34" charset="-120"/>
              </a:rPr>
              <a:t>   Tanmay  ·  Ritobroto  ·  Aaditya  ·  Aaliya</a:t>
            </a:r>
            <a:endParaRPr lang="en-US" sz="1300" dirty="0"/>
          </a:p>
        </p:txBody>
      </p:sp>
      <p:sp>
        <p:nvSpPr>
          <p:cNvPr id="19" name="bubble0"/>
          <p:cNvSpPr/>
          <p:nvPr/>
        </p:nvSpPr>
        <p:spPr>
          <a:xfrm>
            <a:off x="7498080" y="1325880"/>
            <a:ext cx="3456432" cy="749808"/>
          </a:xfrm>
          <a:prstGeom prst="roundRect">
            <a:avLst>
              <a:gd name="adj" fmla="val 24390"/>
            </a:avLst>
          </a:prstGeom>
          <a:solidFill>
            <a:srgbClr val="17132E">
              <a:alpha val="92000"/>
            </a:srgbClr>
          </a:solidFill>
          <a:ln w="12700">
            <a:solidFill>
              <a:srgbClr val="FF9F1C"/>
            </a:solidFill>
            <a:prstDash val="solid"/>
          </a:ln>
          <a:effectLst>
            <a:outerShdw sx="100000" sy="100000" kx="0" ky="0" algn="bl" rotWithShape="0" blurRad="177800" dist="50800" dir="5400000">
              <a:srgbClr val="000000">
                <a:alpha val="45000"/>
              </a:srgbClr>
            </a:outerShdw>
          </a:effectLst>
        </p:spPr>
      </p:sp>
      <p:sp>
        <p:nvSpPr>
          <p:cNvPr id="20" name="Text 14"/>
          <p:cNvSpPr txBox="1"/>
          <p:nvPr/>
        </p:nvSpPr>
        <p:spPr>
          <a:xfrm>
            <a:off x="7699248" y="1417320"/>
            <a:ext cx="3108960" cy="182880"/>
          </a:xfrm>
          <a:prstGeom prst="rect">
            <a:avLst/>
          </a:prstGeom>
          <a:noFill/>
          <a:ln/>
        </p:spPr>
        <p:txBody>
          <a:bodyPr wrap="square" lIns="0" tIns="0" rIns="0" bIns="0" rtlCol="0" anchor="t"/>
          <a:lstStyle/>
          <a:p>
            <a:pPr indent="0" marL="0">
              <a:buNone/>
            </a:pPr>
            <a:r>
              <a:rPr lang="en-US" sz="850" b="1" spc="100" kern="0" dirty="0">
                <a:solidFill>
                  <a:srgbClr val="FF9F1C"/>
                </a:solidFill>
                <a:latin typeface="Consolas" pitchFamily="34" charset="0"/>
                <a:ea typeface="Consolas" pitchFamily="34" charset="-122"/>
                <a:cs typeface="Consolas" pitchFamily="34" charset="-120"/>
              </a:rPr>
              <a:t>HINGLISH</a:t>
            </a:r>
            <a:endParaRPr lang="en-US" sz="850" dirty="0"/>
          </a:p>
        </p:txBody>
      </p:sp>
      <p:sp>
        <p:nvSpPr>
          <p:cNvPr id="21" name="Text 15"/>
          <p:cNvSpPr txBox="1"/>
          <p:nvPr/>
        </p:nvSpPr>
        <p:spPr>
          <a:xfrm>
            <a:off x="7699248" y="1627632"/>
            <a:ext cx="3154680" cy="347472"/>
          </a:xfrm>
          <a:prstGeom prst="rect">
            <a:avLst/>
          </a:prstGeom>
          <a:noFill/>
          <a:ln/>
        </p:spPr>
        <p:txBody>
          <a:bodyPr wrap="square" lIns="0" tIns="0" rIns="0" bIns="0" rtlCol="0" anchor="t"/>
          <a:lstStyle/>
          <a:p>
            <a:pPr indent="0" marL="0">
              <a:buNone/>
            </a:pPr>
            <a:r>
              <a:rPr lang="en-US" sz="1400" b="1" dirty="0">
                <a:solidFill>
                  <a:srgbClr val="FF9F1C"/>
                </a:solidFill>
                <a:latin typeface="Segoe UI" pitchFamily="34" charset="0"/>
                <a:ea typeface="Segoe UI" pitchFamily="34" charset="-122"/>
                <a:cs typeface="Segoe UI" pitchFamily="34" charset="-120"/>
              </a:rPr>
              <a:t>yeh </a:t>
            </a:r>
            <a:pPr indent="0" marL="0">
              <a:buNone/>
            </a:pPr>
            <a:r>
              <a:rPr lang="en-US" sz="1400" dirty="0">
                <a:solidFill>
                  <a:srgbClr val="F2EFFF"/>
                </a:solidFill>
                <a:latin typeface="Segoe UI" pitchFamily="34" charset="0"/>
                <a:ea typeface="Segoe UI" pitchFamily="34" charset="-122"/>
                <a:cs typeface="Segoe UI" pitchFamily="34" charset="-120"/>
              </a:rPr>
              <a:t>function </a:t>
            </a:r>
            <a:pPr indent="0" marL="0">
              <a:buNone/>
            </a:pPr>
            <a:r>
              <a:rPr lang="en-US" sz="1400" dirty="0">
                <a:solidFill>
                  <a:srgbClr val="F2EFFF"/>
                </a:solidFill>
                <a:latin typeface="Segoe UI" pitchFamily="34" charset="0"/>
                <a:ea typeface="Segoe UI" pitchFamily="34" charset="-122"/>
                <a:cs typeface="Segoe UI" pitchFamily="34" charset="-120"/>
              </a:rPr>
              <a:t>crash </a:t>
            </a:r>
            <a:pPr indent="0" marL="0">
              <a:buNone/>
            </a:pPr>
            <a:r>
              <a:rPr lang="en-US" sz="1400" b="1" dirty="0">
                <a:solidFill>
                  <a:srgbClr val="FF9F1C"/>
                </a:solidFill>
                <a:latin typeface="Segoe UI" pitchFamily="34" charset="0"/>
                <a:ea typeface="Segoe UI" pitchFamily="34" charset="-122"/>
                <a:cs typeface="Segoe UI" pitchFamily="34" charset="-120"/>
              </a:rPr>
              <a:t>kyu </a:t>
            </a:r>
            <a:pPr indent="0" marL="0">
              <a:buNone/>
            </a:pPr>
            <a:r>
              <a:rPr lang="en-US" sz="1400" b="1" dirty="0">
                <a:solidFill>
                  <a:srgbClr val="FF9F1C"/>
                </a:solidFill>
                <a:latin typeface="Segoe UI" pitchFamily="34" charset="0"/>
                <a:ea typeface="Segoe UI" pitchFamily="34" charset="-122"/>
                <a:cs typeface="Segoe UI" pitchFamily="34" charset="-120"/>
              </a:rPr>
              <a:t>ho </a:t>
            </a:r>
            <a:pPr indent="0" marL="0">
              <a:buNone/>
            </a:pPr>
            <a:r>
              <a:rPr lang="en-US" sz="1400" b="1" dirty="0">
                <a:solidFill>
                  <a:srgbClr val="FF9F1C"/>
                </a:solidFill>
                <a:latin typeface="Segoe UI" pitchFamily="34" charset="0"/>
                <a:ea typeface="Segoe UI" pitchFamily="34" charset="-122"/>
                <a:cs typeface="Segoe UI" pitchFamily="34" charset="-120"/>
              </a:rPr>
              <a:t>raha </a:t>
            </a:r>
            <a:pPr indent="0" marL="0">
              <a:buNone/>
            </a:pPr>
            <a:r>
              <a:rPr lang="en-US" sz="1400" b="1" dirty="0">
                <a:solidFill>
                  <a:srgbClr val="FF9F1C"/>
                </a:solidFill>
                <a:latin typeface="Segoe UI" pitchFamily="34" charset="0"/>
                <a:ea typeface="Segoe UI" pitchFamily="34" charset="-122"/>
                <a:cs typeface="Segoe UI" pitchFamily="34" charset="-120"/>
              </a:rPr>
              <a:t>hai?</a:t>
            </a:r>
            <a:endParaRPr lang="en-US" sz="1400" dirty="0"/>
          </a:p>
        </p:txBody>
      </p:sp>
      <p:sp>
        <p:nvSpPr>
          <p:cNvPr id="22" name="bubble1"/>
          <p:cNvSpPr/>
          <p:nvPr/>
        </p:nvSpPr>
        <p:spPr>
          <a:xfrm>
            <a:off x="8302752" y="2286000"/>
            <a:ext cx="3456432" cy="749808"/>
          </a:xfrm>
          <a:prstGeom prst="roundRect">
            <a:avLst>
              <a:gd name="adj" fmla="val 24390"/>
            </a:avLst>
          </a:prstGeom>
          <a:solidFill>
            <a:srgbClr val="17132E">
              <a:alpha val="92000"/>
            </a:srgbClr>
          </a:solidFill>
          <a:ln w="12700">
            <a:solidFill>
              <a:srgbClr val="4CC9F0"/>
            </a:solidFill>
            <a:prstDash val="solid"/>
          </a:ln>
          <a:effectLst>
            <a:outerShdw sx="100000" sy="100000" kx="0" ky="0" algn="bl" rotWithShape="0" blurRad="177800" dist="50800" dir="5400000">
              <a:srgbClr val="000000">
                <a:alpha val="45000"/>
              </a:srgbClr>
            </a:outerShdw>
          </a:effectLst>
        </p:spPr>
      </p:sp>
      <p:sp>
        <p:nvSpPr>
          <p:cNvPr id="23" name="Text 17"/>
          <p:cNvSpPr txBox="1"/>
          <p:nvPr/>
        </p:nvSpPr>
        <p:spPr>
          <a:xfrm>
            <a:off x="8503920" y="2377440"/>
            <a:ext cx="3108960" cy="182880"/>
          </a:xfrm>
          <a:prstGeom prst="rect">
            <a:avLst/>
          </a:prstGeom>
          <a:noFill/>
          <a:ln/>
        </p:spPr>
        <p:txBody>
          <a:bodyPr wrap="square" lIns="0" tIns="0" rIns="0" bIns="0" rtlCol="0" anchor="t"/>
          <a:lstStyle/>
          <a:p>
            <a:pPr indent="0" marL="0">
              <a:buNone/>
            </a:pPr>
            <a:r>
              <a:rPr lang="en-US" sz="850" b="1" spc="100" kern="0" dirty="0">
                <a:solidFill>
                  <a:srgbClr val="4CC9F0"/>
                </a:solidFill>
                <a:latin typeface="Consolas" pitchFamily="34" charset="0"/>
                <a:ea typeface="Consolas" pitchFamily="34" charset="-122"/>
                <a:cs typeface="Consolas" pitchFamily="34" charset="-120"/>
              </a:rPr>
              <a:t>BENGLISH</a:t>
            </a:r>
            <a:endParaRPr lang="en-US" sz="850" dirty="0"/>
          </a:p>
        </p:txBody>
      </p:sp>
      <p:sp>
        <p:nvSpPr>
          <p:cNvPr id="24" name="Text 18"/>
          <p:cNvSpPr txBox="1"/>
          <p:nvPr/>
        </p:nvSpPr>
        <p:spPr>
          <a:xfrm>
            <a:off x="8503920" y="2587752"/>
            <a:ext cx="3154680" cy="347472"/>
          </a:xfrm>
          <a:prstGeom prst="rect">
            <a:avLst/>
          </a:prstGeom>
          <a:noFill/>
          <a:ln/>
        </p:spPr>
        <p:txBody>
          <a:bodyPr wrap="square" lIns="0" tIns="0" rIns="0" bIns="0" rtlCol="0" anchor="t"/>
          <a:lstStyle/>
          <a:p>
            <a:pPr indent="0" marL="0">
              <a:buNone/>
            </a:pPr>
            <a:r>
              <a:rPr lang="en-US" sz="1400" b="1" dirty="0">
                <a:solidFill>
                  <a:srgbClr val="4CC9F0"/>
                </a:solidFill>
                <a:latin typeface="Segoe UI" pitchFamily="34" charset="0"/>
                <a:ea typeface="Segoe UI" pitchFamily="34" charset="-122"/>
                <a:cs typeface="Segoe UI" pitchFamily="34" charset="-120"/>
              </a:rPr>
              <a:t>ei </a:t>
            </a:r>
            <a:pPr indent="0" marL="0">
              <a:buNone/>
            </a:pPr>
            <a:r>
              <a:rPr lang="en-US" sz="1400" dirty="0">
                <a:solidFill>
                  <a:srgbClr val="F2EFFF"/>
                </a:solidFill>
                <a:latin typeface="Segoe UI" pitchFamily="34" charset="0"/>
                <a:ea typeface="Segoe UI" pitchFamily="34" charset="-122"/>
                <a:cs typeface="Segoe UI" pitchFamily="34" charset="-120"/>
              </a:rPr>
              <a:t>list </a:t>
            </a:r>
            <a:pPr indent="0" marL="0">
              <a:buNone/>
            </a:pPr>
            <a:r>
              <a:rPr lang="en-US" sz="1400" b="1" dirty="0">
                <a:solidFill>
                  <a:srgbClr val="4CC9F0"/>
                </a:solidFill>
                <a:latin typeface="Segoe UI" pitchFamily="34" charset="0"/>
                <a:ea typeface="Segoe UI" pitchFamily="34" charset="-122"/>
                <a:cs typeface="Segoe UI" pitchFamily="34" charset="-120"/>
              </a:rPr>
              <a:t>ta </a:t>
            </a:r>
            <a:pPr indent="0" marL="0">
              <a:buNone/>
            </a:pPr>
            <a:r>
              <a:rPr lang="en-US" sz="1400" dirty="0">
                <a:solidFill>
                  <a:srgbClr val="F2EFFF"/>
                </a:solidFill>
                <a:latin typeface="Segoe UI" pitchFamily="34" charset="0"/>
                <a:ea typeface="Segoe UI" pitchFamily="34" charset="-122"/>
                <a:cs typeface="Segoe UI" pitchFamily="34" charset="-120"/>
              </a:rPr>
              <a:t>sort </a:t>
            </a:r>
            <a:pPr indent="0" marL="0">
              <a:buNone/>
            </a:pPr>
            <a:r>
              <a:rPr lang="en-US" sz="1400" b="1" dirty="0">
                <a:solidFill>
                  <a:srgbClr val="4CC9F0"/>
                </a:solidFill>
                <a:latin typeface="Segoe UI" pitchFamily="34" charset="0"/>
                <a:ea typeface="Segoe UI" pitchFamily="34" charset="-122"/>
                <a:cs typeface="Segoe UI" pitchFamily="34" charset="-120"/>
              </a:rPr>
              <a:t>kore </a:t>
            </a:r>
            <a:pPr indent="0" marL="0">
              <a:buNone/>
            </a:pPr>
            <a:r>
              <a:rPr lang="en-US" sz="1400" b="1" dirty="0">
                <a:solidFill>
                  <a:srgbClr val="4CC9F0"/>
                </a:solidFill>
                <a:latin typeface="Segoe UI" pitchFamily="34" charset="0"/>
                <a:ea typeface="Segoe UI" pitchFamily="34" charset="-122"/>
                <a:cs typeface="Segoe UI" pitchFamily="34" charset="-120"/>
              </a:rPr>
              <a:t>dao</a:t>
            </a:r>
            <a:endParaRPr lang="en-US" sz="1400" dirty="0"/>
          </a:p>
        </p:txBody>
      </p:sp>
      <p:sp>
        <p:nvSpPr>
          <p:cNvPr id="25" name="bubble2"/>
          <p:cNvSpPr/>
          <p:nvPr/>
        </p:nvSpPr>
        <p:spPr>
          <a:xfrm>
            <a:off x="7315200" y="3246120"/>
            <a:ext cx="3456432" cy="749808"/>
          </a:xfrm>
          <a:prstGeom prst="roundRect">
            <a:avLst>
              <a:gd name="adj" fmla="val 24390"/>
            </a:avLst>
          </a:prstGeom>
          <a:solidFill>
            <a:srgbClr val="17132E">
              <a:alpha val="92000"/>
            </a:srgbClr>
          </a:solidFill>
          <a:ln w="12700">
            <a:solidFill>
              <a:srgbClr val="E87BA4"/>
            </a:solidFill>
            <a:prstDash val="solid"/>
          </a:ln>
          <a:effectLst>
            <a:outerShdw sx="100000" sy="100000" kx="0" ky="0" algn="bl" rotWithShape="0" blurRad="177800" dist="50800" dir="5400000">
              <a:srgbClr val="000000">
                <a:alpha val="45000"/>
              </a:srgbClr>
            </a:outerShdw>
          </a:effectLst>
        </p:spPr>
      </p:sp>
      <p:sp>
        <p:nvSpPr>
          <p:cNvPr id="26" name="Text 20"/>
          <p:cNvSpPr txBox="1"/>
          <p:nvPr/>
        </p:nvSpPr>
        <p:spPr>
          <a:xfrm>
            <a:off x="7516368" y="3337560"/>
            <a:ext cx="3108960" cy="182880"/>
          </a:xfrm>
          <a:prstGeom prst="rect">
            <a:avLst/>
          </a:prstGeom>
          <a:noFill/>
          <a:ln/>
        </p:spPr>
        <p:txBody>
          <a:bodyPr wrap="square" lIns="0" tIns="0" rIns="0" bIns="0" rtlCol="0" anchor="t"/>
          <a:lstStyle/>
          <a:p>
            <a:pPr indent="0" marL="0">
              <a:buNone/>
            </a:pPr>
            <a:r>
              <a:rPr lang="en-US" sz="850" b="1" spc="100" kern="0" dirty="0">
                <a:solidFill>
                  <a:srgbClr val="E87BA4"/>
                </a:solidFill>
                <a:latin typeface="Consolas" pitchFamily="34" charset="0"/>
                <a:ea typeface="Consolas" pitchFamily="34" charset="-122"/>
                <a:cs typeface="Consolas" pitchFamily="34" charset="-120"/>
              </a:rPr>
              <a:t>KANGLISH</a:t>
            </a:r>
            <a:endParaRPr lang="en-US" sz="850" dirty="0"/>
          </a:p>
        </p:txBody>
      </p:sp>
      <p:sp>
        <p:nvSpPr>
          <p:cNvPr id="27" name="Text 21"/>
          <p:cNvSpPr txBox="1"/>
          <p:nvPr/>
        </p:nvSpPr>
        <p:spPr>
          <a:xfrm>
            <a:off x="7516368" y="3547872"/>
            <a:ext cx="3154680" cy="347472"/>
          </a:xfrm>
          <a:prstGeom prst="rect">
            <a:avLst/>
          </a:prstGeom>
          <a:noFill/>
          <a:ln/>
        </p:spPr>
        <p:txBody>
          <a:bodyPr wrap="square" lIns="0" tIns="0" rIns="0" bIns="0" rtlCol="0" anchor="t"/>
          <a:lstStyle/>
          <a:p>
            <a:pPr indent="0" marL="0">
              <a:buNone/>
            </a:pPr>
            <a:r>
              <a:rPr lang="en-US" sz="1400" b="1" dirty="0">
                <a:solidFill>
                  <a:srgbClr val="E87BA4"/>
                </a:solidFill>
                <a:latin typeface="Segoe UI" pitchFamily="34" charset="0"/>
                <a:ea typeface="Segoe UI" pitchFamily="34" charset="-122"/>
                <a:cs typeface="Segoe UI" pitchFamily="34" charset="-120"/>
              </a:rPr>
              <a:t>guru, </a:t>
            </a:r>
            <a:pPr indent="0" marL="0">
              <a:buNone/>
            </a:pPr>
            <a:r>
              <a:rPr lang="en-US" sz="1400" b="1" dirty="0">
                <a:solidFill>
                  <a:srgbClr val="E87BA4"/>
                </a:solidFill>
                <a:latin typeface="Segoe UI" pitchFamily="34" charset="0"/>
                <a:ea typeface="Segoe UI" pitchFamily="34" charset="-122"/>
                <a:cs typeface="Segoe UI" pitchFamily="34" charset="-120"/>
              </a:rPr>
              <a:t>bari </a:t>
            </a:r>
            <a:pPr indent="0" marL="0">
              <a:buNone/>
            </a:pPr>
            <a:r>
              <a:rPr lang="en-US" sz="1400" dirty="0">
                <a:solidFill>
                  <a:srgbClr val="F2EFFF"/>
                </a:solidFill>
                <a:latin typeface="Segoe UI" pitchFamily="34" charset="0"/>
                <a:ea typeface="Segoe UI" pitchFamily="34" charset="-122"/>
                <a:cs typeface="Segoe UI" pitchFamily="34" charset="-120"/>
              </a:rPr>
              <a:t>code </a:t>
            </a:r>
            <a:pPr indent="0" marL="0">
              <a:buNone/>
            </a:pPr>
            <a:r>
              <a:rPr lang="en-US" sz="1400" b="1" dirty="0">
                <a:solidFill>
                  <a:srgbClr val="E87BA4"/>
                </a:solidFill>
                <a:latin typeface="Segoe UI" pitchFamily="34" charset="0"/>
                <a:ea typeface="Segoe UI" pitchFamily="34" charset="-122"/>
                <a:cs typeface="Segoe UI" pitchFamily="34" charset="-120"/>
              </a:rPr>
              <a:t>kodu</a:t>
            </a:r>
            <a:endParaRPr lang="en-US" sz="1400" dirty="0"/>
          </a:p>
        </p:txBody>
      </p:sp>
      <p:sp>
        <p:nvSpPr>
          <p:cNvPr id="28" name="bubble3"/>
          <p:cNvSpPr/>
          <p:nvPr/>
        </p:nvSpPr>
        <p:spPr>
          <a:xfrm>
            <a:off x="8275320" y="4206240"/>
            <a:ext cx="3456432" cy="749808"/>
          </a:xfrm>
          <a:prstGeom prst="roundRect">
            <a:avLst>
              <a:gd name="adj" fmla="val 24390"/>
            </a:avLst>
          </a:prstGeom>
          <a:solidFill>
            <a:srgbClr val="17132E">
              <a:alpha val="92000"/>
            </a:srgbClr>
          </a:solidFill>
          <a:ln w="12700">
            <a:solidFill>
              <a:srgbClr val="9EE493"/>
            </a:solidFill>
            <a:prstDash val="solid"/>
          </a:ln>
          <a:effectLst>
            <a:outerShdw sx="100000" sy="100000" kx="0" ky="0" algn="bl" rotWithShape="0" blurRad="177800" dist="50800" dir="5400000">
              <a:srgbClr val="000000">
                <a:alpha val="45000"/>
              </a:srgbClr>
            </a:outerShdw>
          </a:effectLst>
        </p:spPr>
      </p:sp>
      <p:sp>
        <p:nvSpPr>
          <p:cNvPr id="29" name="Text 23"/>
          <p:cNvSpPr txBox="1"/>
          <p:nvPr/>
        </p:nvSpPr>
        <p:spPr>
          <a:xfrm>
            <a:off x="8476488" y="4297680"/>
            <a:ext cx="3108960" cy="182880"/>
          </a:xfrm>
          <a:prstGeom prst="rect">
            <a:avLst/>
          </a:prstGeom>
          <a:noFill/>
          <a:ln/>
        </p:spPr>
        <p:txBody>
          <a:bodyPr wrap="square" lIns="0" tIns="0" rIns="0" bIns="0" rtlCol="0" anchor="t"/>
          <a:lstStyle/>
          <a:p>
            <a:pPr indent="0" marL="0">
              <a:buNone/>
            </a:pPr>
            <a:r>
              <a:rPr lang="en-US" sz="850" b="1" spc="100" kern="0" dirty="0">
                <a:solidFill>
                  <a:srgbClr val="9EE493"/>
                </a:solidFill>
                <a:latin typeface="Consolas" pitchFamily="34" charset="0"/>
                <a:ea typeface="Consolas" pitchFamily="34" charset="-122"/>
                <a:cs typeface="Consolas" pitchFamily="34" charset="-120"/>
              </a:rPr>
              <a:t>TANGLISH</a:t>
            </a:r>
            <a:endParaRPr lang="en-US" sz="850" dirty="0"/>
          </a:p>
        </p:txBody>
      </p:sp>
      <p:sp>
        <p:nvSpPr>
          <p:cNvPr id="30" name="Text 24"/>
          <p:cNvSpPr txBox="1"/>
          <p:nvPr/>
        </p:nvSpPr>
        <p:spPr>
          <a:xfrm>
            <a:off x="8476488" y="4507992"/>
            <a:ext cx="3154680" cy="347472"/>
          </a:xfrm>
          <a:prstGeom prst="rect">
            <a:avLst/>
          </a:prstGeom>
          <a:noFill/>
          <a:ln/>
        </p:spPr>
        <p:txBody>
          <a:bodyPr wrap="square" lIns="0" tIns="0" rIns="0" bIns="0" rtlCol="0" anchor="t"/>
          <a:lstStyle/>
          <a:p>
            <a:pPr indent="0" marL="0">
              <a:buNone/>
            </a:pPr>
            <a:r>
              <a:rPr lang="en-US" sz="1400" b="1" dirty="0">
                <a:solidFill>
                  <a:srgbClr val="9EE493"/>
                </a:solidFill>
                <a:latin typeface="Segoe UI" pitchFamily="34" charset="0"/>
                <a:ea typeface="Segoe UI" pitchFamily="34" charset="-122"/>
                <a:cs typeface="Segoe UI" pitchFamily="34" charset="-120"/>
              </a:rPr>
              <a:t>indha </a:t>
            </a:r>
            <a:pPr indent="0" marL="0">
              <a:buNone/>
            </a:pPr>
            <a:r>
              <a:rPr lang="en-US" sz="1400" b="1" dirty="0">
                <a:solidFill>
                  <a:srgbClr val="9EE493"/>
                </a:solidFill>
                <a:latin typeface="Segoe UI" pitchFamily="34" charset="0"/>
                <a:ea typeface="Segoe UI" pitchFamily="34" charset="-122"/>
                <a:cs typeface="Segoe UI" pitchFamily="34" charset="-120"/>
              </a:rPr>
              <a:t>code-la </a:t>
            </a:r>
            <a:pPr indent="0" marL="0">
              <a:buNone/>
            </a:pPr>
            <a:r>
              <a:rPr lang="en-US" sz="1400" b="1" dirty="0">
                <a:solidFill>
                  <a:srgbClr val="9EE493"/>
                </a:solidFill>
                <a:latin typeface="Segoe UI" pitchFamily="34" charset="0"/>
                <a:ea typeface="Segoe UI" pitchFamily="34" charset="-122"/>
                <a:cs typeface="Segoe UI" pitchFamily="34" charset="-120"/>
              </a:rPr>
              <a:t>enna </a:t>
            </a:r>
            <a:pPr indent="0" marL="0">
              <a:buNone/>
            </a:pPr>
            <a:r>
              <a:rPr lang="en-US" sz="1400" dirty="0">
                <a:solidFill>
                  <a:srgbClr val="F2EFFF"/>
                </a:solidFill>
                <a:latin typeface="Segoe UI" pitchFamily="34" charset="0"/>
                <a:ea typeface="Segoe UI" pitchFamily="34" charset="-122"/>
                <a:cs typeface="Segoe UI" pitchFamily="34" charset="-120"/>
              </a:rPr>
              <a:t>error?</a:t>
            </a:r>
            <a:endParaRPr lang="en-US" sz="1400" dirty="0"/>
          </a:p>
        </p:txBody>
      </p:sp>
      <p:sp>
        <p:nvSpPr>
          <p:cNvPr id="31" name="bubble4"/>
          <p:cNvSpPr/>
          <p:nvPr/>
        </p:nvSpPr>
        <p:spPr>
          <a:xfrm>
            <a:off x="7589520" y="5166360"/>
            <a:ext cx="3456432" cy="749808"/>
          </a:xfrm>
          <a:prstGeom prst="roundRect">
            <a:avLst>
              <a:gd name="adj" fmla="val 24390"/>
            </a:avLst>
          </a:prstGeom>
          <a:solidFill>
            <a:srgbClr val="17132E">
              <a:alpha val="92000"/>
            </a:srgbClr>
          </a:solidFill>
          <a:ln w="12700">
            <a:solidFill>
              <a:srgbClr val="FFD166"/>
            </a:solidFill>
            <a:prstDash val="solid"/>
          </a:ln>
          <a:effectLst>
            <a:outerShdw sx="100000" sy="100000" kx="0" ky="0" algn="bl" rotWithShape="0" blurRad="177800" dist="50800" dir="5400000">
              <a:srgbClr val="000000">
                <a:alpha val="45000"/>
              </a:srgbClr>
            </a:outerShdw>
          </a:effectLst>
        </p:spPr>
      </p:sp>
      <p:sp>
        <p:nvSpPr>
          <p:cNvPr id="32" name="Text 26"/>
          <p:cNvSpPr txBox="1"/>
          <p:nvPr/>
        </p:nvSpPr>
        <p:spPr>
          <a:xfrm>
            <a:off x="7790688" y="5257800"/>
            <a:ext cx="3108960" cy="182880"/>
          </a:xfrm>
          <a:prstGeom prst="rect">
            <a:avLst/>
          </a:prstGeom>
          <a:noFill/>
          <a:ln/>
        </p:spPr>
        <p:txBody>
          <a:bodyPr wrap="square" lIns="0" tIns="0" rIns="0" bIns="0" rtlCol="0" anchor="t"/>
          <a:lstStyle/>
          <a:p>
            <a:pPr indent="0" marL="0">
              <a:buNone/>
            </a:pPr>
            <a:r>
              <a:rPr lang="en-US" sz="850" b="1" spc="100" kern="0" dirty="0">
                <a:solidFill>
                  <a:srgbClr val="FFD166"/>
                </a:solidFill>
                <a:latin typeface="Consolas" pitchFamily="34" charset="0"/>
                <a:ea typeface="Consolas" pitchFamily="34" charset="-122"/>
                <a:cs typeface="Consolas" pitchFamily="34" charset="-120"/>
              </a:rPr>
              <a:t>ODIA-ENGLISH</a:t>
            </a:r>
            <a:endParaRPr lang="en-US" sz="850" dirty="0"/>
          </a:p>
        </p:txBody>
      </p:sp>
      <p:sp>
        <p:nvSpPr>
          <p:cNvPr id="33" name="Text 27"/>
          <p:cNvSpPr txBox="1"/>
          <p:nvPr/>
        </p:nvSpPr>
        <p:spPr>
          <a:xfrm>
            <a:off x="7790688" y="5468112"/>
            <a:ext cx="3154680" cy="347472"/>
          </a:xfrm>
          <a:prstGeom prst="rect">
            <a:avLst/>
          </a:prstGeom>
          <a:noFill/>
          <a:ln/>
        </p:spPr>
        <p:txBody>
          <a:bodyPr wrap="square" lIns="0" tIns="0" rIns="0" bIns="0" rtlCol="0" anchor="t"/>
          <a:lstStyle/>
          <a:p>
            <a:pPr indent="0" marL="0">
              <a:buNone/>
            </a:pPr>
            <a:r>
              <a:rPr lang="en-US" sz="1400" b="1" dirty="0">
                <a:solidFill>
                  <a:srgbClr val="FFD166"/>
                </a:solidFill>
                <a:latin typeface="Segoe UI" pitchFamily="34" charset="0"/>
                <a:ea typeface="Segoe UI" pitchFamily="34" charset="-122"/>
                <a:cs typeface="Segoe UI" pitchFamily="34" charset="-120"/>
              </a:rPr>
              <a:t>ei </a:t>
            </a:r>
            <a:pPr indent="0" marL="0">
              <a:buNone/>
            </a:pPr>
            <a:r>
              <a:rPr lang="en-US" sz="1400" dirty="0">
                <a:solidFill>
                  <a:srgbClr val="F2EFFF"/>
                </a:solidFill>
                <a:latin typeface="Segoe UI" pitchFamily="34" charset="0"/>
                <a:ea typeface="Segoe UI" pitchFamily="34" charset="-122"/>
                <a:cs typeface="Segoe UI" pitchFamily="34" charset="-120"/>
              </a:rPr>
              <a:t>function </a:t>
            </a:r>
            <a:pPr indent="0" marL="0">
              <a:buNone/>
            </a:pPr>
            <a:r>
              <a:rPr lang="en-US" sz="1400" b="1" dirty="0">
                <a:solidFill>
                  <a:srgbClr val="FFD166"/>
                </a:solidFill>
                <a:latin typeface="Segoe UI" pitchFamily="34" charset="0"/>
                <a:ea typeface="Segoe UI" pitchFamily="34" charset="-122"/>
                <a:cs typeface="Segoe UI" pitchFamily="34" charset="-120"/>
              </a:rPr>
              <a:t>ta </a:t>
            </a:r>
            <a:pPr indent="0" marL="0">
              <a:buNone/>
            </a:pPr>
            <a:r>
              <a:rPr lang="en-US" sz="1400" dirty="0">
                <a:solidFill>
                  <a:srgbClr val="F2EFFF"/>
                </a:solidFill>
                <a:latin typeface="Segoe UI" pitchFamily="34" charset="0"/>
                <a:ea typeface="Segoe UI" pitchFamily="34" charset="-122"/>
                <a:cs typeface="Segoe UI" pitchFamily="34" charset="-120"/>
              </a:rPr>
              <a:t>fix </a:t>
            </a:r>
            <a:pPr indent="0" marL="0">
              <a:buNone/>
            </a:pPr>
            <a:r>
              <a:rPr lang="en-US" sz="1400" b="1" dirty="0">
                <a:solidFill>
                  <a:srgbClr val="FFD166"/>
                </a:solidFill>
                <a:latin typeface="Segoe UI" pitchFamily="34" charset="0"/>
                <a:ea typeface="Segoe UI" pitchFamily="34" charset="-122"/>
                <a:cs typeface="Segoe UI" pitchFamily="34" charset="-120"/>
              </a:rPr>
              <a:t>karida</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02 / 19</a:t>
            </a:r>
            <a:endParaRPr lang="en-US" sz="900" dirty="0"/>
          </a:p>
        </p:txBody>
      </p:sp>
      <p:sp>
        <p:nvSpPr>
          <p:cNvPr id="11"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01 · THE PROBLEM</a:t>
            </a:r>
            <a:endParaRPr lang="en-US" sz="1100" dirty="0"/>
          </a:p>
        </p:txBody>
      </p:sp>
      <p:sp>
        <p:nvSpPr>
          <p:cNvPr id="12"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India asks AI for code in more than one language</a:t>
            </a:r>
            <a:endParaRPr lang="en-US" sz="3000" dirty="0"/>
          </a:p>
        </p:txBody>
      </p:sp>
      <p:sp>
        <p:nvSpPr>
          <p:cNvPr id="13" name="Shape 9"/>
          <p:cNvSpPr/>
          <p:nvPr/>
        </p:nvSpPr>
        <p:spPr>
          <a:xfrm>
            <a:off x="548640" y="2148840"/>
            <a:ext cx="3429000" cy="4069080"/>
          </a:xfrm>
          <a:prstGeom prst="roundRect">
            <a:avLst>
              <a:gd name="adj" fmla="val 3733"/>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pic>
        <p:nvPicPr>
          <p:cNvPr id="14" name="Image 2" descr="/tmp/claude-0/-home-claude/cf1b82dd-723a-5c0d-b3ee-f6062e85aabe/scratchpad/nd/glow_a.png">    </p:cNvPr>
          <p:cNvPicPr>
            <a:picLocks noChangeAspect="1"/>
          </p:cNvPicPr>
          <p:nvPr/>
        </p:nvPicPr>
        <p:blipFill>
          <a:blip r:embed="rId8">
            <a:alphaModFix amt="45000"/>
          </a:blip>
          <a:stretch>
            <a:fillRect/>
          </a:stretch>
        </p:blipFill>
        <p:spPr>
          <a:xfrm>
            <a:off x="320040" y="1920240"/>
            <a:ext cx="2926080" cy="2926080"/>
          </a:xfrm>
          <a:prstGeom prst="rect">
            <a:avLst/>
          </a:prstGeom>
        </p:spPr>
      </p:pic>
      <p:sp>
        <p:nvSpPr>
          <p:cNvPr id="15" name="Text 10"/>
          <p:cNvSpPr txBox="1"/>
          <p:nvPr/>
        </p:nvSpPr>
        <p:spPr>
          <a:xfrm>
            <a:off x="822960" y="2514600"/>
            <a:ext cx="3017520" cy="914400"/>
          </a:xfrm>
          <a:prstGeom prst="rect">
            <a:avLst/>
          </a:prstGeom>
          <a:noFill/>
          <a:ln/>
        </p:spPr>
        <p:txBody>
          <a:bodyPr wrap="square" lIns="0" tIns="0" rIns="0" bIns="0" rtlCol="0" anchor="t"/>
          <a:lstStyle/>
          <a:p>
            <a:pPr indent="0" marL="0">
              <a:buNone/>
            </a:pPr>
            <a:r>
              <a:rPr lang="en-US" sz="5400" b="1" dirty="0">
                <a:solidFill>
                  <a:srgbClr val="FF9F1C"/>
                </a:solidFill>
                <a:latin typeface="Segoe UI" pitchFamily="34" charset="0"/>
                <a:ea typeface="Segoe UI" pitchFamily="34" charset="-122"/>
                <a:cs typeface="Segoe UI" pitchFamily="34" charset="-120"/>
              </a:rPr>
              <a:t>314.9M</a:t>
            </a:r>
            <a:endParaRPr lang="en-US" sz="5400" dirty="0"/>
          </a:p>
        </p:txBody>
      </p:sp>
      <p:sp>
        <p:nvSpPr>
          <p:cNvPr id="16" name="Text 11"/>
          <p:cNvSpPr txBox="1"/>
          <p:nvPr/>
        </p:nvSpPr>
        <p:spPr>
          <a:xfrm>
            <a:off x="822960" y="3429000"/>
            <a:ext cx="2926080" cy="365760"/>
          </a:xfrm>
          <a:prstGeom prst="rect">
            <a:avLst/>
          </a:prstGeom>
          <a:noFill/>
          <a:ln/>
        </p:spPr>
        <p:txBody>
          <a:bodyPr wrap="square" lIns="0" tIns="0" rIns="0" bIns="0" rtlCol="0" anchor="t"/>
          <a:lstStyle/>
          <a:p>
            <a:pPr indent="0" marL="0">
              <a:buNone/>
            </a:pPr>
            <a:r>
              <a:rPr lang="en-US" sz="1800" b="1" dirty="0">
                <a:solidFill>
                  <a:srgbClr val="F2EFFF"/>
                </a:solidFill>
                <a:latin typeface="Segoe UI" pitchFamily="34" charset="0"/>
                <a:ea typeface="Segoe UI" pitchFamily="34" charset="-122"/>
                <a:cs typeface="Segoe UI" pitchFamily="34" charset="-120"/>
              </a:rPr>
              <a:t>Indians are bilingual</a:t>
            </a:r>
            <a:endParaRPr lang="en-US" sz="1800" dirty="0"/>
          </a:p>
        </p:txBody>
      </p:sp>
      <p:sp>
        <p:nvSpPr>
          <p:cNvPr id="17" name="Text 12"/>
          <p:cNvSpPr txBox="1"/>
          <p:nvPr/>
        </p:nvSpPr>
        <p:spPr>
          <a:xfrm>
            <a:off x="822960" y="3794760"/>
            <a:ext cx="2926080" cy="274320"/>
          </a:xfrm>
          <a:prstGeom prst="rect">
            <a:avLst/>
          </a:prstGeom>
          <a:noFill/>
          <a:ln/>
        </p:spPr>
        <p:txBody>
          <a:bodyPr wrap="square" lIns="0" tIns="0" rIns="0" bIns="0" rtlCol="0" anchor="t"/>
          <a:lstStyle/>
          <a:p>
            <a:pPr indent="0" marL="0">
              <a:buNone/>
            </a:pPr>
            <a:r>
              <a:rPr lang="en-US" sz="1100" dirty="0">
                <a:solidFill>
                  <a:srgbClr val="6F6A99"/>
                </a:solidFill>
                <a:latin typeface="Segoe UI" pitchFamily="34" charset="0"/>
                <a:ea typeface="Segoe UI" pitchFamily="34" charset="-122"/>
                <a:cs typeface="Segoe UI" pitchFamily="34" charset="-120"/>
              </a:rPr>
              <a:t>Census of India, 2011</a:t>
            </a:r>
            <a:endParaRPr lang="en-US" sz="1100" dirty="0"/>
          </a:p>
        </p:txBody>
      </p:sp>
      <p:sp>
        <p:nvSpPr>
          <p:cNvPr id="18" name="Text 13"/>
          <p:cNvSpPr txBox="1"/>
          <p:nvPr/>
        </p:nvSpPr>
        <p:spPr>
          <a:xfrm>
            <a:off x="822960" y="4343400"/>
            <a:ext cx="2880360" cy="1097280"/>
          </a:xfrm>
          <a:prstGeom prst="rect">
            <a:avLst/>
          </a:prstGeom>
          <a:noFill/>
          <a:ln/>
        </p:spPr>
        <p:txBody>
          <a:bodyPr wrap="square" lIns="0" tIns="0" rIns="0" bIns="0" rtlCol="0" anchor="t"/>
          <a:lstStyle/>
          <a:p>
            <a:pPr indent="0" marL="0">
              <a:buNone/>
            </a:pPr>
            <a:r>
              <a:rPr lang="en-US" sz="1300" dirty="0">
                <a:solidFill>
                  <a:srgbClr val="A9A3CF"/>
                </a:solidFill>
                <a:latin typeface="Segoe UI" pitchFamily="34" charset="0"/>
                <a:ea typeface="Segoe UI" pitchFamily="34" charset="-122"/>
                <a:cs typeface="Segoe UI" pitchFamily="34" charset="-120"/>
              </a:rPr>
              <a:t>Many think and type in mixed languages, including when they ask AI to write code.</a:t>
            </a:r>
            <a:endParaRPr lang="en-US" sz="1300" dirty="0"/>
          </a:p>
        </p:txBody>
      </p:sp>
      <p:sp>
        <p:nvSpPr>
          <p:cNvPr id="19" name="Shape 14"/>
          <p:cNvSpPr/>
          <p:nvPr/>
        </p:nvSpPr>
        <p:spPr>
          <a:xfrm>
            <a:off x="4206240" y="2148840"/>
            <a:ext cx="3794760" cy="4069080"/>
          </a:xfrm>
          <a:prstGeom prst="roundRect">
            <a:avLst>
              <a:gd name="adj" fmla="val 3373"/>
            </a:avLst>
          </a:prstGeom>
          <a:solidFill>
            <a:srgbClr val="0B0918"/>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0" name="Text 15"/>
          <p:cNvSpPr txBox="1"/>
          <p:nvPr/>
        </p:nvSpPr>
        <p:spPr>
          <a:xfrm>
            <a:off x="4434840" y="2331720"/>
            <a:ext cx="3291840" cy="201168"/>
          </a:xfrm>
          <a:prstGeom prst="rect">
            <a:avLst/>
          </a:prstGeom>
          <a:noFill/>
          <a:ln/>
        </p:spPr>
        <p:txBody>
          <a:bodyPr wrap="square" lIns="0" tIns="0" rIns="0" bIns="0" rtlCol="0" anchor="t"/>
          <a:lstStyle/>
          <a:p>
            <a:pPr indent="0" marL="0">
              <a:buNone/>
            </a:pPr>
            <a:r>
              <a:rPr lang="en-US" sz="900" b="1" spc="100" kern="0" dirty="0">
                <a:solidFill>
                  <a:srgbClr val="6F6A99"/>
                </a:solidFill>
                <a:latin typeface="Consolas" pitchFamily="34" charset="0"/>
                <a:ea typeface="Consolas" pitchFamily="34" charset="-122"/>
                <a:cs typeface="Consolas" pitchFamily="34" charset="-120"/>
              </a:rPr>
              <a:t>AI CODING ASSISTANT</a:t>
            </a:r>
            <a:endParaRPr lang="en-US" sz="900" dirty="0"/>
          </a:p>
        </p:txBody>
      </p:sp>
      <p:sp>
        <p:nvSpPr>
          <p:cNvPr id="21" name="Shape 16"/>
          <p:cNvSpPr/>
          <p:nvPr/>
        </p:nvSpPr>
        <p:spPr>
          <a:xfrm>
            <a:off x="7498080" y="2359152"/>
            <a:ext cx="128016" cy="128016"/>
          </a:xfrm>
          <a:prstGeom prst="ellipse">
            <a:avLst/>
          </a:prstGeom>
          <a:solidFill>
            <a:srgbClr val="2BD9A0"/>
          </a:solidFill>
          <a:ln/>
        </p:spPr>
      </p:sp>
      <p:sp>
        <p:nvSpPr>
          <p:cNvPr id="22" name="Text 17"/>
          <p:cNvSpPr txBox="1"/>
          <p:nvPr/>
        </p:nvSpPr>
        <p:spPr>
          <a:xfrm>
            <a:off x="5074920" y="2743200"/>
            <a:ext cx="2697480" cy="868680"/>
          </a:xfrm>
          <a:prstGeom prst="roundRect">
            <a:avLst>
              <a:gd name="adj" fmla="val 18947"/>
            </a:avLst>
          </a:prstGeom>
          <a:solidFill>
            <a:srgbClr val="211B42"/>
          </a:solidFill>
          <a:ln w="12700">
            <a:solidFill>
              <a:srgbClr val="2E2759"/>
            </a:solidFill>
          </a:ln>
        </p:spPr>
        <p:txBody>
          <a:bodyPr wrap="square" lIns="127000" tIns="127000" rIns="127000" bIns="127000" rtlCol="0" anchor="ctr"/>
          <a:lstStyle/>
          <a:p>
            <a:pPr indent="0" marL="0">
              <a:buNone/>
            </a:pPr>
            <a:r>
              <a:rPr lang="en-US" sz="1400" b="1" dirty="0">
                <a:solidFill>
                  <a:srgbClr val="FF9F1C"/>
                </a:solidFill>
                <a:latin typeface="Segoe UI" pitchFamily="34" charset="0"/>
                <a:ea typeface="Segoe UI" pitchFamily="34" charset="-122"/>
                <a:cs typeface="Segoe UI" pitchFamily="34" charset="-120"/>
              </a:rPr>
              <a:t>bhai </a:t>
            </a:r>
            <a:pPr indent="0" marL="0">
              <a:buNone/>
            </a:pPr>
            <a:r>
              <a:rPr lang="en-US" sz="1400" b="1" dirty="0">
                <a:solidFill>
                  <a:srgbClr val="FF9F1C"/>
                </a:solidFill>
                <a:latin typeface="Segoe UI" pitchFamily="34" charset="0"/>
                <a:ea typeface="Segoe UI" pitchFamily="34" charset="-122"/>
                <a:cs typeface="Segoe UI" pitchFamily="34" charset="-120"/>
              </a:rPr>
              <a:t>yeh </a:t>
            </a:r>
            <a:pPr indent="0" marL="0">
              <a:buNone/>
            </a:pPr>
            <a:r>
              <a:rPr lang="en-US" sz="1400" dirty="0">
                <a:solidFill>
                  <a:srgbClr val="F2EFFF"/>
                </a:solidFill>
                <a:latin typeface="Segoe UI" pitchFamily="34" charset="0"/>
                <a:ea typeface="Segoe UI" pitchFamily="34" charset="-122"/>
                <a:cs typeface="Segoe UI" pitchFamily="34" charset="-120"/>
              </a:rPr>
              <a:t>function </a:t>
            </a:r>
            <a:pPr indent="0" marL="0">
              <a:buNone/>
            </a:pPr>
            <a:r>
              <a:rPr lang="en-US" sz="1400" dirty="0">
                <a:solidFill>
                  <a:srgbClr val="F2EFFF"/>
                </a:solidFill>
                <a:latin typeface="Segoe UI" pitchFamily="34" charset="0"/>
                <a:ea typeface="Segoe UI" pitchFamily="34" charset="-122"/>
                <a:cs typeface="Segoe UI" pitchFamily="34" charset="-120"/>
              </a:rPr>
              <a:t>crash </a:t>
            </a:r>
            <a:pPr indent="0" marL="0">
              <a:buNone/>
            </a:pPr>
            <a:r>
              <a:rPr lang="en-US" sz="1400" b="1" dirty="0">
                <a:solidFill>
                  <a:srgbClr val="FF9F1C"/>
                </a:solidFill>
                <a:latin typeface="Segoe UI" pitchFamily="34" charset="0"/>
                <a:ea typeface="Segoe UI" pitchFamily="34" charset="-122"/>
                <a:cs typeface="Segoe UI" pitchFamily="34" charset="-120"/>
              </a:rPr>
              <a:t>kyu </a:t>
            </a:r>
            <a:pPr indent="0" marL="0">
              <a:buNone/>
            </a:pPr>
            <a:r>
              <a:rPr lang="en-US" sz="1400" b="1" dirty="0">
                <a:solidFill>
                  <a:srgbClr val="FF9F1C"/>
                </a:solidFill>
                <a:latin typeface="Segoe UI" pitchFamily="34" charset="0"/>
                <a:ea typeface="Segoe UI" pitchFamily="34" charset="-122"/>
                <a:cs typeface="Segoe UI" pitchFamily="34" charset="-120"/>
              </a:rPr>
              <a:t>ho </a:t>
            </a:r>
            <a:pPr indent="0" marL="0">
              <a:buNone/>
            </a:pPr>
            <a:r>
              <a:rPr lang="en-US" sz="1400" b="1" dirty="0">
                <a:solidFill>
                  <a:srgbClr val="FF9F1C"/>
                </a:solidFill>
                <a:latin typeface="Segoe UI" pitchFamily="34" charset="0"/>
                <a:ea typeface="Segoe UI" pitchFamily="34" charset="-122"/>
                <a:cs typeface="Segoe UI" pitchFamily="34" charset="-120"/>
              </a:rPr>
              <a:t>raha </a:t>
            </a:r>
            <a:pPr indent="0" marL="0">
              <a:buNone/>
            </a:pPr>
            <a:r>
              <a:rPr lang="en-US" sz="1400" b="1" dirty="0">
                <a:solidFill>
                  <a:srgbClr val="FF9F1C"/>
                </a:solidFill>
                <a:latin typeface="Segoe UI" pitchFamily="34" charset="0"/>
                <a:ea typeface="Segoe UI" pitchFamily="34" charset="-122"/>
                <a:cs typeface="Segoe UI" pitchFamily="34" charset="-120"/>
              </a:rPr>
              <a:t>hai?</a:t>
            </a:r>
            <a:endParaRPr lang="en-US" sz="1400" dirty="0"/>
          </a:p>
        </p:txBody>
      </p:sp>
      <p:sp>
        <p:nvSpPr>
          <p:cNvPr id="23" name="Text 18"/>
          <p:cNvSpPr txBox="1"/>
          <p:nvPr/>
        </p:nvSpPr>
        <p:spPr>
          <a:xfrm>
            <a:off x="4800600" y="3721608"/>
            <a:ext cx="2971800" cy="457200"/>
          </a:xfrm>
          <a:prstGeom prst="roundRect">
            <a:avLst>
              <a:gd name="adj" fmla="val 36000"/>
            </a:avLst>
          </a:prstGeom>
          <a:solidFill>
            <a:srgbClr val="211B42"/>
          </a:solidFill>
          <a:ln w="12700">
            <a:solidFill>
              <a:srgbClr val="2E2759"/>
            </a:solidFill>
          </a:ln>
        </p:spPr>
        <p:txBody>
          <a:bodyPr wrap="square" lIns="101600" tIns="101600" rIns="101600" bIns="101600" rtlCol="0" anchor="ctr"/>
          <a:lstStyle/>
          <a:p>
            <a:pPr indent="0" marL="0">
              <a:buNone/>
            </a:pPr>
            <a:r>
              <a:rPr lang="en-US" sz="1200" b="1" dirty="0">
                <a:solidFill>
                  <a:srgbClr val="FF9F1C"/>
                </a:solidFill>
                <a:latin typeface="Segoe UI" pitchFamily="34" charset="0"/>
                <a:ea typeface="Segoe UI" pitchFamily="34" charset="-122"/>
                <a:cs typeface="Segoe UI" pitchFamily="34" charset="-120"/>
              </a:rPr>
              <a:t>sirf code de, explanation nahi</a:t>
            </a:r>
            <a:endParaRPr lang="en-US" sz="1200" dirty="0"/>
          </a:p>
        </p:txBody>
      </p:sp>
      <p:sp>
        <p:nvSpPr>
          <p:cNvPr id="24" name="Text 19"/>
          <p:cNvSpPr txBox="1"/>
          <p:nvPr/>
        </p:nvSpPr>
        <p:spPr>
          <a:xfrm>
            <a:off x="4434840" y="4434840"/>
            <a:ext cx="2834640" cy="868680"/>
          </a:xfrm>
          <a:prstGeom prst="roundRect">
            <a:avLst>
              <a:gd name="adj" fmla="val 18947"/>
            </a:avLst>
          </a:prstGeom>
          <a:solidFill>
            <a:srgbClr val="17132E"/>
          </a:solidFill>
          <a:ln w="12700">
            <a:solidFill>
              <a:srgbClr val="FF5C7A"/>
            </a:solidFill>
          </a:ln>
        </p:spPr>
        <p:txBody>
          <a:bodyPr wrap="square" lIns="127000" tIns="127000" rIns="127000" bIns="127000" rtlCol="0" anchor="ctr"/>
          <a:lstStyle/>
          <a:p>
            <a:pPr indent="0" marL="0">
              <a:buNone/>
            </a:pPr>
            <a:r>
              <a:rPr lang="en-US" sz="1200" dirty="0">
                <a:solidFill>
                  <a:srgbClr val="A9A3CF"/>
                </a:solidFill>
                <a:latin typeface="Segoe UI" pitchFamily="34" charset="0"/>
                <a:ea typeface="Segoe UI" pitchFamily="34" charset="-122"/>
                <a:cs typeface="Segoe UI" pitchFamily="34" charset="-120"/>
              </a:rPr>
              <a:t>Sure! Here's a detailed explanation…</a:t>
            </a:r>
            <a:endParaRPr lang="en-US" sz="1200" dirty="0"/>
          </a:p>
          <a:p>
            <a:pPr indent="0" marL="0">
              <a:buNone/>
            </a:pPr>
            <a:r>
              <a:rPr lang="en-US" sz="1200" dirty="0">
                <a:solidFill>
                  <a:srgbClr val="FF5C7A"/>
                </a:solidFill>
                <a:latin typeface="Consolas" pitchFamily="34" charset="0"/>
                <a:ea typeface="Consolas" pitchFamily="34" charset="-122"/>
                <a:cs typeface="Consolas" pitchFamily="34" charset="-120"/>
              </a:rPr>
              <a:t>def crash_fix(): …</a:t>
            </a:r>
            <a:endParaRPr lang="en-US" sz="1200" dirty="0"/>
          </a:p>
        </p:txBody>
      </p:sp>
      <p:sp>
        <p:nvSpPr>
          <p:cNvPr id="25" name="Text 20"/>
          <p:cNvSpPr txBox="1"/>
          <p:nvPr/>
        </p:nvSpPr>
        <p:spPr>
          <a:xfrm>
            <a:off x="4434840" y="5577840"/>
            <a:ext cx="3383280" cy="365760"/>
          </a:xfrm>
          <a:prstGeom prst="rect">
            <a:avLst/>
          </a:prstGeom>
          <a:noFill/>
          <a:ln/>
        </p:spPr>
        <p:txBody>
          <a:bodyPr wrap="square" lIns="0" tIns="0" rIns="0" bIns="0" rtlCol="0" anchor="t"/>
          <a:lstStyle/>
          <a:p>
            <a:pPr indent="0" marL="0">
              <a:buNone/>
            </a:pPr>
            <a:r>
              <a:rPr lang="en-US" sz="1300" b="1" i="1" dirty="0">
                <a:solidFill>
                  <a:srgbClr val="FF9F1C"/>
                </a:solidFill>
                <a:latin typeface="Segoe UI" pitchFamily="34" charset="0"/>
                <a:ea typeface="Segoe UI" pitchFamily="34" charset="-122"/>
                <a:cs typeface="Segoe UI" pitchFamily="34" charset="-120"/>
              </a:rPr>
              <a:t>Does the answer still work?</a:t>
            </a:r>
            <a:endParaRPr lang="en-US" sz="1300" dirty="0"/>
          </a:p>
        </p:txBody>
      </p:sp>
      <p:sp>
        <p:nvSpPr>
          <p:cNvPr id="26" name="Shape 21"/>
          <p:cNvSpPr/>
          <p:nvPr/>
        </p:nvSpPr>
        <p:spPr>
          <a:xfrm>
            <a:off x="8229600" y="2148840"/>
            <a:ext cx="3429000" cy="1975104"/>
          </a:xfrm>
          <a:prstGeom prst="roundRect">
            <a:avLst>
              <a:gd name="adj" fmla="val 6481"/>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7" name="Shape 22"/>
          <p:cNvSpPr/>
          <p:nvPr/>
        </p:nvSpPr>
        <p:spPr>
          <a:xfrm>
            <a:off x="8458200" y="2377440"/>
            <a:ext cx="566928" cy="566928"/>
          </a:xfrm>
          <a:prstGeom prst="ellipse">
            <a:avLst/>
          </a:prstGeom>
          <a:solidFill>
            <a:srgbClr val="211B42"/>
          </a:solidFill>
          <a:ln/>
        </p:spPr>
      </p:sp>
      <p:pic>
        <p:nvPicPr>
          <p:cNvPr id="28" name="Image 3" descr="/tmp/claude-0/-home-claude/cf1b82dd-723a-5c0d-b3ee-f6062e85aabe/scratchpad/nd/ic/FaFlask_w.png">    </p:cNvPr>
          <p:cNvPicPr>
            <a:picLocks noChangeAspect="1"/>
          </p:cNvPicPr>
          <p:nvPr/>
        </p:nvPicPr>
        <p:blipFill>
          <a:blip r:embed="rId9"/>
          <a:stretch>
            <a:fillRect/>
          </a:stretch>
        </p:blipFill>
        <p:spPr>
          <a:xfrm>
            <a:off x="8611271" y="2530511"/>
            <a:ext cx="260787" cy="260787"/>
          </a:xfrm>
          <a:prstGeom prst="rect">
            <a:avLst/>
          </a:prstGeom>
        </p:spPr>
      </p:pic>
      <p:sp>
        <p:nvSpPr>
          <p:cNvPr id="29" name="Text 23"/>
          <p:cNvSpPr txBox="1"/>
          <p:nvPr/>
        </p:nvSpPr>
        <p:spPr>
          <a:xfrm>
            <a:off x="9189720" y="2478024"/>
            <a:ext cx="2377440" cy="365760"/>
          </a:xfrm>
          <a:prstGeom prst="rect">
            <a:avLst/>
          </a:prstGeom>
          <a:noFill/>
          <a:ln/>
        </p:spPr>
        <p:txBody>
          <a:bodyPr wrap="square" lIns="0" tIns="0" rIns="0" bIns="0" rtlCol="0" anchor="t"/>
          <a:lstStyle/>
          <a:p>
            <a:pPr indent="0" marL="0">
              <a:buNone/>
            </a:pPr>
            <a:r>
              <a:rPr lang="en-US" sz="1600" b="1" dirty="0">
                <a:solidFill>
                  <a:srgbClr val="F2EFFF"/>
                </a:solidFill>
                <a:latin typeface="Segoe UI" pitchFamily="34" charset="0"/>
                <a:ea typeface="Segoe UI" pitchFamily="34" charset="-122"/>
                <a:cs typeface="Segoe UI" pitchFamily="34" charset="-120"/>
              </a:rPr>
              <a:t>Tested in English</a:t>
            </a:r>
            <a:endParaRPr lang="en-US" sz="1600" dirty="0"/>
          </a:p>
        </p:txBody>
      </p:sp>
      <p:sp>
        <p:nvSpPr>
          <p:cNvPr id="30" name="Text 24"/>
          <p:cNvSpPr txBox="1"/>
          <p:nvPr/>
        </p:nvSpPr>
        <p:spPr>
          <a:xfrm>
            <a:off x="8476488" y="3063240"/>
            <a:ext cx="3017520" cy="96012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Code benchmarks like HumanEval-XL cover 23 languages. None is Indian, and none mixes languages.</a:t>
            </a:r>
            <a:endParaRPr lang="en-US" sz="1200" dirty="0"/>
          </a:p>
        </p:txBody>
      </p:sp>
      <p:sp>
        <p:nvSpPr>
          <p:cNvPr id="31" name="Shape 25"/>
          <p:cNvSpPr/>
          <p:nvPr/>
        </p:nvSpPr>
        <p:spPr>
          <a:xfrm>
            <a:off x="8229600" y="4242816"/>
            <a:ext cx="3429000" cy="1975104"/>
          </a:xfrm>
          <a:prstGeom prst="roundRect">
            <a:avLst>
              <a:gd name="adj" fmla="val 6481"/>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32" name="Shape 26"/>
          <p:cNvSpPr/>
          <p:nvPr/>
        </p:nvSpPr>
        <p:spPr>
          <a:xfrm>
            <a:off x="8458200" y="4471416"/>
            <a:ext cx="566928" cy="566928"/>
          </a:xfrm>
          <a:prstGeom prst="ellipse">
            <a:avLst/>
          </a:prstGeom>
          <a:solidFill>
            <a:srgbClr val="211B42"/>
          </a:solidFill>
          <a:ln/>
        </p:spPr>
      </p:sp>
      <p:pic>
        <p:nvPicPr>
          <p:cNvPr id="33" name="Image 4" descr="/tmp/claude-0/-home-claude/cf1b82dd-723a-5c0d-b3ee-f6062e85aabe/scratchpad/nd/ic/FaEye_w.png">    </p:cNvPr>
          <p:cNvPicPr>
            <a:picLocks noChangeAspect="1"/>
          </p:cNvPicPr>
          <p:nvPr/>
        </p:nvPicPr>
        <p:blipFill>
          <a:blip r:embed="rId10"/>
          <a:stretch>
            <a:fillRect/>
          </a:stretch>
        </p:blipFill>
        <p:spPr>
          <a:xfrm>
            <a:off x="8611271" y="4624487"/>
            <a:ext cx="260787" cy="260787"/>
          </a:xfrm>
          <a:prstGeom prst="rect">
            <a:avLst/>
          </a:prstGeom>
        </p:spPr>
      </p:pic>
      <p:sp>
        <p:nvSpPr>
          <p:cNvPr id="34" name="Text 27"/>
          <p:cNvSpPr txBox="1"/>
          <p:nvPr/>
        </p:nvSpPr>
        <p:spPr>
          <a:xfrm>
            <a:off x="9189720" y="4572000"/>
            <a:ext cx="2377440" cy="365760"/>
          </a:xfrm>
          <a:prstGeom prst="rect">
            <a:avLst/>
          </a:prstGeom>
          <a:noFill/>
          <a:ln/>
        </p:spPr>
        <p:txBody>
          <a:bodyPr wrap="square" lIns="0" tIns="0" rIns="0" bIns="0" rtlCol="0" anchor="t"/>
          <a:lstStyle/>
          <a:p>
            <a:pPr indent="0" marL="0">
              <a:buNone/>
            </a:pPr>
            <a:r>
              <a:rPr lang="en-US" sz="1600" b="1" dirty="0">
                <a:solidFill>
                  <a:srgbClr val="F2EFFF"/>
                </a:solidFill>
                <a:latin typeface="Segoe UI" pitchFamily="34" charset="0"/>
                <a:ea typeface="Segoe UI" pitchFamily="34" charset="-122"/>
                <a:cs typeface="Segoe UI" pitchFamily="34" charset="-120"/>
              </a:rPr>
              <a:t>Nobody measures the gap</a:t>
            </a:r>
            <a:endParaRPr lang="en-US" sz="1600" dirty="0"/>
          </a:p>
        </p:txBody>
      </p:sp>
      <p:sp>
        <p:nvSpPr>
          <p:cNvPr id="35" name="Text 28"/>
          <p:cNvSpPr txBox="1"/>
          <p:nvPr/>
        </p:nvSpPr>
        <p:spPr>
          <a:xfrm>
            <a:off x="8476488" y="5157216"/>
            <a:ext cx="3017520" cy="96012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Nobody knows how much worse the code gets when the prompt is mixed. Students get broken code and don't know why.</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03 / 19</a:t>
            </a:r>
            <a:endParaRPr lang="en-US" sz="900" dirty="0"/>
          </a:p>
        </p:txBody>
      </p:sp>
      <p:sp>
        <p:nvSpPr>
          <p:cNvPr id="11"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02 · THE MIX DIAL</a:t>
            </a:r>
            <a:endParaRPr lang="en-US" sz="1100" dirty="0"/>
          </a:p>
        </p:txBody>
      </p:sp>
      <p:sp>
        <p:nvSpPr>
          <p:cNvPr id="12"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Same task. Four ways to ask.</a:t>
            </a:r>
            <a:endParaRPr lang="en-US" sz="3000" dirty="0"/>
          </a:p>
        </p:txBody>
      </p:sp>
      <p:sp>
        <p:nvSpPr>
          <p:cNvPr id="13" name="!!taskcard"/>
          <p:cNvSpPr/>
          <p:nvPr/>
        </p:nvSpPr>
        <p:spPr>
          <a:xfrm>
            <a:off x="548640" y="2011680"/>
            <a:ext cx="3977640" cy="1828800"/>
          </a:xfrm>
          <a:prstGeom prst="roundRect">
            <a:avLst>
              <a:gd name="adj" fmla="val 7000"/>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4" name="!!tasklabel"/>
          <p:cNvSpPr txBox="1"/>
          <p:nvPr/>
        </p:nvSpPr>
        <p:spPr>
          <a:xfrm>
            <a:off x="804672" y="2194560"/>
            <a:ext cx="3474720" cy="201168"/>
          </a:xfrm>
          <a:prstGeom prst="rect">
            <a:avLst/>
          </a:prstGeom>
          <a:noFill/>
          <a:ln/>
        </p:spPr>
        <p:txBody>
          <a:bodyPr wrap="square" lIns="0" tIns="0" rIns="0" bIns="0" rtlCol="0" anchor="t"/>
          <a:lstStyle/>
          <a:p>
            <a:pPr indent="0" marL="0">
              <a:buNone/>
            </a:pPr>
            <a:r>
              <a:rPr lang="en-US" sz="950" b="1" spc="100" kern="0" dirty="0">
                <a:solidFill>
                  <a:srgbClr val="6F6A99"/>
                </a:solidFill>
                <a:latin typeface="Consolas" pitchFamily="34" charset="0"/>
                <a:ea typeface="Consolas" pitchFamily="34" charset="-122"/>
                <a:cs typeface="Consolas" pitchFamily="34" charset="-120"/>
              </a:rPr>
              <a:t>THE TASK</a:t>
            </a:r>
            <a:endParaRPr lang="en-US" sz="950" dirty="0"/>
          </a:p>
        </p:txBody>
      </p:sp>
      <p:sp>
        <p:nvSpPr>
          <p:cNvPr id="15" name="!!taskcode"/>
          <p:cNvSpPr txBox="1"/>
          <p:nvPr/>
        </p:nvSpPr>
        <p:spPr>
          <a:xfrm>
            <a:off x="804672" y="2487168"/>
            <a:ext cx="3566160" cy="365760"/>
          </a:xfrm>
          <a:prstGeom prst="rect">
            <a:avLst/>
          </a:prstGeom>
          <a:noFill/>
          <a:ln/>
        </p:spPr>
        <p:txBody>
          <a:bodyPr wrap="square" lIns="0" tIns="0" rIns="0" bIns="0" rtlCol="0" anchor="t"/>
          <a:lstStyle/>
          <a:p>
            <a:pPr indent="0" marL="0">
              <a:buNone/>
            </a:pPr>
            <a:r>
              <a:rPr lang="en-US" sz="1700" dirty="0">
                <a:solidFill>
                  <a:srgbClr val="C9C2FF"/>
                </a:solidFill>
                <a:latin typeface="Consolas" pitchFamily="34" charset="0"/>
                <a:ea typeface="Consolas" pitchFamily="34" charset="-122"/>
                <a:cs typeface="Consolas" pitchFamily="34" charset="-120"/>
              </a:rPr>
              <a:t>indian_format(1234567)</a:t>
            </a:r>
            <a:endParaRPr lang="en-US" sz="1700" dirty="0"/>
          </a:p>
        </p:txBody>
      </p:sp>
      <p:sp>
        <p:nvSpPr>
          <p:cNvPr id="16" name="!!taskout"/>
          <p:cNvSpPr txBox="1"/>
          <p:nvPr/>
        </p:nvSpPr>
        <p:spPr>
          <a:xfrm>
            <a:off x="804672" y="2852928"/>
            <a:ext cx="3566160" cy="411480"/>
          </a:xfrm>
          <a:prstGeom prst="rect">
            <a:avLst/>
          </a:prstGeom>
          <a:noFill/>
          <a:ln/>
        </p:spPr>
        <p:txBody>
          <a:bodyPr wrap="square" lIns="0" tIns="0" rIns="0" bIns="0" rtlCol="0" anchor="t"/>
          <a:lstStyle/>
          <a:p>
            <a:pPr indent="0" marL="0">
              <a:buNone/>
            </a:pPr>
            <a:r>
              <a:rPr lang="en-US" sz="2100" b="1" dirty="0">
                <a:solidFill>
                  <a:srgbClr val="FF9F1C"/>
                </a:solidFill>
                <a:latin typeface="Consolas" pitchFamily="34" charset="0"/>
                <a:ea typeface="Consolas" pitchFamily="34" charset="-122"/>
                <a:cs typeface="Consolas" pitchFamily="34" charset="-120"/>
              </a:rPr>
              <a:t>→ "12,34,567"</a:t>
            </a:r>
            <a:endParaRPr lang="en-US" sz="2100" dirty="0"/>
          </a:p>
        </p:txBody>
      </p:sp>
      <p:sp>
        <p:nvSpPr>
          <p:cNvPr id="17" name="!!tasknote"/>
          <p:cNvSpPr txBox="1"/>
          <p:nvPr/>
        </p:nvSpPr>
        <p:spPr>
          <a:xfrm>
            <a:off x="804672" y="3346704"/>
            <a:ext cx="3566160" cy="320040"/>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Every prompt also says: reply with only the code.</a:t>
            </a:r>
            <a:endParaRPr lang="en-US" sz="1150" dirty="0"/>
          </a:p>
        </p:txBody>
      </p:sp>
      <p:sp>
        <p:nvSpPr>
          <p:cNvPr id="18" name="!!capcard"/>
          <p:cNvSpPr/>
          <p:nvPr/>
        </p:nvSpPr>
        <p:spPr>
          <a:xfrm>
            <a:off x="548640" y="4023360"/>
            <a:ext cx="3977640" cy="2240280"/>
          </a:xfrm>
          <a:prstGeom prst="roundRect">
            <a:avLst>
              <a:gd name="adj" fmla="val 571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9" name="!!capstep"/>
          <p:cNvSpPr txBox="1"/>
          <p:nvPr/>
        </p:nvSpPr>
        <p:spPr>
          <a:xfrm>
            <a:off x="804672" y="4206240"/>
            <a:ext cx="1371600" cy="274320"/>
          </a:xfrm>
          <a:prstGeom prst="rect">
            <a:avLst/>
          </a:prstGeom>
          <a:noFill/>
          <a:ln/>
        </p:spPr>
        <p:txBody>
          <a:bodyPr wrap="square" lIns="0" tIns="0" rIns="0" bIns="0" rtlCol="0" anchor="t"/>
          <a:lstStyle/>
          <a:p>
            <a:pPr indent="0" marL="0">
              <a:buNone/>
            </a:pPr>
            <a:r>
              <a:rPr lang="en-US" sz="1200" b="1" dirty="0">
                <a:solidFill>
                  <a:srgbClr val="FF9F1C"/>
                </a:solidFill>
                <a:latin typeface="Consolas" pitchFamily="34" charset="0"/>
                <a:ea typeface="Consolas" pitchFamily="34" charset="-122"/>
                <a:cs typeface="Consolas" pitchFamily="34" charset="-120"/>
              </a:rPr>
              <a:t>1 / 4</a:t>
            </a:r>
            <a:endParaRPr lang="en-US" sz="1200" dirty="0"/>
          </a:p>
        </p:txBody>
      </p:sp>
      <p:sp>
        <p:nvSpPr>
          <p:cNvPr id="20" name="!!caption"/>
          <p:cNvSpPr txBox="1"/>
          <p:nvPr/>
        </p:nvSpPr>
        <p:spPr>
          <a:xfrm>
            <a:off x="804672" y="4526280"/>
            <a:ext cx="3520440" cy="777240"/>
          </a:xfrm>
          <a:prstGeom prst="rect">
            <a:avLst/>
          </a:prstGeom>
          <a:noFill/>
          <a:ln/>
        </p:spPr>
        <p:txBody>
          <a:bodyPr wrap="square" lIns="0" tIns="0" rIns="0" bIns="0" rtlCol="0" anchor="t"/>
          <a:lstStyle/>
          <a:p>
            <a:pPr indent="0" marL="0">
              <a:buNone/>
            </a:pPr>
            <a:r>
              <a:rPr lang="en-US" sz="1800" b="1" dirty="0">
                <a:solidFill>
                  <a:srgbClr val="F2EFFF"/>
                </a:solidFill>
                <a:latin typeface="Segoe UI" pitchFamily="34" charset="0"/>
                <a:ea typeface="Segoe UI" pitchFamily="34" charset="-122"/>
                <a:cs typeface="Segoe UI" pitchFamily="34" charset="-120"/>
              </a:rPr>
              <a:t>Clean English: all three models pass.</a:t>
            </a:r>
            <a:endParaRPr lang="en-US" sz="1800" dirty="0"/>
          </a:p>
        </p:txBody>
      </p:sp>
      <p:sp>
        <p:nvSpPr>
          <p:cNvPr id="21" name="!!capsub"/>
          <p:cNvSpPr txBox="1"/>
          <p:nvPr/>
        </p:nvSpPr>
        <p:spPr>
          <a:xfrm>
            <a:off x="804672" y="5349240"/>
            <a:ext cx="3520440" cy="82296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This is how AI coding tools are usually tested.</a:t>
            </a:r>
            <a:endParaRPr lang="en-US" sz="1200" dirty="0"/>
          </a:p>
        </p:txBody>
      </p:sp>
      <p:sp>
        <p:nvSpPr>
          <p:cNvPr id="22" name="!!panel"/>
          <p:cNvSpPr/>
          <p:nvPr/>
        </p:nvSpPr>
        <p:spPr>
          <a:xfrm>
            <a:off x="4754880" y="2011680"/>
            <a:ext cx="6976872" cy="4251960"/>
          </a:xfrm>
          <a:prstGeom prst="roundRect">
            <a:avLst>
              <a:gd name="adj" fmla="val 3011"/>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3" name="!!plabel"/>
          <p:cNvSpPr txBox="1"/>
          <p:nvPr/>
        </p:nvSpPr>
        <p:spPr>
          <a:xfrm>
            <a:off x="5029200" y="2176272"/>
            <a:ext cx="2743200" cy="201168"/>
          </a:xfrm>
          <a:prstGeom prst="rect">
            <a:avLst/>
          </a:prstGeom>
          <a:noFill/>
          <a:ln/>
        </p:spPr>
        <p:txBody>
          <a:bodyPr wrap="square" lIns="0" tIns="0" rIns="0" bIns="0" rtlCol="0" anchor="t"/>
          <a:lstStyle/>
          <a:p>
            <a:pPr indent="0" marL="0">
              <a:buNone/>
            </a:pPr>
            <a:r>
              <a:rPr lang="en-US" sz="950" b="1" spc="100" kern="0" dirty="0">
                <a:solidFill>
                  <a:srgbClr val="6F6A99"/>
                </a:solidFill>
                <a:latin typeface="Consolas" pitchFamily="34" charset="0"/>
                <a:ea typeface="Consolas" pitchFamily="34" charset="-122"/>
                <a:cs typeface="Consolas" pitchFamily="34" charset="-120"/>
              </a:rPr>
              <a:t>THE PROMPT</a:t>
            </a:r>
            <a:endParaRPr lang="en-US" sz="950" dirty="0"/>
          </a:p>
        </p:txBody>
      </p:sp>
      <p:sp>
        <p:nvSpPr>
          <p:cNvPr id="24" name="!!pver"/>
          <p:cNvSpPr txBox="1"/>
          <p:nvPr/>
        </p:nvSpPr>
        <p:spPr>
          <a:xfrm>
            <a:off x="8229600" y="2176272"/>
            <a:ext cx="3246120" cy="201168"/>
          </a:xfrm>
          <a:prstGeom prst="rect">
            <a:avLst/>
          </a:prstGeom>
          <a:noFill/>
          <a:ln/>
        </p:spPr>
        <p:txBody>
          <a:bodyPr wrap="square" lIns="0" tIns="0" rIns="0" bIns="0" rtlCol="0" anchor="t"/>
          <a:lstStyle/>
          <a:p>
            <a:pPr algn="r" indent="0" marL="0">
              <a:buNone/>
            </a:pPr>
            <a:r>
              <a:rPr lang="en-US" sz="950" b="1" spc="100" kern="0" dirty="0">
                <a:solidFill>
                  <a:srgbClr val="A9A3CF"/>
                </a:solidFill>
                <a:latin typeface="Consolas" pitchFamily="34" charset="0"/>
                <a:ea typeface="Consolas" pitchFamily="34" charset="-122"/>
                <a:cs typeface="Consolas" pitchFamily="34" charset="-120"/>
              </a:rPr>
              <a:t>ENGLISH</a:t>
            </a:r>
            <a:endParaRPr lang="en-US" sz="950" dirty="0"/>
          </a:p>
        </p:txBody>
      </p:sp>
      <p:sp>
        <p:nvSpPr>
          <p:cNvPr id="25" name="!!promptbox"/>
          <p:cNvSpPr/>
          <p:nvPr/>
        </p:nvSpPr>
        <p:spPr>
          <a:xfrm>
            <a:off x="5029200" y="2450592"/>
            <a:ext cx="6428232" cy="1627632"/>
          </a:xfrm>
          <a:prstGeom prst="roundRect">
            <a:avLst>
              <a:gd name="adj" fmla="val 5618"/>
            </a:avLst>
          </a:prstGeom>
          <a:solidFill>
            <a:srgbClr val="0B0918"/>
          </a:solidFill>
          <a:ln w="12700">
            <a:solidFill>
              <a:srgbClr val="2E2759"/>
            </a:solidFill>
            <a:prstDash val="solid"/>
          </a:ln>
        </p:spPr>
      </p:sp>
      <p:sp>
        <p:nvSpPr>
          <p:cNvPr id="26" name="!!prompt"/>
          <p:cNvSpPr txBox="1"/>
          <p:nvPr/>
        </p:nvSpPr>
        <p:spPr>
          <a:xfrm>
            <a:off x="5212080" y="2560320"/>
            <a:ext cx="6080760" cy="1463040"/>
          </a:xfrm>
          <a:prstGeom prst="rect">
            <a:avLst/>
          </a:prstGeom>
          <a:noFill/>
          <a:ln/>
        </p:spPr>
        <p:txBody>
          <a:bodyPr wrap="square" lIns="0" tIns="0" rIns="0" bIns="0" rtlCol="0" anchor="ctr"/>
          <a:lstStyle/>
          <a:p>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Write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a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Python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function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named </a:t>
            </a:r>
            <a:pPr indent="0" marL="0">
              <a:lnSpc>
                <a:spcPct val="105000"/>
              </a:lnSpc>
              <a:buNone/>
            </a:pPr>
            <a:r>
              <a:rPr lang="en-US" sz="1250" dirty="0">
                <a:solidFill>
                  <a:srgbClr val="C9C2FF"/>
                </a:solidFill>
                <a:latin typeface="Consolas" pitchFamily="34" charset="0"/>
                <a:ea typeface="Consolas" pitchFamily="34" charset="-122"/>
                <a:cs typeface="Consolas" pitchFamily="34" charset="-120"/>
              </a:rPr>
              <a:t>indian_format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that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takes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a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non-negative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whole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number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and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returns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it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as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a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string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with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commas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in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the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Indian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style: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the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last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three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digits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form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one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group,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and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every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two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digits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before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that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form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a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group.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Numbers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below </a:t>
            </a:r>
            <a:pPr indent="0" marL="0">
              <a:lnSpc>
                <a:spcPct val="105000"/>
              </a:lnSpc>
              <a:buNone/>
            </a:pPr>
            <a:r>
              <a:rPr lang="en-US" sz="1250" dirty="0">
                <a:solidFill>
                  <a:srgbClr val="C9C2FF"/>
                </a:solidFill>
                <a:latin typeface="Consolas" pitchFamily="34" charset="0"/>
                <a:ea typeface="Consolas" pitchFamily="34" charset="-122"/>
                <a:cs typeface="Consolas" pitchFamily="34" charset="-120"/>
              </a:rPr>
              <a:t>1000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have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no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commas.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Example: </a:t>
            </a:r>
            <a:pPr indent="0" marL="0">
              <a:lnSpc>
                <a:spcPct val="105000"/>
              </a:lnSpc>
              <a:buNone/>
            </a:pPr>
            <a:r>
              <a:rPr lang="en-US" sz="1250" dirty="0">
                <a:solidFill>
                  <a:srgbClr val="C9C2FF"/>
                </a:solidFill>
                <a:latin typeface="Consolas" pitchFamily="34" charset="0"/>
                <a:ea typeface="Consolas" pitchFamily="34" charset="-122"/>
                <a:cs typeface="Consolas" pitchFamily="34" charset="-120"/>
              </a:rPr>
              <a:t>indian_format(1234567)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returns </a:t>
            </a:r>
            <a:pPr indent="0" marL="0">
              <a:lnSpc>
                <a:spcPct val="105000"/>
              </a:lnSpc>
              <a:buNone/>
            </a:pPr>
            <a:r>
              <a:rPr lang="en-US" sz="1250" dirty="0">
                <a:solidFill>
                  <a:srgbClr val="C9C2FF"/>
                </a:solidFill>
                <a:latin typeface="Consolas" pitchFamily="34" charset="0"/>
                <a:ea typeface="Consolas" pitchFamily="34" charset="-122"/>
                <a:cs typeface="Consolas" pitchFamily="34" charset="-120"/>
              </a:rPr>
              <a:t>"12,34,567".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Reply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with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only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the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code.</a:t>
            </a:r>
            <a:endParaRPr lang="en-US" sz="1400" dirty="0"/>
          </a:p>
        </p:txBody>
      </p:sp>
      <p:sp>
        <p:nvSpPr>
          <p:cNvPr id="27" name="!!legEnglish"/>
          <p:cNvSpPr/>
          <p:nvPr/>
        </p:nvSpPr>
        <p:spPr>
          <a:xfrm>
            <a:off x="5029200" y="4224528"/>
            <a:ext cx="109728" cy="109728"/>
          </a:xfrm>
          <a:prstGeom prst="ellipse">
            <a:avLst/>
          </a:prstGeom>
          <a:solidFill>
            <a:srgbClr val="F2EFFF"/>
          </a:solidFill>
          <a:ln/>
        </p:spPr>
      </p:sp>
      <p:sp>
        <p:nvSpPr>
          <p:cNvPr id="28" name="!!legtEnglish"/>
          <p:cNvSpPr txBox="1"/>
          <p:nvPr/>
        </p:nvSpPr>
        <p:spPr>
          <a:xfrm>
            <a:off x="5184648"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English</a:t>
            </a:r>
            <a:endParaRPr lang="en-US" sz="1000" dirty="0"/>
          </a:p>
        </p:txBody>
      </p:sp>
      <p:sp>
        <p:nvSpPr>
          <p:cNvPr id="29" name="!!legHindi"/>
          <p:cNvSpPr/>
          <p:nvPr/>
        </p:nvSpPr>
        <p:spPr>
          <a:xfrm>
            <a:off x="5801868" y="4224528"/>
            <a:ext cx="109728" cy="109728"/>
          </a:xfrm>
          <a:prstGeom prst="ellipse">
            <a:avLst/>
          </a:prstGeom>
          <a:solidFill>
            <a:srgbClr val="FF9F1C"/>
          </a:solidFill>
          <a:ln/>
        </p:spPr>
      </p:sp>
      <p:sp>
        <p:nvSpPr>
          <p:cNvPr id="30" name="!!legtHindi"/>
          <p:cNvSpPr txBox="1"/>
          <p:nvPr/>
        </p:nvSpPr>
        <p:spPr>
          <a:xfrm>
            <a:off x="5957316"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Hindi</a:t>
            </a:r>
            <a:endParaRPr lang="en-US" sz="1000" dirty="0"/>
          </a:p>
        </p:txBody>
      </p:sp>
      <p:sp>
        <p:nvSpPr>
          <p:cNvPr id="31" name="!!legBengali"/>
          <p:cNvSpPr/>
          <p:nvPr/>
        </p:nvSpPr>
        <p:spPr>
          <a:xfrm>
            <a:off x="6437376" y="4224528"/>
            <a:ext cx="109728" cy="109728"/>
          </a:xfrm>
          <a:prstGeom prst="ellipse">
            <a:avLst/>
          </a:prstGeom>
          <a:solidFill>
            <a:srgbClr val="4CC9F0"/>
          </a:solidFill>
          <a:ln/>
        </p:spPr>
      </p:sp>
      <p:sp>
        <p:nvSpPr>
          <p:cNvPr id="32" name="!!legtBengali"/>
          <p:cNvSpPr txBox="1"/>
          <p:nvPr/>
        </p:nvSpPr>
        <p:spPr>
          <a:xfrm>
            <a:off x="6592824"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Bengali</a:t>
            </a:r>
            <a:endParaRPr lang="en-US" sz="1000" dirty="0"/>
          </a:p>
        </p:txBody>
      </p:sp>
      <p:sp>
        <p:nvSpPr>
          <p:cNvPr id="33" name="!!legKannada"/>
          <p:cNvSpPr/>
          <p:nvPr/>
        </p:nvSpPr>
        <p:spPr>
          <a:xfrm>
            <a:off x="7210044" y="4224528"/>
            <a:ext cx="109728" cy="109728"/>
          </a:xfrm>
          <a:prstGeom prst="ellipse">
            <a:avLst/>
          </a:prstGeom>
          <a:solidFill>
            <a:srgbClr val="E87BA4"/>
          </a:solidFill>
          <a:ln/>
        </p:spPr>
      </p:sp>
      <p:sp>
        <p:nvSpPr>
          <p:cNvPr id="34" name="!!legtKannada"/>
          <p:cNvSpPr txBox="1"/>
          <p:nvPr/>
        </p:nvSpPr>
        <p:spPr>
          <a:xfrm>
            <a:off x="7365492"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Kannada</a:t>
            </a:r>
            <a:endParaRPr lang="en-US" sz="1000" dirty="0"/>
          </a:p>
        </p:txBody>
      </p:sp>
      <p:sp>
        <p:nvSpPr>
          <p:cNvPr id="35" name="!!legfunction names"/>
          <p:cNvSpPr/>
          <p:nvPr/>
        </p:nvSpPr>
        <p:spPr>
          <a:xfrm>
            <a:off x="7982712" y="4224528"/>
            <a:ext cx="109728" cy="109728"/>
          </a:xfrm>
          <a:prstGeom prst="ellipse">
            <a:avLst/>
          </a:prstGeom>
          <a:solidFill>
            <a:srgbClr val="C9C2FF"/>
          </a:solidFill>
          <a:ln/>
        </p:spPr>
      </p:sp>
      <p:sp>
        <p:nvSpPr>
          <p:cNvPr id="36" name="!!legtfunction names"/>
          <p:cNvSpPr txBox="1"/>
          <p:nvPr/>
        </p:nvSpPr>
        <p:spPr>
          <a:xfrm>
            <a:off x="8138160"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function names</a:t>
            </a:r>
            <a:endParaRPr lang="en-US" sz="1000" dirty="0"/>
          </a:p>
        </p:txBody>
      </p:sp>
      <p:sp>
        <p:nvSpPr>
          <p:cNvPr id="37" name="!!meterlabel"/>
          <p:cNvSpPr txBox="1"/>
          <p:nvPr/>
        </p:nvSpPr>
        <p:spPr>
          <a:xfrm>
            <a:off x="5029200" y="4498848"/>
            <a:ext cx="2743200" cy="292608"/>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0%</a:t>
            </a:r>
            <a:pPr indent="0" marL="0">
              <a:buNone/>
            </a:pPr>
            <a:r>
              <a:rPr lang="en-US" sz="1100" dirty="0">
                <a:solidFill>
                  <a:srgbClr val="A9A3CF"/>
                </a:solidFill>
                <a:latin typeface="Segoe UI" pitchFamily="34" charset="0"/>
                <a:ea typeface="Segoe UI" pitchFamily="34" charset="-122"/>
                <a:cs typeface="Segoe UI" pitchFamily="34" charset="-120"/>
              </a:rPr>
              <a:t>  of words not in English</a:t>
            </a:r>
            <a:endParaRPr lang="en-US" sz="1400" dirty="0"/>
          </a:p>
        </p:txBody>
      </p:sp>
      <p:sp>
        <p:nvSpPr>
          <p:cNvPr id="38" name="!!metertrack"/>
          <p:cNvSpPr/>
          <p:nvPr/>
        </p:nvSpPr>
        <p:spPr>
          <a:xfrm>
            <a:off x="7863840" y="4590288"/>
            <a:ext cx="3593592" cy="118872"/>
          </a:xfrm>
          <a:prstGeom prst="roundRect">
            <a:avLst>
              <a:gd name="adj" fmla="val 46154"/>
            </a:avLst>
          </a:prstGeom>
          <a:solidFill>
            <a:srgbClr val="211B42"/>
          </a:solidFill>
          <a:ln/>
        </p:spPr>
      </p:sp>
      <p:sp>
        <p:nvSpPr>
          <p:cNvPr id="39" name="!!meterfill"/>
          <p:cNvSpPr/>
          <p:nvPr/>
        </p:nvSpPr>
        <p:spPr>
          <a:xfrm>
            <a:off x="7863840" y="4590288"/>
            <a:ext cx="118872" cy="118872"/>
          </a:xfrm>
          <a:prstGeom prst="roundRect">
            <a:avLst>
              <a:gd name="adj" fmla="val 46154"/>
            </a:avLst>
          </a:prstGeom>
          <a:solidFill>
            <a:srgbClr val="FF9F1C"/>
          </a:solidFill>
          <a:ln/>
        </p:spPr>
      </p:sp>
      <p:sp>
        <p:nvSpPr>
          <p:cNvPr id="40" name="!!track"/>
          <p:cNvSpPr/>
          <p:nvPr/>
        </p:nvSpPr>
        <p:spPr>
          <a:xfrm>
            <a:off x="5349240" y="4937760"/>
            <a:ext cx="5788152" cy="64008"/>
          </a:xfrm>
          <a:prstGeom prst="roundRect">
            <a:avLst>
              <a:gd name="adj" fmla="val 42857"/>
            </a:avLst>
          </a:prstGeom>
          <a:solidFill>
            <a:srgbClr val="9B8CFF">
              <a:alpha val="55000"/>
            </a:srgbClr>
          </a:solidFill>
          <a:ln/>
        </p:spPr>
      </p:sp>
      <p:sp>
        <p:nvSpPr>
          <p:cNvPr id="41" name="!!stop0"/>
          <p:cNvSpPr/>
          <p:nvPr/>
        </p:nvSpPr>
        <p:spPr>
          <a:xfrm>
            <a:off x="5294376" y="4914900"/>
            <a:ext cx="109728" cy="109728"/>
          </a:xfrm>
          <a:prstGeom prst="ellipse">
            <a:avLst/>
          </a:prstGeom>
          <a:solidFill>
            <a:srgbClr val="FF9F1C"/>
          </a:solidFill>
          <a:ln/>
        </p:spPr>
      </p:sp>
      <p:sp>
        <p:nvSpPr>
          <p:cNvPr id="42" name="!!stopl0"/>
          <p:cNvSpPr txBox="1"/>
          <p:nvPr/>
        </p:nvSpPr>
        <p:spPr>
          <a:xfrm>
            <a:off x="4709160" y="5157216"/>
            <a:ext cx="1280160" cy="219456"/>
          </a:xfrm>
          <a:prstGeom prst="rect">
            <a:avLst/>
          </a:prstGeom>
          <a:noFill/>
          <a:ln/>
        </p:spPr>
        <p:txBody>
          <a:bodyPr wrap="square" lIns="0" tIns="0" rIns="0" bIns="0" rtlCol="0" anchor="t"/>
          <a:lstStyle/>
          <a:p>
            <a:pPr algn="ctr" indent="0" marL="0">
              <a:buNone/>
            </a:pPr>
            <a:r>
              <a:rPr lang="en-US" sz="1050" b="1" dirty="0">
                <a:solidFill>
                  <a:srgbClr val="F2EFFF"/>
                </a:solidFill>
                <a:latin typeface="Segoe UI" pitchFamily="34" charset="0"/>
                <a:ea typeface="Segoe UI" pitchFamily="34" charset="-122"/>
                <a:cs typeface="Segoe UI" pitchFamily="34" charset="-120"/>
              </a:rPr>
              <a:t>English</a:t>
            </a:r>
            <a:endParaRPr lang="en-US" sz="1050" dirty="0"/>
          </a:p>
        </p:txBody>
      </p:sp>
      <p:sp>
        <p:nvSpPr>
          <p:cNvPr id="43" name="!!stop1"/>
          <p:cNvSpPr/>
          <p:nvPr/>
        </p:nvSpPr>
        <p:spPr>
          <a:xfrm>
            <a:off x="7223760" y="4914900"/>
            <a:ext cx="109728" cy="109728"/>
          </a:xfrm>
          <a:prstGeom prst="ellipse">
            <a:avLst/>
          </a:prstGeom>
          <a:solidFill>
            <a:srgbClr val="2E2759"/>
          </a:solidFill>
          <a:ln/>
        </p:spPr>
      </p:sp>
      <p:sp>
        <p:nvSpPr>
          <p:cNvPr id="44" name="!!stopl1"/>
          <p:cNvSpPr txBox="1"/>
          <p:nvPr/>
        </p:nvSpPr>
        <p:spPr>
          <a:xfrm>
            <a:off x="6638544" y="5157216"/>
            <a:ext cx="1280160" cy="219456"/>
          </a:xfrm>
          <a:prstGeom prst="rect">
            <a:avLst/>
          </a:prstGeom>
          <a:noFill/>
          <a:ln/>
        </p:spPr>
        <p:txBody>
          <a:bodyPr wrap="square" lIns="0" tIns="0" rIns="0" bIns="0" rtlCol="0" anchor="t"/>
          <a:lstStyle/>
          <a:p>
            <a:pPr algn="ctr" indent="0" marL="0">
              <a:buNone/>
            </a:pPr>
            <a:r>
              <a:rPr lang="en-US" sz="1050" dirty="0">
                <a:solidFill>
                  <a:srgbClr val="6F6A99"/>
                </a:solidFill>
                <a:latin typeface="Segoe UI" pitchFamily="34" charset="0"/>
                <a:ea typeface="Segoe UI" pitchFamily="34" charset="-122"/>
                <a:cs typeface="Segoe UI" pitchFamily="34" charset="-120"/>
              </a:rPr>
              <a:t>Hinglish</a:t>
            </a:r>
            <a:endParaRPr lang="en-US" sz="1050" dirty="0"/>
          </a:p>
        </p:txBody>
      </p:sp>
      <p:sp>
        <p:nvSpPr>
          <p:cNvPr id="45" name="!!stop2"/>
          <p:cNvSpPr/>
          <p:nvPr/>
        </p:nvSpPr>
        <p:spPr>
          <a:xfrm>
            <a:off x="9153144" y="4914900"/>
            <a:ext cx="109728" cy="109728"/>
          </a:xfrm>
          <a:prstGeom prst="ellipse">
            <a:avLst/>
          </a:prstGeom>
          <a:solidFill>
            <a:srgbClr val="2E2759"/>
          </a:solidFill>
          <a:ln/>
        </p:spPr>
      </p:sp>
      <p:sp>
        <p:nvSpPr>
          <p:cNvPr id="46" name="!!stopl2"/>
          <p:cNvSpPr txBox="1"/>
          <p:nvPr/>
        </p:nvSpPr>
        <p:spPr>
          <a:xfrm>
            <a:off x="8567928" y="5157216"/>
            <a:ext cx="1280160" cy="219456"/>
          </a:xfrm>
          <a:prstGeom prst="rect">
            <a:avLst/>
          </a:prstGeom>
          <a:noFill/>
          <a:ln/>
        </p:spPr>
        <p:txBody>
          <a:bodyPr wrap="square" lIns="0" tIns="0" rIns="0" bIns="0" rtlCol="0" anchor="t"/>
          <a:lstStyle/>
          <a:p>
            <a:pPr algn="ctr" indent="0" marL="0">
              <a:buNone/>
            </a:pPr>
            <a:r>
              <a:rPr lang="en-US" sz="1050" dirty="0">
                <a:solidFill>
                  <a:srgbClr val="6F6A99"/>
                </a:solidFill>
                <a:latin typeface="Segoe UI" pitchFamily="34" charset="0"/>
                <a:ea typeface="Segoe UI" pitchFamily="34" charset="-122"/>
                <a:cs typeface="Segoe UI" pitchFamily="34" charset="-120"/>
              </a:rPr>
              <a:t>Benglish</a:t>
            </a:r>
            <a:endParaRPr lang="en-US" sz="1050" dirty="0"/>
          </a:p>
        </p:txBody>
      </p:sp>
      <p:sp>
        <p:nvSpPr>
          <p:cNvPr id="47" name="!!stop3"/>
          <p:cNvSpPr/>
          <p:nvPr/>
        </p:nvSpPr>
        <p:spPr>
          <a:xfrm>
            <a:off x="11082528" y="4914900"/>
            <a:ext cx="109728" cy="109728"/>
          </a:xfrm>
          <a:prstGeom prst="ellipse">
            <a:avLst/>
          </a:prstGeom>
          <a:solidFill>
            <a:srgbClr val="2E2759"/>
          </a:solidFill>
          <a:ln/>
        </p:spPr>
      </p:sp>
      <p:sp>
        <p:nvSpPr>
          <p:cNvPr id="48" name="!!stopl3"/>
          <p:cNvSpPr txBox="1"/>
          <p:nvPr/>
        </p:nvSpPr>
        <p:spPr>
          <a:xfrm>
            <a:off x="10497312" y="5157216"/>
            <a:ext cx="1280160" cy="219456"/>
          </a:xfrm>
          <a:prstGeom prst="rect">
            <a:avLst/>
          </a:prstGeom>
          <a:noFill/>
          <a:ln/>
        </p:spPr>
        <p:txBody>
          <a:bodyPr wrap="square" lIns="0" tIns="0" rIns="0" bIns="0" rtlCol="0" anchor="t"/>
          <a:lstStyle/>
          <a:p>
            <a:pPr algn="ctr" indent="0" marL="0">
              <a:buNone/>
            </a:pPr>
            <a:r>
              <a:rPr lang="en-US" sz="1050" dirty="0">
                <a:solidFill>
                  <a:srgbClr val="6F6A99"/>
                </a:solidFill>
                <a:latin typeface="Segoe UI" pitchFamily="34" charset="0"/>
                <a:ea typeface="Segoe UI" pitchFamily="34" charset="-122"/>
                <a:cs typeface="Segoe UI" pitchFamily="34" charset="-120"/>
              </a:rPr>
              <a:t>Kanglish</a:t>
            </a:r>
            <a:endParaRPr lang="en-US" sz="1050" dirty="0"/>
          </a:p>
        </p:txBody>
      </p:sp>
      <p:pic>
        <p:nvPicPr>
          <p:cNvPr id="49" name="!!knobglow" descr="/tmp/claude-0/-home-claude/cf1b82dd-723a-5c0d-b3ee-f6062e85aabe/scratchpad/nd/glow_a.png">    </p:cNvPr>
          <p:cNvPicPr>
            <a:picLocks noChangeAspect="1"/>
          </p:cNvPicPr>
          <p:nvPr/>
        </p:nvPicPr>
        <p:blipFill>
          <a:blip r:embed="rId8"/>
          <a:stretch>
            <a:fillRect/>
          </a:stretch>
        </p:blipFill>
        <p:spPr>
          <a:xfrm>
            <a:off x="4892040" y="4507992"/>
            <a:ext cx="914400" cy="914400"/>
          </a:xfrm>
          <a:prstGeom prst="rect">
            <a:avLst/>
          </a:prstGeom>
        </p:spPr>
      </p:pic>
      <p:sp>
        <p:nvSpPr>
          <p:cNvPr id="50" name="!!knob"/>
          <p:cNvSpPr/>
          <p:nvPr/>
        </p:nvSpPr>
        <p:spPr>
          <a:xfrm>
            <a:off x="5193792" y="4814316"/>
            <a:ext cx="310896" cy="310896"/>
          </a:xfrm>
          <a:prstGeom prst="ellipse">
            <a:avLst/>
          </a:prstGeom>
          <a:solidFill>
            <a:srgbClr val="FF9F1C"/>
          </a:solidFill>
          <a:ln w="31750">
            <a:solidFill>
              <a:srgbClr val="FFFFFF"/>
            </a:solidFill>
            <a:prstDash val="solid"/>
          </a:ln>
        </p:spPr>
      </p:sp>
      <p:sp>
        <p:nvSpPr>
          <p:cNvPr id="51" name="!!light0"/>
          <p:cNvSpPr/>
          <p:nvPr/>
        </p:nvSpPr>
        <p:spPr>
          <a:xfrm>
            <a:off x="5029200" y="5486400"/>
            <a:ext cx="2057400" cy="621792"/>
          </a:xfrm>
          <a:prstGeom prst="roundRect">
            <a:avLst>
              <a:gd name="adj" fmla="val 14706"/>
            </a:avLst>
          </a:prstGeom>
          <a:solidFill>
            <a:srgbClr val="0B0918"/>
          </a:solidFill>
          <a:ln w="12700">
            <a:solidFill>
              <a:srgbClr val="2E2759"/>
            </a:solidFill>
            <a:prstDash val="solid"/>
          </a:ln>
        </p:spPr>
      </p:sp>
      <p:sp>
        <p:nvSpPr>
          <p:cNvPr id="52" name="!!dot0"/>
          <p:cNvSpPr/>
          <p:nvPr/>
        </p:nvSpPr>
        <p:spPr>
          <a:xfrm>
            <a:off x="5184648" y="5715000"/>
            <a:ext cx="164592" cy="164592"/>
          </a:xfrm>
          <a:prstGeom prst="ellipse">
            <a:avLst/>
          </a:prstGeom>
          <a:solidFill>
            <a:srgbClr val="2BD9A0"/>
          </a:solidFill>
          <a:ln/>
        </p:spPr>
      </p:sp>
      <p:sp>
        <p:nvSpPr>
          <p:cNvPr id="53" name="!!mname0"/>
          <p:cNvSpPr txBox="1"/>
          <p:nvPr/>
        </p:nvSpPr>
        <p:spPr>
          <a:xfrm>
            <a:off x="5458968" y="5550408"/>
            <a:ext cx="1572768" cy="237744"/>
          </a:xfrm>
          <a:prstGeom prst="rect">
            <a:avLst/>
          </a:prstGeom>
          <a:noFill/>
          <a:ln/>
        </p:spPr>
        <p:txBody>
          <a:bodyPr wrap="square" lIns="0" tIns="0" rIns="0" bIns="0" rtlCol="0" anchor="t"/>
          <a:lstStyle/>
          <a:p>
            <a:pPr indent="0" marL="0">
              <a:buNone/>
            </a:pPr>
            <a:r>
              <a:rPr lang="en-US" sz="1150" b="1" dirty="0">
                <a:solidFill>
                  <a:srgbClr val="F2EFFF"/>
                </a:solidFill>
                <a:latin typeface="Segoe UI" pitchFamily="34" charset="0"/>
                <a:ea typeface="Segoe UI" pitchFamily="34" charset="-122"/>
                <a:cs typeface="Segoe UI" pitchFamily="34" charset="-120"/>
              </a:rPr>
              <a:t>Gemini</a:t>
            </a:r>
            <a:endParaRPr lang="en-US" sz="1150" dirty="0"/>
          </a:p>
        </p:txBody>
      </p:sp>
      <p:sp>
        <p:nvSpPr>
          <p:cNvPr id="54" name="!!mstat0"/>
          <p:cNvSpPr txBox="1"/>
          <p:nvPr/>
        </p:nvSpPr>
        <p:spPr>
          <a:xfrm>
            <a:off x="5458968" y="5788152"/>
            <a:ext cx="1600200" cy="274320"/>
          </a:xfrm>
          <a:prstGeom prst="rect">
            <a:avLst/>
          </a:prstGeom>
          <a:noFill/>
          <a:ln/>
        </p:spPr>
        <p:txBody>
          <a:bodyPr wrap="square" lIns="0" tIns="0" rIns="0" bIns="0" rtlCol="0" anchor="t"/>
          <a:lstStyle/>
          <a:p>
            <a:pPr indent="0" marL="0">
              <a:buNone/>
            </a:pPr>
            <a:r>
              <a:rPr lang="en-US" sz="950" dirty="0">
                <a:solidFill>
                  <a:srgbClr val="A9A3CF"/>
                </a:solidFill>
                <a:latin typeface="Segoe UI" pitchFamily="34" charset="0"/>
                <a:ea typeface="Segoe UI" pitchFamily="34" charset="-122"/>
                <a:cs typeface="Segoe UI" pitchFamily="34" charset="-120"/>
              </a:rPr>
              <a:t>Passed 6 of 6</a:t>
            </a:r>
            <a:endParaRPr lang="en-US" sz="950" dirty="0"/>
          </a:p>
        </p:txBody>
      </p:sp>
      <p:sp>
        <p:nvSpPr>
          <p:cNvPr id="55" name="!!light1"/>
          <p:cNvSpPr/>
          <p:nvPr/>
        </p:nvSpPr>
        <p:spPr>
          <a:xfrm>
            <a:off x="7214616" y="5486400"/>
            <a:ext cx="2057400" cy="621792"/>
          </a:xfrm>
          <a:prstGeom prst="roundRect">
            <a:avLst>
              <a:gd name="adj" fmla="val 14706"/>
            </a:avLst>
          </a:prstGeom>
          <a:solidFill>
            <a:srgbClr val="0B0918"/>
          </a:solidFill>
          <a:ln w="12700">
            <a:solidFill>
              <a:srgbClr val="2E2759"/>
            </a:solidFill>
            <a:prstDash val="solid"/>
          </a:ln>
        </p:spPr>
      </p:sp>
      <p:sp>
        <p:nvSpPr>
          <p:cNvPr id="56" name="!!dot1"/>
          <p:cNvSpPr/>
          <p:nvPr/>
        </p:nvSpPr>
        <p:spPr>
          <a:xfrm>
            <a:off x="7370064" y="5715000"/>
            <a:ext cx="164592" cy="164592"/>
          </a:xfrm>
          <a:prstGeom prst="ellipse">
            <a:avLst/>
          </a:prstGeom>
          <a:solidFill>
            <a:srgbClr val="2BD9A0"/>
          </a:solidFill>
          <a:ln/>
        </p:spPr>
      </p:sp>
      <p:sp>
        <p:nvSpPr>
          <p:cNvPr id="57" name="!!mname1"/>
          <p:cNvSpPr txBox="1"/>
          <p:nvPr/>
        </p:nvSpPr>
        <p:spPr>
          <a:xfrm>
            <a:off x="7644384" y="5550408"/>
            <a:ext cx="1572768" cy="237744"/>
          </a:xfrm>
          <a:prstGeom prst="rect">
            <a:avLst/>
          </a:prstGeom>
          <a:noFill/>
          <a:ln/>
        </p:spPr>
        <p:txBody>
          <a:bodyPr wrap="square" lIns="0" tIns="0" rIns="0" bIns="0" rtlCol="0" anchor="t"/>
          <a:lstStyle/>
          <a:p>
            <a:pPr indent="0" marL="0">
              <a:buNone/>
            </a:pPr>
            <a:r>
              <a:rPr lang="en-US" sz="1150" b="1" dirty="0">
                <a:solidFill>
                  <a:srgbClr val="F2EFFF"/>
                </a:solidFill>
                <a:latin typeface="Segoe UI" pitchFamily="34" charset="0"/>
                <a:ea typeface="Segoe UI" pitchFamily="34" charset="-122"/>
                <a:cs typeface="Segoe UI" pitchFamily="34" charset="-120"/>
              </a:rPr>
              <a:t>GPT-OSS 120B</a:t>
            </a:r>
            <a:endParaRPr lang="en-US" sz="1150" dirty="0"/>
          </a:p>
        </p:txBody>
      </p:sp>
      <p:sp>
        <p:nvSpPr>
          <p:cNvPr id="58" name="!!mstat1"/>
          <p:cNvSpPr txBox="1"/>
          <p:nvPr/>
        </p:nvSpPr>
        <p:spPr>
          <a:xfrm>
            <a:off x="7644384" y="5788152"/>
            <a:ext cx="1600200" cy="274320"/>
          </a:xfrm>
          <a:prstGeom prst="rect">
            <a:avLst/>
          </a:prstGeom>
          <a:noFill/>
          <a:ln/>
        </p:spPr>
        <p:txBody>
          <a:bodyPr wrap="square" lIns="0" tIns="0" rIns="0" bIns="0" rtlCol="0" anchor="t"/>
          <a:lstStyle/>
          <a:p>
            <a:pPr indent="0" marL="0">
              <a:buNone/>
            </a:pPr>
            <a:r>
              <a:rPr lang="en-US" sz="950" dirty="0">
                <a:solidFill>
                  <a:srgbClr val="A9A3CF"/>
                </a:solidFill>
                <a:latin typeface="Segoe UI" pitchFamily="34" charset="0"/>
                <a:ea typeface="Segoe UI" pitchFamily="34" charset="-122"/>
                <a:cs typeface="Segoe UI" pitchFamily="34" charset="-120"/>
              </a:rPr>
              <a:t>Passed 6 of 6</a:t>
            </a:r>
            <a:endParaRPr lang="en-US" sz="950" dirty="0"/>
          </a:p>
        </p:txBody>
      </p:sp>
      <p:sp>
        <p:nvSpPr>
          <p:cNvPr id="59" name="!!light2"/>
          <p:cNvSpPr/>
          <p:nvPr/>
        </p:nvSpPr>
        <p:spPr>
          <a:xfrm>
            <a:off x="9400032" y="5486400"/>
            <a:ext cx="2057400" cy="621792"/>
          </a:xfrm>
          <a:prstGeom prst="roundRect">
            <a:avLst>
              <a:gd name="adj" fmla="val 14706"/>
            </a:avLst>
          </a:prstGeom>
          <a:solidFill>
            <a:srgbClr val="0B0918"/>
          </a:solidFill>
          <a:ln w="12700">
            <a:solidFill>
              <a:srgbClr val="2E2759"/>
            </a:solidFill>
            <a:prstDash val="solid"/>
          </a:ln>
        </p:spPr>
      </p:sp>
      <p:sp>
        <p:nvSpPr>
          <p:cNvPr id="60" name="!!dot2"/>
          <p:cNvSpPr/>
          <p:nvPr/>
        </p:nvSpPr>
        <p:spPr>
          <a:xfrm>
            <a:off x="9555480" y="5715000"/>
            <a:ext cx="164592" cy="164592"/>
          </a:xfrm>
          <a:prstGeom prst="ellipse">
            <a:avLst/>
          </a:prstGeom>
          <a:solidFill>
            <a:srgbClr val="2BD9A0"/>
          </a:solidFill>
          <a:ln/>
        </p:spPr>
      </p:sp>
      <p:sp>
        <p:nvSpPr>
          <p:cNvPr id="61" name="!!mname2"/>
          <p:cNvSpPr txBox="1"/>
          <p:nvPr/>
        </p:nvSpPr>
        <p:spPr>
          <a:xfrm>
            <a:off x="9829800" y="5550408"/>
            <a:ext cx="1572768" cy="237744"/>
          </a:xfrm>
          <a:prstGeom prst="rect">
            <a:avLst/>
          </a:prstGeom>
          <a:noFill/>
          <a:ln/>
        </p:spPr>
        <p:txBody>
          <a:bodyPr wrap="square" lIns="0" tIns="0" rIns="0" bIns="0" rtlCol="0" anchor="t"/>
          <a:lstStyle/>
          <a:p>
            <a:pPr indent="0" marL="0">
              <a:buNone/>
            </a:pPr>
            <a:r>
              <a:rPr lang="en-US" sz="1150" b="1" dirty="0">
                <a:solidFill>
                  <a:srgbClr val="F2EFFF"/>
                </a:solidFill>
                <a:latin typeface="Segoe UI" pitchFamily="34" charset="0"/>
                <a:ea typeface="Segoe UI" pitchFamily="34" charset="-122"/>
                <a:cs typeface="Segoe UI" pitchFamily="34" charset="-120"/>
              </a:rPr>
              <a:t>GPT-OSS 20B</a:t>
            </a:r>
            <a:endParaRPr lang="en-US" sz="1150" dirty="0"/>
          </a:p>
        </p:txBody>
      </p:sp>
      <p:sp>
        <p:nvSpPr>
          <p:cNvPr id="62" name="!!mstat2"/>
          <p:cNvSpPr txBox="1"/>
          <p:nvPr/>
        </p:nvSpPr>
        <p:spPr>
          <a:xfrm>
            <a:off x="9829800" y="5788152"/>
            <a:ext cx="1600200" cy="274320"/>
          </a:xfrm>
          <a:prstGeom prst="rect">
            <a:avLst/>
          </a:prstGeom>
          <a:noFill/>
          <a:ln/>
        </p:spPr>
        <p:txBody>
          <a:bodyPr wrap="square" lIns="0" tIns="0" rIns="0" bIns="0" rtlCol="0" anchor="t"/>
          <a:lstStyle/>
          <a:p>
            <a:pPr indent="0" marL="0">
              <a:buNone/>
            </a:pPr>
            <a:r>
              <a:rPr lang="en-US" sz="950" dirty="0">
                <a:solidFill>
                  <a:srgbClr val="A9A3CF"/>
                </a:solidFill>
                <a:latin typeface="Segoe UI" pitchFamily="34" charset="0"/>
                <a:ea typeface="Segoe UI" pitchFamily="34" charset="-122"/>
                <a:cs typeface="Segoe UI" pitchFamily="34" charset="-120"/>
              </a:rPr>
              <a:t>Passed 6 of 6</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04 / 19</a:t>
            </a:r>
            <a:endParaRPr lang="en-US" sz="900" dirty="0"/>
          </a:p>
        </p:txBody>
      </p:sp>
      <p:sp>
        <p:nvSpPr>
          <p:cNvPr id="11"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02 · THE MIX DIAL</a:t>
            </a:r>
            <a:endParaRPr lang="en-US" sz="1100" dirty="0"/>
          </a:p>
        </p:txBody>
      </p:sp>
      <p:sp>
        <p:nvSpPr>
          <p:cNvPr id="12"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Same task. Four ways to ask.</a:t>
            </a:r>
            <a:endParaRPr lang="en-US" sz="3000" dirty="0"/>
          </a:p>
        </p:txBody>
      </p:sp>
      <p:sp>
        <p:nvSpPr>
          <p:cNvPr id="13" name="!!taskcard"/>
          <p:cNvSpPr/>
          <p:nvPr/>
        </p:nvSpPr>
        <p:spPr>
          <a:xfrm>
            <a:off x="548640" y="2011680"/>
            <a:ext cx="3977640" cy="1828800"/>
          </a:xfrm>
          <a:prstGeom prst="roundRect">
            <a:avLst>
              <a:gd name="adj" fmla="val 7000"/>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4" name="!!tasklabel"/>
          <p:cNvSpPr txBox="1"/>
          <p:nvPr/>
        </p:nvSpPr>
        <p:spPr>
          <a:xfrm>
            <a:off x="804672" y="2194560"/>
            <a:ext cx="3474720" cy="201168"/>
          </a:xfrm>
          <a:prstGeom prst="rect">
            <a:avLst/>
          </a:prstGeom>
          <a:noFill/>
          <a:ln/>
        </p:spPr>
        <p:txBody>
          <a:bodyPr wrap="square" lIns="0" tIns="0" rIns="0" bIns="0" rtlCol="0" anchor="t"/>
          <a:lstStyle/>
          <a:p>
            <a:pPr indent="0" marL="0">
              <a:buNone/>
            </a:pPr>
            <a:r>
              <a:rPr lang="en-US" sz="950" b="1" spc="100" kern="0" dirty="0">
                <a:solidFill>
                  <a:srgbClr val="6F6A99"/>
                </a:solidFill>
                <a:latin typeface="Consolas" pitchFamily="34" charset="0"/>
                <a:ea typeface="Consolas" pitchFamily="34" charset="-122"/>
                <a:cs typeface="Consolas" pitchFamily="34" charset="-120"/>
              </a:rPr>
              <a:t>THE TASK</a:t>
            </a:r>
            <a:endParaRPr lang="en-US" sz="950" dirty="0"/>
          </a:p>
        </p:txBody>
      </p:sp>
      <p:sp>
        <p:nvSpPr>
          <p:cNvPr id="15" name="!!taskcode"/>
          <p:cNvSpPr txBox="1"/>
          <p:nvPr/>
        </p:nvSpPr>
        <p:spPr>
          <a:xfrm>
            <a:off x="804672" y="2487168"/>
            <a:ext cx="3566160" cy="365760"/>
          </a:xfrm>
          <a:prstGeom prst="rect">
            <a:avLst/>
          </a:prstGeom>
          <a:noFill/>
          <a:ln/>
        </p:spPr>
        <p:txBody>
          <a:bodyPr wrap="square" lIns="0" tIns="0" rIns="0" bIns="0" rtlCol="0" anchor="t"/>
          <a:lstStyle/>
          <a:p>
            <a:pPr indent="0" marL="0">
              <a:buNone/>
            </a:pPr>
            <a:r>
              <a:rPr lang="en-US" sz="1700" dirty="0">
                <a:solidFill>
                  <a:srgbClr val="C9C2FF"/>
                </a:solidFill>
                <a:latin typeface="Consolas" pitchFamily="34" charset="0"/>
                <a:ea typeface="Consolas" pitchFamily="34" charset="-122"/>
                <a:cs typeface="Consolas" pitchFamily="34" charset="-120"/>
              </a:rPr>
              <a:t>indian_format(1234567)</a:t>
            </a:r>
            <a:endParaRPr lang="en-US" sz="1700" dirty="0"/>
          </a:p>
        </p:txBody>
      </p:sp>
      <p:sp>
        <p:nvSpPr>
          <p:cNvPr id="16" name="!!taskout"/>
          <p:cNvSpPr txBox="1"/>
          <p:nvPr/>
        </p:nvSpPr>
        <p:spPr>
          <a:xfrm>
            <a:off x="804672" y="2852928"/>
            <a:ext cx="3566160" cy="411480"/>
          </a:xfrm>
          <a:prstGeom prst="rect">
            <a:avLst/>
          </a:prstGeom>
          <a:noFill/>
          <a:ln/>
        </p:spPr>
        <p:txBody>
          <a:bodyPr wrap="square" lIns="0" tIns="0" rIns="0" bIns="0" rtlCol="0" anchor="t"/>
          <a:lstStyle/>
          <a:p>
            <a:pPr indent="0" marL="0">
              <a:buNone/>
            </a:pPr>
            <a:r>
              <a:rPr lang="en-US" sz="2100" b="1" dirty="0">
                <a:solidFill>
                  <a:srgbClr val="FF9F1C"/>
                </a:solidFill>
                <a:latin typeface="Consolas" pitchFamily="34" charset="0"/>
                <a:ea typeface="Consolas" pitchFamily="34" charset="-122"/>
                <a:cs typeface="Consolas" pitchFamily="34" charset="-120"/>
              </a:rPr>
              <a:t>→ "12,34,567"</a:t>
            </a:r>
            <a:endParaRPr lang="en-US" sz="2100" dirty="0"/>
          </a:p>
        </p:txBody>
      </p:sp>
      <p:sp>
        <p:nvSpPr>
          <p:cNvPr id="17" name="!!tasknote"/>
          <p:cNvSpPr txBox="1"/>
          <p:nvPr/>
        </p:nvSpPr>
        <p:spPr>
          <a:xfrm>
            <a:off x="804672" y="3346704"/>
            <a:ext cx="3566160" cy="320040"/>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Every prompt also says: reply with only the code.</a:t>
            </a:r>
            <a:endParaRPr lang="en-US" sz="1150" dirty="0"/>
          </a:p>
        </p:txBody>
      </p:sp>
      <p:sp>
        <p:nvSpPr>
          <p:cNvPr id="18" name="!!capcard"/>
          <p:cNvSpPr/>
          <p:nvPr/>
        </p:nvSpPr>
        <p:spPr>
          <a:xfrm>
            <a:off x="548640" y="4023360"/>
            <a:ext cx="3977640" cy="2240280"/>
          </a:xfrm>
          <a:prstGeom prst="roundRect">
            <a:avLst>
              <a:gd name="adj" fmla="val 571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9" name="!!capstep"/>
          <p:cNvSpPr txBox="1"/>
          <p:nvPr/>
        </p:nvSpPr>
        <p:spPr>
          <a:xfrm>
            <a:off x="804672" y="4206240"/>
            <a:ext cx="1371600" cy="274320"/>
          </a:xfrm>
          <a:prstGeom prst="rect">
            <a:avLst/>
          </a:prstGeom>
          <a:noFill/>
          <a:ln/>
        </p:spPr>
        <p:txBody>
          <a:bodyPr wrap="square" lIns="0" tIns="0" rIns="0" bIns="0" rtlCol="0" anchor="t"/>
          <a:lstStyle/>
          <a:p>
            <a:pPr indent="0" marL="0">
              <a:buNone/>
            </a:pPr>
            <a:r>
              <a:rPr lang="en-US" sz="1200" b="1" dirty="0">
                <a:solidFill>
                  <a:srgbClr val="FF9F1C"/>
                </a:solidFill>
                <a:latin typeface="Consolas" pitchFamily="34" charset="0"/>
                <a:ea typeface="Consolas" pitchFamily="34" charset="-122"/>
                <a:cs typeface="Consolas" pitchFamily="34" charset="-120"/>
              </a:rPr>
              <a:t>2 / 4</a:t>
            </a:r>
            <a:endParaRPr lang="en-US" sz="1200" dirty="0"/>
          </a:p>
        </p:txBody>
      </p:sp>
      <p:sp>
        <p:nvSpPr>
          <p:cNvPr id="20" name="!!caption"/>
          <p:cNvSpPr txBox="1"/>
          <p:nvPr/>
        </p:nvSpPr>
        <p:spPr>
          <a:xfrm>
            <a:off x="804672" y="4526280"/>
            <a:ext cx="3520440" cy="777240"/>
          </a:xfrm>
          <a:prstGeom prst="rect">
            <a:avLst/>
          </a:prstGeom>
          <a:noFill/>
          <a:ln/>
        </p:spPr>
        <p:txBody>
          <a:bodyPr wrap="square" lIns="0" tIns="0" rIns="0" bIns="0" rtlCol="0" anchor="t"/>
          <a:lstStyle/>
          <a:p>
            <a:pPr indent="0" marL="0">
              <a:buNone/>
            </a:pPr>
            <a:r>
              <a:rPr lang="en-US" sz="1800" b="1" dirty="0">
                <a:solidFill>
                  <a:srgbClr val="F2EFFF"/>
                </a:solidFill>
                <a:latin typeface="Segoe UI" pitchFamily="34" charset="0"/>
                <a:ea typeface="Segoe UI" pitchFamily="34" charset="-122"/>
                <a:cs typeface="Segoe UI" pitchFamily="34" charset="-120"/>
              </a:rPr>
              <a:t>Switch to Hinglish: GPT-OSS 120B crashes.</a:t>
            </a:r>
            <a:endParaRPr lang="en-US" sz="1800" dirty="0"/>
          </a:p>
        </p:txBody>
      </p:sp>
      <p:sp>
        <p:nvSpPr>
          <p:cNvPr id="21" name="!!capsub"/>
          <p:cNvSpPr txBox="1"/>
          <p:nvPr/>
        </p:nvSpPr>
        <p:spPr>
          <a:xfrm>
            <a:off x="804672" y="5349240"/>
            <a:ext cx="3520440" cy="82296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Same task, same model. Its code now breaks on the number 1,000.</a:t>
            </a:r>
            <a:endParaRPr lang="en-US" sz="1200" dirty="0"/>
          </a:p>
        </p:txBody>
      </p:sp>
      <p:sp>
        <p:nvSpPr>
          <p:cNvPr id="22" name="!!panel"/>
          <p:cNvSpPr/>
          <p:nvPr/>
        </p:nvSpPr>
        <p:spPr>
          <a:xfrm>
            <a:off x="4754880" y="2011680"/>
            <a:ext cx="6976872" cy="4251960"/>
          </a:xfrm>
          <a:prstGeom prst="roundRect">
            <a:avLst>
              <a:gd name="adj" fmla="val 3011"/>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3" name="!!plabel"/>
          <p:cNvSpPr txBox="1"/>
          <p:nvPr/>
        </p:nvSpPr>
        <p:spPr>
          <a:xfrm>
            <a:off x="5029200" y="2176272"/>
            <a:ext cx="2743200" cy="201168"/>
          </a:xfrm>
          <a:prstGeom prst="rect">
            <a:avLst/>
          </a:prstGeom>
          <a:noFill/>
          <a:ln/>
        </p:spPr>
        <p:txBody>
          <a:bodyPr wrap="square" lIns="0" tIns="0" rIns="0" bIns="0" rtlCol="0" anchor="t"/>
          <a:lstStyle/>
          <a:p>
            <a:pPr indent="0" marL="0">
              <a:buNone/>
            </a:pPr>
            <a:r>
              <a:rPr lang="en-US" sz="950" b="1" spc="100" kern="0" dirty="0">
                <a:solidFill>
                  <a:srgbClr val="6F6A99"/>
                </a:solidFill>
                <a:latin typeface="Consolas" pitchFamily="34" charset="0"/>
                <a:ea typeface="Consolas" pitchFamily="34" charset="-122"/>
                <a:cs typeface="Consolas" pitchFamily="34" charset="-120"/>
              </a:rPr>
              <a:t>THE PROMPT</a:t>
            </a:r>
            <a:endParaRPr lang="en-US" sz="950" dirty="0"/>
          </a:p>
        </p:txBody>
      </p:sp>
      <p:sp>
        <p:nvSpPr>
          <p:cNvPr id="24" name="!!pver"/>
          <p:cNvSpPr txBox="1"/>
          <p:nvPr/>
        </p:nvSpPr>
        <p:spPr>
          <a:xfrm>
            <a:off x="8229600" y="2176272"/>
            <a:ext cx="3246120" cy="201168"/>
          </a:xfrm>
          <a:prstGeom prst="rect">
            <a:avLst/>
          </a:prstGeom>
          <a:noFill/>
          <a:ln/>
        </p:spPr>
        <p:txBody>
          <a:bodyPr wrap="square" lIns="0" tIns="0" rIns="0" bIns="0" rtlCol="0" anchor="t"/>
          <a:lstStyle/>
          <a:p>
            <a:pPr algn="r" indent="0" marL="0">
              <a:buNone/>
            </a:pPr>
            <a:r>
              <a:rPr lang="en-US" sz="950" b="1" spc="100" kern="0" dirty="0">
                <a:solidFill>
                  <a:srgbClr val="FF9F1C"/>
                </a:solidFill>
                <a:latin typeface="Consolas" pitchFamily="34" charset="0"/>
                <a:ea typeface="Consolas" pitchFamily="34" charset="-122"/>
                <a:cs typeface="Consolas" pitchFamily="34" charset="-120"/>
              </a:rPr>
              <a:t>HINGLISH, CASUAL</a:t>
            </a:r>
            <a:endParaRPr lang="en-US" sz="950" dirty="0"/>
          </a:p>
        </p:txBody>
      </p:sp>
      <p:sp>
        <p:nvSpPr>
          <p:cNvPr id="25" name="!!promptbox"/>
          <p:cNvSpPr/>
          <p:nvPr/>
        </p:nvSpPr>
        <p:spPr>
          <a:xfrm>
            <a:off x="5029200" y="2450592"/>
            <a:ext cx="6428232" cy="1627632"/>
          </a:xfrm>
          <a:prstGeom prst="roundRect">
            <a:avLst>
              <a:gd name="adj" fmla="val 5618"/>
            </a:avLst>
          </a:prstGeom>
          <a:solidFill>
            <a:srgbClr val="0B0918"/>
          </a:solidFill>
          <a:ln w="12700">
            <a:solidFill>
              <a:srgbClr val="2E2759"/>
            </a:solidFill>
            <a:prstDash val="solid"/>
          </a:ln>
        </p:spPr>
      </p:sp>
      <p:sp>
        <p:nvSpPr>
          <p:cNvPr id="26" name="!!prompt"/>
          <p:cNvSpPr txBox="1"/>
          <p:nvPr/>
        </p:nvSpPr>
        <p:spPr>
          <a:xfrm>
            <a:off x="5212080" y="2560320"/>
            <a:ext cx="6080760" cy="1463040"/>
          </a:xfrm>
          <a:prstGeom prst="rect">
            <a:avLst/>
          </a:prstGeom>
          <a:noFill/>
          <a:ln/>
        </p:spPr>
        <p:txBody>
          <a:bodyPr wrap="square" lIns="0" tIns="0" rIns="0" bIns="0" rtlCol="0" anchor="ctr"/>
          <a:lstStyle/>
          <a:p>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bhai </a:t>
            </a:r>
            <a:pPr indent="0" marL="0">
              <a:lnSpc>
                <a:spcPct val="105000"/>
              </a:lnSpc>
              <a:buNone/>
            </a:pPr>
            <a:r>
              <a:rPr lang="en-US" sz="1250" dirty="0">
                <a:solidFill>
                  <a:srgbClr val="C9C2FF"/>
                </a:solidFill>
                <a:latin typeface="Consolas" pitchFamily="34" charset="0"/>
                <a:ea typeface="Consolas" pitchFamily="34" charset="-122"/>
                <a:cs typeface="Consolas" pitchFamily="34" charset="-120"/>
              </a:rPr>
              <a:t>indian_format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naam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ka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python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fn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bana,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non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negative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number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lega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aur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indian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style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commas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laga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ke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string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return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karega,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last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ke </a:t>
            </a:r>
            <a:pPr indent="0" marL="0">
              <a:lnSpc>
                <a:spcPct val="105000"/>
              </a:lnSpc>
              <a:buNone/>
            </a:pPr>
            <a:r>
              <a:rPr lang="en-US" sz="1250" dirty="0">
                <a:solidFill>
                  <a:srgbClr val="C9C2FF"/>
                </a:solidFill>
                <a:latin typeface="Consolas" pitchFamily="34" charset="0"/>
                <a:ea typeface="Consolas" pitchFamily="34" charset="-122"/>
                <a:cs typeface="Consolas" pitchFamily="34" charset="-120"/>
              </a:rPr>
              <a:t>3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digits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ek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group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phir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usse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pehle </a:t>
            </a:r>
            <a:pPr indent="0" marL="0">
              <a:lnSpc>
                <a:spcPct val="105000"/>
              </a:lnSpc>
              <a:buNone/>
            </a:pPr>
            <a:r>
              <a:rPr lang="en-US" sz="1250" dirty="0">
                <a:solidFill>
                  <a:srgbClr val="C9C2FF"/>
                </a:solidFill>
                <a:latin typeface="Consolas" pitchFamily="34" charset="0"/>
                <a:ea typeface="Consolas" pitchFamily="34" charset="-122"/>
                <a:cs typeface="Consolas" pitchFamily="34" charset="-120"/>
              </a:rPr>
              <a:t>2-2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digits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ke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group, </a:t>
            </a:r>
            <a:pPr indent="0" marL="0">
              <a:lnSpc>
                <a:spcPct val="105000"/>
              </a:lnSpc>
              <a:buNone/>
            </a:pPr>
            <a:r>
              <a:rPr lang="en-US" sz="1250" dirty="0">
                <a:solidFill>
                  <a:srgbClr val="C9C2FF"/>
                </a:solidFill>
                <a:latin typeface="Consolas" pitchFamily="34" charset="0"/>
                <a:ea typeface="Consolas" pitchFamily="34" charset="-122"/>
                <a:cs typeface="Consolas" pitchFamily="34" charset="-120"/>
              </a:rPr>
              <a:t>1000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se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chhote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number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mein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comma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nahi.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sirf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code </a:t>
            </a:r>
            <a:pPr indent="0" marL="0">
              <a:lnSpc>
                <a:spcPct val="105000"/>
              </a:lnSpc>
              <a:buNone/>
            </a:pPr>
            <a:r>
              <a:rPr lang="en-US" sz="1350" b="1" dirty="0">
                <a:solidFill>
                  <a:srgbClr val="FF9F1C"/>
                </a:solidFill>
                <a:latin typeface="Segoe UI" pitchFamily="34" charset="0"/>
                <a:ea typeface="Segoe UI" pitchFamily="34" charset="-122"/>
                <a:cs typeface="Segoe UI" pitchFamily="34" charset="-120"/>
              </a:rPr>
              <a:t>de</a:t>
            </a:r>
            <a:endParaRPr lang="en-US" sz="1400" dirty="0"/>
          </a:p>
        </p:txBody>
      </p:sp>
      <p:sp>
        <p:nvSpPr>
          <p:cNvPr id="27" name="!!legEnglish"/>
          <p:cNvSpPr/>
          <p:nvPr/>
        </p:nvSpPr>
        <p:spPr>
          <a:xfrm>
            <a:off x="5029200" y="4224528"/>
            <a:ext cx="109728" cy="109728"/>
          </a:xfrm>
          <a:prstGeom prst="ellipse">
            <a:avLst/>
          </a:prstGeom>
          <a:solidFill>
            <a:srgbClr val="F2EFFF"/>
          </a:solidFill>
          <a:ln/>
        </p:spPr>
      </p:sp>
      <p:sp>
        <p:nvSpPr>
          <p:cNvPr id="28" name="!!legtEnglish"/>
          <p:cNvSpPr txBox="1"/>
          <p:nvPr/>
        </p:nvSpPr>
        <p:spPr>
          <a:xfrm>
            <a:off x="5184648"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English</a:t>
            </a:r>
            <a:endParaRPr lang="en-US" sz="1000" dirty="0"/>
          </a:p>
        </p:txBody>
      </p:sp>
      <p:sp>
        <p:nvSpPr>
          <p:cNvPr id="29" name="!!legHindi"/>
          <p:cNvSpPr/>
          <p:nvPr/>
        </p:nvSpPr>
        <p:spPr>
          <a:xfrm>
            <a:off x="5801868" y="4224528"/>
            <a:ext cx="109728" cy="109728"/>
          </a:xfrm>
          <a:prstGeom prst="ellipse">
            <a:avLst/>
          </a:prstGeom>
          <a:solidFill>
            <a:srgbClr val="FF9F1C"/>
          </a:solidFill>
          <a:ln/>
        </p:spPr>
      </p:sp>
      <p:sp>
        <p:nvSpPr>
          <p:cNvPr id="30" name="!!legtHindi"/>
          <p:cNvSpPr txBox="1"/>
          <p:nvPr/>
        </p:nvSpPr>
        <p:spPr>
          <a:xfrm>
            <a:off x="5957316"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Hindi</a:t>
            </a:r>
            <a:endParaRPr lang="en-US" sz="1000" dirty="0"/>
          </a:p>
        </p:txBody>
      </p:sp>
      <p:sp>
        <p:nvSpPr>
          <p:cNvPr id="31" name="!!legBengali"/>
          <p:cNvSpPr/>
          <p:nvPr/>
        </p:nvSpPr>
        <p:spPr>
          <a:xfrm>
            <a:off x="6437376" y="4224528"/>
            <a:ext cx="109728" cy="109728"/>
          </a:xfrm>
          <a:prstGeom prst="ellipse">
            <a:avLst/>
          </a:prstGeom>
          <a:solidFill>
            <a:srgbClr val="4CC9F0"/>
          </a:solidFill>
          <a:ln/>
        </p:spPr>
      </p:sp>
      <p:sp>
        <p:nvSpPr>
          <p:cNvPr id="32" name="!!legtBengali"/>
          <p:cNvSpPr txBox="1"/>
          <p:nvPr/>
        </p:nvSpPr>
        <p:spPr>
          <a:xfrm>
            <a:off x="6592824"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Bengali</a:t>
            </a:r>
            <a:endParaRPr lang="en-US" sz="1000" dirty="0"/>
          </a:p>
        </p:txBody>
      </p:sp>
      <p:sp>
        <p:nvSpPr>
          <p:cNvPr id="33" name="!!legKannada"/>
          <p:cNvSpPr/>
          <p:nvPr/>
        </p:nvSpPr>
        <p:spPr>
          <a:xfrm>
            <a:off x="7210044" y="4224528"/>
            <a:ext cx="109728" cy="109728"/>
          </a:xfrm>
          <a:prstGeom prst="ellipse">
            <a:avLst/>
          </a:prstGeom>
          <a:solidFill>
            <a:srgbClr val="E87BA4"/>
          </a:solidFill>
          <a:ln/>
        </p:spPr>
      </p:sp>
      <p:sp>
        <p:nvSpPr>
          <p:cNvPr id="34" name="!!legtKannada"/>
          <p:cNvSpPr txBox="1"/>
          <p:nvPr/>
        </p:nvSpPr>
        <p:spPr>
          <a:xfrm>
            <a:off x="7365492"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Kannada</a:t>
            </a:r>
            <a:endParaRPr lang="en-US" sz="1000" dirty="0"/>
          </a:p>
        </p:txBody>
      </p:sp>
      <p:sp>
        <p:nvSpPr>
          <p:cNvPr id="35" name="!!legfunction names"/>
          <p:cNvSpPr/>
          <p:nvPr/>
        </p:nvSpPr>
        <p:spPr>
          <a:xfrm>
            <a:off x="7982712" y="4224528"/>
            <a:ext cx="109728" cy="109728"/>
          </a:xfrm>
          <a:prstGeom prst="ellipse">
            <a:avLst/>
          </a:prstGeom>
          <a:solidFill>
            <a:srgbClr val="C9C2FF"/>
          </a:solidFill>
          <a:ln/>
        </p:spPr>
      </p:sp>
      <p:sp>
        <p:nvSpPr>
          <p:cNvPr id="36" name="!!legtfunction names"/>
          <p:cNvSpPr txBox="1"/>
          <p:nvPr/>
        </p:nvSpPr>
        <p:spPr>
          <a:xfrm>
            <a:off x="8138160"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function names</a:t>
            </a:r>
            <a:endParaRPr lang="en-US" sz="1000" dirty="0"/>
          </a:p>
        </p:txBody>
      </p:sp>
      <p:sp>
        <p:nvSpPr>
          <p:cNvPr id="37" name="!!meterlabel"/>
          <p:cNvSpPr txBox="1"/>
          <p:nvPr/>
        </p:nvSpPr>
        <p:spPr>
          <a:xfrm>
            <a:off x="5029200" y="4498848"/>
            <a:ext cx="2743200" cy="292608"/>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56%</a:t>
            </a:r>
            <a:pPr indent="0" marL="0">
              <a:buNone/>
            </a:pPr>
            <a:r>
              <a:rPr lang="en-US" sz="1100" dirty="0">
                <a:solidFill>
                  <a:srgbClr val="A9A3CF"/>
                </a:solidFill>
                <a:latin typeface="Segoe UI" pitchFamily="34" charset="0"/>
                <a:ea typeface="Segoe UI" pitchFamily="34" charset="-122"/>
                <a:cs typeface="Segoe UI" pitchFamily="34" charset="-120"/>
              </a:rPr>
              <a:t>  of words not in English</a:t>
            </a:r>
            <a:endParaRPr lang="en-US" sz="1400" dirty="0"/>
          </a:p>
        </p:txBody>
      </p:sp>
      <p:sp>
        <p:nvSpPr>
          <p:cNvPr id="38" name="!!metertrack"/>
          <p:cNvSpPr/>
          <p:nvPr/>
        </p:nvSpPr>
        <p:spPr>
          <a:xfrm>
            <a:off x="7863840" y="4590288"/>
            <a:ext cx="3593592" cy="118872"/>
          </a:xfrm>
          <a:prstGeom prst="roundRect">
            <a:avLst>
              <a:gd name="adj" fmla="val 46154"/>
            </a:avLst>
          </a:prstGeom>
          <a:solidFill>
            <a:srgbClr val="211B42"/>
          </a:solidFill>
          <a:ln/>
        </p:spPr>
      </p:sp>
      <p:sp>
        <p:nvSpPr>
          <p:cNvPr id="39" name="!!meterfill"/>
          <p:cNvSpPr/>
          <p:nvPr/>
        </p:nvSpPr>
        <p:spPr>
          <a:xfrm>
            <a:off x="7863840" y="4590288"/>
            <a:ext cx="2027154" cy="118872"/>
          </a:xfrm>
          <a:prstGeom prst="roundRect">
            <a:avLst>
              <a:gd name="adj" fmla="val 46154"/>
            </a:avLst>
          </a:prstGeom>
          <a:solidFill>
            <a:srgbClr val="FF9F1C"/>
          </a:solidFill>
          <a:ln/>
        </p:spPr>
      </p:sp>
      <p:sp>
        <p:nvSpPr>
          <p:cNvPr id="40" name="!!track"/>
          <p:cNvSpPr/>
          <p:nvPr/>
        </p:nvSpPr>
        <p:spPr>
          <a:xfrm>
            <a:off x="5349240" y="4937760"/>
            <a:ext cx="5788152" cy="64008"/>
          </a:xfrm>
          <a:prstGeom prst="roundRect">
            <a:avLst>
              <a:gd name="adj" fmla="val 42857"/>
            </a:avLst>
          </a:prstGeom>
          <a:solidFill>
            <a:srgbClr val="9B8CFF">
              <a:alpha val="55000"/>
            </a:srgbClr>
          </a:solidFill>
          <a:ln/>
        </p:spPr>
      </p:sp>
      <p:sp>
        <p:nvSpPr>
          <p:cNvPr id="41" name="!!stop0"/>
          <p:cNvSpPr/>
          <p:nvPr/>
        </p:nvSpPr>
        <p:spPr>
          <a:xfrm>
            <a:off x="5294376" y="4914900"/>
            <a:ext cx="109728" cy="109728"/>
          </a:xfrm>
          <a:prstGeom prst="ellipse">
            <a:avLst/>
          </a:prstGeom>
          <a:solidFill>
            <a:srgbClr val="FF9F1C"/>
          </a:solidFill>
          <a:ln/>
        </p:spPr>
      </p:sp>
      <p:sp>
        <p:nvSpPr>
          <p:cNvPr id="42" name="!!stopl0"/>
          <p:cNvSpPr txBox="1"/>
          <p:nvPr/>
        </p:nvSpPr>
        <p:spPr>
          <a:xfrm>
            <a:off x="4709160" y="5157216"/>
            <a:ext cx="1280160" cy="219456"/>
          </a:xfrm>
          <a:prstGeom prst="rect">
            <a:avLst/>
          </a:prstGeom>
          <a:noFill/>
          <a:ln/>
        </p:spPr>
        <p:txBody>
          <a:bodyPr wrap="square" lIns="0" tIns="0" rIns="0" bIns="0" rtlCol="0" anchor="t"/>
          <a:lstStyle/>
          <a:p>
            <a:pPr algn="ctr" indent="0" marL="0">
              <a:buNone/>
            </a:pPr>
            <a:r>
              <a:rPr lang="en-US" sz="1050" dirty="0">
                <a:solidFill>
                  <a:srgbClr val="6F6A99"/>
                </a:solidFill>
                <a:latin typeface="Segoe UI" pitchFamily="34" charset="0"/>
                <a:ea typeface="Segoe UI" pitchFamily="34" charset="-122"/>
                <a:cs typeface="Segoe UI" pitchFamily="34" charset="-120"/>
              </a:rPr>
              <a:t>English</a:t>
            </a:r>
            <a:endParaRPr lang="en-US" sz="1050" dirty="0"/>
          </a:p>
        </p:txBody>
      </p:sp>
      <p:sp>
        <p:nvSpPr>
          <p:cNvPr id="43" name="!!stop1"/>
          <p:cNvSpPr/>
          <p:nvPr/>
        </p:nvSpPr>
        <p:spPr>
          <a:xfrm>
            <a:off x="7223760" y="4914900"/>
            <a:ext cx="109728" cy="109728"/>
          </a:xfrm>
          <a:prstGeom prst="ellipse">
            <a:avLst/>
          </a:prstGeom>
          <a:solidFill>
            <a:srgbClr val="FF9F1C"/>
          </a:solidFill>
          <a:ln/>
        </p:spPr>
      </p:sp>
      <p:sp>
        <p:nvSpPr>
          <p:cNvPr id="44" name="!!stopl1"/>
          <p:cNvSpPr txBox="1"/>
          <p:nvPr/>
        </p:nvSpPr>
        <p:spPr>
          <a:xfrm>
            <a:off x="6638544" y="5157216"/>
            <a:ext cx="1280160" cy="219456"/>
          </a:xfrm>
          <a:prstGeom prst="rect">
            <a:avLst/>
          </a:prstGeom>
          <a:noFill/>
          <a:ln/>
        </p:spPr>
        <p:txBody>
          <a:bodyPr wrap="square" lIns="0" tIns="0" rIns="0" bIns="0" rtlCol="0" anchor="t"/>
          <a:lstStyle/>
          <a:p>
            <a:pPr algn="ctr" indent="0" marL="0">
              <a:buNone/>
            </a:pPr>
            <a:r>
              <a:rPr lang="en-US" sz="1050" b="1" dirty="0">
                <a:solidFill>
                  <a:srgbClr val="F2EFFF"/>
                </a:solidFill>
                <a:latin typeface="Segoe UI" pitchFamily="34" charset="0"/>
                <a:ea typeface="Segoe UI" pitchFamily="34" charset="-122"/>
                <a:cs typeface="Segoe UI" pitchFamily="34" charset="-120"/>
              </a:rPr>
              <a:t>Hinglish</a:t>
            </a:r>
            <a:endParaRPr lang="en-US" sz="1050" dirty="0"/>
          </a:p>
        </p:txBody>
      </p:sp>
      <p:sp>
        <p:nvSpPr>
          <p:cNvPr id="45" name="!!stop2"/>
          <p:cNvSpPr/>
          <p:nvPr/>
        </p:nvSpPr>
        <p:spPr>
          <a:xfrm>
            <a:off x="9153144" y="4914900"/>
            <a:ext cx="109728" cy="109728"/>
          </a:xfrm>
          <a:prstGeom prst="ellipse">
            <a:avLst/>
          </a:prstGeom>
          <a:solidFill>
            <a:srgbClr val="2E2759"/>
          </a:solidFill>
          <a:ln/>
        </p:spPr>
      </p:sp>
      <p:sp>
        <p:nvSpPr>
          <p:cNvPr id="46" name="!!stopl2"/>
          <p:cNvSpPr txBox="1"/>
          <p:nvPr/>
        </p:nvSpPr>
        <p:spPr>
          <a:xfrm>
            <a:off x="8567928" y="5157216"/>
            <a:ext cx="1280160" cy="219456"/>
          </a:xfrm>
          <a:prstGeom prst="rect">
            <a:avLst/>
          </a:prstGeom>
          <a:noFill/>
          <a:ln/>
        </p:spPr>
        <p:txBody>
          <a:bodyPr wrap="square" lIns="0" tIns="0" rIns="0" bIns="0" rtlCol="0" anchor="t"/>
          <a:lstStyle/>
          <a:p>
            <a:pPr algn="ctr" indent="0" marL="0">
              <a:buNone/>
            </a:pPr>
            <a:r>
              <a:rPr lang="en-US" sz="1050" dirty="0">
                <a:solidFill>
                  <a:srgbClr val="6F6A99"/>
                </a:solidFill>
                <a:latin typeface="Segoe UI" pitchFamily="34" charset="0"/>
                <a:ea typeface="Segoe UI" pitchFamily="34" charset="-122"/>
                <a:cs typeface="Segoe UI" pitchFamily="34" charset="-120"/>
              </a:rPr>
              <a:t>Benglish</a:t>
            </a:r>
            <a:endParaRPr lang="en-US" sz="1050" dirty="0"/>
          </a:p>
        </p:txBody>
      </p:sp>
      <p:sp>
        <p:nvSpPr>
          <p:cNvPr id="47" name="!!stop3"/>
          <p:cNvSpPr/>
          <p:nvPr/>
        </p:nvSpPr>
        <p:spPr>
          <a:xfrm>
            <a:off x="11082528" y="4914900"/>
            <a:ext cx="109728" cy="109728"/>
          </a:xfrm>
          <a:prstGeom prst="ellipse">
            <a:avLst/>
          </a:prstGeom>
          <a:solidFill>
            <a:srgbClr val="2E2759"/>
          </a:solidFill>
          <a:ln/>
        </p:spPr>
      </p:sp>
      <p:sp>
        <p:nvSpPr>
          <p:cNvPr id="48" name="!!stopl3"/>
          <p:cNvSpPr txBox="1"/>
          <p:nvPr/>
        </p:nvSpPr>
        <p:spPr>
          <a:xfrm>
            <a:off x="10497312" y="5157216"/>
            <a:ext cx="1280160" cy="219456"/>
          </a:xfrm>
          <a:prstGeom prst="rect">
            <a:avLst/>
          </a:prstGeom>
          <a:noFill/>
          <a:ln/>
        </p:spPr>
        <p:txBody>
          <a:bodyPr wrap="square" lIns="0" tIns="0" rIns="0" bIns="0" rtlCol="0" anchor="t"/>
          <a:lstStyle/>
          <a:p>
            <a:pPr algn="ctr" indent="0" marL="0">
              <a:buNone/>
            </a:pPr>
            <a:r>
              <a:rPr lang="en-US" sz="1050" dirty="0">
                <a:solidFill>
                  <a:srgbClr val="6F6A99"/>
                </a:solidFill>
                <a:latin typeface="Segoe UI" pitchFamily="34" charset="0"/>
                <a:ea typeface="Segoe UI" pitchFamily="34" charset="-122"/>
                <a:cs typeface="Segoe UI" pitchFamily="34" charset="-120"/>
              </a:rPr>
              <a:t>Kanglish</a:t>
            </a:r>
            <a:endParaRPr lang="en-US" sz="1050" dirty="0"/>
          </a:p>
        </p:txBody>
      </p:sp>
      <p:pic>
        <p:nvPicPr>
          <p:cNvPr id="49" name="!!knobglow" descr="/tmp/claude-0/-home-claude/cf1b82dd-723a-5c0d-b3ee-f6062e85aabe/scratchpad/nd/glow_a.png">    </p:cNvPr>
          <p:cNvPicPr>
            <a:picLocks noChangeAspect="1"/>
          </p:cNvPicPr>
          <p:nvPr/>
        </p:nvPicPr>
        <p:blipFill>
          <a:blip r:embed="rId8"/>
          <a:stretch>
            <a:fillRect/>
          </a:stretch>
        </p:blipFill>
        <p:spPr>
          <a:xfrm>
            <a:off x="6821424" y="4507992"/>
            <a:ext cx="914400" cy="914400"/>
          </a:xfrm>
          <a:prstGeom prst="rect">
            <a:avLst/>
          </a:prstGeom>
        </p:spPr>
      </p:pic>
      <p:sp>
        <p:nvSpPr>
          <p:cNvPr id="50" name="!!knob"/>
          <p:cNvSpPr/>
          <p:nvPr/>
        </p:nvSpPr>
        <p:spPr>
          <a:xfrm>
            <a:off x="7123176" y="4814316"/>
            <a:ext cx="310896" cy="310896"/>
          </a:xfrm>
          <a:prstGeom prst="ellipse">
            <a:avLst/>
          </a:prstGeom>
          <a:solidFill>
            <a:srgbClr val="FF9F1C"/>
          </a:solidFill>
          <a:ln w="31750">
            <a:solidFill>
              <a:srgbClr val="FFFFFF"/>
            </a:solidFill>
            <a:prstDash val="solid"/>
          </a:ln>
        </p:spPr>
      </p:sp>
      <p:sp>
        <p:nvSpPr>
          <p:cNvPr id="51" name="!!light0"/>
          <p:cNvSpPr/>
          <p:nvPr/>
        </p:nvSpPr>
        <p:spPr>
          <a:xfrm>
            <a:off x="5029200" y="5486400"/>
            <a:ext cx="2057400" cy="621792"/>
          </a:xfrm>
          <a:prstGeom prst="roundRect">
            <a:avLst>
              <a:gd name="adj" fmla="val 14706"/>
            </a:avLst>
          </a:prstGeom>
          <a:solidFill>
            <a:srgbClr val="0B0918"/>
          </a:solidFill>
          <a:ln w="12700">
            <a:solidFill>
              <a:srgbClr val="2E2759"/>
            </a:solidFill>
            <a:prstDash val="solid"/>
          </a:ln>
        </p:spPr>
      </p:sp>
      <p:sp>
        <p:nvSpPr>
          <p:cNvPr id="52" name="!!dot0"/>
          <p:cNvSpPr/>
          <p:nvPr/>
        </p:nvSpPr>
        <p:spPr>
          <a:xfrm>
            <a:off x="5184648" y="5715000"/>
            <a:ext cx="164592" cy="164592"/>
          </a:xfrm>
          <a:prstGeom prst="ellipse">
            <a:avLst/>
          </a:prstGeom>
          <a:solidFill>
            <a:srgbClr val="2BD9A0"/>
          </a:solidFill>
          <a:ln/>
        </p:spPr>
      </p:sp>
      <p:sp>
        <p:nvSpPr>
          <p:cNvPr id="53" name="!!mname0"/>
          <p:cNvSpPr txBox="1"/>
          <p:nvPr/>
        </p:nvSpPr>
        <p:spPr>
          <a:xfrm>
            <a:off x="5458968" y="5550408"/>
            <a:ext cx="1572768" cy="237744"/>
          </a:xfrm>
          <a:prstGeom prst="rect">
            <a:avLst/>
          </a:prstGeom>
          <a:noFill/>
          <a:ln/>
        </p:spPr>
        <p:txBody>
          <a:bodyPr wrap="square" lIns="0" tIns="0" rIns="0" bIns="0" rtlCol="0" anchor="t"/>
          <a:lstStyle/>
          <a:p>
            <a:pPr indent="0" marL="0">
              <a:buNone/>
            </a:pPr>
            <a:r>
              <a:rPr lang="en-US" sz="1150" b="1" dirty="0">
                <a:solidFill>
                  <a:srgbClr val="F2EFFF"/>
                </a:solidFill>
                <a:latin typeface="Segoe UI" pitchFamily="34" charset="0"/>
                <a:ea typeface="Segoe UI" pitchFamily="34" charset="-122"/>
                <a:cs typeface="Segoe UI" pitchFamily="34" charset="-120"/>
              </a:rPr>
              <a:t>Gemini</a:t>
            </a:r>
            <a:endParaRPr lang="en-US" sz="1150" dirty="0"/>
          </a:p>
        </p:txBody>
      </p:sp>
      <p:sp>
        <p:nvSpPr>
          <p:cNvPr id="54" name="!!mstat0"/>
          <p:cNvSpPr txBox="1"/>
          <p:nvPr/>
        </p:nvSpPr>
        <p:spPr>
          <a:xfrm>
            <a:off x="5458968" y="5788152"/>
            <a:ext cx="1600200" cy="274320"/>
          </a:xfrm>
          <a:prstGeom prst="rect">
            <a:avLst/>
          </a:prstGeom>
          <a:noFill/>
          <a:ln/>
        </p:spPr>
        <p:txBody>
          <a:bodyPr wrap="square" lIns="0" tIns="0" rIns="0" bIns="0" rtlCol="0" anchor="t"/>
          <a:lstStyle/>
          <a:p>
            <a:pPr indent="0" marL="0">
              <a:buNone/>
            </a:pPr>
            <a:r>
              <a:rPr lang="en-US" sz="950" dirty="0">
                <a:solidFill>
                  <a:srgbClr val="A9A3CF"/>
                </a:solidFill>
                <a:latin typeface="Segoe UI" pitchFamily="34" charset="0"/>
                <a:ea typeface="Segoe UI" pitchFamily="34" charset="-122"/>
                <a:cs typeface="Segoe UI" pitchFamily="34" charset="-120"/>
              </a:rPr>
              <a:t>Passed 6 of 6</a:t>
            </a:r>
            <a:endParaRPr lang="en-US" sz="950" dirty="0"/>
          </a:p>
        </p:txBody>
      </p:sp>
      <p:sp>
        <p:nvSpPr>
          <p:cNvPr id="55" name="!!light1"/>
          <p:cNvSpPr/>
          <p:nvPr/>
        </p:nvSpPr>
        <p:spPr>
          <a:xfrm>
            <a:off x="7214616" y="5486400"/>
            <a:ext cx="2057400" cy="621792"/>
          </a:xfrm>
          <a:prstGeom prst="roundRect">
            <a:avLst>
              <a:gd name="adj" fmla="val 14706"/>
            </a:avLst>
          </a:prstGeom>
          <a:solidFill>
            <a:srgbClr val="0B0918"/>
          </a:solidFill>
          <a:ln w="12700">
            <a:solidFill>
              <a:srgbClr val="FF5C7A"/>
            </a:solidFill>
            <a:prstDash val="solid"/>
          </a:ln>
        </p:spPr>
      </p:sp>
      <p:sp>
        <p:nvSpPr>
          <p:cNvPr id="56" name="!!dot1"/>
          <p:cNvSpPr/>
          <p:nvPr/>
        </p:nvSpPr>
        <p:spPr>
          <a:xfrm>
            <a:off x="7370064" y="5715000"/>
            <a:ext cx="164592" cy="164592"/>
          </a:xfrm>
          <a:prstGeom prst="ellipse">
            <a:avLst/>
          </a:prstGeom>
          <a:solidFill>
            <a:srgbClr val="FF5C7A"/>
          </a:solidFill>
          <a:ln/>
        </p:spPr>
      </p:sp>
      <p:sp>
        <p:nvSpPr>
          <p:cNvPr id="57" name="!!mname1"/>
          <p:cNvSpPr txBox="1"/>
          <p:nvPr/>
        </p:nvSpPr>
        <p:spPr>
          <a:xfrm>
            <a:off x="7644384" y="5550408"/>
            <a:ext cx="1572768" cy="237744"/>
          </a:xfrm>
          <a:prstGeom prst="rect">
            <a:avLst/>
          </a:prstGeom>
          <a:noFill/>
          <a:ln/>
        </p:spPr>
        <p:txBody>
          <a:bodyPr wrap="square" lIns="0" tIns="0" rIns="0" bIns="0" rtlCol="0" anchor="t"/>
          <a:lstStyle/>
          <a:p>
            <a:pPr indent="0" marL="0">
              <a:buNone/>
            </a:pPr>
            <a:r>
              <a:rPr lang="en-US" sz="1150" b="1" dirty="0">
                <a:solidFill>
                  <a:srgbClr val="F2EFFF"/>
                </a:solidFill>
                <a:latin typeface="Segoe UI" pitchFamily="34" charset="0"/>
                <a:ea typeface="Segoe UI" pitchFamily="34" charset="-122"/>
                <a:cs typeface="Segoe UI" pitchFamily="34" charset="-120"/>
              </a:rPr>
              <a:t>GPT-OSS 120B</a:t>
            </a:r>
            <a:endParaRPr lang="en-US" sz="1150" dirty="0"/>
          </a:p>
        </p:txBody>
      </p:sp>
      <p:sp>
        <p:nvSpPr>
          <p:cNvPr id="58" name="!!mstat1"/>
          <p:cNvSpPr txBox="1"/>
          <p:nvPr/>
        </p:nvSpPr>
        <p:spPr>
          <a:xfrm>
            <a:off x="7644384" y="5788152"/>
            <a:ext cx="1600200" cy="274320"/>
          </a:xfrm>
          <a:prstGeom prst="rect">
            <a:avLst/>
          </a:prstGeom>
          <a:noFill/>
          <a:ln/>
        </p:spPr>
        <p:txBody>
          <a:bodyPr wrap="square" lIns="0" tIns="0" rIns="0" bIns="0" rtlCol="0" anchor="t"/>
          <a:lstStyle/>
          <a:p>
            <a:pPr indent="0" marL="0">
              <a:buNone/>
            </a:pPr>
            <a:r>
              <a:rPr lang="en-US" sz="950" dirty="0">
                <a:solidFill>
                  <a:srgbClr val="FF5C7A"/>
                </a:solidFill>
                <a:latin typeface="Segoe UI" pitchFamily="34" charset="0"/>
                <a:ea typeface="Segoe UI" pitchFamily="34" charset="-122"/>
                <a:cs typeface="Segoe UI" pitchFamily="34" charset="-120"/>
              </a:rPr>
              <a:t>Crashed on 1000</a:t>
            </a:r>
            <a:endParaRPr lang="en-US" sz="950" dirty="0"/>
          </a:p>
        </p:txBody>
      </p:sp>
      <p:sp>
        <p:nvSpPr>
          <p:cNvPr id="59" name="!!light2"/>
          <p:cNvSpPr/>
          <p:nvPr/>
        </p:nvSpPr>
        <p:spPr>
          <a:xfrm>
            <a:off x="9400032" y="5486400"/>
            <a:ext cx="2057400" cy="621792"/>
          </a:xfrm>
          <a:prstGeom prst="roundRect">
            <a:avLst>
              <a:gd name="adj" fmla="val 14706"/>
            </a:avLst>
          </a:prstGeom>
          <a:solidFill>
            <a:srgbClr val="0B0918"/>
          </a:solidFill>
          <a:ln w="12700">
            <a:solidFill>
              <a:srgbClr val="2E2759"/>
            </a:solidFill>
            <a:prstDash val="solid"/>
          </a:ln>
        </p:spPr>
      </p:sp>
      <p:sp>
        <p:nvSpPr>
          <p:cNvPr id="60" name="!!dot2"/>
          <p:cNvSpPr/>
          <p:nvPr/>
        </p:nvSpPr>
        <p:spPr>
          <a:xfrm>
            <a:off x="9555480" y="5715000"/>
            <a:ext cx="164592" cy="164592"/>
          </a:xfrm>
          <a:prstGeom prst="ellipse">
            <a:avLst/>
          </a:prstGeom>
          <a:solidFill>
            <a:srgbClr val="2BD9A0"/>
          </a:solidFill>
          <a:ln/>
        </p:spPr>
      </p:sp>
      <p:sp>
        <p:nvSpPr>
          <p:cNvPr id="61" name="!!mname2"/>
          <p:cNvSpPr txBox="1"/>
          <p:nvPr/>
        </p:nvSpPr>
        <p:spPr>
          <a:xfrm>
            <a:off x="9829800" y="5550408"/>
            <a:ext cx="1572768" cy="237744"/>
          </a:xfrm>
          <a:prstGeom prst="rect">
            <a:avLst/>
          </a:prstGeom>
          <a:noFill/>
          <a:ln/>
        </p:spPr>
        <p:txBody>
          <a:bodyPr wrap="square" lIns="0" tIns="0" rIns="0" bIns="0" rtlCol="0" anchor="t"/>
          <a:lstStyle/>
          <a:p>
            <a:pPr indent="0" marL="0">
              <a:buNone/>
            </a:pPr>
            <a:r>
              <a:rPr lang="en-US" sz="1150" b="1" dirty="0">
                <a:solidFill>
                  <a:srgbClr val="F2EFFF"/>
                </a:solidFill>
                <a:latin typeface="Segoe UI" pitchFamily="34" charset="0"/>
                <a:ea typeface="Segoe UI" pitchFamily="34" charset="-122"/>
                <a:cs typeface="Segoe UI" pitchFamily="34" charset="-120"/>
              </a:rPr>
              <a:t>GPT-OSS 20B</a:t>
            </a:r>
            <a:endParaRPr lang="en-US" sz="1150" dirty="0"/>
          </a:p>
        </p:txBody>
      </p:sp>
      <p:sp>
        <p:nvSpPr>
          <p:cNvPr id="62" name="!!mstat2"/>
          <p:cNvSpPr txBox="1"/>
          <p:nvPr/>
        </p:nvSpPr>
        <p:spPr>
          <a:xfrm>
            <a:off x="9829800" y="5788152"/>
            <a:ext cx="1600200" cy="274320"/>
          </a:xfrm>
          <a:prstGeom prst="rect">
            <a:avLst/>
          </a:prstGeom>
          <a:noFill/>
          <a:ln/>
        </p:spPr>
        <p:txBody>
          <a:bodyPr wrap="square" lIns="0" tIns="0" rIns="0" bIns="0" rtlCol="0" anchor="t"/>
          <a:lstStyle/>
          <a:p>
            <a:pPr indent="0" marL="0">
              <a:buNone/>
            </a:pPr>
            <a:r>
              <a:rPr lang="en-US" sz="950" dirty="0">
                <a:solidFill>
                  <a:srgbClr val="A9A3CF"/>
                </a:solidFill>
                <a:latin typeface="Segoe UI" pitchFamily="34" charset="0"/>
                <a:ea typeface="Segoe UI" pitchFamily="34" charset="-122"/>
                <a:cs typeface="Segoe UI" pitchFamily="34" charset="-120"/>
              </a:rPr>
              <a:t>Passed 6 of 6</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05 / 19</a:t>
            </a:r>
            <a:endParaRPr lang="en-US" sz="900" dirty="0"/>
          </a:p>
        </p:txBody>
      </p:sp>
      <p:sp>
        <p:nvSpPr>
          <p:cNvPr id="11"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02 · THE MIX DIAL</a:t>
            </a:r>
            <a:endParaRPr lang="en-US" sz="1100" dirty="0"/>
          </a:p>
        </p:txBody>
      </p:sp>
      <p:sp>
        <p:nvSpPr>
          <p:cNvPr id="12"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Same task. Four ways to ask.</a:t>
            </a:r>
            <a:endParaRPr lang="en-US" sz="3000" dirty="0"/>
          </a:p>
        </p:txBody>
      </p:sp>
      <p:sp>
        <p:nvSpPr>
          <p:cNvPr id="13" name="!!taskcard"/>
          <p:cNvSpPr/>
          <p:nvPr/>
        </p:nvSpPr>
        <p:spPr>
          <a:xfrm>
            <a:off x="548640" y="2011680"/>
            <a:ext cx="3977640" cy="1828800"/>
          </a:xfrm>
          <a:prstGeom prst="roundRect">
            <a:avLst>
              <a:gd name="adj" fmla="val 7000"/>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4" name="!!tasklabel"/>
          <p:cNvSpPr txBox="1"/>
          <p:nvPr/>
        </p:nvSpPr>
        <p:spPr>
          <a:xfrm>
            <a:off x="804672" y="2194560"/>
            <a:ext cx="3474720" cy="201168"/>
          </a:xfrm>
          <a:prstGeom prst="rect">
            <a:avLst/>
          </a:prstGeom>
          <a:noFill/>
          <a:ln/>
        </p:spPr>
        <p:txBody>
          <a:bodyPr wrap="square" lIns="0" tIns="0" rIns="0" bIns="0" rtlCol="0" anchor="t"/>
          <a:lstStyle/>
          <a:p>
            <a:pPr indent="0" marL="0">
              <a:buNone/>
            </a:pPr>
            <a:r>
              <a:rPr lang="en-US" sz="950" b="1" spc="100" kern="0" dirty="0">
                <a:solidFill>
                  <a:srgbClr val="6F6A99"/>
                </a:solidFill>
                <a:latin typeface="Consolas" pitchFamily="34" charset="0"/>
                <a:ea typeface="Consolas" pitchFamily="34" charset="-122"/>
                <a:cs typeface="Consolas" pitchFamily="34" charset="-120"/>
              </a:rPr>
              <a:t>THE TASK</a:t>
            </a:r>
            <a:endParaRPr lang="en-US" sz="950" dirty="0"/>
          </a:p>
        </p:txBody>
      </p:sp>
      <p:sp>
        <p:nvSpPr>
          <p:cNvPr id="15" name="!!taskcode"/>
          <p:cNvSpPr txBox="1"/>
          <p:nvPr/>
        </p:nvSpPr>
        <p:spPr>
          <a:xfrm>
            <a:off x="804672" y="2487168"/>
            <a:ext cx="3566160" cy="365760"/>
          </a:xfrm>
          <a:prstGeom prst="rect">
            <a:avLst/>
          </a:prstGeom>
          <a:noFill/>
          <a:ln/>
        </p:spPr>
        <p:txBody>
          <a:bodyPr wrap="square" lIns="0" tIns="0" rIns="0" bIns="0" rtlCol="0" anchor="t"/>
          <a:lstStyle/>
          <a:p>
            <a:pPr indent="0" marL="0">
              <a:buNone/>
            </a:pPr>
            <a:r>
              <a:rPr lang="en-US" sz="1700" dirty="0">
                <a:solidFill>
                  <a:srgbClr val="C9C2FF"/>
                </a:solidFill>
                <a:latin typeface="Consolas" pitchFamily="34" charset="0"/>
                <a:ea typeface="Consolas" pitchFamily="34" charset="-122"/>
                <a:cs typeface="Consolas" pitchFamily="34" charset="-120"/>
              </a:rPr>
              <a:t>indian_format(1234567)</a:t>
            </a:r>
            <a:endParaRPr lang="en-US" sz="1700" dirty="0"/>
          </a:p>
        </p:txBody>
      </p:sp>
      <p:sp>
        <p:nvSpPr>
          <p:cNvPr id="16" name="!!taskout"/>
          <p:cNvSpPr txBox="1"/>
          <p:nvPr/>
        </p:nvSpPr>
        <p:spPr>
          <a:xfrm>
            <a:off x="804672" y="2852928"/>
            <a:ext cx="3566160" cy="411480"/>
          </a:xfrm>
          <a:prstGeom prst="rect">
            <a:avLst/>
          </a:prstGeom>
          <a:noFill/>
          <a:ln/>
        </p:spPr>
        <p:txBody>
          <a:bodyPr wrap="square" lIns="0" tIns="0" rIns="0" bIns="0" rtlCol="0" anchor="t"/>
          <a:lstStyle/>
          <a:p>
            <a:pPr indent="0" marL="0">
              <a:buNone/>
            </a:pPr>
            <a:r>
              <a:rPr lang="en-US" sz="2100" b="1" dirty="0">
                <a:solidFill>
                  <a:srgbClr val="FF9F1C"/>
                </a:solidFill>
                <a:latin typeface="Consolas" pitchFamily="34" charset="0"/>
                <a:ea typeface="Consolas" pitchFamily="34" charset="-122"/>
                <a:cs typeface="Consolas" pitchFamily="34" charset="-120"/>
              </a:rPr>
              <a:t>→ "12,34,567"</a:t>
            </a:r>
            <a:endParaRPr lang="en-US" sz="2100" dirty="0"/>
          </a:p>
        </p:txBody>
      </p:sp>
      <p:sp>
        <p:nvSpPr>
          <p:cNvPr id="17" name="!!tasknote"/>
          <p:cNvSpPr txBox="1"/>
          <p:nvPr/>
        </p:nvSpPr>
        <p:spPr>
          <a:xfrm>
            <a:off x="804672" y="3346704"/>
            <a:ext cx="3566160" cy="320040"/>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Every prompt also says: reply with only the code.</a:t>
            </a:r>
            <a:endParaRPr lang="en-US" sz="1150" dirty="0"/>
          </a:p>
        </p:txBody>
      </p:sp>
      <p:sp>
        <p:nvSpPr>
          <p:cNvPr id="18" name="!!capcard"/>
          <p:cNvSpPr/>
          <p:nvPr/>
        </p:nvSpPr>
        <p:spPr>
          <a:xfrm>
            <a:off x="548640" y="4023360"/>
            <a:ext cx="3977640" cy="2240280"/>
          </a:xfrm>
          <a:prstGeom prst="roundRect">
            <a:avLst>
              <a:gd name="adj" fmla="val 571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9" name="!!capstep"/>
          <p:cNvSpPr txBox="1"/>
          <p:nvPr/>
        </p:nvSpPr>
        <p:spPr>
          <a:xfrm>
            <a:off x="804672" y="4206240"/>
            <a:ext cx="1371600" cy="274320"/>
          </a:xfrm>
          <a:prstGeom prst="rect">
            <a:avLst/>
          </a:prstGeom>
          <a:noFill/>
          <a:ln/>
        </p:spPr>
        <p:txBody>
          <a:bodyPr wrap="square" lIns="0" tIns="0" rIns="0" bIns="0" rtlCol="0" anchor="t"/>
          <a:lstStyle/>
          <a:p>
            <a:pPr indent="0" marL="0">
              <a:buNone/>
            </a:pPr>
            <a:r>
              <a:rPr lang="en-US" sz="1200" b="1" dirty="0">
                <a:solidFill>
                  <a:srgbClr val="FF9F1C"/>
                </a:solidFill>
                <a:latin typeface="Consolas" pitchFamily="34" charset="0"/>
                <a:ea typeface="Consolas" pitchFamily="34" charset="-122"/>
                <a:cs typeface="Consolas" pitchFamily="34" charset="-120"/>
              </a:rPr>
              <a:t>3 / 4</a:t>
            </a:r>
            <a:endParaRPr lang="en-US" sz="1200" dirty="0"/>
          </a:p>
        </p:txBody>
      </p:sp>
      <p:sp>
        <p:nvSpPr>
          <p:cNvPr id="20" name="!!caption"/>
          <p:cNvSpPr txBox="1"/>
          <p:nvPr/>
        </p:nvSpPr>
        <p:spPr>
          <a:xfrm>
            <a:off x="804672" y="4526280"/>
            <a:ext cx="3520440" cy="777240"/>
          </a:xfrm>
          <a:prstGeom prst="rect">
            <a:avLst/>
          </a:prstGeom>
          <a:noFill/>
          <a:ln/>
        </p:spPr>
        <p:txBody>
          <a:bodyPr wrap="square" lIns="0" tIns="0" rIns="0" bIns="0" rtlCol="0" anchor="t"/>
          <a:lstStyle/>
          <a:p>
            <a:pPr indent="0" marL="0">
              <a:buNone/>
            </a:pPr>
            <a:r>
              <a:rPr lang="en-US" sz="1800" b="1" dirty="0">
                <a:solidFill>
                  <a:srgbClr val="F2EFFF"/>
                </a:solidFill>
                <a:latin typeface="Segoe UI" pitchFamily="34" charset="0"/>
                <a:ea typeface="Segoe UI" pitchFamily="34" charset="-122"/>
                <a:cs typeface="Segoe UI" pitchFamily="34" charset="-120"/>
              </a:rPr>
              <a:t>Benglish: GPT-OSS 20B renames the function.</a:t>
            </a:r>
            <a:endParaRPr lang="en-US" sz="1800" dirty="0"/>
          </a:p>
        </p:txBody>
      </p:sp>
      <p:sp>
        <p:nvSpPr>
          <p:cNvPr id="21" name="!!capsub"/>
          <p:cNvSpPr txBox="1"/>
          <p:nvPr/>
        </p:nvSpPr>
        <p:spPr>
          <a:xfrm>
            <a:off x="804672" y="5349240"/>
            <a:ext cx="3520440" cy="82296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It wrote bhai_indian_format. It read “bhai” (bro) as part of the name, so the tests can't find it.</a:t>
            </a:r>
            <a:endParaRPr lang="en-US" sz="1200" dirty="0"/>
          </a:p>
        </p:txBody>
      </p:sp>
      <p:sp>
        <p:nvSpPr>
          <p:cNvPr id="22" name="!!panel"/>
          <p:cNvSpPr/>
          <p:nvPr/>
        </p:nvSpPr>
        <p:spPr>
          <a:xfrm>
            <a:off x="4754880" y="2011680"/>
            <a:ext cx="6976872" cy="4251960"/>
          </a:xfrm>
          <a:prstGeom prst="roundRect">
            <a:avLst>
              <a:gd name="adj" fmla="val 3011"/>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3" name="!!plabel"/>
          <p:cNvSpPr txBox="1"/>
          <p:nvPr/>
        </p:nvSpPr>
        <p:spPr>
          <a:xfrm>
            <a:off x="5029200" y="2176272"/>
            <a:ext cx="2743200" cy="201168"/>
          </a:xfrm>
          <a:prstGeom prst="rect">
            <a:avLst/>
          </a:prstGeom>
          <a:noFill/>
          <a:ln/>
        </p:spPr>
        <p:txBody>
          <a:bodyPr wrap="square" lIns="0" tIns="0" rIns="0" bIns="0" rtlCol="0" anchor="t"/>
          <a:lstStyle/>
          <a:p>
            <a:pPr indent="0" marL="0">
              <a:buNone/>
            </a:pPr>
            <a:r>
              <a:rPr lang="en-US" sz="950" b="1" spc="100" kern="0" dirty="0">
                <a:solidFill>
                  <a:srgbClr val="6F6A99"/>
                </a:solidFill>
                <a:latin typeface="Consolas" pitchFamily="34" charset="0"/>
                <a:ea typeface="Consolas" pitchFamily="34" charset="-122"/>
                <a:cs typeface="Consolas" pitchFamily="34" charset="-120"/>
              </a:rPr>
              <a:t>THE PROMPT</a:t>
            </a:r>
            <a:endParaRPr lang="en-US" sz="950" dirty="0"/>
          </a:p>
        </p:txBody>
      </p:sp>
      <p:sp>
        <p:nvSpPr>
          <p:cNvPr id="24" name="!!pver"/>
          <p:cNvSpPr txBox="1"/>
          <p:nvPr/>
        </p:nvSpPr>
        <p:spPr>
          <a:xfrm>
            <a:off x="8229600" y="2176272"/>
            <a:ext cx="3246120" cy="201168"/>
          </a:xfrm>
          <a:prstGeom prst="rect">
            <a:avLst/>
          </a:prstGeom>
          <a:noFill/>
          <a:ln/>
        </p:spPr>
        <p:txBody>
          <a:bodyPr wrap="square" lIns="0" tIns="0" rIns="0" bIns="0" rtlCol="0" anchor="t"/>
          <a:lstStyle/>
          <a:p>
            <a:pPr algn="r" indent="0" marL="0">
              <a:buNone/>
            </a:pPr>
            <a:r>
              <a:rPr lang="en-US" sz="950" b="1" spc="100" kern="0" dirty="0">
                <a:solidFill>
                  <a:srgbClr val="4CC9F0"/>
                </a:solidFill>
                <a:latin typeface="Consolas" pitchFamily="34" charset="0"/>
                <a:ea typeface="Consolas" pitchFamily="34" charset="-122"/>
                <a:cs typeface="Consolas" pitchFamily="34" charset="-120"/>
              </a:rPr>
              <a:t>BENGLISH, CASUAL</a:t>
            </a:r>
            <a:endParaRPr lang="en-US" sz="950" dirty="0"/>
          </a:p>
        </p:txBody>
      </p:sp>
      <p:sp>
        <p:nvSpPr>
          <p:cNvPr id="25" name="!!promptbox"/>
          <p:cNvSpPr/>
          <p:nvPr/>
        </p:nvSpPr>
        <p:spPr>
          <a:xfrm>
            <a:off x="5029200" y="2450592"/>
            <a:ext cx="6428232" cy="1627632"/>
          </a:xfrm>
          <a:prstGeom prst="roundRect">
            <a:avLst>
              <a:gd name="adj" fmla="val 5618"/>
            </a:avLst>
          </a:prstGeom>
          <a:solidFill>
            <a:srgbClr val="0B0918"/>
          </a:solidFill>
          <a:ln w="12700">
            <a:solidFill>
              <a:srgbClr val="2E2759"/>
            </a:solidFill>
            <a:prstDash val="solid"/>
          </a:ln>
        </p:spPr>
      </p:sp>
      <p:sp>
        <p:nvSpPr>
          <p:cNvPr id="26" name="!!prompt"/>
          <p:cNvSpPr txBox="1"/>
          <p:nvPr/>
        </p:nvSpPr>
        <p:spPr>
          <a:xfrm>
            <a:off x="5212080" y="2560320"/>
            <a:ext cx="6080760" cy="1463040"/>
          </a:xfrm>
          <a:prstGeom prst="rect">
            <a:avLst/>
          </a:prstGeom>
          <a:noFill/>
          <a:ln/>
        </p:spPr>
        <p:txBody>
          <a:bodyPr wrap="square" lIns="0" tIns="0" rIns="0" bIns="0" rtlCol="0" anchor="ctr"/>
          <a:lstStyle/>
          <a:p>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bhai </a:t>
            </a:r>
            <a:pPr indent="0" marL="0">
              <a:lnSpc>
                <a:spcPct val="105000"/>
              </a:lnSpc>
              <a:buNone/>
            </a:pPr>
            <a:r>
              <a:rPr lang="en-US" sz="1250" dirty="0">
                <a:solidFill>
                  <a:srgbClr val="C9C2FF"/>
                </a:solidFill>
                <a:latin typeface="Consolas" pitchFamily="34" charset="0"/>
                <a:ea typeface="Consolas" pitchFamily="34" charset="-122"/>
                <a:cs typeface="Consolas" pitchFamily="34" charset="-120"/>
              </a:rPr>
              <a:t>indian_format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naam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er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python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fn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bana,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non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negative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number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nebe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aar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indian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style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comma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diye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string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return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korbe,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sheshe </a:t>
            </a:r>
            <a:pPr indent="0" marL="0">
              <a:lnSpc>
                <a:spcPct val="105000"/>
              </a:lnSpc>
              <a:buNone/>
            </a:pPr>
            <a:r>
              <a:rPr lang="en-US" sz="1250" dirty="0">
                <a:solidFill>
                  <a:srgbClr val="C9C2FF"/>
                </a:solidFill>
                <a:latin typeface="Consolas" pitchFamily="34" charset="0"/>
                <a:ea typeface="Consolas" pitchFamily="34" charset="-122"/>
                <a:cs typeface="Consolas" pitchFamily="34" charset="-120"/>
              </a:rPr>
              <a:t>3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te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digit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ek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group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tarpor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age </a:t>
            </a:r>
            <a:pPr indent="0" marL="0">
              <a:lnSpc>
                <a:spcPct val="105000"/>
              </a:lnSpc>
              <a:buNone/>
            </a:pPr>
            <a:r>
              <a:rPr lang="en-US" sz="1250" dirty="0">
                <a:solidFill>
                  <a:srgbClr val="C9C2FF"/>
                </a:solidFill>
                <a:latin typeface="Consolas" pitchFamily="34" charset="0"/>
                <a:ea typeface="Consolas" pitchFamily="34" charset="-122"/>
                <a:cs typeface="Consolas" pitchFamily="34" charset="-120"/>
              </a:rPr>
              <a:t>2-2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digit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er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group, </a:t>
            </a:r>
            <a:pPr indent="0" marL="0">
              <a:lnSpc>
                <a:spcPct val="105000"/>
              </a:lnSpc>
              <a:buNone/>
            </a:pPr>
            <a:r>
              <a:rPr lang="en-US" sz="1250" dirty="0">
                <a:solidFill>
                  <a:srgbClr val="C9C2FF"/>
                </a:solidFill>
                <a:latin typeface="Consolas" pitchFamily="34" charset="0"/>
                <a:ea typeface="Consolas" pitchFamily="34" charset="-122"/>
                <a:cs typeface="Consolas" pitchFamily="34" charset="-120"/>
              </a:rPr>
              <a:t>1000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er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kom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number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e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comma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lagbe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na.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shudhu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code </a:t>
            </a:r>
            <a:pPr indent="0" marL="0">
              <a:lnSpc>
                <a:spcPct val="105000"/>
              </a:lnSpc>
              <a:buNone/>
            </a:pPr>
            <a:r>
              <a:rPr lang="en-US" sz="1350" b="1" dirty="0">
                <a:solidFill>
                  <a:srgbClr val="4CC9F0"/>
                </a:solidFill>
                <a:latin typeface="Segoe UI" pitchFamily="34" charset="0"/>
                <a:ea typeface="Segoe UI" pitchFamily="34" charset="-122"/>
                <a:cs typeface="Segoe UI" pitchFamily="34" charset="-120"/>
              </a:rPr>
              <a:t>de</a:t>
            </a:r>
            <a:endParaRPr lang="en-US" sz="1400" dirty="0"/>
          </a:p>
        </p:txBody>
      </p:sp>
      <p:sp>
        <p:nvSpPr>
          <p:cNvPr id="27" name="!!legEnglish"/>
          <p:cNvSpPr/>
          <p:nvPr/>
        </p:nvSpPr>
        <p:spPr>
          <a:xfrm>
            <a:off x="5029200" y="4224528"/>
            <a:ext cx="109728" cy="109728"/>
          </a:xfrm>
          <a:prstGeom prst="ellipse">
            <a:avLst/>
          </a:prstGeom>
          <a:solidFill>
            <a:srgbClr val="F2EFFF"/>
          </a:solidFill>
          <a:ln/>
        </p:spPr>
      </p:sp>
      <p:sp>
        <p:nvSpPr>
          <p:cNvPr id="28" name="!!legtEnglish"/>
          <p:cNvSpPr txBox="1"/>
          <p:nvPr/>
        </p:nvSpPr>
        <p:spPr>
          <a:xfrm>
            <a:off x="5184648"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English</a:t>
            </a:r>
            <a:endParaRPr lang="en-US" sz="1000" dirty="0"/>
          </a:p>
        </p:txBody>
      </p:sp>
      <p:sp>
        <p:nvSpPr>
          <p:cNvPr id="29" name="!!legHindi"/>
          <p:cNvSpPr/>
          <p:nvPr/>
        </p:nvSpPr>
        <p:spPr>
          <a:xfrm>
            <a:off x="5801868" y="4224528"/>
            <a:ext cx="109728" cy="109728"/>
          </a:xfrm>
          <a:prstGeom prst="ellipse">
            <a:avLst/>
          </a:prstGeom>
          <a:solidFill>
            <a:srgbClr val="FF9F1C"/>
          </a:solidFill>
          <a:ln/>
        </p:spPr>
      </p:sp>
      <p:sp>
        <p:nvSpPr>
          <p:cNvPr id="30" name="!!legtHindi"/>
          <p:cNvSpPr txBox="1"/>
          <p:nvPr/>
        </p:nvSpPr>
        <p:spPr>
          <a:xfrm>
            <a:off x="5957316"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Hindi</a:t>
            </a:r>
            <a:endParaRPr lang="en-US" sz="1000" dirty="0"/>
          </a:p>
        </p:txBody>
      </p:sp>
      <p:sp>
        <p:nvSpPr>
          <p:cNvPr id="31" name="!!legBengali"/>
          <p:cNvSpPr/>
          <p:nvPr/>
        </p:nvSpPr>
        <p:spPr>
          <a:xfrm>
            <a:off x="6437376" y="4224528"/>
            <a:ext cx="109728" cy="109728"/>
          </a:xfrm>
          <a:prstGeom prst="ellipse">
            <a:avLst/>
          </a:prstGeom>
          <a:solidFill>
            <a:srgbClr val="4CC9F0"/>
          </a:solidFill>
          <a:ln/>
        </p:spPr>
      </p:sp>
      <p:sp>
        <p:nvSpPr>
          <p:cNvPr id="32" name="!!legtBengali"/>
          <p:cNvSpPr txBox="1"/>
          <p:nvPr/>
        </p:nvSpPr>
        <p:spPr>
          <a:xfrm>
            <a:off x="6592824"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Bengali</a:t>
            </a:r>
            <a:endParaRPr lang="en-US" sz="1000" dirty="0"/>
          </a:p>
        </p:txBody>
      </p:sp>
      <p:sp>
        <p:nvSpPr>
          <p:cNvPr id="33" name="!!legKannada"/>
          <p:cNvSpPr/>
          <p:nvPr/>
        </p:nvSpPr>
        <p:spPr>
          <a:xfrm>
            <a:off x="7210044" y="4224528"/>
            <a:ext cx="109728" cy="109728"/>
          </a:xfrm>
          <a:prstGeom prst="ellipse">
            <a:avLst/>
          </a:prstGeom>
          <a:solidFill>
            <a:srgbClr val="E87BA4"/>
          </a:solidFill>
          <a:ln/>
        </p:spPr>
      </p:sp>
      <p:sp>
        <p:nvSpPr>
          <p:cNvPr id="34" name="!!legtKannada"/>
          <p:cNvSpPr txBox="1"/>
          <p:nvPr/>
        </p:nvSpPr>
        <p:spPr>
          <a:xfrm>
            <a:off x="7365492"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Kannada</a:t>
            </a:r>
            <a:endParaRPr lang="en-US" sz="1000" dirty="0"/>
          </a:p>
        </p:txBody>
      </p:sp>
      <p:sp>
        <p:nvSpPr>
          <p:cNvPr id="35" name="!!legfunction names"/>
          <p:cNvSpPr/>
          <p:nvPr/>
        </p:nvSpPr>
        <p:spPr>
          <a:xfrm>
            <a:off x="7982712" y="4224528"/>
            <a:ext cx="109728" cy="109728"/>
          </a:xfrm>
          <a:prstGeom prst="ellipse">
            <a:avLst/>
          </a:prstGeom>
          <a:solidFill>
            <a:srgbClr val="C9C2FF"/>
          </a:solidFill>
          <a:ln/>
        </p:spPr>
      </p:sp>
      <p:sp>
        <p:nvSpPr>
          <p:cNvPr id="36" name="!!legtfunction names"/>
          <p:cNvSpPr txBox="1"/>
          <p:nvPr/>
        </p:nvSpPr>
        <p:spPr>
          <a:xfrm>
            <a:off x="8138160"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function names</a:t>
            </a:r>
            <a:endParaRPr lang="en-US" sz="1000" dirty="0"/>
          </a:p>
        </p:txBody>
      </p:sp>
      <p:sp>
        <p:nvSpPr>
          <p:cNvPr id="37" name="!!meterlabel"/>
          <p:cNvSpPr txBox="1"/>
          <p:nvPr/>
        </p:nvSpPr>
        <p:spPr>
          <a:xfrm>
            <a:off x="5029200" y="4498848"/>
            <a:ext cx="2743200" cy="292608"/>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61%</a:t>
            </a:r>
            <a:pPr indent="0" marL="0">
              <a:buNone/>
            </a:pPr>
            <a:r>
              <a:rPr lang="en-US" sz="1100" dirty="0">
                <a:solidFill>
                  <a:srgbClr val="A9A3CF"/>
                </a:solidFill>
                <a:latin typeface="Segoe UI" pitchFamily="34" charset="0"/>
                <a:ea typeface="Segoe UI" pitchFamily="34" charset="-122"/>
                <a:cs typeface="Segoe UI" pitchFamily="34" charset="-120"/>
              </a:rPr>
              <a:t>  of words not in English</a:t>
            </a:r>
            <a:endParaRPr lang="en-US" sz="1400" dirty="0"/>
          </a:p>
        </p:txBody>
      </p:sp>
      <p:sp>
        <p:nvSpPr>
          <p:cNvPr id="38" name="!!metertrack"/>
          <p:cNvSpPr/>
          <p:nvPr/>
        </p:nvSpPr>
        <p:spPr>
          <a:xfrm>
            <a:off x="7863840" y="4590288"/>
            <a:ext cx="3593592" cy="118872"/>
          </a:xfrm>
          <a:prstGeom prst="roundRect">
            <a:avLst>
              <a:gd name="adj" fmla="val 46154"/>
            </a:avLst>
          </a:prstGeom>
          <a:solidFill>
            <a:srgbClr val="211B42"/>
          </a:solidFill>
          <a:ln/>
        </p:spPr>
      </p:sp>
      <p:sp>
        <p:nvSpPr>
          <p:cNvPr id="39" name="!!meterfill"/>
          <p:cNvSpPr/>
          <p:nvPr/>
        </p:nvSpPr>
        <p:spPr>
          <a:xfrm>
            <a:off x="7863840" y="4590288"/>
            <a:ext cx="2175069" cy="118872"/>
          </a:xfrm>
          <a:prstGeom prst="roundRect">
            <a:avLst>
              <a:gd name="adj" fmla="val 46154"/>
            </a:avLst>
          </a:prstGeom>
          <a:solidFill>
            <a:srgbClr val="FF9F1C"/>
          </a:solidFill>
          <a:ln/>
        </p:spPr>
      </p:sp>
      <p:sp>
        <p:nvSpPr>
          <p:cNvPr id="40" name="!!track"/>
          <p:cNvSpPr/>
          <p:nvPr/>
        </p:nvSpPr>
        <p:spPr>
          <a:xfrm>
            <a:off x="5349240" y="4937760"/>
            <a:ext cx="5788152" cy="64008"/>
          </a:xfrm>
          <a:prstGeom prst="roundRect">
            <a:avLst>
              <a:gd name="adj" fmla="val 42857"/>
            </a:avLst>
          </a:prstGeom>
          <a:solidFill>
            <a:srgbClr val="9B8CFF">
              <a:alpha val="55000"/>
            </a:srgbClr>
          </a:solidFill>
          <a:ln/>
        </p:spPr>
      </p:sp>
      <p:sp>
        <p:nvSpPr>
          <p:cNvPr id="41" name="!!stop0"/>
          <p:cNvSpPr/>
          <p:nvPr/>
        </p:nvSpPr>
        <p:spPr>
          <a:xfrm>
            <a:off x="5294376" y="4914900"/>
            <a:ext cx="109728" cy="109728"/>
          </a:xfrm>
          <a:prstGeom prst="ellipse">
            <a:avLst/>
          </a:prstGeom>
          <a:solidFill>
            <a:srgbClr val="FF9F1C"/>
          </a:solidFill>
          <a:ln/>
        </p:spPr>
      </p:sp>
      <p:sp>
        <p:nvSpPr>
          <p:cNvPr id="42" name="!!stopl0"/>
          <p:cNvSpPr txBox="1"/>
          <p:nvPr/>
        </p:nvSpPr>
        <p:spPr>
          <a:xfrm>
            <a:off x="4709160" y="5157216"/>
            <a:ext cx="1280160" cy="219456"/>
          </a:xfrm>
          <a:prstGeom prst="rect">
            <a:avLst/>
          </a:prstGeom>
          <a:noFill/>
          <a:ln/>
        </p:spPr>
        <p:txBody>
          <a:bodyPr wrap="square" lIns="0" tIns="0" rIns="0" bIns="0" rtlCol="0" anchor="t"/>
          <a:lstStyle/>
          <a:p>
            <a:pPr algn="ctr" indent="0" marL="0">
              <a:buNone/>
            </a:pPr>
            <a:r>
              <a:rPr lang="en-US" sz="1050" dirty="0">
                <a:solidFill>
                  <a:srgbClr val="6F6A99"/>
                </a:solidFill>
                <a:latin typeface="Segoe UI" pitchFamily="34" charset="0"/>
                <a:ea typeface="Segoe UI" pitchFamily="34" charset="-122"/>
                <a:cs typeface="Segoe UI" pitchFamily="34" charset="-120"/>
              </a:rPr>
              <a:t>English</a:t>
            </a:r>
            <a:endParaRPr lang="en-US" sz="1050" dirty="0"/>
          </a:p>
        </p:txBody>
      </p:sp>
      <p:sp>
        <p:nvSpPr>
          <p:cNvPr id="43" name="!!stop1"/>
          <p:cNvSpPr/>
          <p:nvPr/>
        </p:nvSpPr>
        <p:spPr>
          <a:xfrm>
            <a:off x="7223760" y="4914900"/>
            <a:ext cx="109728" cy="109728"/>
          </a:xfrm>
          <a:prstGeom prst="ellipse">
            <a:avLst/>
          </a:prstGeom>
          <a:solidFill>
            <a:srgbClr val="FF9F1C"/>
          </a:solidFill>
          <a:ln/>
        </p:spPr>
      </p:sp>
      <p:sp>
        <p:nvSpPr>
          <p:cNvPr id="44" name="!!stopl1"/>
          <p:cNvSpPr txBox="1"/>
          <p:nvPr/>
        </p:nvSpPr>
        <p:spPr>
          <a:xfrm>
            <a:off x="6638544" y="5157216"/>
            <a:ext cx="1280160" cy="219456"/>
          </a:xfrm>
          <a:prstGeom prst="rect">
            <a:avLst/>
          </a:prstGeom>
          <a:noFill/>
          <a:ln/>
        </p:spPr>
        <p:txBody>
          <a:bodyPr wrap="square" lIns="0" tIns="0" rIns="0" bIns="0" rtlCol="0" anchor="t"/>
          <a:lstStyle/>
          <a:p>
            <a:pPr algn="ctr" indent="0" marL="0">
              <a:buNone/>
            </a:pPr>
            <a:r>
              <a:rPr lang="en-US" sz="1050" dirty="0">
                <a:solidFill>
                  <a:srgbClr val="6F6A99"/>
                </a:solidFill>
                <a:latin typeface="Segoe UI" pitchFamily="34" charset="0"/>
                <a:ea typeface="Segoe UI" pitchFamily="34" charset="-122"/>
                <a:cs typeface="Segoe UI" pitchFamily="34" charset="-120"/>
              </a:rPr>
              <a:t>Hinglish</a:t>
            </a:r>
            <a:endParaRPr lang="en-US" sz="1050" dirty="0"/>
          </a:p>
        </p:txBody>
      </p:sp>
      <p:sp>
        <p:nvSpPr>
          <p:cNvPr id="45" name="!!stop2"/>
          <p:cNvSpPr/>
          <p:nvPr/>
        </p:nvSpPr>
        <p:spPr>
          <a:xfrm>
            <a:off x="9153144" y="4914900"/>
            <a:ext cx="109728" cy="109728"/>
          </a:xfrm>
          <a:prstGeom prst="ellipse">
            <a:avLst/>
          </a:prstGeom>
          <a:solidFill>
            <a:srgbClr val="FF9F1C"/>
          </a:solidFill>
          <a:ln/>
        </p:spPr>
      </p:sp>
      <p:sp>
        <p:nvSpPr>
          <p:cNvPr id="46" name="!!stopl2"/>
          <p:cNvSpPr txBox="1"/>
          <p:nvPr/>
        </p:nvSpPr>
        <p:spPr>
          <a:xfrm>
            <a:off x="8567928" y="5157216"/>
            <a:ext cx="1280160" cy="219456"/>
          </a:xfrm>
          <a:prstGeom prst="rect">
            <a:avLst/>
          </a:prstGeom>
          <a:noFill/>
          <a:ln/>
        </p:spPr>
        <p:txBody>
          <a:bodyPr wrap="square" lIns="0" tIns="0" rIns="0" bIns="0" rtlCol="0" anchor="t"/>
          <a:lstStyle/>
          <a:p>
            <a:pPr algn="ctr" indent="0" marL="0">
              <a:buNone/>
            </a:pPr>
            <a:r>
              <a:rPr lang="en-US" sz="1050" b="1" dirty="0">
                <a:solidFill>
                  <a:srgbClr val="F2EFFF"/>
                </a:solidFill>
                <a:latin typeface="Segoe UI" pitchFamily="34" charset="0"/>
                <a:ea typeface="Segoe UI" pitchFamily="34" charset="-122"/>
                <a:cs typeface="Segoe UI" pitchFamily="34" charset="-120"/>
              </a:rPr>
              <a:t>Benglish</a:t>
            </a:r>
            <a:endParaRPr lang="en-US" sz="1050" dirty="0"/>
          </a:p>
        </p:txBody>
      </p:sp>
      <p:sp>
        <p:nvSpPr>
          <p:cNvPr id="47" name="!!stop3"/>
          <p:cNvSpPr/>
          <p:nvPr/>
        </p:nvSpPr>
        <p:spPr>
          <a:xfrm>
            <a:off x="11082528" y="4914900"/>
            <a:ext cx="109728" cy="109728"/>
          </a:xfrm>
          <a:prstGeom prst="ellipse">
            <a:avLst/>
          </a:prstGeom>
          <a:solidFill>
            <a:srgbClr val="2E2759"/>
          </a:solidFill>
          <a:ln/>
        </p:spPr>
      </p:sp>
      <p:sp>
        <p:nvSpPr>
          <p:cNvPr id="48" name="!!stopl3"/>
          <p:cNvSpPr txBox="1"/>
          <p:nvPr/>
        </p:nvSpPr>
        <p:spPr>
          <a:xfrm>
            <a:off x="10497312" y="5157216"/>
            <a:ext cx="1280160" cy="219456"/>
          </a:xfrm>
          <a:prstGeom prst="rect">
            <a:avLst/>
          </a:prstGeom>
          <a:noFill/>
          <a:ln/>
        </p:spPr>
        <p:txBody>
          <a:bodyPr wrap="square" lIns="0" tIns="0" rIns="0" bIns="0" rtlCol="0" anchor="t"/>
          <a:lstStyle/>
          <a:p>
            <a:pPr algn="ctr" indent="0" marL="0">
              <a:buNone/>
            </a:pPr>
            <a:r>
              <a:rPr lang="en-US" sz="1050" dirty="0">
                <a:solidFill>
                  <a:srgbClr val="6F6A99"/>
                </a:solidFill>
                <a:latin typeface="Segoe UI" pitchFamily="34" charset="0"/>
                <a:ea typeface="Segoe UI" pitchFamily="34" charset="-122"/>
                <a:cs typeface="Segoe UI" pitchFamily="34" charset="-120"/>
              </a:rPr>
              <a:t>Kanglish</a:t>
            </a:r>
            <a:endParaRPr lang="en-US" sz="1050" dirty="0"/>
          </a:p>
        </p:txBody>
      </p:sp>
      <p:pic>
        <p:nvPicPr>
          <p:cNvPr id="49" name="!!knobglow" descr="/tmp/claude-0/-home-claude/cf1b82dd-723a-5c0d-b3ee-f6062e85aabe/scratchpad/nd/glow_a.png">    </p:cNvPr>
          <p:cNvPicPr>
            <a:picLocks noChangeAspect="1"/>
          </p:cNvPicPr>
          <p:nvPr/>
        </p:nvPicPr>
        <p:blipFill>
          <a:blip r:embed="rId8"/>
          <a:stretch>
            <a:fillRect/>
          </a:stretch>
        </p:blipFill>
        <p:spPr>
          <a:xfrm>
            <a:off x="8750808" y="4507992"/>
            <a:ext cx="914400" cy="914400"/>
          </a:xfrm>
          <a:prstGeom prst="rect">
            <a:avLst/>
          </a:prstGeom>
        </p:spPr>
      </p:pic>
      <p:sp>
        <p:nvSpPr>
          <p:cNvPr id="50" name="!!knob"/>
          <p:cNvSpPr/>
          <p:nvPr/>
        </p:nvSpPr>
        <p:spPr>
          <a:xfrm>
            <a:off x="9052560" y="4814316"/>
            <a:ext cx="310896" cy="310896"/>
          </a:xfrm>
          <a:prstGeom prst="ellipse">
            <a:avLst/>
          </a:prstGeom>
          <a:solidFill>
            <a:srgbClr val="FF9F1C"/>
          </a:solidFill>
          <a:ln w="31750">
            <a:solidFill>
              <a:srgbClr val="FFFFFF"/>
            </a:solidFill>
            <a:prstDash val="solid"/>
          </a:ln>
        </p:spPr>
      </p:sp>
      <p:sp>
        <p:nvSpPr>
          <p:cNvPr id="51" name="!!light0"/>
          <p:cNvSpPr/>
          <p:nvPr/>
        </p:nvSpPr>
        <p:spPr>
          <a:xfrm>
            <a:off x="5029200" y="5486400"/>
            <a:ext cx="2057400" cy="621792"/>
          </a:xfrm>
          <a:prstGeom prst="roundRect">
            <a:avLst>
              <a:gd name="adj" fmla="val 14706"/>
            </a:avLst>
          </a:prstGeom>
          <a:solidFill>
            <a:srgbClr val="0B0918"/>
          </a:solidFill>
          <a:ln w="12700">
            <a:solidFill>
              <a:srgbClr val="2E2759"/>
            </a:solidFill>
            <a:prstDash val="solid"/>
          </a:ln>
        </p:spPr>
      </p:sp>
      <p:sp>
        <p:nvSpPr>
          <p:cNvPr id="52" name="!!dot0"/>
          <p:cNvSpPr/>
          <p:nvPr/>
        </p:nvSpPr>
        <p:spPr>
          <a:xfrm>
            <a:off x="5184648" y="5715000"/>
            <a:ext cx="164592" cy="164592"/>
          </a:xfrm>
          <a:prstGeom prst="ellipse">
            <a:avLst/>
          </a:prstGeom>
          <a:solidFill>
            <a:srgbClr val="2BD9A0"/>
          </a:solidFill>
          <a:ln/>
        </p:spPr>
      </p:sp>
      <p:sp>
        <p:nvSpPr>
          <p:cNvPr id="53" name="!!mname0"/>
          <p:cNvSpPr txBox="1"/>
          <p:nvPr/>
        </p:nvSpPr>
        <p:spPr>
          <a:xfrm>
            <a:off x="5458968" y="5550408"/>
            <a:ext cx="1572768" cy="237744"/>
          </a:xfrm>
          <a:prstGeom prst="rect">
            <a:avLst/>
          </a:prstGeom>
          <a:noFill/>
          <a:ln/>
        </p:spPr>
        <p:txBody>
          <a:bodyPr wrap="square" lIns="0" tIns="0" rIns="0" bIns="0" rtlCol="0" anchor="t"/>
          <a:lstStyle/>
          <a:p>
            <a:pPr indent="0" marL="0">
              <a:buNone/>
            </a:pPr>
            <a:r>
              <a:rPr lang="en-US" sz="1150" b="1" dirty="0">
                <a:solidFill>
                  <a:srgbClr val="F2EFFF"/>
                </a:solidFill>
                <a:latin typeface="Segoe UI" pitchFamily="34" charset="0"/>
                <a:ea typeface="Segoe UI" pitchFamily="34" charset="-122"/>
                <a:cs typeface="Segoe UI" pitchFamily="34" charset="-120"/>
              </a:rPr>
              <a:t>Gemini</a:t>
            </a:r>
            <a:endParaRPr lang="en-US" sz="1150" dirty="0"/>
          </a:p>
        </p:txBody>
      </p:sp>
      <p:sp>
        <p:nvSpPr>
          <p:cNvPr id="54" name="!!mstat0"/>
          <p:cNvSpPr txBox="1"/>
          <p:nvPr/>
        </p:nvSpPr>
        <p:spPr>
          <a:xfrm>
            <a:off x="5458968" y="5788152"/>
            <a:ext cx="1600200" cy="274320"/>
          </a:xfrm>
          <a:prstGeom prst="rect">
            <a:avLst/>
          </a:prstGeom>
          <a:noFill/>
          <a:ln/>
        </p:spPr>
        <p:txBody>
          <a:bodyPr wrap="square" lIns="0" tIns="0" rIns="0" bIns="0" rtlCol="0" anchor="t"/>
          <a:lstStyle/>
          <a:p>
            <a:pPr indent="0" marL="0">
              <a:buNone/>
            </a:pPr>
            <a:r>
              <a:rPr lang="en-US" sz="950" dirty="0">
                <a:solidFill>
                  <a:srgbClr val="A9A3CF"/>
                </a:solidFill>
                <a:latin typeface="Segoe UI" pitchFamily="34" charset="0"/>
                <a:ea typeface="Segoe UI" pitchFamily="34" charset="-122"/>
                <a:cs typeface="Segoe UI" pitchFamily="34" charset="-120"/>
              </a:rPr>
              <a:t>Passed 6 of 6</a:t>
            </a:r>
            <a:endParaRPr lang="en-US" sz="950" dirty="0"/>
          </a:p>
        </p:txBody>
      </p:sp>
      <p:sp>
        <p:nvSpPr>
          <p:cNvPr id="55" name="!!light1"/>
          <p:cNvSpPr/>
          <p:nvPr/>
        </p:nvSpPr>
        <p:spPr>
          <a:xfrm>
            <a:off x="7214616" y="5486400"/>
            <a:ext cx="2057400" cy="621792"/>
          </a:xfrm>
          <a:prstGeom prst="roundRect">
            <a:avLst>
              <a:gd name="adj" fmla="val 14706"/>
            </a:avLst>
          </a:prstGeom>
          <a:solidFill>
            <a:srgbClr val="0B0918"/>
          </a:solidFill>
          <a:ln w="12700">
            <a:solidFill>
              <a:srgbClr val="FF5C7A"/>
            </a:solidFill>
            <a:prstDash val="solid"/>
          </a:ln>
        </p:spPr>
      </p:sp>
      <p:sp>
        <p:nvSpPr>
          <p:cNvPr id="56" name="!!dot1"/>
          <p:cNvSpPr/>
          <p:nvPr/>
        </p:nvSpPr>
        <p:spPr>
          <a:xfrm>
            <a:off x="7370064" y="5715000"/>
            <a:ext cx="164592" cy="164592"/>
          </a:xfrm>
          <a:prstGeom prst="ellipse">
            <a:avLst/>
          </a:prstGeom>
          <a:solidFill>
            <a:srgbClr val="FF5C7A"/>
          </a:solidFill>
          <a:ln/>
        </p:spPr>
      </p:sp>
      <p:sp>
        <p:nvSpPr>
          <p:cNvPr id="57" name="!!mname1"/>
          <p:cNvSpPr txBox="1"/>
          <p:nvPr/>
        </p:nvSpPr>
        <p:spPr>
          <a:xfrm>
            <a:off x="7644384" y="5550408"/>
            <a:ext cx="1572768" cy="237744"/>
          </a:xfrm>
          <a:prstGeom prst="rect">
            <a:avLst/>
          </a:prstGeom>
          <a:noFill/>
          <a:ln/>
        </p:spPr>
        <p:txBody>
          <a:bodyPr wrap="square" lIns="0" tIns="0" rIns="0" bIns="0" rtlCol="0" anchor="t"/>
          <a:lstStyle/>
          <a:p>
            <a:pPr indent="0" marL="0">
              <a:buNone/>
            </a:pPr>
            <a:r>
              <a:rPr lang="en-US" sz="1150" b="1" dirty="0">
                <a:solidFill>
                  <a:srgbClr val="F2EFFF"/>
                </a:solidFill>
                <a:latin typeface="Segoe UI" pitchFamily="34" charset="0"/>
                <a:ea typeface="Segoe UI" pitchFamily="34" charset="-122"/>
                <a:cs typeface="Segoe UI" pitchFamily="34" charset="-120"/>
              </a:rPr>
              <a:t>GPT-OSS 120B</a:t>
            </a:r>
            <a:endParaRPr lang="en-US" sz="1150" dirty="0"/>
          </a:p>
        </p:txBody>
      </p:sp>
      <p:sp>
        <p:nvSpPr>
          <p:cNvPr id="58" name="!!mstat1"/>
          <p:cNvSpPr txBox="1"/>
          <p:nvPr/>
        </p:nvSpPr>
        <p:spPr>
          <a:xfrm>
            <a:off x="7644384" y="5788152"/>
            <a:ext cx="1600200" cy="274320"/>
          </a:xfrm>
          <a:prstGeom prst="rect">
            <a:avLst/>
          </a:prstGeom>
          <a:noFill/>
          <a:ln/>
        </p:spPr>
        <p:txBody>
          <a:bodyPr wrap="square" lIns="0" tIns="0" rIns="0" bIns="0" rtlCol="0" anchor="t"/>
          <a:lstStyle/>
          <a:p>
            <a:pPr indent="0" marL="0">
              <a:buNone/>
            </a:pPr>
            <a:r>
              <a:rPr lang="en-US" sz="950" dirty="0">
                <a:solidFill>
                  <a:srgbClr val="FF5C7A"/>
                </a:solidFill>
                <a:latin typeface="Segoe UI" pitchFamily="34" charset="0"/>
                <a:ea typeface="Segoe UI" pitchFamily="34" charset="-122"/>
                <a:cs typeface="Segoe UI" pitchFamily="34" charset="-120"/>
              </a:rPr>
              <a:t>Passed 4 of 6</a:t>
            </a:r>
            <a:endParaRPr lang="en-US" sz="950" dirty="0"/>
          </a:p>
        </p:txBody>
      </p:sp>
      <p:sp>
        <p:nvSpPr>
          <p:cNvPr id="59" name="!!light2"/>
          <p:cNvSpPr/>
          <p:nvPr/>
        </p:nvSpPr>
        <p:spPr>
          <a:xfrm>
            <a:off x="9400032" y="5486400"/>
            <a:ext cx="2057400" cy="621792"/>
          </a:xfrm>
          <a:prstGeom prst="roundRect">
            <a:avLst>
              <a:gd name="adj" fmla="val 14706"/>
            </a:avLst>
          </a:prstGeom>
          <a:solidFill>
            <a:srgbClr val="0B0918"/>
          </a:solidFill>
          <a:ln w="12700">
            <a:solidFill>
              <a:srgbClr val="FF5C7A"/>
            </a:solidFill>
            <a:prstDash val="solid"/>
          </a:ln>
        </p:spPr>
      </p:sp>
      <p:sp>
        <p:nvSpPr>
          <p:cNvPr id="60" name="!!dot2"/>
          <p:cNvSpPr/>
          <p:nvPr/>
        </p:nvSpPr>
        <p:spPr>
          <a:xfrm>
            <a:off x="9555480" y="5715000"/>
            <a:ext cx="164592" cy="164592"/>
          </a:xfrm>
          <a:prstGeom prst="ellipse">
            <a:avLst/>
          </a:prstGeom>
          <a:solidFill>
            <a:srgbClr val="FF5C7A"/>
          </a:solidFill>
          <a:ln/>
        </p:spPr>
      </p:sp>
      <p:sp>
        <p:nvSpPr>
          <p:cNvPr id="61" name="!!mname2"/>
          <p:cNvSpPr txBox="1"/>
          <p:nvPr/>
        </p:nvSpPr>
        <p:spPr>
          <a:xfrm>
            <a:off x="9829800" y="5550408"/>
            <a:ext cx="1572768" cy="237744"/>
          </a:xfrm>
          <a:prstGeom prst="rect">
            <a:avLst/>
          </a:prstGeom>
          <a:noFill/>
          <a:ln/>
        </p:spPr>
        <p:txBody>
          <a:bodyPr wrap="square" lIns="0" tIns="0" rIns="0" bIns="0" rtlCol="0" anchor="t"/>
          <a:lstStyle/>
          <a:p>
            <a:pPr indent="0" marL="0">
              <a:buNone/>
            </a:pPr>
            <a:r>
              <a:rPr lang="en-US" sz="1150" b="1" dirty="0">
                <a:solidFill>
                  <a:srgbClr val="F2EFFF"/>
                </a:solidFill>
                <a:latin typeface="Segoe UI" pitchFamily="34" charset="0"/>
                <a:ea typeface="Segoe UI" pitchFamily="34" charset="-122"/>
                <a:cs typeface="Segoe UI" pitchFamily="34" charset="-120"/>
              </a:rPr>
              <a:t>GPT-OSS 20B</a:t>
            </a:r>
            <a:endParaRPr lang="en-US" sz="1150" dirty="0"/>
          </a:p>
        </p:txBody>
      </p:sp>
      <p:sp>
        <p:nvSpPr>
          <p:cNvPr id="62" name="!!mstat2"/>
          <p:cNvSpPr txBox="1"/>
          <p:nvPr/>
        </p:nvSpPr>
        <p:spPr>
          <a:xfrm>
            <a:off x="9829800" y="5788152"/>
            <a:ext cx="1600200" cy="274320"/>
          </a:xfrm>
          <a:prstGeom prst="rect">
            <a:avLst/>
          </a:prstGeom>
          <a:noFill/>
          <a:ln/>
        </p:spPr>
        <p:txBody>
          <a:bodyPr wrap="square" lIns="0" tIns="0" rIns="0" bIns="0" rtlCol="0" anchor="t"/>
          <a:lstStyle/>
          <a:p>
            <a:pPr indent="0" marL="0">
              <a:buNone/>
            </a:pPr>
            <a:r>
              <a:rPr lang="en-US" sz="950" dirty="0">
                <a:solidFill>
                  <a:srgbClr val="FF5C7A"/>
                </a:solidFill>
                <a:latin typeface="Segoe UI" pitchFamily="34" charset="0"/>
                <a:ea typeface="Segoe UI" pitchFamily="34" charset="-122"/>
                <a:cs typeface="Segoe UI" pitchFamily="34" charset="-120"/>
              </a:rPr>
              <a:t>Renamed it</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06 / 19</a:t>
            </a:r>
            <a:endParaRPr lang="en-US" sz="900" dirty="0"/>
          </a:p>
        </p:txBody>
      </p:sp>
      <p:sp>
        <p:nvSpPr>
          <p:cNvPr id="11"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02 · THE MIX DIAL</a:t>
            </a:r>
            <a:endParaRPr lang="en-US" sz="1100" dirty="0"/>
          </a:p>
        </p:txBody>
      </p:sp>
      <p:sp>
        <p:nvSpPr>
          <p:cNvPr id="12"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Same task. Four ways to ask.</a:t>
            </a:r>
            <a:endParaRPr lang="en-US" sz="3000" dirty="0"/>
          </a:p>
        </p:txBody>
      </p:sp>
      <p:sp>
        <p:nvSpPr>
          <p:cNvPr id="13" name="!!taskcard"/>
          <p:cNvSpPr/>
          <p:nvPr/>
        </p:nvSpPr>
        <p:spPr>
          <a:xfrm>
            <a:off x="548640" y="2011680"/>
            <a:ext cx="3977640" cy="1828800"/>
          </a:xfrm>
          <a:prstGeom prst="roundRect">
            <a:avLst>
              <a:gd name="adj" fmla="val 7000"/>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4" name="!!tasklabel"/>
          <p:cNvSpPr txBox="1"/>
          <p:nvPr/>
        </p:nvSpPr>
        <p:spPr>
          <a:xfrm>
            <a:off x="804672" y="2194560"/>
            <a:ext cx="3474720" cy="201168"/>
          </a:xfrm>
          <a:prstGeom prst="rect">
            <a:avLst/>
          </a:prstGeom>
          <a:noFill/>
          <a:ln/>
        </p:spPr>
        <p:txBody>
          <a:bodyPr wrap="square" lIns="0" tIns="0" rIns="0" bIns="0" rtlCol="0" anchor="t"/>
          <a:lstStyle/>
          <a:p>
            <a:pPr indent="0" marL="0">
              <a:buNone/>
            </a:pPr>
            <a:r>
              <a:rPr lang="en-US" sz="950" b="1" spc="100" kern="0" dirty="0">
                <a:solidFill>
                  <a:srgbClr val="6F6A99"/>
                </a:solidFill>
                <a:latin typeface="Consolas" pitchFamily="34" charset="0"/>
                <a:ea typeface="Consolas" pitchFamily="34" charset="-122"/>
                <a:cs typeface="Consolas" pitchFamily="34" charset="-120"/>
              </a:rPr>
              <a:t>THE TASK</a:t>
            </a:r>
            <a:endParaRPr lang="en-US" sz="950" dirty="0"/>
          </a:p>
        </p:txBody>
      </p:sp>
      <p:sp>
        <p:nvSpPr>
          <p:cNvPr id="15" name="!!taskcode"/>
          <p:cNvSpPr txBox="1"/>
          <p:nvPr/>
        </p:nvSpPr>
        <p:spPr>
          <a:xfrm>
            <a:off x="804672" y="2487168"/>
            <a:ext cx="3566160" cy="365760"/>
          </a:xfrm>
          <a:prstGeom prst="rect">
            <a:avLst/>
          </a:prstGeom>
          <a:noFill/>
          <a:ln/>
        </p:spPr>
        <p:txBody>
          <a:bodyPr wrap="square" lIns="0" tIns="0" rIns="0" bIns="0" rtlCol="0" anchor="t"/>
          <a:lstStyle/>
          <a:p>
            <a:pPr indent="0" marL="0">
              <a:buNone/>
            </a:pPr>
            <a:r>
              <a:rPr lang="en-US" sz="1700" dirty="0">
                <a:solidFill>
                  <a:srgbClr val="C9C2FF"/>
                </a:solidFill>
                <a:latin typeface="Consolas" pitchFamily="34" charset="0"/>
                <a:ea typeface="Consolas" pitchFamily="34" charset="-122"/>
                <a:cs typeface="Consolas" pitchFamily="34" charset="-120"/>
              </a:rPr>
              <a:t>indian_format(1234567)</a:t>
            </a:r>
            <a:endParaRPr lang="en-US" sz="1700" dirty="0"/>
          </a:p>
        </p:txBody>
      </p:sp>
      <p:sp>
        <p:nvSpPr>
          <p:cNvPr id="16" name="!!taskout"/>
          <p:cNvSpPr txBox="1"/>
          <p:nvPr/>
        </p:nvSpPr>
        <p:spPr>
          <a:xfrm>
            <a:off x="804672" y="2852928"/>
            <a:ext cx="3566160" cy="411480"/>
          </a:xfrm>
          <a:prstGeom prst="rect">
            <a:avLst/>
          </a:prstGeom>
          <a:noFill/>
          <a:ln/>
        </p:spPr>
        <p:txBody>
          <a:bodyPr wrap="square" lIns="0" tIns="0" rIns="0" bIns="0" rtlCol="0" anchor="t"/>
          <a:lstStyle/>
          <a:p>
            <a:pPr indent="0" marL="0">
              <a:buNone/>
            </a:pPr>
            <a:r>
              <a:rPr lang="en-US" sz="2100" b="1" dirty="0">
                <a:solidFill>
                  <a:srgbClr val="FF9F1C"/>
                </a:solidFill>
                <a:latin typeface="Consolas" pitchFamily="34" charset="0"/>
                <a:ea typeface="Consolas" pitchFamily="34" charset="-122"/>
                <a:cs typeface="Consolas" pitchFamily="34" charset="-120"/>
              </a:rPr>
              <a:t>→ "12,34,567"</a:t>
            </a:r>
            <a:endParaRPr lang="en-US" sz="2100" dirty="0"/>
          </a:p>
        </p:txBody>
      </p:sp>
      <p:sp>
        <p:nvSpPr>
          <p:cNvPr id="17" name="!!tasknote"/>
          <p:cNvSpPr txBox="1"/>
          <p:nvPr/>
        </p:nvSpPr>
        <p:spPr>
          <a:xfrm>
            <a:off x="804672" y="3346704"/>
            <a:ext cx="3566160" cy="320040"/>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Every prompt also says: reply with only the code.</a:t>
            </a:r>
            <a:endParaRPr lang="en-US" sz="1150" dirty="0"/>
          </a:p>
        </p:txBody>
      </p:sp>
      <p:sp>
        <p:nvSpPr>
          <p:cNvPr id="18" name="!!capcard"/>
          <p:cNvSpPr/>
          <p:nvPr/>
        </p:nvSpPr>
        <p:spPr>
          <a:xfrm>
            <a:off x="548640" y="4023360"/>
            <a:ext cx="3977640" cy="2240280"/>
          </a:xfrm>
          <a:prstGeom prst="roundRect">
            <a:avLst>
              <a:gd name="adj" fmla="val 571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9" name="!!capstep"/>
          <p:cNvSpPr txBox="1"/>
          <p:nvPr/>
        </p:nvSpPr>
        <p:spPr>
          <a:xfrm>
            <a:off x="804672" y="4206240"/>
            <a:ext cx="1371600" cy="274320"/>
          </a:xfrm>
          <a:prstGeom prst="rect">
            <a:avLst/>
          </a:prstGeom>
          <a:noFill/>
          <a:ln/>
        </p:spPr>
        <p:txBody>
          <a:bodyPr wrap="square" lIns="0" tIns="0" rIns="0" bIns="0" rtlCol="0" anchor="t"/>
          <a:lstStyle/>
          <a:p>
            <a:pPr indent="0" marL="0">
              <a:buNone/>
            </a:pPr>
            <a:r>
              <a:rPr lang="en-US" sz="1200" b="1" dirty="0">
                <a:solidFill>
                  <a:srgbClr val="FF9F1C"/>
                </a:solidFill>
                <a:latin typeface="Consolas" pitchFamily="34" charset="0"/>
                <a:ea typeface="Consolas" pitchFamily="34" charset="-122"/>
                <a:cs typeface="Consolas" pitchFamily="34" charset="-120"/>
              </a:rPr>
              <a:t>4 / 4</a:t>
            </a:r>
            <a:endParaRPr lang="en-US" sz="1200" dirty="0"/>
          </a:p>
        </p:txBody>
      </p:sp>
      <p:sp>
        <p:nvSpPr>
          <p:cNvPr id="20" name="!!caption"/>
          <p:cNvSpPr txBox="1"/>
          <p:nvPr/>
        </p:nvSpPr>
        <p:spPr>
          <a:xfrm>
            <a:off x="804672" y="4526280"/>
            <a:ext cx="3520440" cy="777240"/>
          </a:xfrm>
          <a:prstGeom prst="rect">
            <a:avLst/>
          </a:prstGeom>
          <a:noFill/>
          <a:ln/>
        </p:spPr>
        <p:txBody>
          <a:bodyPr wrap="square" lIns="0" tIns="0" rIns="0" bIns="0" rtlCol="0" anchor="t"/>
          <a:lstStyle/>
          <a:p>
            <a:pPr indent="0" marL="0">
              <a:buNone/>
            </a:pPr>
            <a:r>
              <a:rPr lang="en-US" sz="1800" b="1" dirty="0">
                <a:solidFill>
                  <a:srgbClr val="F2EFFF"/>
                </a:solidFill>
                <a:latin typeface="Segoe UI" pitchFamily="34" charset="0"/>
                <a:ea typeface="Segoe UI" pitchFamily="34" charset="-122"/>
                <a:cs typeface="Segoe UI" pitchFamily="34" charset="-120"/>
              </a:rPr>
              <a:t>Kanglish: both GPT-OSS models stop obeying.</a:t>
            </a:r>
            <a:endParaRPr lang="en-US" sz="1800" dirty="0"/>
          </a:p>
        </p:txBody>
      </p:sp>
      <p:sp>
        <p:nvSpPr>
          <p:cNvPr id="21" name="!!capsub"/>
          <p:cNvSpPr txBox="1"/>
          <p:nvPr/>
        </p:nvSpPr>
        <p:spPr>
          <a:xfrm>
            <a:off x="804672" y="5349240"/>
            <a:ext cx="3520440" cy="82296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Asked for “bari code kodu” (only code), they wrote long explanations instead.</a:t>
            </a:r>
            <a:endParaRPr lang="en-US" sz="1200" dirty="0"/>
          </a:p>
        </p:txBody>
      </p:sp>
      <p:sp>
        <p:nvSpPr>
          <p:cNvPr id="22" name="!!panel"/>
          <p:cNvSpPr/>
          <p:nvPr/>
        </p:nvSpPr>
        <p:spPr>
          <a:xfrm>
            <a:off x="4754880" y="2011680"/>
            <a:ext cx="6976872" cy="4251960"/>
          </a:xfrm>
          <a:prstGeom prst="roundRect">
            <a:avLst>
              <a:gd name="adj" fmla="val 3011"/>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3" name="!!plabel"/>
          <p:cNvSpPr txBox="1"/>
          <p:nvPr/>
        </p:nvSpPr>
        <p:spPr>
          <a:xfrm>
            <a:off x="5029200" y="2176272"/>
            <a:ext cx="2743200" cy="201168"/>
          </a:xfrm>
          <a:prstGeom prst="rect">
            <a:avLst/>
          </a:prstGeom>
          <a:noFill/>
          <a:ln/>
        </p:spPr>
        <p:txBody>
          <a:bodyPr wrap="square" lIns="0" tIns="0" rIns="0" bIns="0" rtlCol="0" anchor="t"/>
          <a:lstStyle/>
          <a:p>
            <a:pPr indent="0" marL="0">
              <a:buNone/>
            </a:pPr>
            <a:r>
              <a:rPr lang="en-US" sz="950" b="1" spc="100" kern="0" dirty="0">
                <a:solidFill>
                  <a:srgbClr val="6F6A99"/>
                </a:solidFill>
                <a:latin typeface="Consolas" pitchFamily="34" charset="0"/>
                <a:ea typeface="Consolas" pitchFamily="34" charset="-122"/>
                <a:cs typeface="Consolas" pitchFamily="34" charset="-120"/>
              </a:rPr>
              <a:t>THE PROMPT</a:t>
            </a:r>
            <a:endParaRPr lang="en-US" sz="950" dirty="0"/>
          </a:p>
        </p:txBody>
      </p:sp>
      <p:sp>
        <p:nvSpPr>
          <p:cNvPr id="24" name="!!pver"/>
          <p:cNvSpPr txBox="1"/>
          <p:nvPr/>
        </p:nvSpPr>
        <p:spPr>
          <a:xfrm>
            <a:off x="8229600" y="2176272"/>
            <a:ext cx="3246120" cy="201168"/>
          </a:xfrm>
          <a:prstGeom prst="rect">
            <a:avLst/>
          </a:prstGeom>
          <a:noFill/>
          <a:ln/>
        </p:spPr>
        <p:txBody>
          <a:bodyPr wrap="square" lIns="0" tIns="0" rIns="0" bIns="0" rtlCol="0" anchor="t"/>
          <a:lstStyle/>
          <a:p>
            <a:pPr algn="r" indent="0" marL="0">
              <a:buNone/>
            </a:pPr>
            <a:r>
              <a:rPr lang="en-US" sz="950" b="1" spc="100" kern="0" dirty="0">
                <a:solidFill>
                  <a:srgbClr val="E87BA4"/>
                </a:solidFill>
                <a:latin typeface="Consolas" pitchFamily="34" charset="0"/>
                <a:ea typeface="Consolas" pitchFamily="34" charset="-122"/>
                <a:cs typeface="Consolas" pitchFamily="34" charset="-120"/>
              </a:rPr>
              <a:t>KANGLISH, CASUAL</a:t>
            </a:r>
            <a:endParaRPr lang="en-US" sz="950" dirty="0"/>
          </a:p>
        </p:txBody>
      </p:sp>
      <p:sp>
        <p:nvSpPr>
          <p:cNvPr id="25" name="!!promptbox"/>
          <p:cNvSpPr/>
          <p:nvPr/>
        </p:nvSpPr>
        <p:spPr>
          <a:xfrm>
            <a:off x="5029200" y="2450592"/>
            <a:ext cx="6428232" cy="1627632"/>
          </a:xfrm>
          <a:prstGeom prst="roundRect">
            <a:avLst>
              <a:gd name="adj" fmla="val 5618"/>
            </a:avLst>
          </a:prstGeom>
          <a:solidFill>
            <a:srgbClr val="0B0918"/>
          </a:solidFill>
          <a:ln w="12700">
            <a:solidFill>
              <a:srgbClr val="2E2759"/>
            </a:solidFill>
            <a:prstDash val="solid"/>
          </a:ln>
        </p:spPr>
      </p:sp>
      <p:sp>
        <p:nvSpPr>
          <p:cNvPr id="26" name="!!prompt"/>
          <p:cNvSpPr txBox="1"/>
          <p:nvPr/>
        </p:nvSpPr>
        <p:spPr>
          <a:xfrm>
            <a:off x="5212080" y="2560320"/>
            <a:ext cx="6080760" cy="1463040"/>
          </a:xfrm>
          <a:prstGeom prst="rect">
            <a:avLst/>
          </a:prstGeom>
          <a:noFill/>
          <a:ln/>
        </p:spPr>
        <p:txBody>
          <a:bodyPr wrap="square" lIns="0" tIns="0" rIns="0" bIns="0" rtlCol="0" anchor="ctr"/>
          <a:lstStyle/>
          <a:p>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guru </a:t>
            </a:r>
            <a:pPr indent="0" marL="0">
              <a:lnSpc>
                <a:spcPct val="105000"/>
              </a:lnSpc>
              <a:buNone/>
            </a:pPr>
            <a:r>
              <a:rPr lang="en-US" sz="1250" dirty="0">
                <a:solidFill>
                  <a:srgbClr val="C9C2FF"/>
                </a:solidFill>
                <a:latin typeface="Consolas" pitchFamily="34" charset="0"/>
                <a:ea typeface="Consolas" pitchFamily="34" charset="-122"/>
                <a:cs typeface="Consolas" pitchFamily="34" charset="-120"/>
              </a:rPr>
              <a:t>indian_format </a:t>
            </a:r>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antha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python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fn </a:t>
            </a:r>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maadu,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non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negative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number </a:t>
            </a:r>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tagondu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indian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style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commas </a:t>
            </a:r>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haaki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string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return </a:t>
            </a:r>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maadbeku, </a:t>
            </a:r>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koneya </a:t>
            </a:r>
            <a:pPr indent="0" marL="0">
              <a:lnSpc>
                <a:spcPct val="105000"/>
              </a:lnSpc>
              <a:buNone/>
            </a:pPr>
            <a:r>
              <a:rPr lang="en-US" sz="1250" dirty="0">
                <a:solidFill>
                  <a:srgbClr val="C9C2FF"/>
                </a:solidFill>
                <a:latin typeface="Consolas" pitchFamily="34" charset="0"/>
                <a:ea typeface="Consolas" pitchFamily="34" charset="-122"/>
                <a:cs typeface="Consolas" pitchFamily="34" charset="-120"/>
              </a:rPr>
              <a:t>3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digits </a:t>
            </a:r>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ondu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group </a:t>
            </a:r>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aamele </a:t>
            </a:r>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adara </a:t>
            </a:r>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munche </a:t>
            </a:r>
            <a:pPr indent="0" marL="0">
              <a:lnSpc>
                <a:spcPct val="105000"/>
              </a:lnSpc>
              <a:buNone/>
            </a:pPr>
            <a:r>
              <a:rPr lang="en-US" sz="1250" dirty="0">
                <a:solidFill>
                  <a:srgbClr val="C9C2FF"/>
                </a:solidFill>
                <a:latin typeface="Consolas" pitchFamily="34" charset="0"/>
                <a:ea typeface="Consolas" pitchFamily="34" charset="-122"/>
                <a:cs typeface="Consolas" pitchFamily="34" charset="-120"/>
              </a:rPr>
              <a:t>2-2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digits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group, </a:t>
            </a:r>
            <a:pPr indent="0" marL="0">
              <a:lnSpc>
                <a:spcPct val="105000"/>
              </a:lnSpc>
              <a:buNone/>
            </a:pPr>
            <a:r>
              <a:rPr lang="en-US" sz="1250" dirty="0">
                <a:solidFill>
                  <a:srgbClr val="C9C2FF"/>
                </a:solidFill>
                <a:latin typeface="Consolas" pitchFamily="34" charset="0"/>
                <a:ea typeface="Consolas" pitchFamily="34" charset="-122"/>
                <a:cs typeface="Consolas" pitchFamily="34" charset="-120"/>
              </a:rPr>
              <a:t>1000 </a:t>
            </a:r>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kinta </a:t>
            </a:r>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kammi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number </a:t>
            </a:r>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ge </a:t>
            </a:r>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comma </a:t>
            </a:r>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beda. </a:t>
            </a:r>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bari </a:t>
            </a:r>
            <a:pPr indent="0" marL="0">
              <a:lnSpc>
                <a:spcPct val="105000"/>
              </a:lnSpc>
              <a:buNone/>
            </a:pPr>
            <a:r>
              <a:rPr lang="en-US" sz="1350" dirty="0">
                <a:solidFill>
                  <a:srgbClr val="F2EFFF"/>
                </a:solidFill>
                <a:latin typeface="Segoe UI" pitchFamily="34" charset="0"/>
                <a:ea typeface="Segoe UI" pitchFamily="34" charset="-122"/>
                <a:cs typeface="Segoe UI" pitchFamily="34" charset="-120"/>
              </a:rPr>
              <a:t>code </a:t>
            </a:r>
            <a:pPr indent="0" marL="0">
              <a:lnSpc>
                <a:spcPct val="105000"/>
              </a:lnSpc>
              <a:buNone/>
            </a:pPr>
            <a:r>
              <a:rPr lang="en-US" sz="1350" b="1" dirty="0">
                <a:solidFill>
                  <a:srgbClr val="E87BA4"/>
                </a:solidFill>
                <a:latin typeface="Segoe UI" pitchFamily="34" charset="0"/>
                <a:ea typeface="Segoe UI" pitchFamily="34" charset="-122"/>
                <a:cs typeface="Segoe UI" pitchFamily="34" charset="-120"/>
              </a:rPr>
              <a:t>kodu</a:t>
            </a:r>
            <a:endParaRPr lang="en-US" sz="1400" dirty="0"/>
          </a:p>
        </p:txBody>
      </p:sp>
      <p:sp>
        <p:nvSpPr>
          <p:cNvPr id="27" name="!!legEnglish"/>
          <p:cNvSpPr/>
          <p:nvPr/>
        </p:nvSpPr>
        <p:spPr>
          <a:xfrm>
            <a:off x="5029200" y="4224528"/>
            <a:ext cx="109728" cy="109728"/>
          </a:xfrm>
          <a:prstGeom prst="ellipse">
            <a:avLst/>
          </a:prstGeom>
          <a:solidFill>
            <a:srgbClr val="F2EFFF"/>
          </a:solidFill>
          <a:ln/>
        </p:spPr>
      </p:sp>
      <p:sp>
        <p:nvSpPr>
          <p:cNvPr id="28" name="!!legtEnglish"/>
          <p:cNvSpPr txBox="1"/>
          <p:nvPr/>
        </p:nvSpPr>
        <p:spPr>
          <a:xfrm>
            <a:off x="5184648"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English</a:t>
            </a:r>
            <a:endParaRPr lang="en-US" sz="1000" dirty="0"/>
          </a:p>
        </p:txBody>
      </p:sp>
      <p:sp>
        <p:nvSpPr>
          <p:cNvPr id="29" name="!!legHindi"/>
          <p:cNvSpPr/>
          <p:nvPr/>
        </p:nvSpPr>
        <p:spPr>
          <a:xfrm>
            <a:off x="5801868" y="4224528"/>
            <a:ext cx="109728" cy="109728"/>
          </a:xfrm>
          <a:prstGeom prst="ellipse">
            <a:avLst/>
          </a:prstGeom>
          <a:solidFill>
            <a:srgbClr val="FF9F1C"/>
          </a:solidFill>
          <a:ln/>
        </p:spPr>
      </p:sp>
      <p:sp>
        <p:nvSpPr>
          <p:cNvPr id="30" name="!!legtHindi"/>
          <p:cNvSpPr txBox="1"/>
          <p:nvPr/>
        </p:nvSpPr>
        <p:spPr>
          <a:xfrm>
            <a:off x="5957316"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Hindi</a:t>
            </a:r>
            <a:endParaRPr lang="en-US" sz="1000" dirty="0"/>
          </a:p>
        </p:txBody>
      </p:sp>
      <p:sp>
        <p:nvSpPr>
          <p:cNvPr id="31" name="!!legBengali"/>
          <p:cNvSpPr/>
          <p:nvPr/>
        </p:nvSpPr>
        <p:spPr>
          <a:xfrm>
            <a:off x="6437376" y="4224528"/>
            <a:ext cx="109728" cy="109728"/>
          </a:xfrm>
          <a:prstGeom prst="ellipse">
            <a:avLst/>
          </a:prstGeom>
          <a:solidFill>
            <a:srgbClr val="4CC9F0"/>
          </a:solidFill>
          <a:ln/>
        </p:spPr>
      </p:sp>
      <p:sp>
        <p:nvSpPr>
          <p:cNvPr id="32" name="!!legtBengali"/>
          <p:cNvSpPr txBox="1"/>
          <p:nvPr/>
        </p:nvSpPr>
        <p:spPr>
          <a:xfrm>
            <a:off x="6592824"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Bengali</a:t>
            </a:r>
            <a:endParaRPr lang="en-US" sz="1000" dirty="0"/>
          </a:p>
        </p:txBody>
      </p:sp>
      <p:sp>
        <p:nvSpPr>
          <p:cNvPr id="33" name="!!legKannada"/>
          <p:cNvSpPr/>
          <p:nvPr/>
        </p:nvSpPr>
        <p:spPr>
          <a:xfrm>
            <a:off x="7210044" y="4224528"/>
            <a:ext cx="109728" cy="109728"/>
          </a:xfrm>
          <a:prstGeom prst="ellipse">
            <a:avLst/>
          </a:prstGeom>
          <a:solidFill>
            <a:srgbClr val="E87BA4"/>
          </a:solidFill>
          <a:ln/>
        </p:spPr>
      </p:sp>
      <p:sp>
        <p:nvSpPr>
          <p:cNvPr id="34" name="!!legtKannada"/>
          <p:cNvSpPr txBox="1"/>
          <p:nvPr/>
        </p:nvSpPr>
        <p:spPr>
          <a:xfrm>
            <a:off x="7365492"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Kannada</a:t>
            </a:r>
            <a:endParaRPr lang="en-US" sz="1000" dirty="0"/>
          </a:p>
        </p:txBody>
      </p:sp>
      <p:sp>
        <p:nvSpPr>
          <p:cNvPr id="35" name="!!legfunction names"/>
          <p:cNvSpPr/>
          <p:nvPr/>
        </p:nvSpPr>
        <p:spPr>
          <a:xfrm>
            <a:off x="7982712" y="4224528"/>
            <a:ext cx="109728" cy="109728"/>
          </a:xfrm>
          <a:prstGeom prst="ellipse">
            <a:avLst/>
          </a:prstGeom>
          <a:solidFill>
            <a:srgbClr val="C9C2FF"/>
          </a:solidFill>
          <a:ln/>
        </p:spPr>
      </p:sp>
      <p:sp>
        <p:nvSpPr>
          <p:cNvPr id="36" name="!!legtfunction names"/>
          <p:cNvSpPr txBox="1"/>
          <p:nvPr/>
        </p:nvSpPr>
        <p:spPr>
          <a:xfrm>
            <a:off x="8138160" y="4169664"/>
            <a:ext cx="1280160" cy="21945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function names</a:t>
            </a:r>
            <a:endParaRPr lang="en-US" sz="1000" dirty="0"/>
          </a:p>
        </p:txBody>
      </p:sp>
      <p:sp>
        <p:nvSpPr>
          <p:cNvPr id="37" name="!!meterlabel"/>
          <p:cNvSpPr txBox="1"/>
          <p:nvPr/>
        </p:nvSpPr>
        <p:spPr>
          <a:xfrm>
            <a:off x="5029200" y="4498848"/>
            <a:ext cx="2743200" cy="292608"/>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53%</a:t>
            </a:r>
            <a:pPr indent="0" marL="0">
              <a:buNone/>
            </a:pPr>
            <a:r>
              <a:rPr lang="en-US" sz="1100" dirty="0">
                <a:solidFill>
                  <a:srgbClr val="A9A3CF"/>
                </a:solidFill>
                <a:latin typeface="Segoe UI" pitchFamily="34" charset="0"/>
                <a:ea typeface="Segoe UI" pitchFamily="34" charset="-122"/>
                <a:cs typeface="Segoe UI" pitchFamily="34" charset="-120"/>
              </a:rPr>
              <a:t>  of words not in English</a:t>
            </a:r>
            <a:endParaRPr lang="en-US" sz="1400" dirty="0"/>
          </a:p>
        </p:txBody>
      </p:sp>
      <p:sp>
        <p:nvSpPr>
          <p:cNvPr id="38" name="!!metertrack"/>
          <p:cNvSpPr/>
          <p:nvPr/>
        </p:nvSpPr>
        <p:spPr>
          <a:xfrm>
            <a:off x="7863840" y="4590288"/>
            <a:ext cx="3593592" cy="118872"/>
          </a:xfrm>
          <a:prstGeom prst="roundRect">
            <a:avLst>
              <a:gd name="adj" fmla="val 46154"/>
            </a:avLst>
          </a:prstGeom>
          <a:solidFill>
            <a:srgbClr val="211B42"/>
          </a:solidFill>
          <a:ln/>
        </p:spPr>
      </p:sp>
      <p:sp>
        <p:nvSpPr>
          <p:cNvPr id="39" name="!!meterfill"/>
          <p:cNvSpPr/>
          <p:nvPr/>
        </p:nvSpPr>
        <p:spPr>
          <a:xfrm>
            <a:off x="7863840" y="4590288"/>
            <a:ext cx="1902490" cy="118872"/>
          </a:xfrm>
          <a:prstGeom prst="roundRect">
            <a:avLst>
              <a:gd name="adj" fmla="val 46154"/>
            </a:avLst>
          </a:prstGeom>
          <a:solidFill>
            <a:srgbClr val="FF9F1C"/>
          </a:solidFill>
          <a:ln/>
        </p:spPr>
      </p:sp>
      <p:sp>
        <p:nvSpPr>
          <p:cNvPr id="40" name="!!track"/>
          <p:cNvSpPr/>
          <p:nvPr/>
        </p:nvSpPr>
        <p:spPr>
          <a:xfrm>
            <a:off x="5349240" y="4937760"/>
            <a:ext cx="5788152" cy="64008"/>
          </a:xfrm>
          <a:prstGeom prst="roundRect">
            <a:avLst>
              <a:gd name="adj" fmla="val 42857"/>
            </a:avLst>
          </a:prstGeom>
          <a:solidFill>
            <a:srgbClr val="9B8CFF">
              <a:alpha val="55000"/>
            </a:srgbClr>
          </a:solidFill>
          <a:ln/>
        </p:spPr>
      </p:sp>
      <p:sp>
        <p:nvSpPr>
          <p:cNvPr id="41" name="!!stop0"/>
          <p:cNvSpPr/>
          <p:nvPr/>
        </p:nvSpPr>
        <p:spPr>
          <a:xfrm>
            <a:off x="5294376" y="4914900"/>
            <a:ext cx="109728" cy="109728"/>
          </a:xfrm>
          <a:prstGeom prst="ellipse">
            <a:avLst/>
          </a:prstGeom>
          <a:solidFill>
            <a:srgbClr val="FF9F1C"/>
          </a:solidFill>
          <a:ln/>
        </p:spPr>
      </p:sp>
      <p:sp>
        <p:nvSpPr>
          <p:cNvPr id="42" name="!!stopl0"/>
          <p:cNvSpPr txBox="1"/>
          <p:nvPr/>
        </p:nvSpPr>
        <p:spPr>
          <a:xfrm>
            <a:off x="4709160" y="5157216"/>
            <a:ext cx="1280160" cy="219456"/>
          </a:xfrm>
          <a:prstGeom prst="rect">
            <a:avLst/>
          </a:prstGeom>
          <a:noFill/>
          <a:ln/>
        </p:spPr>
        <p:txBody>
          <a:bodyPr wrap="square" lIns="0" tIns="0" rIns="0" bIns="0" rtlCol="0" anchor="t"/>
          <a:lstStyle/>
          <a:p>
            <a:pPr algn="ctr" indent="0" marL="0">
              <a:buNone/>
            </a:pPr>
            <a:r>
              <a:rPr lang="en-US" sz="1050" dirty="0">
                <a:solidFill>
                  <a:srgbClr val="6F6A99"/>
                </a:solidFill>
                <a:latin typeface="Segoe UI" pitchFamily="34" charset="0"/>
                <a:ea typeface="Segoe UI" pitchFamily="34" charset="-122"/>
                <a:cs typeface="Segoe UI" pitchFamily="34" charset="-120"/>
              </a:rPr>
              <a:t>English</a:t>
            </a:r>
            <a:endParaRPr lang="en-US" sz="1050" dirty="0"/>
          </a:p>
        </p:txBody>
      </p:sp>
      <p:sp>
        <p:nvSpPr>
          <p:cNvPr id="43" name="!!stop1"/>
          <p:cNvSpPr/>
          <p:nvPr/>
        </p:nvSpPr>
        <p:spPr>
          <a:xfrm>
            <a:off x="7223760" y="4914900"/>
            <a:ext cx="109728" cy="109728"/>
          </a:xfrm>
          <a:prstGeom prst="ellipse">
            <a:avLst/>
          </a:prstGeom>
          <a:solidFill>
            <a:srgbClr val="FF9F1C"/>
          </a:solidFill>
          <a:ln/>
        </p:spPr>
      </p:sp>
      <p:sp>
        <p:nvSpPr>
          <p:cNvPr id="44" name="!!stopl1"/>
          <p:cNvSpPr txBox="1"/>
          <p:nvPr/>
        </p:nvSpPr>
        <p:spPr>
          <a:xfrm>
            <a:off x="6638544" y="5157216"/>
            <a:ext cx="1280160" cy="219456"/>
          </a:xfrm>
          <a:prstGeom prst="rect">
            <a:avLst/>
          </a:prstGeom>
          <a:noFill/>
          <a:ln/>
        </p:spPr>
        <p:txBody>
          <a:bodyPr wrap="square" lIns="0" tIns="0" rIns="0" bIns="0" rtlCol="0" anchor="t"/>
          <a:lstStyle/>
          <a:p>
            <a:pPr algn="ctr" indent="0" marL="0">
              <a:buNone/>
            </a:pPr>
            <a:r>
              <a:rPr lang="en-US" sz="1050" dirty="0">
                <a:solidFill>
                  <a:srgbClr val="6F6A99"/>
                </a:solidFill>
                <a:latin typeface="Segoe UI" pitchFamily="34" charset="0"/>
                <a:ea typeface="Segoe UI" pitchFamily="34" charset="-122"/>
                <a:cs typeface="Segoe UI" pitchFamily="34" charset="-120"/>
              </a:rPr>
              <a:t>Hinglish</a:t>
            </a:r>
            <a:endParaRPr lang="en-US" sz="1050" dirty="0"/>
          </a:p>
        </p:txBody>
      </p:sp>
      <p:sp>
        <p:nvSpPr>
          <p:cNvPr id="45" name="!!stop2"/>
          <p:cNvSpPr/>
          <p:nvPr/>
        </p:nvSpPr>
        <p:spPr>
          <a:xfrm>
            <a:off x="9153144" y="4914900"/>
            <a:ext cx="109728" cy="109728"/>
          </a:xfrm>
          <a:prstGeom prst="ellipse">
            <a:avLst/>
          </a:prstGeom>
          <a:solidFill>
            <a:srgbClr val="FF9F1C"/>
          </a:solidFill>
          <a:ln/>
        </p:spPr>
      </p:sp>
      <p:sp>
        <p:nvSpPr>
          <p:cNvPr id="46" name="!!stopl2"/>
          <p:cNvSpPr txBox="1"/>
          <p:nvPr/>
        </p:nvSpPr>
        <p:spPr>
          <a:xfrm>
            <a:off x="8567928" y="5157216"/>
            <a:ext cx="1280160" cy="219456"/>
          </a:xfrm>
          <a:prstGeom prst="rect">
            <a:avLst/>
          </a:prstGeom>
          <a:noFill/>
          <a:ln/>
        </p:spPr>
        <p:txBody>
          <a:bodyPr wrap="square" lIns="0" tIns="0" rIns="0" bIns="0" rtlCol="0" anchor="t"/>
          <a:lstStyle/>
          <a:p>
            <a:pPr algn="ctr" indent="0" marL="0">
              <a:buNone/>
            </a:pPr>
            <a:r>
              <a:rPr lang="en-US" sz="1050" dirty="0">
                <a:solidFill>
                  <a:srgbClr val="6F6A99"/>
                </a:solidFill>
                <a:latin typeface="Segoe UI" pitchFamily="34" charset="0"/>
                <a:ea typeface="Segoe UI" pitchFamily="34" charset="-122"/>
                <a:cs typeface="Segoe UI" pitchFamily="34" charset="-120"/>
              </a:rPr>
              <a:t>Benglish</a:t>
            </a:r>
            <a:endParaRPr lang="en-US" sz="1050" dirty="0"/>
          </a:p>
        </p:txBody>
      </p:sp>
      <p:sp>
        <p:nvSpPr>
          <p:cNvPr id="47" name="!!stop3"/>
          <p:cNvSpPr/>
          <p:nvPr/>
        </p:nvSpPr>
        <p:spPr>
          <a:xfrm>
            <a:off x="11082528" y="4914900"/>
            <a:ext cx="109728" cy="109728"/>
          </a:xfrm>
          <a:prstGeom prst="ellipse">
            <a:avLst/>
          </a:prstGeom>
          <a:solidFill>
            <a:srgbClr val="FF9F1C"/>
          </a:solidFill>
          <a:ln/>
        </p:spPr>
      </p:sp>
      <p:sp>
        <p:nvSpPr>
          <p:cNvPr id="48" name="!!stopl3"/>
          <p:cNvSpPr txBox="1"/>
          <p:nvPr/>
        </p:nvSpPr>
        <p:spPr>
          <a:xfrm>
            <a:off x="10497312" y="5157216"/>
            <a:ext cx="1280160" cy="219456"/>
          </a:xfrm>
          <a:prstGeom prst="rect">
            <a:avLst/>
          </a:prstGeom>
          <a:noFill/>
          <a:ln/>
        </p:spPr>
        <p:txBody>
          <a:bodyPr wrap="square" lIns="0" tIns="0" rIns="0" bIns="0" rtlCol="0" anchor="t"/>
          <a:lstStyle/>
          <a:p>
            <a:pPr algn="ctr" indent="0" marL="0">
              <a:buNone/>
            </a:pPr>
            <a:r>
              <a:rPr lang="en-US" sz="1050" b="1" dirty="0">
                <a:solidFill>
                  <a:srgbClr val="F2EFFF"/>
                </a:solidFill>
                <a:latin typeface="Segoe UI" pitchFamily="34" charset="0"/>
                <a:ea typeface="Segoe UI" pitchFamily="34" charset="-122"/>
                <a:cs typeface="Segoe UI" pitchFamily="34" charset="-120"/>
              </a:rPr>
              <a:t>Kanglish</a:t>
            </a:r>
            <a:endParaRPr lang="en-US" sz="1050" dirty="0"/>
          </a:p>
        </p:txBody>
      </p:sp>
      <p:pic>
        <p:nvPicPr>
          <p:cNvPr id="49" name="!!knobglow" descr="/tmp/claude-0/-home-claude/cf1b82dd-723a-5c0d-b3ee-f6062e85aabe/scratchpad/nd/glow_a.png">    </p:cNvPr>
          <p:cNvPicPr>
            <a:picLocks noChangeAspect="1"/>
          </p:cNvPicPr>
          <p:nvPr/>
        </p:nvPicPr>
        <p:blipFill>
          <a:blip r:embed="rId8"/>
          <a:stretch>
            <a:fillRect/>
          </a:stretch>
        </p:blipFill>
        <p:spPr>
          <a:xfrm>
            <a:off x="10680192" y="4507992"/>
            <a:ext cx="914400" cy="914400"/>
          </a:xfrm>
          <a:prstGeom prst="rect">
            <a:avLst/>
          </a:prstGeom>
        </p:spPr>
      </p:pic>
      <p:sp>
        <p:nvSpPr>
          <p:cNvPr id="50" name="!!knob"/>
          <p:cNvSpPr/>
          <p:nvPr/>
        </p:nvSpPr>
        <p:spPr>
          <a:xfrm>
            <a:off x="10981944" y="4814316"/>
            <a:ext cx="310896" cy="310896"/>
          </a:xfrm>
          <a:prstGeom prst="ellipse">
            <a:avLst/>
          </a:prstGeom>
          <a:solidFill>
            <a:srgbClr val="FF9F1C"/>
          </a:solidFill>
          <a:ln w="31750">
            <a:solidFill>
              <a:srgbClr val="FFFFFF"/>
            </a:solidFill>
            <a:prstDash val="solid"/>
          </a:ln>
        </p:spPr>
      </p:sp>
      <p:sp>
        <p:nvSpPr>
          <p:cNvPr id="51" name="!!light0"/>
          <p:cNvSpPr/>
          <p:nvPr/>
        </p:nvSpPr>
        <p:spPr>
          <a:xfrm>
            <a:off x="5029200" y="5486400"/>
            <a:ext cx="2057400" cy="621792"/>
          </a:xfrm>
          <a:prstGeom prst="roundRect">
            <a:avLst>
              <a:gd name="adj" fmla="val 14706"/>
            </a:avLst>
          </a:prstGeom>
          <a:solidFill>
            <a:srgbClr val="0B0918"/>
          </a:solidFill>
          <a:ln w="12700">
            <a:solidFill>
              <a:srgbClr val="2E2759"/>
            </a:solidFill>
            <a:prstDash val="solid"/>
          </a:ln>
        </p:spPr>
      </p:sp>
      <p:sp>
        <p:nvSpPr>
          <p:cNvPr id="52" name="!!dot0"/>
          <p:cNvSpPr/>
          <p:nvPr/>
        </p:nvSpPr>
        <p:spPr>
          <a:xfrm>
            <a:off x="5184648" y="5715000"/>
            <a:ext cx="164592" cy="164592"/>
          </a:xfrm>
          <a:prstGeom prst="ellipse">
            <a:avLst/>
          </a:prstGeom>
          <a:solidFill>
            <a:srgbClr val="2BD9A0"/>
          </a:solidFill>
          <a:ln/>
        </p:spPr>
      </p:sp>
      <p:sp>
        <p:nvSpPr>
          <p:cNvPr id="53" name="!!mname0"/>
          <p:cNvSpPr txBox="1"/>
          <p:nvPr/>
        </p:nvSpPr>
        <p:spPr>
          <a:xfrm>
            <a:off x="5458968" y="5550408"/>
            <a:ext cx="1572768" cy="237744"/>
          </a:xfrm>
          <a:prstGeom prst="rect">
            <a:avLst/>
          </a:prstGeom>
          <a:noFill/>
          <a:ln/>
        </p:spPr>
        <p:txBody>
          <a:bodyPr wrap="square" lIns="0" tIns="0" rIns="0" bIns="0" rtlCol="0" anchor="t"/>
          <a:lstStyle/>
          <a:p>
            <a:pPr indent="0" marL="0">
              <a:buNone/>
            </a:pPr>
            <a:r>
              <a:rPr lang="en-US" sz="1150" b="1" dirty="0">
                <a:solidFill>
                  <a:srgbClr val="F2EFFF"/>
                </a:solidFill>
                <a:latin typeface="Segoe UI" pitchFamily="34" charset="0"/>
                <a:ea typeface="Segoe UI" pitchFamily="34" charset="-122"/>
                <a:cs typeface="Segoe UI" pitchFamily="34" charset="-120"/>
              </a:rPr>
              <a:t>Gemini</a:t>
            </a:r>
            <a:endParaRPr lang="en-US" sz="1150" dirty="0"/>
          </a:p>
        </p:txBody>
      </p:sp>
      <p:sp>
        <p:nvSpPr>
          <p:cNvPr id="54" name="!!mstat0"/>
          <p:cNvSpPr txBox="1"/>
          <p:nvPr/>
        </p:nvSpPr>
        <p:spPr>
          <a:xfrm>
            <a:off x="5458968" y="5788152"/>
            <a:ext cx="1600200" cy="274320"/>
          </a:xfrm>
          <a:prstGeom prst="rect">
            <a:avLst/>
          </a:prstGeom>
          <a:noFill/>
          <a:ln/>
        </p:spPr>
        <p:txBody>
          <a:bodyPr wrap="square" lIns="0" tIns="0" rIns="0" bIns="0" rtlCol="0" anchor="t"/>
          <a:lstStyle/>
          <a:p>
            <a:pPr indent="0" marL="0">
              <a:buNone/>
            </a:pPr>
            <a:r>
              <a:rPr lang="en-US" sz="950" dirty="0">
                <a:solidFill>
                  <a:srgbClr val="A9A3CF"/>
                </a:solidFill>
                <a:latin typeface="Segoe UI" pitchFamily="34" charset="0"/>
                <a:ea typeface="Segoe UI" pitchFamily="34" charset="-122"/>
                <a:cs typeface="Segoe UI" pitchFamily="34" charset="-120"/>
              </a:rPr>
              <a:t>Passed 6 of 6</a:t>
            </a:r>
            <a:endParaRPr lang="en-US" sz="950" dirty="0"/>
          </a:p>
        </p:txBody>
      </p:sp>
      <p:sp>
        <p:nvSpPr>
          <p:cNvPr id="55" name="!!light1"/>
          <p:cNvSpPr/>
          <p:nvPr/>
        </p:nvSpPr>
        <p:spPr>
          <a:xfrm>
            <a:off x="7214616" y="5486400"/>
            <a:ext cx="2057400" cy="621792"/>
          </a:xfrm>
          <a:prstGeom prst="roundRect">
            <a:avLst>
              <a:gd name="adj" fmla="val 14706"/>
            </a:avLst>
          </a:prstGeom>
          <a:solidFill>
            <a:srgbClr val="0B0918"/>
          </a:solidFill>
          <a:ln w="12700">
            <a:solidFill>
              <a:srgbClr val="FF5C7A"/>
            </a:solidFill>
            <a:prstDash val="solid"/>
          </a:ln>
        </p:spPr>
      </p:sp>
      <p:sp>
        <p:nvSpPr>
          <p:cNvPr id="56" name="!!dot1"/>
          <p:cNvSpPr/>
          <p:nvPr/>
        </p:nvSpPr>
        <p:spPr>
          <a:xfrm>
            <a:off x="7370064" y="5715000"/>
            <a:ext cx="164592" cy="164592"/>
          </a:xfrm>
          <a:prstGeom prst="ellipse">
            <a:avLst/>
          </a:prstGeom>
          <a:solidFill>
            <a:srgbClr val="FF5C7A"/>
          </a:solidFill>
          <a:ln/>
        </p:spPr>
      </p:sp>
      <p:sp>
        <p:nvSpPr>
          <p:cNvPr id="57" name="!!mname1"/>
          <p:cNvSpPr txBox="1"/>
          <p:nvPr/>
        </p:nvSpPr>
        <p:spPr>
          <a:xfrm>
            <a:off x="7644384" y="5550408"/>
            <a:ext cx="1572768" cy="237744"/>
          </a:xfrm>
          <a:prstGeom prst="rect">
            <a:avLst/>
          </a:prstGeom>
          <a:noFill/>
          <a:ln/>
        </p:spPr>
        <p:txBody>
          <a:bodyPr wrap="square" lIns="0" tIns="0" rIns="0" bIns="0" rtlCol="0" anchor="t"/>
          <a:lstStyle/>
          <a:p>
            <a:pPr indent="0" marL="0">
              <a:buNone/>
            </a:pPr>
            <a:r>
              <a:rPr lang="en-US" sz="1150" b="1" dirty="0">
                <a:solidFill>
                  <a:srgbClr val="F2EFFF"/>
                </a:solidFill>
                <a:latin typeface="Segoe UI" pitchFamily="34" charset="0"/>
                <a:ea typeface="Segoe UI" pitchFamily="34" charset="-122"/>
                <a:cs typeface="Segoe UI" pitchFamily="34" charset="-120"/>
              </a:rPr>
              <a:t>GPT-OSS 120B</a:t>
            </a:r>
            <a:endParaRPr lang="en-US" sz="1150" dirty="0"/>
          </a:p>
        </p:txBody>
      </p:sp>
      <p:sp>
        <p:nvSpPr>
          <p:cNvPr id="58" name="!!mstat1"/>
          <p:cNvSpPr txBox="1"/>
          <p:nvPr/>
        </p:nvSpPr>
        <p:spPr>
          <a:xfrm>
            <a:off x="7644384" y="5788152"/>
            <a:ext cx="1600200" cy="274320"/>
          </a:xfrm>
          <a:prstGeom prst="rect">
            <a:avLst/>
          </a:prstGeom>
          <a:noFill/>
          <a:ln/>
        </p:spPr>
        <p:txBody>
          <a:bodyPr wrap="square" lIns="0" tIns="0" rIns="0" bIns="0" rtlCol="0" anchor="t"/>
          <a:lstStyle/>
          <a:p>
            <a:pPr indent="0" marL="0">
              <a:buNone/>
            </a:pPr>
            <a:r>
              <a:rPr lang="en-US" sz="950" dirty="0">
                <a:solidFill>
                  <a:srgbClr val="FF5C7A"/>
                </a:solidFill>
                <a:latin typeface="Segoe UI" pitchFamily="34" charset="0"/>
                <a:ea typeface="Segoe UI" pitchFamily="34" charset="-122"/>
                <a:cs typeface="Segoe UI" pitchFamily="34" charset="-120"/>
              </a:rPr>
              <a:t>Crashed + ignored “only code”</a:t>
            </a:r>
            <a:endParaRPr lang="en-US" sz="950" dirty="0"/>
          </a:p>
        </p:txBody>
      </p:sp>
      <p:sp>
        <p:nvSpPr>
          <p:cNvPr id="59" name="!!light2"/>
          <p:cNvSpPr/>
          <p:nvPr/>
        </p:nvSpPr>
        <p:spPr>
          <a:xfrm>
            <a:off x="9400032" y="5486400"/>
            <a:ext cx="2057400" cy="621792"/>
          </a:xfrm>
          <a:prstGeom prst="roundRect">
            <a:avLst>
              <a:gd name="adj" fmla="val 14706"/>
            </a:avLst>
          </a:prstGeom>
          <a:solidFill>
            <a:srgbClr val="0B0918"/>
          </a:solidFill>
          <a:ln w="12700">
            <a:solidFill>
              <a:srgbClr val="FF9F1C"/>
            </a:solidFill>
            <a:prstDash val="solid"/>
          </a:ln>
        </p:spPr>
      </p:sp>
      <p:sp>
        <p:nvSpPr>
          <p:cNvPr id="60" name="!!dot2"/>
          <p:cNvSpPr/>
          <p:nvPr/>
        </p:nvSpPr>
        <p:spPr>
          <a:xfrm>
            <a:off x="9555480" y="5715000"/>
            <a:ext cx="164592" cy="164592"/>
          </a:xfrm>
          <a:prstGeom prst="ellipse">
            <a:avLst/>
          </a:prstGeom>
          <a:solidFill>
            <a:srgbClr val="FF9F1C"/>
          </a:solidFill>
          <a:ln/>
        </p:spPr>
      </p:sp>
      <p:sp>
        <p:nvSpPr>
          <p:cNvPr id="61" name="!!mname2"/>
          <p:cNvSpPr txBox="1"/>
          <p:nvPr/>
        </p:nvSpPr>
        <p:spPr>
          <a:xfrm>
            <a:off x="9829800" y="5550408"/>
            <a:ext cx="1572768" cy="237744"/>
          </a:xfrm>
          <a:prstGeom prst="rect">
            <a:avLst/>
          </a:prstGeom>
          <a:noFill/>
          <a:ln/>
        </p:spPr>
        <p:txBody>
          <a:bodyPr wrap="square" lIns="0" tIns="0" rIns="0" bIns="0" rtlCol="0" anchor="t"/>
          <a:lstStyle/>
          <a:p>
            <a:pPr indent="0" marL="0">
              <a:buNone/>
            </a:pPr>
            <a:r>
              <a:rPr lang="en-US" sz="1150" b="1" dirty="0">
                <a:solidFill>
                  <a:srgbClr val="F2EFFF"/>
                </a:solidFill>
                <a:latin typeface="Segoe UI" pitchFamily="34" charset="0"/>
                <a:ea typeface="Segoe UI" pitchFamily="34" charset="-122"/>
                <a:cs typeface="Segoe UI" pitchFamily="34" charset="-120"/>
              </a:rPr>
              <a:t>GPT-OSS 20B</a:t>
            </a:r>
            <a:endParaRPr lang="en-US" sz="1150" dirty="0"/>
          </a:p>
        </p:txBody>
      </p:sp>
      <p:sp>
        <p:nvSpPr>
          <p:cNvPr id="62" name="!!mstat2"/>
          <p:cNvSpPr txBox="1"/>
          <p:nvPr/>
        </p:nvSpPr>
        <p:spPr>
          <a:xfrm>
            <a:off x="9829800" y="5788152"/>
            <a:ext cx="1600200" cy="274320"/>
          </a:xfrm>
          <a:prstGeom prst="rect">
            <a:avLst/>
          </a:prstGeom>
          <a:noFill/>
          <a:ln/>
        </p:spPr>
        <p:txBody>
          <a:bodyPr wrap="square" lIns="0" tIns="0" rIns="0" bIns="0" rtlCol="0" anchor="t"/>
          <a:lstStyle/>
          <a:p>
            <a:pPr indent="0" marL="0">
              <a:buNone/>
            </a:pPr>
            <a:r>
              <a:rPr lang="en-US" sz="950" dirty="0">
                <a:solidFill>
                  <a:srgbClr val="FF9F1C"/>
                </a:solidFill>
                <a:latin typeface="Segoe UI" pitchFamily="34" charset="0"/>
                <a:ea typeface="Segoe UI" pitchFamily="34" charset="-122"/>
                <a:cs typeface="Segoe UI" pitchFamily="34" charset="-120"/>
              </a:rPr>
              <a:t>Passed, ignored “only code”</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4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07 / 19</a:t>
            </a:r>
            <a:endParaRPr lang="en-US" sz="900" dirty="0"/>
          </a:p>
        </p:txBody>
      </p:sp>
      <p:sp>
        <p:nvSpPr>
          <p:cNvPr id="11"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03 · HOW MIXCHECK WORKS</a:t>
            </a:r>
            <a:endParaRPr lang="en-US" sz="1100" dirty="0"/>
          </a:p>
        </p:txBody>
      </p:sp>
      <p:sp>
        <p:nvSpPr>
          <p:cNvPr id="12"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From prompt to verdict, fully automatic</a:t>
            </a:r>
            <a:endParaRPr lang="en-US" sz="3000" dirty="0"/>
          </a:p>
        </p:txBody>
      </p:sp>
      <p:sp>
        <p:nvSpPr>
          <p:cNvPr id="13" name="Shape 9"/>
          <p:cNvSpPr/>
          <p:nvPr/>
        </p:nvSpPr>
        <p:spPr>
          <a:xfrm>
            <a:off x="548640" y="2103120"/>
            <a:ext cx="2011680" cy="2697480"/>
          </a:xfrm>
          <a:prstGeom prst="roundRect">
            <a:avLst>
              <a:gd name="adj" fmla="val 636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4" name="Shape 10"/>
          <p:cNvSpPr/>
          <p:nvPr/>
        </p:nvSpPr>
        <p:spPr>
          <a:xfrm>
            <a:off x="777240" y="2331720"/>
            <a:ext cx="640080" cy="640080"/>
          </a:xfrm>
          <a:prstGeom prst="ellipse">
            <a:avLst/>
          </a:prstGeom>
          <a:solidFill>
            <a:srgbClr val="9B8CFF"/>
          </a:solidFill>
          <a:ln/>
        </p:spPr>
      </p:sp>
      <p:pic>
        <p:nvPicPr>
          <p:cNvPr id="15" name="Image 2" descr="/tmp/claude-0/-home-claude/cf1b82dd-723a-5c0d-b3ee-f6062e85aabe/scratchpad/nd/ic/FaLanguage_w.png">    </p:cNvPr>
          <p:cNvPicPr>
            <a:picLocks noChangeAspect="1"/>
          </p:cNvPicPr>
          <p:nvPr/>
        </p:nvPicPr>
        <p:blipFill>
          <a:blip r:embed="rId8"/>
          <a:stretch>
            <a:fillRect/>
          </a:stretch>
        </p:blipFill>
        <p:spPr>
          <a:xfrm>
            <a:off x="950062" y="2504542"/>
            <a:ext cx="294437" cy="294437"/>
          </a:xfrm>
          <a:prstGeom prst="rect">
            <a:avLst/>
          </a:prstGeom>
        </p:spPr>
      </p:pic>
      <p:sp>
        <p:nvSpPr>
          <p:cNvPr id="16" name="Text 11"/>
          <p:cNvSpPr txBox="1"/>
          <p:nvPr/>
        </p:nvSpPr>
        <p:spPr>
          <a:xfrm>
            <a:off x="1874520" y="2377440"/>
            <a:ext cx="502920" cy="274320"/>
          </a:xfrm>
          <a:prstGeom prst="rect">
            <a:avLst/>
          </a:prstGeom>
          <a:noFill/>
          <a:ln/>
        </p:spPr>
        <p:txBody>
          <a:bodyPr wrap="square" lIns="0" tIns="0" rIns="0" bIns="0" rtlCol="0" anchor="t"/>
          <a:lstStyle/>
          <a:p>
            <a:pPr algn="r" indent="0" marL="0">
              <a:buNone/>
            </a:pPr>
            <a:r>
              <a:rPr lang="en-US" sz="1300" b="1" dirty="0">
                <a:solidFill>
                  <a:srgbClr val="6F6A99"/>
                </a:solidFill>
                <a:latin typeface="Consolas" pitchFamily="34" charset="0"/>
                <a:ea typeface="Consolas" pitchFamily="34" charset="-122"/>
                <a:cs typeface="Consolas" pitchFamily="34" charset="-120"/>
              </a:rPr>
              <a:t>01</a:t>
            </a:r>
            <a:endParaRPr lang="en-US" sz="1300" dirty="0"/>
          </a:p>
        </p:txBody>
      </p:sp>
      <p:sp>
        <p:nvSpPr>
          <p:cNvPr id="17" name="Text 12"/>
          <p:cNvSpPr txBox="1"/>
          <p:nvPr/>
        </p:nvSpPr>
        <p:spPr>
          <a:xfrm>
            <a:off x="777240" y="3154680"/>
            <a:ext cx="1691640" cy="365760"/>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Paired prompts</a:t>
            </a:r>
            <a:endParaRPr lang="en-US" sz="1500" dirty="0"/>
          </a:p>
        </p:txBody>
      </p:sp>
      <p:sp>
        <p:nvSpPr>
          <p:cNvPr id="18" name="Text 13"/>
          <p:cNvSpPr txBox="1"/>
          <p:nvPr/>
        </p:nvSpPr>
        <p:spPr>
          <a:xfrm>
            <a:off x="777240" y="3566160"/>
            <a:ext cx="1645920" cy="1143000"/>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25 coding tasks, each in 10 versions. Only the language changes.</a:t>
            </a:r>
            <a:endParaRPr lang="en-US" sz="1150" dirty="0"/>
          </a:p>
        </p:txBody>
      </p:sp>
      <p:pic>
        <p:nvPicPr>
          <p:cNvPr id="19" name="Image 3" descr="/tmp/claude-0/-home-claude/cf1b82dd-723a-5c0d-b3ee-f6062e85aabe/scratchpad/nd/ic/FaArrowRight_a.png">    </p:cNvPr>
          <p:cNvPicPr>
            <a:picLocks noChangeAspect="1"/>
          </p:cNvPicPr>
          <p:nvPr/>
        </p:nvPicPr>
        <p:blipFill>
          <a:blip r:embed="rId9"/>
          <a:stretch>
            <a:fillRect/>
          </a:stretch>
        </p:blipFill>
        <p:spPr>
          <a:xfrm>
            <a:off x="2606040" y="3337560"/>
            <a:ext cx="182880" cy="182880"/>
          </a:xfrm>
          <a:prstGeom prst="rect">
            <a:avLst/>
          </a:prstGeom>
        </p:spPr>
      </p:pic>
      <p:sp>
        <p:nvSpPr>
          <p:cNvPr id="20" name="Shape 14"/>
          <p:cNvSpPr/>
          <p:nvPr/>
        </p:nvSpPr>
        <p:spPr>
          <a:xfrm>
            <a:off x="2816352" y="2103120"/>
            <a:ext cx="2011680" cy="2697480"/>
          </a:xfrm>
          <a:prstGeom prst="roundRect">
            <a:avLst>
              <a:gd name="adj" fmla="val 636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1" name="Shape 15"/>
          <p:cNvSpPr/>
          <p:nvPr/>
        </p:nvSpPr>
        <p:spPr>
          <a:xfrm>
            <a:off x="3044952" y="2331720"/>
            <a:ext cx="640080" cy="640080"/>
          </a:xfrm>
          <a:prstGeom prst="ellipse">
            <a:avLst/>
          </a:prstGeom>
          <a:solidFill>
            <a:srgbClr val="9B8CFF"/>
          </a:solidFill>
          <a:ln/>
        </p:spPr>
      </p:sp>
      <p:pic>
        <p:nvPicPr>
          <p:cNvPr id="22" name="Image 4" descr="/tmp/claude-0/-home-claude/cf1b82dd-723a-5c0d-b3ee-f6062e85aabe/scratchpad/nd/ic/FaRobot_w.png">    </p:cNvPr>
          <p:cNvPicPr>
            <a:picLocks noChangeAspect="1"/>
          </p:cNvPicPr>
          <p:nvPr/>
        </p:nvPicPr>
        <p:blipFill>
          <a:blip r:embed="rId10"/>
          <a:stretch>
            <a:fillRect/>
          </a:stretch>
        </p:blipFill>
        <p:spPr>
          <a:xfrm>
            <a:off x="3217774" y="2504542"/>
            <a:ext cx="294437" cy="294437"/>
          </a:xfrm>
          <a:prstGeom prst="rect">
            <a:avLst/>
          </a:prstGeom>
        </p:spPr>
      </p:pic>
      <p:sp>
        <p:nvSpPr>
          <p:cNvPr id="23" name="Text 16"/>
          <p:cNvSpPr txBox="1"/>
          <p:nvPr/>
        </p:nvSpPr>
        <p:spPr>
          <a:xfrm>
            <a:off x="4142232" y="2377440"/>
            <a:ext cx="502920" cy="274320"/>
          </a:xfrm>
          <a:prstGeom prst="rect">
            <a:avLst/>
          </a:prstGeom>
          <a:noFill/>
          <a:ln/>
        </p:spPr>
        <p:txBody>
          <a:bodyPr wrap="square" lIns="0" tIns="0" rIns="0" bIns="0" rtlCol="0" anchor="t"/>
          <a:lstStyle/>
          <a:p>
            <a:pPr algn="r" indent="0" marL="0">
              <a:buNone/>
            </a:pPr>
            <a:r>
              <a:rPr lang="en-US" sz="1300" b="1" dirty="0">
                <a:solidFill>
                  <a:srgbClr val="6F6A99"/>
                </a:solidFill>
                <a:latin typeface="Consolas" pitchFamily="34" charset="0"/>
                <a:ea typeface="Consolas" pitchFamily="34" charset="-122"/>
                <a:cs typeface="Consolas" pitchFamily="34" charset="-120"/>
              </a:rPr>
              <a:t>02</a:t>
            </a:r>
            <a:endParaRPr lang="en-US" sz="1300" dirty="0"/>
          </a:p>
        </p:txBody>
      </p:sp>
      <p:sp>
        <p:nvSpPr>
          <p:cNvPr id="24" name="Text 17"/>
          <p:cNvSpPr txBox="1"/>
          <p:nvPr/>
        </p:nvSpPr>
        <p:spPr>
          <a:xfrm>
            <a:off x="3044952" y="3154680"/>
            <a:ext cx="1691640" cy="365760"/>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3 AI models</a:t>
            </a:r>
            <a:endParaRPr lang="en-US" sz="1500" dirty="0"/>
          </a:p>
        </p:txBody>
      </p:sp>
      <p:sp>
        <p:nvSpPr>
          <p:cNvPr id="25" name="Text 18"/>
          <p:cNvSpPr txBox="1"/>
          <p:nvPr/>
        </p:nvSpPr>
        <p:spPr>
          <a:xfrm>
            <a:off x="3044952" y="3566160"/>
            <a:ext cx="1645920" cy="1143000"/>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Gemini Flash-Lite, GPT-OSS 120B and 20B. Temperature 0.</a:t>
            </a:r>
            <a:endParaRPr lang="en-US" sz="1150" dirty="0"/>
          </a:p>
        </p:txBody>
      </p:sp>
      <p:pic>
        <p:nvPicPr>
          <p:cNvPr id="26" name="Image 5" descr="/tmp/claude-0/-home-claude/cf1b82dd-723a-5c0d-b3ee-f6062e85aabe/scratchpad/nd/ic/FaArrowRight_a.png">    </p:cNvPr>
          <p:cNvPicPr>
            <a:picLocks noChangeAspect="1"/>
          </p:cNvPicPr>
          <p:nvPr/>
        </p:nvPicPr>
        <p:blipFill>
          <a:blip r:embed="rId11"/>
          <a:stretch>
            <a:fillRect/>
          </a:stretch>
        </p:blipFill>
        <p:spPr>
          <a:xfrm>
            <a:off x="4873752" y="3337560"/>
            <a:ext cx="182880" cy="182880"/>
          </a:xfrm>
          <a:prstGeom prst="rect">
            <a:avLst/>
          </a:prstGeom>
        </p:spPr>
      </p:pic>
      <p:sp>
        <p:nvSpPr>
          <p:cNvPr id="27" name="Shape 19"/>
          <p:cNvSpPr/>
          <p:nvPr/>
        </p:nvSpPr>
        <p:spPr>
          <a:xfrm>
            <a:off x="5084064" y="2103120"/>
            <a:ext cx="2011680" cy="2697480"/>
          </a:xfrm>
          <a:prstGeom prst="roundRect">
            <a:avLst>
              <a:gd name="adj" fmla="val 636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8" name="Shape 20"/>
          <p:cNvSpPr/>
          <p:nvPr/>
        </p:nvSpPr>
        <p:spPr>
          <a:xfrm>
            <a:off x="5312664" y="2331720"/>
            <a:ext cx="640080" cy="640080"/>
          </a:xfrm>
          <a:prstGeom prst="ellipse">
            <a:avLst/>
          </a:prstGeom>
          <a:solidFill>
            <a:srgbClr val="9B8CFF"/>
          </a:solidFill>
          <a:ln/>
        </p:spPr>
      </p:sp>
      <p:pic>
        <p:nvPicPr>
          <p:cNvPr id="29" name="Image 6" descr="/tmp/claude-0/-home-claude/cf1b82dd-723a-5c0d-b3ee-f6062e85aabe/scratchpad/nd/ic/FaSearch_w.png">    </p:cNvPr>
          <p:cNvPicPr>
            <a:picLocks noChangeAspect="1"/>
          </p:cNvPicPr>
          <p:nvPr/>
        </p:nvPicPr>
        <p:blipFill>
          <a:blip r:embed="rId12"/>
          <a:stretch>
            <a:fillRect/>
          </a:stretch>
        </p:blipFill>
        <p:spPr>
          <a:xfrm>
            <a:off x="5485486" y="2504542"/>
            <a:ext cx="294437" cy="294437"/>
          </a:xfrm>
          <a:prstGeom prst="rect">
            <a:avLst/>
          </a:prstGeom>
        </p:spPr>
      </p:pic>
      <p:sp>
        <p:nvSpPr>
          <p:cNvPr id="30" name="Text 21"/>
          <p:cNvSpPr txBox="1"/>
          <p:nvPr/>
        </p:nvSpPr>
        <p:spPr>
          <a:xfrm>
            <a:off x="6409944" y="2377440"/>
            <a:ext cx="502920" cy="274320"/>
          </a:xfrm>
          <a:prstGeom prst="rect">
            <a:avLst/>
          </a:prstGeom>
          <a:noFill/>
          <a:ln/>
        </p:spPr>
        <p:txBody>
          <a:bodyPr wrap="square" lIns="0" tIns="0" rIns="0" bIns="0" rtlCol="0" anchor="t"/>
          <a:lstStyle/>
          <a:p>
            <a:pPr algn="r" indent="0" marL="0">
              <a:buNone/>
            </a:pPr>
            <a:r>
              <a:rPr lang="en-US" sz="1300" b="1" dirty="0">
                <a:solidFill>
                  <a:srgbClr val="6F6A99"/>
                </a:solidFill>
                <a:latin typeface="Consolas" pitchFamily="34" charset="0"/>
                <a:ea typeface="Consolas" pitchFamily="34" charset="-122"/>
                <a:cs typeface="Consolas" pitchFamily="34" charset="-120"/>
              </a:rPr>
              <a:t>03</a:t>
            </a:r>
            <a:endParaRPr lang="en-US" sz="1300" dirty="0"/>
          </a:p>
        </p:txBody>
      </p:sp>
      <p:sp>
        <p:nvSpPr>
          <p:cNvPr id="31" name="Text 22"/>
          <p:cNvSpPr txBox="1"/>
          <p:nvPr/>
        </p:nvSpPr>
        <p:spPr>
          <a:xfrm>
            <a:off x="5312664" y="3154680"/>
            <a:ext cx="1691640" cy="365760"/>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Find the code</a:t>
            </a:r>
            <a:endParaRPr lang="en-US" sz="1500" dirty="0"/>
          </a:p>
        </p:txBody>
      </p:sp>
      <p:sp>
        <p:nvSpPr>
          <p:cNvPr id="32" name="Text 23"/>
          <p:cNvSpPr txBox="1"/>
          <p:nvPr/>
        </p:nvSpPr>
        <p:spPr>
          <a:xfrm>
            <a:off x="5312664" y="3566160"/>
            <a:ext cx="1645920" cy="1143000"/>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Pick the code block that defines the function we asked for.</a:t>
            </a:r>
            <a:endParaRPr lang="en-US" sz="1150" dirty="0"/>
          </a:p>
        </p:txBody>
      </p:sp>
      <p:pic>
        <p:nvPicPr>
          <p:cNvPr id="33" name="Image 7" descr="/tmp/claude-0/-home-claude/cf1b82dd-723a-5c0d-b3ee-f6062e85aabe/scratchpad/nd/ic/FaArrowRight_a.png">    </p:cNvPr>
          <p:cNvPicPr>
            <a:picLocks noChangeAspect="1"/>
          </p:cNvPicPr>
          <p:nvPr/>
        </p:nvPicPr>
        <p:blipFill>
          <a:blip r:embed="rId13"/>
          <a:stretch>
            <a:fillRect/>
          </a:stretch>
        </p:blipFill>
        <p:spPr>
          <a:xfrm>
            <a:off x="7141464" y="3337560"/>
            <a:ext cx="182880" cy="182880"/>
          </a:xfrm>
          <a:prstGeom prst="rect">
            <a:avLst/>
          </a:prstGeom>
        </p:spPr>
      </p:pic>
      <p:sp>
        <p:nvSpPr>
          <p:cNvPr id="34" name="Shape 24"/>
          <p:cNvSpPr/>
          <p:nvPr/>
        </p:nvSpPr>
        <p:spPr>
          <a:xfrm>
            <a:off x="7351776" y="2103120"/>
            <a:ext cx="2011680" cy="2697480"/>
          </a:xfrm>
          <a:prstGeom prst="roundRect">
            <a:avLst>
              <a:gd name="adj" fmla="val 636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35" name="Shape 25"/>
          <p:cNvSpPr/>
          <p:nvPr/>
        </p:nvSpPr>
        <p:spPr>
          <a:xfrm>
            <a:off x="7580376" y="2331720"/>
            <a:ext cx="640080" cy="640080"/>
          </a:xfrm>
          <a:prstGeom prst="ellipse">
            <a:avLst/>
          </a:prstGeom>
          <a:solidFill>
            <a:srgbClr val="9B8CFF"/>
          </a:solidFill>
          <a:ln/>
        </p:spPr>
      </p:sp>
      <p:pic>
        <p:nvPicPr>
          <p:cNvPr id="36" name="Image 8" descr="/tmp/claude-0/-home-claude/cf1b82dd-723a-5c0d-b3ee-f6062e85aabe/scratchpad/nd/ic/FaVial_w.png">    </p:cNvPr>
          <p:cNvPicPr>
            <a:picLocks noChangeAspect="1"/>
          </p:cNvPicPr>
          <p:nvPr/>
        </p:nvPicPr>
        <p:blipFill>
          <a:blip r:embed="rId14"/>
          <a:stretch>
            <a:fillRect/>
          </a:stretch>
        </p:blipFill>
        <p:spPr>
          <a:xfrm>
            <a:off x="7753198" y="2504542"/>
            <a:ext cx="294437" cy="294437"/>
          </a:xfrm>
          <a:prstGeom prst="rect">
            <a:avLst/>
          </a:prstGeom>
        </p:spPr>
      </p:pic>
      <p:sp>
        <p:nvSpPr>
          <p:cNvPr id="37" name="Text 26"/>
          <p:cNvSpPr txBox="1"/>
          <p:nvPr/>
        </p:nvSpPr>
        <p:spPr>
          <a:xfrm>
            <a:off x="8677656" y="2377440"/>
            <a:ext cx="502920" cy="274320"/>
          </a:xfrm>
          <a:prstGeom prst="rect">
            <a:avLst/>
          </a:prstGeom>
          <a:noFill/>
          <a:ln/>
        </p:spPr>
        <p:txBody>
          <a:bodyPr wrap="square" lIns="0" tIns="0" rIns="0" bIns="0" rtlCol="0" anchor="t"/>
          <a:lstStyle/>
          <a:p>
            <a:pPr algn="r" indent="0" marL="0">
              <a:buNone/>
            </a:pPr>
            <a:r>
              <a:rPr lang="en-US" sz="1300" b="1" dirty="0">
                <a:solidFill>
                  <a:srgbClr val="6F6A99"/>
                </a:solidFill>
                <a:latin typeface="Consolas" pitchFamily="34" charset="0"/>
                <a:ea typeface="Consolas" pitchFamily="34" charset="-122"/>
                <a:cs typeface="Consolas" pitchFamily="34" charset="-120"/>
              </a:rPr>
              <a:t>04</a:t>
            </a:r>
            <a:endParaRPr lang="en-US" sz="1300" dirty="0"/>
          </a:p>
        </p:txBody>
      </p:sp>
      <p:sp>
        <p:nvSpPr>
          <p:cNvPr id="38" name="Text 27"/>
          <p:cNvSpPr txBox="1"/>
          <p:nvPr/>
        </p:nvSpPr>
        <p:spPr>
          <a:xfrm>
            <a:off x="7580376" y="3154680"/>
            <a:ext cx="1691640" cy="365760"/>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Run the tests</a:t>
            </a:r>
            <a:endParaRPr lang="en-US" sz="1500" dirty="0"/>
          </a:p>
        </p:txBody>
      </p:sp>
      <p:sp>
        <p:nvSpPr>
          <p:cNvPr id="39" name="Text 28"/>
          <p:cNvSpPr txBox="1"/>
          <p:nvPr/>
        </p:nvSpPr>
        <p:spPr>
          <a:xfrm>
            <a:off x="7580376" y="3566160"/>
            <a:ext cx="1645920" cy="1143000"/>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Every test case, in its own process, with a 10-second limit.</a:t>
            </a:r>
            <a:endParaRPr lang="en-US" sz="1150" dirty="0"/>
          </a:p>
        </p:txBody>
      </p:sp>
      <p:pic>
        <p:nvPicPr>
          <p:cNvPr id="40" name="Image 9" descr="/tmp/claude-0/-home-claude/cf1b82dd-723a-5c0d-b3ee-f6062e85aabe/scratchpad/nd/ic/FaArrowRight_a.png">    </p:cNvPr>
          <p:cNvPicPr>
            <a:picLocks noChangeAspect="1"/>
          </p:cNvPicPr>
          <p:nvPr/>
        </p:nvPicPr>
        <p:blipFill>
          <a:blip r:embed="rId15"/>
          <a:stretch>
            <a:fillRect/>
          </a:stretch>
        </p:blipFill>
        <p:spPr>
          <a:xfrm>
            <a:off x="9409176" y="3337560"/>
            <a:ext cx="182880" cy="182880"/>
          </a:xfrm>
          <a:prstGeom prst="rect">
            <a:avLst/>
          </a:prstGeom>
        </p:spPr>
      </p:pic>
      <p:sp>
        <p:nvSpPr>
          <p:cNvPr id="41" name="Shape 29"/>
          <p:cNvSpPr/>
          <p:nvPr/>
        </p:nvSpPr>
        <p:spPr>
          <a:xfrm>
            <a:off x="9619488" y="2103120"/>
            <a:ext cx="2011680" cy="2697480"/>
          </a:xfrm>
          <a:prstGeom prst="roundRect">
            <a:avLst>
              <a:gd name="adj" fmla="val 636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42" name="Shape 30"/>
          <p:cNvSpPr/>
          <p:nvPr/>
        </p:nvSpPr>
        <p:spPr>
          <a:xfrm>
            <a:off x="9848088" y="2331720"/>
            <a:ext cx="640080" cy="640080"/>
          </a:xfrm>
          <a:prstGeom prst="ellipse">
            <a:avLst/>
          </a:prstGeom>
          <a:solidFill>
            <a:srgbClr val="FF9F1C"/>
          </a:solidFill>
          <a:ln/>
        </p:spPr>
      </p:sp>
      <p:pic>
        <p:nvPicPr>
          <p:cNvPr id="43" name="Image 10" descr="/tmp/claude-0/-home-claude/cf1b82dd-723a-5c0d-b3ee-f6062e85aabe/scratchpad/nd/ic/FaBalanceScale_d.png">    </p:cNvPr>
          <p:cNvPicPr>
            <a:picLocks noChangeAspect="1"/>
          </p:cNvPicPr>
          <p:nvPr/>
        </p:nvPicPr>
        <p:blipFill>
          <a:blip r:embed="rId16"/>
          <a:stretch>
            <a:fillRect/>
          </a:stretch>
        </p:blipFill>
        <p:spPr>
          <a:xfrm>
            <a:off x="10020910" y="2504542"/>
            <a:ext cx="294437" cy="294437"/>
          </a:xfrm>
          <a:prstGeom prst="rect">
            <a:avLst/>
          </a:prstGeom>
        </p:spPr>
      </p:pic>
      <p:sp>
        <p:nvSpPr>
          <p:cNvPr id="44" name="Text 31"/>
          <p:cNvSpPr txBox="1"/>
          <p:nvPr/>
        </p:nvSpPr>
        <p:spPr>
          <a:xfrm>
            <a:off x="10945368" y="2377440"/>
            <a:ext cx="502920" cy="274320"/>
          </a:xfrm>
          <a:prstGeom prst="rect">
            <a:avLst/>
          </a:prstGeom>
          <a:noFill/>
          <a:ln/>
        </p:spPr>
        <p:txBody>
          <a:bodyPr wrap="square" lIns="0" tIns="0" rIns="0" bIns="0" rtlCol="0" anchor="t"/>
          <a:lstStyle/>
          <a:p>
            <a:pPr algn="r" indent="0" marL="0">
              <a:buNone/>
            </a:pPr>
            <a:r>
              <a:rPr lang="en-US" sz="1300" b="1" dirty="0">
                <a:solidFill>
                  <a:srgbClr val="6F6A99"/>
                </a:solidFill>
                <a:latin typeface="Consolas" pitchFamily="34" charset="0"/>
                <a:ea typeface="Consolas" pitchFamily="34" charset="-122"/>
                <a:cs typeface="Consolas" pitchFamily="34" charset="-120"/>
              </a:rPr>
              <a:t>05</a:t>
            </a:r>
            <a:endParaRPr lang="en-US" sz="1300" dirty="0"/>
          </a:p>
        </p:txBody>
      </p:sp>
      <p:sp>
        <p:nvSpPr>
          <p:cNvPr id="45" name="Text 32"/>
          <p:cNvSpPr txBox="1"/>
          <p:nvPr/>
        </p:nvSpPr>
        <p:spPr>
          <a:xfrm>
            <a:off x="9848088" y="3154680"/>
            <a:ext cx="1691640" cy="365760"/>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Two scores</a:t>
            </a:r>
            <a:endParaRPr lang="en-US" sz="1500" dirty="0"/>
          </a:p>
        </p:txBody>
      </p:sp>
      <p:sp>
        <p:nvSpPr>
          <p:cNvPr id="46" name="Text 33"/>
          <p:cNvSpPr txBox="1"/>
          <p:nvPr/>
        </p:nvSpPr>
        <p:spPr>
          <a:xfrm>
            <a:off x="9848088" y="3566160"/>
            <a:ext cx="1645920" cy="1143000"/>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Correct code? And did it reply with only the code, as asked?</a:t>
            </a:r>
            <a:endParaRPr lang="en-US" sz="1150" dirty="0"/>
          </a:p>
        </p:txBody>
      </p:sp>
      <p:sp>
        <p:nvSpPr>
          <p:cNvPr id="47" name="Shape 34"/>
          <p:cNvSpPr/>
          <p:nvPr/>
        </p:nvSpPr>
        <p:spPr>
          <a:xfrm>
            <a:off x="548640" y="5074920"/>
            <a:ext cx="7863840" cy="1188720"/>
          </a:xfrm>
          <a:prstGeom prst="roundRect">
            <a:avLst>
              <a:gd name="adj" fmla="val 10769"/>
            </a:avLst>
          </a:prstGeom>
          <a:solidFill>
            <a:srgbClr val="0B0918"/>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48" name="Text 35"/>
          <p:cNvSpPr txBox="1"/>
          <p:nvPr/>
        </p:nvSpPr>
        <p:spPr>
          <a:xfrm>
            <a:off x="804672" y="5230368"/>
            <a:ext cx="4572000" cy="201168"/>
          </a:xfrm>
          <a:prstGeom prst="rect">
            <a:avLst/>
          </a:prstGeom>
          <a:noFill/>
          <a:ln/>
        </p:spPr>
        <p:txBody>
          <a:bodyPr wrap="square" lIns="0" tIns="0" rIns="0" bIns="0" rtlCol="0" anchor="t"/>
          <a:lstStyle/>
          <a:p>
            <a:pPr indent="0" marL="0">
              <a:buNone/>
            </a:pPr>
            <a:r>
              <a:rPr lang="en-US" sz="950" b="1" spc="100" kern="0" dirty="0">
                <a:solidFill>
                  <a:srgbClr val="6F6A99"/>
                </a:solidFill>
                <a:latin typeface="Consolas" pitchFamily="34" charset="0"/>
                <a:ea typeface="Consolas" pitchFamily="34" charset="-122"/>
                <a:cs typeface="Consolas" pitchFamily="34" charset="-120"/>
              </a:rPr>
              <a:t>THE PIPELINE IN OUR REPO</a:t>
            </a:r>
            <a:endParaRPr lang="en-US" sz="950" dirty="0"/>
          </a:p>
        </p:txBody>
      </p:sp>
      <p:sp>
        <p:nvSpPr>
          <p:cNvPr id="49" name="Text 36"/>
          <p:cNvSpPr txBox="1"/>
          <p:nvPr/>
        </p:nvSpPr>
        <p:spPr>
          <a:xfrm>
            <a:off x="804672" y="5559552"/>
            <a:ext cx="7498080" cy="457200"/>
          </a:xfrm>
          <a:prstGeom prst="rect">
            <a:avLst/>
          </a:prstGeom>
          <a:noFill/>
          <a:ln/>
        </p:spPr>
        <p:txBody>
          <a:bodyPr wrap="square" lIns="0" tIns="0" rIns="0" bIns="0" rtlCol="0" anchor="ctr"/>
          <a:lstStyle/>
          <a:p>
            <a:pPr indent="0" marL="0">
              <a:buNone/>
            </a:pPr>
            <a:r>
              <a:rPr lang="en-US" sz="1150" dirty="0">
                <a:solidFill>
                  <a:srgbClr val="F2EFFF"/>
                </a:solidFill>
                <a:latin typeface="Consolas" pitchFamily="34" charset="0"/>
                <a:ea typeface="Consolas" pitchFamily="34" charset="-122"/>
                <a:cs typeface="Consolas" pitchFamily="34" charset="-120"/>
              </a:rPr>
              <a:t>tasks.csv</a:t>
            </a:r>
            <a:pPr indent="0" marL="0">
              <a:buNone/>
            </a:pPr>
            <a:r>
              <a:rPr lang="en-US" sz="1150" dirty="0">
                <a:solidFill>
                  <a:srgbClr val="FF9F1C"/>
                </a:solidFill>
                <a:latin typeface="Consolas" pitchFamily="34" charset="0"/>
                <a:ea typeface="Consolas" pitchFamily="34" charset="-122"/>
                <a:cs typeface="Consolas" pitchFamily="34" charset="-120"/>
              </a:rPr>
              <a:t>  →  </a:t>
            </a:r>
            <a:pPr indent="0" marL="0">
              <a:buNone/>
            </a:pPr>
            <a:r>
              <a:rPr lang="en-US" sz="1150" dirty="0">
                <a:solidFill>
                  <a:srgbClr val="C9C2FF"/>
                </a:solidFill>
                <a:latin typeface="Consolas" pitchFamily="34" charset="0"/>
                <a:ea typeface="Consolas" pitchFamily="34" charset="-122"/>
                <a:cs typeface="Consolas" pitchFamily="34" charset="-120"/>
              </a:rPr>
              <a:t>run_all.py</a:t>
            </a:r>
            <a:pPr indent="0" marL="0">
              <a:buNone/>
            </a:pPr>
            <a:r>
              <a:rPr lang="en-US" sz="1150" dirty="0">
                <a:solidFill>
                  <a:srgbClr val="FF9F1C"/>
                </a:solidFill>
                <a:latin typeface="Consolas" pitchFamily="34" charset="0"/>
                <a:ea typeface="Consolas" pitchFamily="34" charset="-122"/>
                <a:cs typeface="Consolas" pitchFamily="34" charset="-120"/>
              </a:rPr>
              <a:t>  →  </a:t>
            </a:r>
            <a:pPr indent="0" marL="0">
              <a:buNone/>
            </a:pPr>
            <a:r>
              <a:rPr lang="en-US" sz="1150" dirty="0">
                <a:solidFill>
                  <a:srgbClr val="F2EFFF"/>
                </a:solidFill>
                <a:latin typeface="Consolas" pitchFamily="34" charset="0"/>
                <a:ea typeface="Consolas" pitchFamily="34" charset="-122"/>
                <a:cs typeface="Consolas" pitchFamily="34" charset="-120"/>
              </a:rPr>
              <a:t>generated/</a:t>
            </a:r>
            <a:pPr indent="0" marL="0">
              <a:buNone/>
            </a:pPr>
            <a:r>
              <a:rPr lang="en-US" sz="1150" dirty="0">
                <a:solidFill>
                  <a:srgbClr val="FF9F1C"/>
                </a:solidFill>
                <a:latin typeface="Consolas" pitchFamily="34" charset="0"/>
                <a:ea typeface="Consolas" pitchFamily="34" charset="-122"/>
                <a:cs typeface="Consolas" pitchFamily="34" charset="-120"/>
              </a:rPr>
              <a:t>  →  </a:t>
            </a:r>
            <a:pPr indent="0" marL="0">
              <a:buNone/>
            </a:pPr>
            <a:r>
              <a:rPr lang="en-US" sz="1150" dirty="0">
                <a:solidFill>
                  <a:srgbClr val="C9C2FF"/>
                </a:solidFill>
                <a:latin typeface="Consolas" pitchFamily="34" charset="0"/>
                <a:ea typeface="Consolas" pitchFamily="34" charset="-122"/>
                <a:cs typeface="Consolas" pitchFamily="34" charset="-120"/>
              </a:rPr>
              <a:t>grade_all.py</a:t>
            </a:r>
            <a:pPr indent="0" marL="0">
              <a:buNone/>
            </a:pPr>
            <a:r>
              <a:rPr lang="en-US" sz="1150" dirty="0">
                <a:solidFill>
                  <a:srgbClr val="FF9F1C"/>
                </a:solidFill>
                <a:latin typeface="Consolas" pitchFamily="34" charset="0"/>
                <a:ea typeface="Consolas" pitchFamily="34" charset="-122"/>
                <a:cs typeface="Consolas" pitchFamily="34" charset="-120"/>
              </a:rPr>
              <a:t>  →  </a:t>
            </a:r>
            <a:pPr indent="0" marL="0">
              <a:buNone/>
            </a:pPr>
            <a:r>
              <a:rPr lang="en-US" sz="1150" dirty="0">
                <a:solidFill>
                  <a:srgbClr val="F2EFFF"/>
                </a:solidFill>
                <a:latin typeface="Consolas" pitchFamily="34" charset="0"/>
                <a:ea typeface="Consolas" pitchFamily="34" charset="-122"/>
                <a:cs typeface="Consolas" pitchFamily="34" charset="-120"/>
              </a:rPr>
              <a:t>results.csv</a:t>
            </a:r>
            <a:pPr indent="0" marL="0">
              <a:buNone/>
            </a:pPr>
            <a:r>
              <a:rPr lang="en-US" sz="1150" dirty="0">
                <a:solidFill>
                  <a:srgbClr val="FF9F1C"/>
                </a:solidFill>
                <a:latin typeface="Consolas" pitchFamily="34" charset="0"/>
                <a:ea typeface="Consolas" pitchFamily="34" charset="-122"/>
                <a:cs typeface="Consolas" pitchFamily="34" charset="-120"/>
              </a:rPr>
              <a:t>  →  </a:t>
            </a:r>
            <a:pPr indent="0" marL="0">
              <a:buNone/>
            </a:pPr>
            <a:r>
              <a:rPr lang="en-US" sz="1150" dirty="0">
                <a:solidFill>
                  <a:srgbClr val="C9C2FF"/>
                </a:solidFill>
                <a:latin typeface="Consolas" pitchFamily="34" charset="0"/>
                <a:ea typeface="Consolas" pitchFamily="34" charset="-122"/>
                <a:cs typeface="Consolas" pitchFamily="34" charset="-120"/>
              </a:rPr>
              <a:t>app.py</a:t>
            </a:r>
            <a:endParaRPr lang="en-US" sz="1150" dirty="0"/>
          </a:p>
        </p:txBody>
      </p:sp>
      <p:sp>
        <p:nvSpPr>
          <p:cNvPr id="50" name="Shape 37"/>
          <p:cNvSpPr/>
          <p:nvPr/>
        </p:nvSpPr>
        <p:spPr>
          <a:xfrm>
            <a:off x="8641080" y="5074920"/>
            <a:ext cx="1463040" cy="1188720"/>
          </a:xfrm>
          <a:prstGeom prst="roundRect">
            <a:avLst>
              <a:gd name="adj" fmla="val 10769"/>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51" name="Text 38"/>
          <p:cNvSpPr txBox="1"/>
          <p:nvPr/>
        </p:nvSpPr>
        <p:spPr>
          <a:xfrm>
            <a:off x="8778240" y="5230368"/>
            <a:ext cx="1280160" cy="457200"/>
          </a:xfrm>
          <a:prstGeom prst="rect">
            <a:avLst/>
          </a:prstGeom>
          <a:noFill/>
          <a:ln/>
        </p:spPr>
        <p:txBody>
          <a:bodyPr wrap="square" lIns="0" tIns="0" rIns="0" bIns="0" rtlCol="0" anchor="t"/>
          <a:lstStyle/>
          <a:p>
            <a:pPr indent="0" marL="0">
              <a:buNone/>
            </a:pPr>
            <a:r>
              <a:rPr lang="en-US" sz="2200" b="1" dirty="0">
                <a:solidFill>
                  <a:srgbClr val="FF9F1C"/>
                </a:solidFill>
                <a:latin typeface="Segoe UI" pitchFamily="34" charset="0"/>
                <a:ea typeface="Segoe UI" pitchFamily="34" charset="-122"/>
                <a:cs typeface="Segoe UI" pitchFamily="34" charset="-120"/>
              </a:rPr>
              <a:t>1,800+</a:t>
            </a:r>
            <a:endParaRPr lang="en-US" sz="2200" dirty="0"/>
          </a:p>
        </p:txBody>
      </p:sp>
      <p:sp>
        <p:nvSpPr>
          <p:cNvPr id="52" name="Text 39"/>
          <p:cNvSpPr txBox="1"/>
          <p:nvPr/>
        </p:nvSpPr>
        <p:spPr>
          <a:xfrm>
            <a:off x="8778240" y="5715000"/>
            <a:ext cx="1325880" cy="411480"/>
          </a:xfrm>
          <a:prstGeom prst="rect">
            <a:avLst/>
          </a:prstGeom>
          <a:noFill/>
          <a:ln/>
        </p:spPr>
        <p:txBody>
          <a:bodyPr wrap="square" lIns="0" tIns="0" rIns="0" bIns="0" rtlCol="0" anchor="t"/>
          <a:lstStyle/>
          <a:p>
            <a:pPr indent="0" marL="0">
              <a:buNone/>
            </a:pPr>
            <a:r>
              <a:rPr lang="en-US" sz="1050" dirty="0">
                <a:solidFill>
                  <a:srgbClr val="A9A3CF"/>
                </a:solidFill>
                <a:latin typeface="Segoe UI" pitchFamily="34" charset="0"/>
                <a:ea typeface="Segoe UI" pitchFamily="34" charset="-122"/>
                <a:cs typeface="Segoe UI" pitchFamily="34" charset="-120"/>
              </a:rPr>
              <a:t>lines of Python</a:t>
            </a:r>
            <a:endParaRPr lang="en-US" sz="1050" dirty="0"/>
          </a:p>
        </p:txBody>
      </p:sp>
      <p:sp>
        <p:nvSpPr>
          <p:cNvPr id="53" name="Shape 40"/>
          <p:cNvSpPr/>
          <p:nvPr/>
        </p:nvSpPr>
        <p:spPr>
          <a:xfrm>
            <a:off x="10213848" y="5074920"/>
            <a:ext cx="1536192" cy="1188720"/>
          </a:xfrm>
          <a:prstGeom prst="roundRect">
            <a:avLst>
              <a:gd name="adj" fmla="val 10769"/>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54" name="Text 41"/>
          <p:cNvSpPr txBox="1"/>
          <p:nvPr/>
        </p:nvSpPr>
        <p:spPr>
          <a:xfrm>
            <a:off x="10351008" y="5230368"/>
            <a:ext cx="1280160" cy="457200"/>
          </a:xfrm>
          <a:prstGeom prst="rect">
            <a:avLst/>
          </a:prstGeom>
          <a:noFill/>
          <a:ln/>
        </p:spPr>
        <p:txBody>
          <a:bodyPr wrap="square" lIns="0" tIns="0" rIns="0" bIns="0" rtlCol="0" anchor="t"/>
          <a:lstStyle/>
          <a:p>
            <a:pPr indent="0" marL="0">
              <a:buNone/>
            </a:pPr>
            <a:r>
              <a:rPr lang="en-US" sz="2200" b="1" dirty="0">
                <a:solidFill>
                  <a:srgbClr val="F2EFFF"/>
                </a:solidFill>
                <a:latin typeface="Segoe UI" pitchFamily="34" charset="0"/>
                <a:ea typeface="Segoe UI" pitchFamily="34" charset="-122"/>
                <a:cs typeface="Segoe UI" pitchFamily="34" charset="-120"/>
              </a:rPr>
              <a:t>750</a:t>
            </a:r>
            <a:endParaRPr lang="en-US" sz="2200" dirty="0"/>
          </a:p>
        </p:txBody>
      </p:sp>
      <p:sp>
        <p:nvSpPr>
          <p:cNvPr id="55" name="Text 42"/>
          <p:cNvSpPr txBox="1"/>
          <p:nvPr/>
        </p:nvSpPr>
        <p:spPr>
          <a:xfrm>
            <a:off x="10351008" y="5715000"/>
            <a:ext cx="1325880" cy="411480"/>
          </a:xfrm>
          <a:prstGeom prst="rect">
            <a:avLst/>
          </a:prstGeom>
          <a:noFill/>
          <a:ln/>
        </p:spPr>
        <p:txBody>
          <a:bodyPr wrap="square" lIns="0" tIns="0" rIns="0" bIns="0" rtlCol="0" anchor="t"/>
          <a:lstStyle/>
          <a:p>
            <a:pPr indent="0" marL="0">
              <a:buNone/>
            </a:pPr>
            <a:r>
              <a:rPr lang="en-US" sz="1050" dirty="0">
                <a:solidFill>
                  <a:srgbClr val="A9A3CF"/>
                </a:solidFill>
                <a:latin typeface="Segoe UI" pitchFamily="34" charset="0"/>
                <a:ea typeface="Segoe UI" pitchFamily="34" charset="-122"/>
                <a:cs typeface="Segoe UI" pitchFamily="34" charset="-120"/>
              </a:rPr>
              <a:t>graded runs</a:t>
            </a:r>
            <a:endParaRPr lang="en-US" sz="10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08 / 19</a:t>
            </a:r>
            <a:endParaRPr lang="en-US" sz="900" dirty="0"/>
          </a:p>
        </p:txBody>
      </p:sp>
      <p:sp>
        <p:nvSpPr>
          <p:cNvPr id="11"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03 · HOW MIXCHECK WORKS</a:t>
            </a:r>
            <a:endParaRPr lang="en-US" sz="1100" dirty="0"/>
          </a:p>
        </p:txBody>
      </p:sp>
      <p:sp>
        <p:nvSpPr>
          <p:cNvPr id="12"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750 answers, every one graded by running it</a:t>
            </a:r>
            <a:endParaRPr lang="en-US" sz="3000" dirty="0"/>
          </a:p>
        </p:txBody>
      </p:sp>
      <p:sp>
        <p:nvSpPr>
          <p:cNvPr id="13" name="Shape 9"/>
          <p:cNvSpPr/>
          <p:nvPr/>
        </p:nvSpPr>
        <p:spPr>
          <a:xfrm>
            <a:off x="769468" y="2148840"/>
            <a:ext cx="2286000" cy="1828800"/>
          </a:xfrm>
          <a:prstGeom prst="roundRect">
            <a:avLst>
              <a:gd name="adj" fmla="val 7000"/>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4" name="Text 10"/>
          <p:cNvSpPr txBox="1"/>
          <p:nvPr/>
        </p:nvSpPr>
        <p:spPr>
          <a:xfrm>
            <a:off x="769468" y="2331720"/>
            <a:ext cx="2286000" cy="914400"/>
          </a:xfrm>
          <a:prstGeom prst="rect">
            <a:avLst/>
          </a:prstGeom>
          <a:noFill/>
          <a:ln/>
        </p:spPr>
        <p:txBody>
          <a:bodyPr wrap="square" lIns="0" tIns="0" rIns="0" bIns="0" rtlCol="0" anchor="t"/>
          <a:lstStyle/>
          <a:p>
            <a:pPr algn="ctr" indent="0" marL="0">
              <a:buNone/>
            </a:pPr>
            <a:r>
              <a:rPr lang="en-US" sz="5200" b="1" dirty="0">
                <a:solidFill>
                  <a:srgbClr val="F2EFFF"/>
                </a:solidFill>
                <a:latin typeface="Segoe UI" pitchFamily="34" charset="0"/>
                <a:ea typeface="Segoe UI" pitchFamily="34" charset="-122"/>
                <a:cs typeface="Segoe UI" pitchFamily="34" charset="-120"/>
              </a:rPr>
              <a:t>25</a:t>
            </a:r>
            <a:endParaRPr lang="en-US" sz="5200" dirty="0"/>
          </a:p>
        </p:txBody>
      </p:sp>
      <p:sp>
        <p:nvSpPr>
          <p:cNvPr id="15" name="Text 11"/>
          <p:cNvSpPr txBox="1"/>
          <p:nvPr/>
        </p:nvSpPr>
        <p:spPr>
          <a:xfrm>
            <a:off x="769468" y="3291840"/>
            <a:ext cx="2286000" cy="320040"/>
          </a:xfrm>
          <a:prstGeom prst="rect">
            <a:avLst/>
          </a:prstGeom>
          <a:noFill/>
          <a:ln/>
        </p:spPr>
        <p:txBody>
          <a:bodyPr wrap="square" lIns="0" tIns="0" rIns="0" bIns="0" rtlCol="0" anchor="t"/>
          <a:lstStyle/>
          <a:p>
            <a:pPr algn="ctr" indent="0" marL="0">
              <a:buNone/>
            </a:pPr>
            <a:r>
              <a:rPr lang="en-US" sz="1300" dirty="0">
                <a:solidFill>
                  <a:srgbClr val="A9A3CF"/>
                </a:solidFill>
                <a:latin typeface="Segoe UI" pitchFamily="34" charset="0"/>
                <a:ea typeface="Segoe UI" pitchFamily="34" charset="-122"/>
                <a:cs typeface="Segoe UI" pitchFamily="34" charset="-120"/>
              </a:rPr>
              <a:t>coding tasks</a:t>
            </a:r>
            <a:endParaRPr lang="en-US" sz="1300" dirty="0"/>
          </a:p>
        </p:txBody>
      </p:sp>
      <p:sp>
        <p:nvSpPr>
          <p:cNvPr id="16" name="Text 12"/>
          <p:cNvSpPr txBox="1"/>
          <p:nvPr/>
        </p:nvSpPr>
        <p:spPr>
          <a:xfrm>
            <a:off x="3055468" y="2697480"/>
            <a:ext cx="502920" cy="640080"/>
          </a:xfrm>
          <a:prstGeom prst="rect">
            <a:avLst/>
          </a:prstGeom>
          <a:noFill/>
          <a:ln/>
        </p:spPr>
        <p:txBody>
          <a:bodyPr wrap="square" lIns="0" tIns="0" rIns="0" bIns="0" rtlCol="0" anchor="t"/>
          <a:lstStyle/>
          <a:p>
            <a:pPr algn="ctr" indent="0" marL="0">
              <a:buNone/>
            </a:pPr>
            <a:r>
              <a:rPr lang="en-US" sz="3200" b="1" dirty="0">
                <a:solidFill>
                  <a:srgbClr val="6F6A99"/>
                </a:solidFill>
                <a:latin typeface="Segoe UI" pitchFamily="34" charset="0"/>
                <a:ea typeface="Segoe UI" pitchFamily="34" charset="-122"/>
                <a:cs typeface="Segoe UI" pitchFamily="34" charset="-120"/>
              </a:rPr>
              <a:t>×</a:t>
            </a:r>
            <a:endParaRPr lang="en-US" sz="3200" dirty="0"/>
          </a:p>
        </p:txBody>
      </p:sp>
      <p:sp>
        <p:nvSpPr>
          <p:cNvPr id="17" name="Shape 13"/>
          <p:cNvSpPr/>
          <p:nvPr/>
        </p:nvSpPr>
        <p:spPr>
          <a:xfrm>
            <a:off x="3558388" y="2148840"/>
            <a:ext cx="2286000" cy="1828800"/>
          </a:xfrm>
          <a:prstGeom prst="roundRect">
            <a:avLst>
              <a:gd name="adj" fmla="val 7000"/>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8" name="Text 14"/>
          <p:cNvSpPr txBox="1"/>
          <p:nvPr/>
        </p:nvSpPr>
        <p:spPr>
          <a:xfrm>
            <a:off x="3558388" y="2331720"/>
            <a:ext cx="2286000" cy="914400"/>
          </a:xfrm>
          <a:prstGeom prst="rect">
            <a:avLst/>
          </a:prstGeom>
          <a:noFill/>
          <a:ln/>
        </p:spPr>
        <p:txBody>
          <a:bodyPr wrap="square" lIns="0" tIns="0" rIns="0" bIns="0" rtlCol="0" anchor="t"/>
          <a:lstStyle/>
          <a:p>
            <a:pPr algn="ctr" indent="0" marL="0">
              <a:buNone/>
            </a:pPr>
            <a:r>
              <a:rPr lang="en-US" sz="5200" b="1" dirty="0">
                <a:solidFill>
                  <a:srgbClr val="F2EFFF"/>
                </a:solidFill>
                <a:latin typeface="Segoe UI" pitchFamily="34" charset="0"/>
                <a:ea typeface="Segoe UI" pitchFamily="34" charset="-122"/>
                <a:cs typeface="Segoe UI" pitchFamily="34" charset="-120"/>
              </a:rPr>
              <a:t>10</a:t>
            </a:r>
            <a:endParaRPr lang="en-US" sz="5200" dirty="0"/>
          </a:p>
        </p:txBody>
      </p:sp>
      <p:sp>
        <p:nvSpPr>
          <p:cNvPr id="19" name="Text 15"/>
          <p:cNvSpPr txBox="1"/>
          <p:nvPr/>
        </p:nvSpPr>
        <p:spPr>
          <a:xfrm>
            <a:off x="3558388" y="3291840"/>
            <a:ext cx="2286000" cy="320040"/>
          </a:xfrm>
          <a:prstGeom prst="rect">
            <a:avLst/>
          </a:prstGeom>
          <a:noFill/>
          <a:ln/>
        </p:spPr>
        <p:txBody>
          <a:bodyPr wrap="square" lIns="0" tIns="0" rIns="0" bIns="0" rtlCol="0" anchor="t"/>
          <a:lstStyle/>
          <a:p>
            <a:pPr algn="ctr" indent="0" marL="0">
              <a:buNone/>
            </a:pPr>
            <a:r>
              <a:rPr lang="en-US" sz="1300" dirty="0">
                <a:solidFill>
                  <a:srgbClr val="A9A3CF"/>
                </a:solidFill>
                <a:latin typeface="Segoe UI" pitchFamily="34" charset="0"/>
                <a:ea typeface="Segoe UI" pitchFamily="34" charset="-122"/>
                <a:cs typeface="Segoe UI" pitchFamily="34" charset="-120"/>
              </a:rPr>
              <a:t>ways of asking</a:t>
            </a:r>
            <a:endParaRPr lang="en-US" sz="1300" dirty="0"/>
          </a:p>
        </p:txBody>
      </p:sp>
      <p:sp>
        <p:nvSpPr>
          <p:cNvPr id="20" name="Text 16"/>
          <p:cNvSpPr txBox="1"/>
          <p:nvPr/>
        </p:nvSpPr>
        <p:spPr>
          <a:xfrm>
            <a:off x="5844388" y="2697480"/>
            <a:ext cx="502920" cy="640080"/>
          </a:xfrm>
          <a:prstGeom prst="rect">
            <a:avLst/>
          </a:prstGeom>
          <a:noFill/>
          <a:ln/>
        </p:spPr>
        <p:txBody>
          <a:bodyPr wrap="square" lIns="0" tIns="0" rIns="0" bIns="0" rtlCol="0" anchor="t"/>
          <a:lstStyle/>
          <a:p>
            <a:pPr algn="ctr" indent="0" marL="0">
              <a:buNone/>
            </a:pPr>
            <a:r>
              <a:rPr lang="en-US" sz="3200" b="1" dirty="0">
                <a:solidFill>
                  <a:srgbClr val="6F6A99"/>
                </a:solidFill>
                <a:latin typeface="Segoe UI" pitchFamily="34" charset="0"/>
                <a:ea typeface="Segoe UI" pitchFamily="34" charset="-122"/>
                <a:cs typeface="Segoe UI" pitchFamily="34" charset="-120"/>
              </a:rPr>
              <a:t>×</a:t>
            </a:r>
            <a:endParaRPr lang="en-US" sz="3200" dirty="0"/>
          </a:p>
        </p:txBody>
      </p:sp>
      <p:sp>
        <p:nvSpPr>
          <p:cNvPr id="21" name="Shape 17"/>
          <p:cNvSpPr/>
          <p:nvPr/>
        </p:nvSpPr>
        <p:spPr>
          <a:xfrm>
            <a:off x="6347308" y="2148840"/>
            <a:ext cx="2286000" cy="1828800"/>
          </a:xfrm>
          <a:prstGeom prst="roundRect">
            <a:avLst>
              <a:gd name="adj" fmla="val 7000"/>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2" name="Text 18"/>
          <p:cNvSpPr txBox="1"/>
          <p:nvPr/>
        </p:nvSpPr>
        <p:spPr>
          <a:xfrm>
            <a:off x="6347308" y="2331720"/>
            <a:ext cx="2286000" cy="914400"/>
          </a:xfrm>
          <a:prstGeom prst="rect">
            <a:avLst/>
          </a:prstGeom>
          <a:noFill/>
          <a:ln/>
        </p:spPr>
        <p:txBody>
          <a:bodyPr wrap="square" lIns="0" tIns="0" rIns="0" bIns="0" rtlCol="0" anchor="t"/>
          <a:lstStyle/>
          <a:p>
            <a:pPr algn="ctr" indent="0" marL="0">
              <a:buNone/>
            </a:pPr>
            <a:r>
              <a:rPr lang="en-US" sz="5200" b="1" dirty="0">
                <a:solidFill>
                  <a:srgbClr val="F2EFFF"/>
                </a:solidFill>
                <a:latin typeface="Segoe UI" pitchFamily="34" charset="0"/>
                <a:ea typeface="Segoe UI" pitchFamily="34" charset="-122"/>
                <a:cs typeface="Segoe UI" pitchFamily="34" charset="-120"/>
              </a:rPr>
              <a:t>3</a:t>
            </a:r>
            <a:endParaRPr lang="en-US" sz="5200" dirty="0"/>
          </a:p>
        </p:txBody>
      </p:sp>
      <p:sp>
        <p:nvSpPr>
          <p:cNvPr id="23" name="Text 19"/>
          <p:cNvSpPr txBox="1"/>
          <p:nvPr/>
        </p:nvSpPr>
        <p:spPr>
          <a:xfrm>
            <a:off x="6347308" y="3291840"/>
            <a:ext cx="2286000" cy="320040"/>
          </a:xfrm>
          <a:prstGeom prst="rect">
            <a:avLst/>
          </a:prstGeom>
          <a:noFill/>
          <a:ln/>
        </p:spPr>
        <p:txBody>
          <a:bodyPr wrap="square" lIns="0" tIns="0" rIns="0" bIns="0" rtlCol="0" anchor="t"/>
          <a:lstStyle/>
          <a:p>
            <a:pPr algn="ctr" indent="0" marL="0">
              <a:buNone/>
            </a:pPr>
            <a:r>
              <a:rPr lang="en-US" sz="1300" dirty="0">
                <a:solidFill>
                  <a:srgbClr val="A9A3CF"/>
                </a:solidFill>
                <a:latin typeface="Segoe UI" pitchFamily="34" charset="0"/>
                <a:ea typeface="Segoe UI" pitchFamily="34" charset="-122"/>
                <a:cs typeface="Segoe UI" pitchFamily="34" charset="-120"/>
              </a:rPr>
              <a:t>AI models</a:t>
            </a:r>
            <a:endParaRPr lang="en-US" sz="1300" dirty="0"/>
          </a:p>
        </p:txBody>
      </p:sp>
      <p:sp>
        <p:nvSpPr>
          <p:cNvPr id="24" name="Text 20"/>
          <p:cNvSpPr txBox="1"/>
          <p:nvPr/>
        </p:nvSpPr>
        <p:spPr>
          <a:xfrm>
            <a:off x="8633308" y="2697480"/>
            <a:ext cx="502920" cy="640080"/>
          </a:xfrm>
          <a:prstGeom prst="rect">
            <a:avLst/>
          </a:prstGeom>
          <a:noFill/>
          <a:ln/>
        </p:spPr>
        <p:txBody>
          <a:bodyPr wrap="square" lIns="0" tIns="0" rIns="0" bIns="0" rtlCol="0" anchor="t"/>
          <a:lstStyle/>
          <a:p>
            <a:pPr algn="ctr" indent="0" marL="0">
              <a:buNone/>
            </a:pPr>
            <a:r>
              <a:rPr lang="en-US" sz="3200" b="1" dirty="0">
                <a:solidFill>
                  <a:srgbClr val="6F6A99"/>
                </a:solidFill>
                <a:latin typeface="Segoe UI" pitchFamily="34" charset="0"/>
                <a:ea typeface="Segoe UI" pitchFamily="34" charset="-122"/>
                <a:cs typeface="Segoe UI" pitchFamily="34" charset="-120"/>
              </a:rPr>
              <a:t>=</a:t>
            </a:r>
            <a:endParaRPr lang="en-US" sz="3200" dirty="0"/>
          </a:p>
        </p:txBody>
      </p:sp>
      <p:sp>
        <p:nvSpPr>
          <p:cNvPr id="25" name="Shape 21"/>
          <p:cNvSpPr/>
          <p:nvPr/>
        </p:nvSpPr>
        <p:spPr>
          <a:xfrm>
            <a:off x="9136228" y="2148840"/>
            <a:ext cx="2286000" cy="1828800"/>
          </a:xfrm>
          <a:prstGeom prst="roundRect">
            <a:avLst>
              <a:gd name="adj" fmla="val 7000"/>
            </a:avLst>
          </a:prstGeom>
          <a:solidFill>
            <a:srgbClr val="211B42"/>
          </a:solidFill>
          <a:ln w="19050">
            <a:solidFill>
              <a:srgbClr val="FF9F1C"/>
            </a:solidFill>
            <a:prstDash val="solid"/>
          </a:ln>
          <a:effectLst>
            <a:outerShdw sx="100000" sy="100000" kx="0" ky="0" algn="bl" rotWithShape="0" blurRad="177800" dist="50800" dir="5400000">
              <a:srgbClr val="000000">
                <a:alpha val="45000"/>
              </a:srgbClr>
            </a:outerShdw>
          </a:effectLst>
        </p:spPr>
      </p:sp>
      <p:pic>
        <p:nvPicPr>
          <p:cNvPr id="26" name="Image 2" descr="/tmp/claude-0/-home-claude/cf1b82dd-723a-5c0d-b3ee-f6062e85aabe/scratchpad/nd/glow_a.png">    </p:cNvPr>
          <p:cNvPicPr>
            <a:picLocks noChangeAspect="1"/>
          </p:cNvPicPr>
          <p:nvPr/>
        </p:nvPicPr>
        <p:blipFill>
          <a:blip r:embed="rId8">
            <a:alphaModFix amt="40000"/>
          </a:blip>
          <a:stretch>
            <a:fillRect/>
          </a:stretch>
        </p:blipFill>
        <p:spPr>
          <a:xfrm>
            <a:off x="9319108" y="1965960"/>
            <a:ext cx="1920240" cy="1920240"/>
          </a:xfrm>
          <a:prstGeom prst="rect">
            <a:avLst/>
          </a:prstGeom>
        </p:spPr>
      </p:pic>
      <p:sp>
        <p:nvSpPr>
          <p:cNvPr id="27" name="Text 22"/>
          <p:cNvSpPr txBox="1"/>
          <p:nvPr/>
        </p:nvSpPr>
        <p:spPr>
          <a:xfrm>
            <a:off x="9136228" y="2331720"/>
            <a:ext cx="2286000" cy="914400"/>
          </a:xfrm>
          <a:prstGeom prst="rect">
            <a:avLst/>
          </a:prstGeom>
          <a:noFill/>
          <a:ln/>
        </p:spPr>
        <p:txBody>
          <a:bodyPr wrap="square" lIns="0" tIns="0" rIns="0" bIns="0" rtlCol="0" anchor="t"/>
          <a:lstStyle/>
          <a:p>
            <a:pPr algn="ctr" indent="0" marL="0">
              <a:buNone/>
            </a:pPr>
            <a:r>
              <a:rPr lang="en-US" sz="5200" b="1" dirty="0">
                <a:solidFill>
                  <a:srgbClr val="FF9F1C"/>
                </a:solidFill>
                <a:latin typeface="Segoe UI" pitchFamily="34" charset="0"/>
                <a:ea typeface="Segoe UI" pitchFamily="34" charset="-122"/>
                <a:cs typeface="Segoe UI" pitchFamily="34" charset="-120"/>
              </a:rPr>
              <a:t>750</a:t>
            </a:r>
            <a:endParaRPr lang="en-US" sz="5200" dirty="0"/>
          </a:p>
        </p:txBody>
      </p:sp>
      <p:sp>
        <p:nvSpPr>
          <p:cNvPr id="28" name="Text 23"/>
          <p:cNvSpPr txBox="1"/>
          <p:nvPr/>
        </p:nvSpPr>
        <p:spPr>
          <a:xfrm>
            <a:off x="9136228" y="3291840"/>
            <a:ext cx="2286000" cy="320040"/>
          </a:xfrm>
          <a:prstGeom prst="rect">
            <a:avLst/>
          </a:prstGeom>
          <a:noFill/>
          <a:ln/>
        </p:spPr>
        <p:txBody>
          <a:bodyPr wrap="square" lIns="0" tIns="0" rIns="0" bIns="0" rtlCol="0" anchor="t"/>
          <a:lstStyle/>
          <a:p>
            <a:pPr algn="ctr" indent="0" marL="0">
              <a:buNone/>
            </a:pPr>
            <a:r>
              <a:rPr lang="en-US" sz="1300" dirty="0">
                <a:solidFill>
                  <a:srgbClr val="A9A3CF"/>
                </a:solidFill>
                <a:latin typeface="Segoe UI" pitchFamily="34" charset="0"/>
                <a:ea typeface="Segoe UI" pitchFamily="34" charset="-122"/>
                <a:cs typeface="Segoe UI" pitchFamily="34" charset="-120"/>
              </a:rPr>
              <a:t>answers graded</a:t>
            </a:r>
            <a:endParaRPr lang="en-US" sz="1300" dirty="0"/>
          </a:p>
        </p:txBody>
      </p:sp>
      <p:sp>
        <p:nvSpPr>
          <p:cNvPr id="29" name="Text 24"/>
          <p:cNvSpPr txBox="1"/>
          <p:nvPr/>
        </p:nvSpPr>
        <p:spPr>
          <a:xfrm>
            <a:off x="612648" y="4315968"/>
            <a:ext cx="5486400" cy="219456"/>
          </a:xfrm>
          <a:prstGeom prst="rect">
            <a:avLst/>
          </a:prstGeom>
          <a:noFill/>
          <a:ln/>
        </p:spPr>
        <p:txBody>
          <a:bodyPr wrap="square" lIns="0" tIns="0" rIns="0" bIns="0" rtlCol="0" anchor="t"/>
          <a:lstStyle/>
          <a:p>
            <a:pPr indent="0" marL="0">
              <a:buNone/>
            </a:pPr>
            <a:r>
              <a:rPr lang="en-US" sz="1000" b="1" spc="100" kern="0" dirty="0">
                <a:solidFill>
                  <a:srgbClr val="6F6A99"/>
                </a:solidFill>
                <a:latin typeface="Consolas" pitchFamily="34" charset="0"/>
                <a:ea typeface="Consolas" pitchFamily="34" charset="-122"/>
                <a:cs typeface="Consolas" pitchFamily="34" charset="-120"/>
              </a:rPr>
              <a:t>THE 10 WAYS OF ASKING</a:t>
            </a:r>
            <a:endParaRPr lang="en-US" sz="1000" dirty="0"/>
          </a:p>
        </p:txBody>
      </p:sp>
      <p:sp>
        <p:nvSpPr>
          <p:cNvPr id="30" name="Shape 25"/>
          <p:cNvSpPr/>
          <p:nvPr/>
        </p:nvSpPr>
        <p:spPr>
          <a:xfrm>
            <a:off x="612648" y="4617720"/>
            <a:ext cx="2103120" cy="420624"/>
          </a:xfrm>
          <a:prstGeom prst="roundRect">
            <a:avLst>
              <a:gd name="adj" fmla="val 50000"/>
            </a:avLst>
          </a:prstGeom>
          <a:solidFill>
            <a:srgbClr val="17132E"/>
          </a:solidFill>
          <a:ln w="12700">
            <a:solidFill>
              <a:srgbClr val="2E2759"/>
            </a:solidFill>
            <a:prstDash val="solid"/>
          </a:ln>
        </p:spPr>
      </p:sp>
      <p:sp>
        <p:nvSpPr>
          <p:cNvPr id="31" name="Shape 26"/>
          <p:cNvSpPr/>
          <p:nvPr/>
        </p:nvSpPr>
        <p:spPr>
          <a:xfrm>
            <a:off x="768096" y="4768596"/>
            <a:ext cx="118872" cy="118872"/>
          </a:xfrm>
          <a:prstGeom prst="ellipse">
            <a:avLst/>
          </a:prstGeom>
          <a:solidFill>
            <a:srgbClr val="A9A3CF"/>
          </a:solidFill>
          <a:ln/>
        </p:spPr>
      </p:sp>
      <p:sp>
        <p:nvSpPr>
          <p:cNvPr id="32" name="Text 27"/>
          <p:cNvSpPr txBox="1"/>
          <p:nvPr/>
        </p:nvSpPr>
        <p:spPr>
          <a:xfrm>
            <a:off x="978408" y="4617720"/>
            <a:ext cx="1691640" cy="420624"/>
          </a:xfrm>
          <a:prstGeom prst="rect">
            <a:avLst/>
          </a:prstGeom>
          <a:noFill/>
          <a:ln/>
        </p:spPr>
        <p:txBody>
          <a:bodyPr wrap="square" lIns="0" tIns="0" rIns="0" bIns="0" rtlCol="0" anchor="ctr"/>
          <a:lstStyle/>
          <a:p>
            <a:pPr indent="0" marL="0">
              <a:buNone/>
            </a:pPr>
            <a:r>
              <a:rPr lang="en-US" sz="1150" dirty="0">
                <a:solidFill>
                  <a:srgbClr val="F2EFFF"/>
                </a:solidFill>
                <a:latin typeface="Segoe UI" pitchFamily="34" charset="0"/>
                <a:ea typeface="Segoe UI" pitchFamily="34" charset="-122"/>
                <a:cs typeface="Segoe UI" pitchFamily="34" charset="-120"/>
              </a:rPr>
              <a:t>English</a:t>
            </a:r>
            <a:endParaRPr lang="en-US" sz="1150" dirty="0"/>
          </a:p>
        </p:txBody>
      </p:sp>
      <p:sp>
        <p:nvSpPr>
          <p:cNvPr id="33" name="Shape 28"/>
          <p:cNvSpPr/>
          <p:nvPr/>
        </p:nvSpPr>
        <p:spPr>
          <a:xfrm>
            <a:off x="2825496" y="4617720"/>
            <a:ext cx="2103120" cy="420624"/>
          </a:xfrm>
          <a:prstGeom prst="roundRect">
            <a:avLst>
              <a:gd name="adj" fmla="val 50000"/>
            </a:avLst>
          </a:prstGeom>
          <a:solidFill>
            <a:srgbClr val="17132E"/>
          </a:solidFill>
          <a:ln w="12700">
            <a:solidFill>
              <a:srgbClr val="2E2759"/>
            </a:solidFill>
            <a:prstDash val="solid"/>
          </a:ln>
        </p:spPr>
      </p:sp>
      <p:sp>
        <p:nvSpPr>
          <p:cNvPr id="34" name="Shape 29"/>
          <p:cNvSpPr/>
          <p:nvPr/>
        </p:nvSpPr>
        <p:spPr>
          <a:xfrm>
            <a:off x="2980944" y="4768596"/>
            <a:ext cx="118872" cy="118872"/>
          </a:xfrm>
          <a:prstGeom prst="ellipse">
            <a:avLst/>
          </a:prstGeom>
          <a:solidFill>
            <a:srgbClr val="A9A3CF"/>
          </a:solidFill>
          <a:ln/>
        </p:spPr>
      </p:sp>
      <p:sp>
        <p:nvSpPr>
          <p:cNvPr id="35" name="Text 30"/>
          <p:cNvSpPr txBox="1"/>
          <p:nvPr/>
        </p:nvSpPr>
        <p:spPr>
          <a:xfrm>
            <a:off x="3191256" y="4617720"/>
            <a:ext cx="1691640" cy="420624"/>
          </a:xfrm>
          <a:prstGeom prst="rect">
            <a:avLst/>
          </a:prstGeom>
          <a:noFill/>
          <a:ln/>
        </p:spPr>
        <p:txBody>
          <a:bodyPr wrap="square" lIns="0" tIns="0" rIns="0" bIns="0" rtlCol="0" anchor="ctr"/>
          <a:lstStyle/>
          <a:p>
            <a:pPr indent="0" marL="0">
              <a:buNone/>
            </a:pPr>
            <a:r>
              <a:rPr lang="en-US" sz="1150" dirty="0">
                <a:solidFill>
                  <a:srgbClr val="F2EFFF"/>
                </a:solidFill>
                <a:latin typeface="Segoe UI" pitchFamily="34" charset="0"/>
                <a:ea typeface="Segoe UI" pitchFamily="34" charset="-122"/>
                <a:cs typeface="Segoe UI" pitchFamily="34" charset="-120"/>
              </a:rPr>
              <a:t>English, casual</a:t>
            </a:r>
            <a:endParaRPr lang="en-US" sz="1150" dirty="0"/>
          </a:p>
        </p:txBody>
      </p:sp>
      <p:sp>
        <p:nvSpPr>
          <p:cNvPr id="36" name="Shape 31"/>
          <p:cNvSpPr/>
          <p:nvPr/>
        </p:nvSpPr>
        <p:spPr>
          <a:xfrm>
            <a:off x="5038344" y="4617720"/>
            <a:ext cx="2103120" cy="420624"/>
          </a:xfrm>
          <a:prstGeom prst="roundRect">
            <a:avLst>
              <a:gd name="adj" fmla="val 50000"/>
            </a:avLst>
          </a:prstGeom>
          <a:solidFill>
            <a:srgbClr val="17132E"/>
          </a:solidFill>
          <a:ln w="12700">
            <a:solidFill>
              <a:srgbClr val="2E2759"/>
            </a:solidFill>
            <a:prstDash val="solid"/>
          </a:ln>
        </p:spPr>
      </p:sp>
      <p:sp>
        <p:nvSpPr>
          <p:cNvPr id="37" name="Shape 32"/>
          <p:cNvSpPr/>
          <p:nvPr/>
        </p:nvSpPr>
        <p:spPr>
          <a:xfrm>
            <a:off x="5193792" y="4768596"/>
            <a:ext cx="118872" cy="118872"/>
          </a:xfrm>
          <a:prstGeom prst="ellipse">
            <a:avLst/>
          </a:prstGeom>
          <a:solidFill>
            <a:srgbClr val="FF9F1C"/>
          </a:solidFill>
          <a:ln/>
        </p:spPr>
      </p:sp>
      <p:sp>
        <p:nvSpPr>
          <p:cNvPr id="38" name="Text 33"/>
          <p:cNvSpPr txBox="1"/>
          <p:nvPr/>
        </p:nvSpPr>
        <p:spPr>
          <a:xfrm>
            <a:off x="5404104" y="4617720"/>
            <a:ext cx="1691640" cy="420624"/>
          </a:xfrm>
          <a:prstGeom prst="rect">
            <a:avLst/>
          </a:prstGeom>
          <a:noFill/>
          <a:ln/>
        </p:spPr>
        <p:txBody>
          <a:bodyPr wrap="square" lIns="0" tIns="0" rIns="0" bIns="0" rtlCol="0" anchor="ctr"/>
          <a:lstStyle/>
          <a:p>
            <a:pPr indent="0" marL="0">
              <a:buNone/>
            </a:pPr>
            <a:r>
              <a:rPr lang="en-US" sz="1150" dirty="0">
                <a:solidFill>
                  <a:srgbClr val="F2EFFF"/>
                </a:solidFill>
                <a:latin typeface="Segoe UI" pitchFamily="34" charset="0"/>
                <a:ea typeface="Segoe UI" pitchFamily="34" charset="-122"/>
                <a:cs typeface="Segoe UI" pitchFamily="34" charset="-120"/>
              </a:rPr>
              <a:t>Hinglish</a:t>
            </a:r>
            <a:endParaRPr lang="en-US" sz="1150" dirty="0"/>
          </a:p>
        </p:txBody>
      </p:sp>
      <p:sp>
        <p:nvSpPr>
          <p:cNvPr id="39" name="Shape 34"/>
          <p:cNvSpPr/>
          <p:nvPr/>
        </p:nvSpPr>
        <p:spPr>
          <a:xfrm>
            <a:off x="7251192" y="4617720"/>
            <a:ext cx="2103120" cy="420624"/>
          </a:xfrm>
          <a:prstGeom prst="roundRect">
            <a:avLst>
              <a:gd name="adj" fmla="val 50000"/>
            </a:avLst>
          </a:prstGeom>
          <a:solidFill>
            <a:srgbClr val="17132E"/>
          </a:solidFill>
          <a:ln w="12700">
            <a:solidFill>
              <a:srgbClr val="2E2759"/>
            </a:solidFill>
            <a:prstDash val="solid"/>
          </a:ln>
        </p:spPr>
      </p:sp>
      <p:sp>
        <p:nvSpPr>
          <p:cNvPr id="40" name="Shape 35"/>
          <p:cNvSpPr/>
          <p:nvPr/>
        </p:nvSpPr>
        <p:spPr>
          <a:xfrm>
            <a:off x="7406640" y="4768596"/>
            <a:ext cx="118872" cy="118872"/>
          </a:xfrm>
          <a:prstGeom prst="ellipse">
            <a:avLst/>
          </a:prstGeom>
          <a:solidFill>
            <a:srgbClr val="FF9F1C"/>
          </a:solidFill>
          <a:ln/>
        </p:spPr>
      </p:sp>
      <p:sp>
        <p:nvSpPr>
          <p:cNvPr id="41" name="Text 36"/>
          <p:cNvSpPr txBox="1"/>
          <p:nvPr/>
        </p:nvSpPr>
        <p:spPr>
          <a:xfrm>
            <a:off x="7616952" y="4617720"/>
            <a:ext cx="1691640" cy="420624"/>
          </a:xfrm>
          <a:prstGeom prst="rect">
            <a:avLst/>
          </a:prstGeom>
          <a:noFill/>
          <a:ln/>
        </p:spPr>
        <p:txBody>
          <a:bodyPr wrap="square" lIns="0" tIns="0" rIns="0" bIns="0" rtlCol="0" anchor="ctr"/>
          <a:lstStyle/>
          <a:p>
            <a:pPr indent="0" marL="0">
              <a:buNone/>
            </a:pPr>
            <a:r>
              <a:rPr lang="en-US" sz="1150" dirty="0">
                <a:solidFill>
                  <a:srgbClr val="F2EFFF"/>
                </a:solidFill>
                <a:latin typeface="Segoe UI" pitchFamily="34" charset="0"/>
                <a:ea typeface="Segoe UI" pitchFamily="34" charset="-122"/>
                <a:cs typeface="Segoe UI" pitchFamily="34" charset="-120"/>
              </a:rPr>
              <a:t>Hinglish, casual</a:t>
            </a:r>
            <a:endParaRPr lang="en-US" sz="1150" dirty="0"/>
          </a:p>
        </p:txBody>
      </p:sp>
      <p:sp>
        <p:nvSpPr>
          <p:cNvPr id="42" name="Shape 37"/>
          <p:cNvSpPr/>
          <p:nvPr/>
        </p:nvSpPr>
        <p:spPr>
          <a:xfrm>
            <a:off x="9464040" y="4617720"/>
            <a:ext cx="2103120" cy="420624"/>
          </a:xfrm>
          <a:prstGeom prst="roundRect">
            <a:avLst>
              <a:gd name="adj" fmla="val 50000"/>
            </a:avLst>
          </a:prstGeom>
          <a:solidFill>
            <a:srgbClr val="17132E"/>
          </a:solidFill>
          <a:ln w="12700">
            <a:solidFill>
              <a:srgbClr val="2E2759"/>
            </a:solidFill>
            <a:prstDash val="solid"/>
          </a:ln>
        </p:spPr>
      </p:sp>
      <p:sp>
        <p:nvSpPr>
          <p:cNvPr id="43" name="Shape 38"/>
          <p:cNvSpPr/>
          <p:nvPr/>
        </p:nvSpPr>
        <p:spPr>
          <a:xfrm>
            <a:off x="9619488" y="4768596"/>
            <a:ext cx="118872" cy="118872"/>
          </a:xfrm>
          <a:prstGeom prst="ellipse">
            <a:avLst/>
          </a:prstGeom>
          <a:solidFill>
            <a:srgbClr val="FF9F1C"/>
          </a:solidFill>
          <a:ln/>
        </p:spPr>
      </p:sp>
      <p:sp>
        <p:nvSpPr>
          <p:cNvPr id="44" name="Text 39"/>
          <p:cNvSpPr txBox="1"/>
          <p:nvPr/>
        </p:nvSpPr>
        <p:spPr>
          <a:xfrm>
            <a:off x="9829800" y="4617720"/>
            <a:ext cx="1691640" cy="420624"/>
          </a:xfrm>
          <a:prstGeom prst="rect">
            <a:avLst/>
          </a:prstGeom>
          <a:noFill/>
          <a:ln/>
        </p:spPr>
        <p:txBody>
          <a:bodyPr wrap="square" lIns="0" tIns="0" rIns="0" bIns="0" rtlCol="0" anchor="ctr"/>
          <a:lstStyle/>
          <a:p>
            <a:pPr indent="0" marL="0">
              <a:buNone/>
            </a:pPr>
            <a:r>
              <a:rPr lang="en-US" sz="1150" dirty="0">
                <a:solidFill>
                  <a:srgbClr val="F2EFFF"/>
                </a:solidFill>
                <a:latin typeface="Segoe UI" pitchFamily="34" charset="0"/>
                <a:ea typeface="Segoe UI" pitchFamily="34" charset="-122"/>
                <a:cs typeface="Segoe UI" pitchFamily="34" charset="-120"/>
              </a:rPr>
              <a:t>Hinglish, Hindi script</a:t>
            </a:r>
            <a:endParaRPr lang="en-US" sz="1150" dirty="0"/>
          </a:p>
        </p:txBody>
      </p:sp>
      <p:sp>
        <p:nvSpPr>
          <p:cNvPr id="45" name="Shape 40"/>
          <p:cNvSpPr/>
          <p:nvPr/>
        </p:nvSpPr>
        <p:spPr>
          <a:xfrm>
            <a:off x="612648" y="5166360"/>
            <a:ext cx="2103120" cy="420624"/>
          </a:xfrm>
          <a:prstGeom prst="roundRect">
            <a:avLst>
              <a:gd name="adj" fmla="val 50000"/>
            </a:avLst>
          </a:prstGeom>
          <a:solidFill>
            <a:srgbClr val="17132E"/>
          </a:solidFill>
          <a:ln w="12700">
            <a:solidFill>
              <a:srgbClr val="2E2759"/>
            </a:solidFill>
            <a:prstDash val="solid"/>
          </a:ln>
        </p:spPr>
      </p:sp>
      <p:sp>
        <p:nvSpPr>
          <p:cNvPr id="46" name="Shape 41"/>
          <p:cNvSpPr/>
          <p:nvPr/>
        </p:nvSpPr>
        <p:spPr>
          <a:xfrm>
            <a:off x="768096" y="5317236"/>
            <a:ext cx="118872" cy="118872"/>
          </a:xfrm>
          <a:prstGeom prst="ellipse">
            <a:avLst/>
          </a:prstGeom>
          <a:solidFill>
            <a:srgbClr val="4CC9F0"/>
          </a:solidFill>
          <a:ln/>
        </p:spPr>
      </p:sp>
      <p:sp>
        <p:nvSpPr>
          <p:cNvPr id="47" name="Text 42"/>
          <p:cNvSpPr txBox="1"/>
          <p:nvPr/>
        </p:nvSpPr>
        <p:spPr>
          <a:xfrm>
            <a:off x="978408" y="5166360"/>
            <a:ext cx="1691640" cy="420624"/>
          </a:xfrm>
          <a:prstGeom prst="rect">
            <a:avLst/>
          </a:prstGeom>
          <a:noFill/>
          <a:ln/>
        </p:spPr>
        <p:txBody>
          <a:bodyPr wrap="square" lIns="0" tIns="0" rIns="0" bIns="0" rtlCol="0" anchor="ctr"/>
          <a:lstStyle/>
          <a:p>
            <a:pPr indent="0" marL="0">
              <a:buNone/>
            </a:pPr>
            <a:r>
              <a:rPr lang="en-US" sz="1150" dirty="0">
                <a:solidFill>
                  <a:srgbClr val="F2EFFF"/>
                </a:solidFill>
                <a:latin typeface="Segoe UI" pitchFamily="34" charset="0"/>
                <a:ea typeface="Segoe UI" pitchFamily="34" charset="-122"/>
                <a:cs typeface="Segoe UI" pitchFamily="34" charset="-120"/>
              </a:rPr>
              <a:t>Benglish</a:t>
            </a:r>
            <a:endParaRPr lang="en-US" sz="1150" dirty="0"/>
          </a:p>
        </p:txBody>
      </p:sp>
      <p:sp>
        <p:nvSpPr>
          <p:cNvPr id="48" name="Shape 43"/>
          <p:cNvSpPr/>
          <p:nvPr/>
        </p:nvSpPr>
        <p:spPr>
          <a:xfrm>
            <a:off x="2825496" y="5166360"/>
            <a:ext cx="2103120" cy="420624"/>
          </a:xfrm>
          <a:prstGeom prst="roundRect">
            <a:avLst>
              <a:gd name="adj" fmla="val 50000"/>
            </a:avLst>
          </a:prstGeom>
          <a:solidFill>
            <a:srgbClr val="17132E"/>
          </a:solidFill>
          <a:ln w="12700">
            <a:solidFill>
              <a:srgbClr val="2E2759"/>
            </a:solidFill>
            <a:prstDash val="solid"/>
          </a:ln>
        </p:spPr>
      </p:sp>
      <p:sp>
        <p:nvSpPr>
          <p:cNvPr id="49" name="Shape 44"/>
          <p:cNvSpPr/>
          <p:nvPr/>
        </p:nvSpPr>
        <p:spPr>
          <a:xfrm>
            <a:off x="2980944" y="5317236"/>
            <a:ext cx="118872" cy="118872"/>
          </a:xfrm>
          <a:prstGeom prst="ellipse">
            <a:avLst/>
          </a:prstGeom>
          <a:solidFill>
            <a:srgbClr val="4CC9F0"/>
          </a:solidFill>
          <a:ln/>
        </p:spPr>
      </p:sp>
      <p:sp>
        <p:nvSpPr>
          <p:cNvPr id="50" name="Text 45"/>
          <p:cNvSpPr txBox="1"/>
          <p:nvPr/>
        </p:nvSpPr>
        <p:spPr>
          <a:xfrm>
            <a:off x="3191256" y="5166360"/>
            <a:ext cx="1691640" cy="420624"/>
          </a:xfrm>
          <a:prstGeom prst="rect">
            <a:avLst/>
          </a:prstGeom>
          <a:noFill/>
          <a:ln/>
        </p:spPr>
        <p:txBody>
          <a:bodyPr wrap="square" lIns="0" tIns="0" rIns="0" bIns="0" rtlCol="0" anchor="ctr"/>
          <a:lstStyle/>
          <a:p>
            <a:pPr indent="0" marL="0">
              <a:buNone/>
            </a:pPr>
            <a:r>
              <a:rPr lang="en-US" sz="1150" dirty="0">
                <a:solidFill>
                  <a:srgbClr val="F2EFFF"/>
                </a:solidFill>
                <a:latin typeface="Segoe UI" pitchFamily="34" charset="0"/>
                <a:ea typeface="Segoe UI" pitchFamily="34" charset="-122"/>
                <a:cs typeface="Segoe UI" pitchFamily="34" charset="-120"/>
              </a:rPr>
              <a:t>Benglish, casual</a:t>
            </a:r>
            <a:endParaRPr lang="en-US" sz="1150" dirty="0"/>
          </a:p>
        </p:txBody>
      </p:sp>
      <p:sp>
        <p:nvSpPr>
          <p:cNvPr id="51" name="Shape 46"/>
          <p:cNvSpPr/>
          <p:nvPr/>
        </p:nvSpPr>
        <p:spPr>
          <a:xfrm>
            <a:off x="5038344" y="5166360"/>
            <a:ext cx="2103120" cy="420624"/>
          </a:xfrm>
          <a:prstGeom prst="roundRect">
            <a:avLst>
              <a:gd name="adj" fmla="val 50000"/>
            </a:avLst>
          </a:prstGeom>
          <a:solidFill>
            <a:srgbClr val="17132E"/>
          </a:solidFill>
          <a:ln w="12700">
            <a:solidFill>
              <a:srgbClr val="2E2759"/>
            </a:solidFill>
            <a:prstDash val="solid"/>
          </a:ln>
        </p:spPr>
      </p:sp>
      <p:sp>
        <p:nvSpPr>
          <p:cNvPr id="52" name="Shape 47"/>
          <p:cNvSpPr/>
          <p:nvPr/>
        </p:nvSpPr>
        <p:spPr>
          <a:xfrm>
            <a:off x="5193792" y="5317236"/>
            <a:ext cx="118872" cy="118872"/>
          </a:xfrm>
          <a:prstGeom prst="ellipse">
            <a:avLst/>
          </a:prstGeom>
          <a:solidFill>
            <a:srgbClr val="E87BA4"/>
          </a:solidFill>
          <a:ln/>
        </p:spPr>
      </p:sp>
      <p:sp>
        <p:nvSpPr>
          <p:cNvPr id="53" name="Text 48"/>
          <p:cNvSpPr txBox="1"/>
          <p:nvPr/>
        </p:nvSpPr>
        <p:spPr>
          <a:xfrm>
            <a:off x="5404104" y="5166360"/>
            <a:ext cx="1691640" cy="420624"/>
          </a:xfrm>
          <a:prstGeom prst="rect">
            <a:avLst/>
          </a:prstGeom>
          <a:noFill/>
          <a:ln/>
        </p:spPr>
        <p:txBody>
          <a:bodyPr wrap="square" lIns="0" tIns="0" rIns="0" bIns="0" rtlCol="0" anchor="ctr"/>
          <a:lstStyle/>
          <a:p>
            <a:pPr indent="0" marL="0">
              <a:buNone/>
            </a:pPr>
            <a:r>
              <a:rPr lang="en-US" sz="1150" dirty="0">
                <a:solidFill>
                  <a:srgbClr val="F2EFFF"/>
                </a:solidFill>
                <a:latin typeface="Segoe UI" pitchFamily="34" charset="0"/>
                <a:ea typeface="Segoe UI" pitchFamily="34" charset="-122"/>
                <a:cs typeface="Segoe UI" pitchFamily="34" charset="-120"/>
              </a:rPr>
              <a:t>Kanglish, casual</a:t>
            </a:r>
            <a:endParaRPr lang="en-US" sz="1150" dirty="0"/>
          </a:p>
        </p:txBody>
      </p:sp>
      <p:sp>
        <p:nvSpPr>
          <p:cNvPr id="54" name="Shape 49"/>
          <p:cNvSpPr/>
          <p:nvPr/>
        </p:nvSpPr>
        <p:spPr>
          <a:xfrm>
            <a:off x="7251192" y="5166360"/>
            <a:ext cx="2103120" cy="420624"/>
          </a:xfrm>
          <a:prstGeom prst="roundRect">
            <a:avLst>
              <a:gd name="adj" fmla="val 50000"/>
            </a:avLst>
          </a:prstGeom>
          <a:solidFill>
            <a:srgbClr val="17132E"/>
          </a:solidFill>
          <a:ln w="12700">
            <a:solidFill>
              <a:srgbClr val="2E2759"/>
            </a:solidFill>
            <a:prstDash val="solid"/>
          </a:ln>
        </p:spPr>
      </p:sp>
      <p:sp>
        <p:nvSpPr>
          <p:cNvPr id="55" name="Shape 50"/>
          <p:cNvSpPr/>
          <p:nvPr/>
        </p:nvSpPr>
        <p:spPr>
          <a:xfrm>
            <a:off x="7406640" y="5317236"/>
            <a:ext cx="118872" cy="118872"/>
          </a:xfrm>
          <a:prstGeom prst="ellipse">
            <a:avLst/>
          </a:prstGeom>
          <a:solidFill>
            <a:srgbClr val="9EE493"/>
          </a:solidFill>
          <a:ln/>
        </p:spPr>
      </p:sp>
      <p:sp>
        <p:nvSpPr>
          <p:cNvPr id="56" name="Text 51"/>
          <p:cNvSpPr txBox="1"/>
          <p:nvPr/>
        </p:nvSpPr>
        <p:spPr>
          <a:xfrm>
            <a:off x="7616952" y="5166360"/>
            <a:ext cx="1691640" cy="420624"/>
          </a:xfrm>
          <a:prstGeom prst="rect">
            <a:avLst/>
          </a:prstGeom>
          <a:noFill/>
          <a:ln/>
        </p:spPr>
        <p:txBody>
          <a:bodyPr wrap="square" lIns="0" tIns="0" rIns="0" bIns="0" rtlCol="0" anchor="ctr"/>
          <a:lstStyle/>
          <a:p>
            <a:pPr indent="0" marL="0">
              <a:buNone/>
            </a:pPr>
            <a:r>
              <a:rPr lang="en-US" sz="1150" dirty="0">
                <a:solidFill>
                  <a:srgbClr val="F2EFFF"/>
                </a:solidFill>
                <a:latin typeface="Segoe UI" pitchFamily="34" charset="0"/>
                <a:ea typeface="Segoe UI" pitchFamily="34" charset="-122"/>
                <a:cs typeface="Segoe UI" pitchFamily="34" charset="-120"/>
              </a:rPr>
              <a:t>Tanglish, casual</a:t>
            </a:r>
            <a:endParaRPr lang="en-US" sz="1150" dirty="0"/>
          </a:p>
        </p:txBody>
      </p:sp>
      <p:sp>
        <p:nvSpPr>
          <p:cNvPr id="57" name="Shape 52"/>
          <p:cNvSpPr/>
          <p:nvPr/>
        </p:nvSpPr>
        <p:spPr>
          <a:xfrm>
            <a:off x="9464040" y="5166360"/>
            <a:ext cx="2103120" cy="420624"/>
          </a:xfrm>
          <a:prstGeom prst="roundRect">
            <a:avLst>
              <a:gd name="adj" fmla="val 50000"/>
            </a:avLst>
          </a:prstGeom>
          <a:solidFill>
            <a:srgbClr val="17132E"/>
          </a:solidFill>
          <a:ln w="12700">
            <a:solidFill>
              <a:srgbClr val="2E2759"/>
            </a:solidFill>
            <a:prstDash val="solid"/>
          </a:ln>
        </p:spPr>
      </p:sp>
      <p:sp>
        <p:nvSpPr>
          <p:cNvPr id="58" name="Shape 53"/>
          <p:cNvSpPr/>
          <p:nvPr/>
        </p:nvSpPr>
        <p:spPr>
          <a:xfrm>
            <a:off x="9619488" y="5317236"/>
            <a:ext cx="118872" cy="118872"/>
          </a:xfrm>
          <a:prstGeom prst="ellipse">
            <a:avLst/>
          </a:prstGeom>
          <a:solidFill>
            <a:srgbClr val="FFD166"/>
          </a:solidFill>
          <a:ln/>
        </p:spPr>
      </p:sp>
      <p:sp>
        <p:nvSpPr>
          <p:cNvPr id="59" name="Text 54"/>
          <p:cNvSpPr txBox="1"/>
          <p:nvPr/>
        </p:nvSpPr>
        <p:spPr>
          <a:xfrm>
            <a:off x="9829800" y="5166360"/>
            <a:ext cx="1691640" cy="420624"/>
          </a:xfrm>
          <a:prstGeom prst="rect">
            <a:avLst/>
          </a:prstGeom>
          <a:noFill/>
          <a:ln/>
        </p:spPr>
        <p:txBody>
          <a:bodyPr wrap="square" lIns="0" tIns="0" rIns="0" bIns="0" rtlCol="0" anchor="ctr"/>
          <a:lstStyle/>
          <a:p>
            <a:pPr indent="0" marL="0">
              <a:buNone/>
            </a:pPr>
            <a:r>
              <a:rPr lang="en-US" sz="1150" dirty="0">
                <a:solidFill>
                  <a:srgbClr val="F2EFFF"/>
                </a:solidFill>
                <a:latin typeface="Segoe UI" pitchFamily="34" charset="0"/>
                <a:ea typeface="Segoe UI" pitchFamily="34" charset="-122"/>
                <a:cs typeface="Segoe UI" pitchFamily="34" charset="-120"/>
              </a:rPr>
              <a:t>Odia-English, casual</a:t>
            </a:r>
            <a:endParaRPr lang="en-US" sz="1150" dirty="0"/>
          </a:p>
        </p:txBody>
      </p:sp>
      <p:sp>
        <p:nvSpPr>
          <p:cNvPr id="60" name="Text 55"/>
          <p:cNvSpPr txBox="1"/>
          <p:nvPr/>
        </p:nvSpPr>
        <p:spPr>
          <a:xfrm>
            <a:off x="548640" y="5852160"/>
            <a:ext cx="11064240" cy="274320"/>
          </a:xfrm>
          <a:prstGeom prst="rect">
            <a:avLst/>
          </a:prstGeom>
          <a:noFill/>
          <a:ln/>
        </p:spPr>
        <p:txBody>
          <a:bodyPr wrap="square" lIns="0" tIns="0" rIns="0" bIns="0" rtlCol="0" anchor="t"/>
          <a:lstStyle/>
          <a:p>
            <a:pPr algn="ctr" indent="0" marL="0">
              <a:buNone/>
            </a:pPr>
            <a:r>
              <a:rPr lang="en-US" sz="1200" dirty="0">
                <a:solidFill>
                  <a:srgbClr val="A9A3CF"/>
                </a:solidFill>
                <a:latin typeface="Segoe UI" pitchFamily="34" charset="0"/>
                <a:ea typeface="Segoe UI" pitchFamily="34" charset="-122"/>
                <a:cs typeface="Segoe UI" pitchFamily="34" charset="-120"/>
              </a:rPr>
              <a:t>5 languages  ·  2 scripts  ·  formal and casual  ·  every prompt names the function and says “reply with only the code”</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09 / 19</a:t>
            </a:r>
            <a:endParaRPr lang="en-US" sz="900" dirty="0"/>
          </a:p>
        </p:txBody>
      </p:sp>
      <p:sp>
        <p:nvSpPr>
          <p:cNvPr id="11"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04 · RESULTS</a:t>
            </a:r>
            <a:endParaRPr lang="en-US" sz="1100" dirty="0"/>
          </a:p>
        </p:txBody>
      </p:sp>
      <p:sp>
        <p:nvSpPr>
          <p:cNvPr id="12"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Where the models fail</a:t>
            </a:r>
            <a:endParaRPr lang="en-US" sz="3000" dirty="0"/>
          </a:p>
        </p:txBody>
      </p:sp>
      <p:sp>
        <p:nvSpPr>
          <p:cNvPr id="13" name="!!sub"/>
          <p:cNvSpPr txBox="1"/>
          <p:nvPr/>
        </p:nvSpPr>
        <p:spPr>
          <a:xfrm>
            <a:off x="548640" y="1810512"/>
            <a:ext cx="11155680" cy="292608"/>
          </a:xfrm>
          <a:prstGeom prst="rect">
            <a:avLst/>
          </a:prstGeom>
          <a:noFill/>
          <a:ln/>
        </p:spPr>
        <p:txBody>
          <a:bodyPr wrap="square" lIns="0" tIns="0" rIns="0" bIns="0" rtlCol="0" anchor="t"/>
          <a:lstStyle/>
          <a:p>
            <a:pPr indent="0" marL="0">
              <a:buNone/>
            </a:pPr>
            <a:r>
              <a:rPr lang="en-US" sz="1300" dirty="0">
                <a:solidFill>
                  <a:srgbClr val="A9A3CF"/>
                </a:solidFill>
                <a:latin typeface="Segoe UI" pitchFamily="34" charset="0"/>
                <a:ea typeface="Segoe UI" pitchFamily="34" charset="-122"/>
                <a:cs typeface="Segoe UI" pitchFamily="34" charset="-120"/>
              </a:rPr>
              <a:t>Correct code: how many of the 25 tasks passed every test. Redder = more failures.</a:t>
            </a:r>
            <a:endParaRPr lang="en-US" sz="1300" dirty="0"/>
          </a:p>
        </p:txBody>
      </p:sp>
      <p:sp>
        <p:nvSpPr>
          <p:cNvPr id="14" name="!!bar0-0"/>
          <p:cNvSpPr/>
          <p:nvPr/>
        </p:nvSpPr>
        <p:spPr>
          <a:xfrm>
            <a:off x="978408" y="5650992"/>
            <a:ext cx="384048" cy="18288"/>
          </a:xfrm>
          <a:prstGeom prst="rect">
            <a:avLst/>
          </a:prstGeom>
          <a:solidFill>
            <a:srgbClr val="9B8CFF">
              <a:alpha val="0"/>
            </a:srgbClr>
          </a:solidFill>
          <a:ln/>
        </p:spPr>
      </p:sp>
      <p:sp>
        <p:nvSpPr>
          <p:cNvPr id="15" name="!!bar1-0"/>
          <p:cNvSpPr/>
          <p:nvPr/>
        </p:nvSpPr>
        <p:spPr>
          <a:xfrm>
            <a:off x="1417320" y="5650992"/>
            <a:ext cx="384048" cy="18288"/>
          </a:xfrm>
          <a:prstGeom prst="rect">
            <a:avLst/>
          </a:prstGeom>
          <a:solidFill>
            <a:srgbClr val="FF9F1C">
              <a:alpha val="0"/>
            </a:srgbClr>
          </a:solidFill>
          <a:ln/>
        </p:spPr>
      </p:sp>
      <p:sp>
        <p:nvSpPr>
          <p:cNvPr id="16" name="!!bar0-1"/>
          <p:cNvSpPr/>
          <p:nvPr/>
        </p:nvSpPr>
        <p:spPr>
          <a:xfrm>
            <a:off x="2075688" y="5650992"/>
            <a:ext cx="384048" cy="18288"/>
          </a:xfrm>
          <a:prstGeom prst="rect">
            <a:avLst/>
          </a:prstGeom>
          <a:solidFill>
            <a:srgbClr val="9B8CFF">
              <a:alpha val="0"/>
            </a:srgbClr>
          </a:solidFill>
          <a:ln/>
        </p:spPr>
      </p:sp>
      <p:sp>
        <p:nvSpPr>
          <p:cNvPr id="17" name="!!bar1-1"/>
          <p:cNvSpPr/>
          <p:nvPr/>
        </p:nvSpPr>
        <p:spPr>
          <a:xfrm>
            <a:off x="2514600" y="5650992"/>
            <a:ext cx="384048" cy="18288"/>
          </a:xfrm>
          <a:prstGeom prst="rect">
            <a:avLst/>
          </a:prstGeom>
          <a:solidFill>
            <a:srgbClr val="FF9F1C">
              <a:alpha val="0"/>
            </a:srgbClr>
          </a:solidFill>
          <a:ln/>
        </p:spPr>
      </p:sp>
      <p:sp>
        <p:nvSpPr>
          <p:cNvPr id="18" name="!!bar0-2"/>
          <p:cNvSpPr/>
          <p:nvPr/>
        </p:nvSpPr>
        <p:spPr>
          <a:xfrm>
            <a:off x="3172968" y="5650992"/>
            <a:ext cx="384048" cy="18288"/>
          </a:xfrm>
          <a:prstGeom prst="rect">
            <a:avLst/>
          </a:prstGeom>
          <a:solidFill>
            <a:srgbClr val="9B8CFF">
              <a:alpha val="0"/>
            </a:srgbClr>
          </a:solidFill>
          <a:ln/>
        </p:spPr>
      </p:sp>
      <p:sp>
        <p:nvSpPr>
          <p:cNvPr id="19" name="!!bar1-2"/>
          <p:cNvSpPr/>
          <p:nvPr/>
        </p:nvSpPr>
        <p:spPr>
          <a:xfrm>
            <a:off x="3611880" y="5650992"/>
            <a:ext cx="384048" cy="18288"/>
          </a:xfrm>
          <a:prstGeom prst="rect">
            <a:avLst/>
          </a:prstGeom>
          <a:solidFill>
            <a:srgbClr val="FF9F1C">
              <a:alpha val="0"/>
            </a:srgbClr>
          </a:solidFill>
          <a:ln/>
        </p:spPr>
      </p:sp>
      <p:sp>
        <p:nvSpPr>
          <p:cNvPr id="20" name="!!bar0-3"/>
          <p:cNvSpPr/>
          <p:nvPr/>
        </p:nvSpPr>
        <p:spPr>
          <a:xfrm>
            <a:off x="4270248" y="5650992"/>
            <a:ext cx="384048" cy="18288"/>
          </a:xfrm>
          <a:prstGeom prst="rect">
            <a:avLst/>
          </a:prstGeom>
          <a:solidFill>
            <a:srgbClr val="9B8CFF">
              <a:alpha val="0"/>
            </a:srgbClr>
          </a:solidFill>
          <a:ln/>
        </p:spPr>
      </p:sp>
      <p:sp>
        <p:nvSpPr>
          <p:cNvPr id="21" name="!!bar1-3"/>
          <p:cNvSpPr/>
          <p:nvPr/>
        </p:nvSpPr>
        <p:spPr>
          <a:xfrm>
            <a:off x="4709160" y="5650992"/>
            <a:ext cx="384048" cy="18288"/>
          </a:xfrm>
          <a:prstGeom prst="rect">
            <a:avLst/>
          </a:prstGeom>
          <a:solidFill>
            <a:srgbClr val="FF9F1C">
              <a:alpha val="0"/>
            </a:srgbClr>
          </a:solidFill>
          <a:ln/>
        </p:spPr>
      </p:sp>
      <p:sp>
        <p:nvSpPr>
          <p:cNvPr id="22" name="!!bar0-4"/>
          <p:cNvSpPr/>
          <p:nvPr/>
        </p:nvSpPr>
        <p:spPr>
          <a:xfrm>
            <a:off x="5367528" y="5650992"/>
            <a:ext cx="384048" cy="18288"/>
          </a:xfrm>
          <a:prstGeom prst="rect">
            <a:avLst/>
          </a:prstGeom>
          <a:solidFill>
            <a:srgbClr val="9B8CFF">
              <a:alpha val="0"/>
            </a:srgbClr>
          </a:solidFill>
          <a:ln/>
        </p:spPr>
      </p:sp>
      <p:sp>
        <p:nvSpPr>
          <p:cNvPr id="23" name="!!bar1-4"/>
          <p:cNvSpPr/>
          <p:nvPr/>
        </p:nvSpPr>
        <p:spPr>
          <a:xfrm>
            <a:off x="5806440" y="5650992"/>
            <a:ext cx="384048" cy="18288"/>
          </a:xfrm>
          <a:prstGeom prst="rect">
            <a:avLst/>
          </a:prstGeom>
          <a:solidFill>
            <a:srgbClr val="FF9F1C">
              <a:alpha val="0"/>
            </a:srgbClr>
          </a:solidFill>
          <a:ln/>
        </p:spPr>
      </p:sp>
      <p:sp>
        <p:nvSpPr>
          <p:cNvPr id="24" name="!!bar0-5"/>
          <p:cNvSpPr/>
          <p:nvPr/>
        </p:nvSpPr>
        <p:spPr>
          <a:xfrm>
            <a:off x="6464808" y="5650992"/>
            <a:ext cx="384048" cy="18288"/>
          </a:xfrm>
          <a:prstGeom prst="rect">
            <a:avLst/>
          </a:prstGeom>
          <a:solidFill>
            <a:srgbClr val="9B8CFF">
              <a:alpha val="0"/>
            </a:srgbClr>
          </a:solidFill>
          <a:ln/>
        </p:spPr>
      </p:sp>
      <p:sp>
        <p:nvSpPr>
          <p:cNvPr id="25" name="!!bar1-5"/>
          <p:cNvSpPr/>
          <p:nvPr/>
        </p:nvSpPr>
        <p:spPr>
          <a:xfrm>
            <a:off x="6903720" y="5650992"/>
            <a:ext cx="384048" cy="18288"/>
          </a:xfrm>
          <a:prstGeom prst="rect">
            <a:avLst/>
          </a:prstGeom>
          <a:solidFill>
            <a:srgbClr val="FF9F1C">
              <a:alpha val="0"/>
            </a:srgbClr>
          </a:solidFill>
          <a:ln/>
        </p:spPr>
      </p:sp>
      <p:sp>
        <p:nvSpPr>
          <p:cNvPr id="26" name="Text 22"/>
          <p:cNvSpPr txBox="1"/>
          <p:nvPr/>
        </p:nvSpPr>
        <p:spPr>
          <a:xfrm>
            <a:off x="2057400" y="2286000"/>
            <a:ext cx="896112" cy="457200"/>
          </a:xfrm>
          <a:prstGeom prst="rect">
            <a:avLst/>
          </a:prstGeom>
          <a:noFill/>
          <a:ln/>
        </p:spPr>
        <p:txBody>
          <a:bodyPr wrap="square" lIns="0" tIns="0" rIns="0" bIns="0" rtlCol="0" anchor="b"/>
          <a:lstStyle/>
          <a:p>
            <a:pPr algn="ctr" indent="0" marL="0">
              <a:buNone/>
            </a:pPr>
            <a:r>
              <a:rPr lang="en-US" sz="950" dirty="0">
                <a:solidFill>
                  <a:srgbClr val="A9A3CF"/>
                </a:solidFill>
                <a:latin typeface="Segoe UI" pitchFamily="34" charset="0"/>
                <a:ea typeface="Segoe UI" pitchFamily="34" charset="-122"/>
                <a:cs typeface="Segoe UI" pitchFamily="34" charset="-120"/>
              </a:rPr>
              <a:t>English</a:t>
            </a:r>
            <a:endParaRPr lang="en-US" sz="950" dirty="0"/>
          </a:p>
        </p:txBody>
      </p:sp>
      <p:sp>
        <p:nvSpPr>
          <p:cNvPr id="27" name="Text 23"/>
          <p:cNvSpPr txBox="1"/>
          <p:nvPr/>
        </p:nvSpPr>
        <p:spPr>
          <a:xfrm>
            <a:off x="3022092" y="2286000"/>
            <a:ext cx="896112" cy="457200"/>
          </a:xfrm>
          <a:prstGeom prst="rect">
            <a:avLst/>
          </a:prstGeom>
          <a:noFill/>
          <a:ln/>
        </p:spPr>
        <p:txBody>
          <a:bodyPr wrap="square" lIns="0" tIns="0" rIns="0" bIns="0" rtlCol="0" anchor="b"/>
          <a:lstStyle/>
          <a:p>
            <a:pPr algn="ctr" indent="0" marL="0">
              <a:buNone/>
            </a:pPr>
            <a:r>
              <a:rPr lang="en-US" sz="950" dirty="0">
                <a:solidFill>
                  <a:srgbClr val="A9A3CF"/>
                </a:solidFill>
                <a:latin typeface="Segoe UI" pitchFamily="34" charset="0"/>
                <a:ea typeface="Segoe UI" pitchFamily="34" charset="-122"/>
                <a:cs typeface="Segoe UI" pitchFamily="34" charset="-120"/>
              </a:rPr>
              <a:t>English casual</a:t>
            </a:r>
            <a:endParaRPr lang="en-US" sz="950" dirty="0"/>
          </a:p>
        </p:txBody>
      </p:sp>
      <p:sp>
        <p:nvSpPr>
          <p:cNvPr id="28" name="Text 24"/>
          <p:cNvSpPr txBox="1"/>
          <p:nvPr/>
        </p:nvSpPr>
        <p:spPr>
          <a:xfrm>
            <a:off x="3986784" y="2286000"/>
            <a:ext cx="896112" cy="457200"/>
          </a:xfrm>
          <a:prstGeom prst="rect">
            <a:avLst/>
          </a:prstGeom>
          <a:noFill/>
          <a:ln/>
        </p:spPr>
        <p:txBody>
          <a:bodyPr wrap="square" lIns="0" tIns="0" rIns="0" bIns="0" rtlCol="0" anchor="b"/>
          <a:lstStyle/>
          <a:p>
            <a:pPr algn="ctr" indent="0" marL="0">
              <a:buNone/>
            </a:pPr>
            <a:r>
              <a:rPr lang="en-US" sz="950" dirty="0">
                <a:solidFill>
                  <a:srgbClr val="A9A3CF"/>
                </a:solidFill>
                <a:latin typeface="Segoe UI" pitchFamily="34" charset="0"/>
                <a:ea typeface="Segoe UI" pitchFamily="34" charset="-122"/>
                <a:cs typeface="Segoe UI" pitchFamily="34" charset="-120"/>
              </a:rPr>
              <a:t>Hinglish</a:t>
            </a:r>
            <a:endParaRPr lang="en-US" sz="950" dirty="0"/>
          </a:p>
        </p:txBody>
      </p:sp>
      <p:sp>
        <p:nvSpPr>
          <p:cNvPr id="29" name="Text 25"/>
          <p:cNvSpPr txBox="1"/>
          <p:nvPr/>
        </p:nvSpPr>
        <p:spPr>
          <a:xfrm>
            <a:off x="4951476" y="2286000"/>
            <a:ext cx="896112" cy="457200"/>
          </a:xfrm>
          <a:prstGeom prst="rect">
            <a:avLst/>
          </a:prstGeom>
          <a:noFill/>
          <a:ln/>
        </p:spPr>
        <p:txBody>
          <a:bodyPr wrap="square" lIns="0" tIns="0" rIns="0" bIns="0" rtlCol="0" anchor="b"/>
          <a:lstStyle/>
          <a:p>
            <a:pPr algn="ctr" indent="0" marL="0">
              <a:buNone/>
            </a:pPr>
            <a:r>
              <a:rPr lang="en-US" sz="950" dirty="0">
                <a:solidFill>
                  <a:srgbClr val="A9A3CF"/>
                </a:solidFill>
                <a:latin typeface="Segoe UI" pitchFamily="34" charset="0"/>
                <a:ea typeface="Segoe UI" pitchFamily="34" charset="-122"/>
                <a:cs typeface="Segoe UI" pitchFamily="34" charset="-120"/>
              </a:rPr>
              <a:t>Hinglish casual</a:t>
            </a:r>
            <a:endParaRPr lang="en-US" sz="950" dirty="0"/>
          </a:p>
        </p:txBody>
      </p:sp>
      <p:sp>
        <p:nvSpPr>
          <p:cNvPr id="30" name="Text 26"/>
          <p:cNvSpPr txBox="1"/>
          <p:nvPr/>
        </p:nvSpPr>
        <p:spPr>
          <a:xfrm>
            <a:off x="5916168" y="2286000"/>
            <a:ext cx="896112" cy="457200"/>
          </a:xfrm>
          <a:prstGeom prst="rect">
            <a:avLst/>
          </a:prstGeom>
          <a:noFill/>
          <a:ln/>
        </p:spPr>
        <p:txBody>
          <a:bodyPr wrap="square" lIns="0" tIns="0" rIns="0" bIns="0" rtlCol="0" anchor="b"/>
          <a:lstStyle/>
          <a:p>
            <a:pPr algn="ctr" indent="0" marL="0">
              <a:buNone/>
            </a:pPr>
            <a:r>
              <a:rPr lang="en-US" sz="950" dirty="0">
                <a:solidFill>
                  <a:srgbClr val="A9A3CF"/>
                </a:solidFill>
                <a:latin typeface="Segoe UI" pitchFamily="34" charset="0"/>
                <a:ea typeface="Segoe UI" pitchFamily="34" charset="-122"/>
                <a:cs typeface="Segoe UI" pitchFamily="34" charset="-120"/>
              </a:rPr>
              <a:t>Hinglish Hindi script</a:t>
            </a:r>
            <a:endParaRPr lang="en-US" sz="950" dirty="0"/>
          </a:p>
        </p:txBody>
      </p:sp>
      <p:sp>
        <p:nvSpPr>
          <p:cNvPr id="31" name="Text 27"/>
          <p:cNvSpPr txBox="1"/>
          <p:nvPr/>
        </p:nvSpPr>
        <p:spPr>
          <a:xfrm>
            <a:off x="6880860" y="2286000"/>
            <a:ext cx="896112" cy="457200"/>
          </a:xfrm>
          <a:prstGeom prst="rect">
            <a:avLst/>
          </a:prstGeom>
          <a:noFill/>
          <a:ln/>
        </p:spPr>
        <p:txBody>
          <a:bodyPr wrap="square" lIns="0" tIns="0" rIns="0" bIns="0" rtlCol="0" anchor="b"/>
          <a:lstStyle/>
          <a:p>
            <a:pPr algn="ctr" indent="0" marL="0">
              <a:buNone/>
            </a:pPr>
            <a:r>
              <a:rPr lang="en-US" sz="950" dirty="0">
                <a:solidFill>
                  <a:srgbClr val="A9A3CF"/>
                </a:solidFill>
                <a:latin typeface="Segoe UI" pitchFamily="34" charset="0"/>
                <a:ea typeface="Segoe UI" pitchFamily="34" charset="-122"/>
                <a:cs typeface="Segoe UI" pitchFamily="34" charset="-120"/>
              </a:rPr>
              <a:t>Benglish</a:t>
            </a:r>
            <a:endParaRPr lang="en-US" sz="950" dirty="0"/>
          </a:p>
        </p:txBody>
      </p:sp>
      <p:sp>
        <p:nvSpPr>
          <p:cNvPr id="32" name="Text 28"/>
          <p:cNvSpPr txBox="1"/>
          <p:nvPr/>
        </p:nvSpPr>
        <p:spPr>
          <a:xfrm>
            <a:off x="7845552" y="2286000"/>
            <a:ext cx="896112" cy="457200"/>
          </a:xfrm>
          <a:prstGeom prst="rect">
            <a:avLst/>
          </a:prstGeom>
          <a:noFill/>
          <a:ln/>
        </p:spPr>
        <p:txBody>
          <a:bodyPr wrap="square" lIns="0" tIns="0" rIns="0" bIns="0" rtlCol="0" anchor="b"/>
          <a:lstStyle/>
          <a:p>
            <a:pPr algn="ctr" indent="0" marL="0">
              <a:buNone/>
            </a:pPr>
            <a:r>
              <a:rPr lang="en-US" sz="950" dirty="0">
                <a:solidFill>
                  <a:srgbClr val="A9A3CF"/>
                </a:solidFill>
                <a:latin typeface="Segoe UI" pitchFamily="34" charset="0"/>
                <a:ea typeface="Segoe UI" pitchFamily="34" charset="-122"/>
                <a:cs typeface="Segoe UI" pitchFamily="34" charset="-120"/>
              </a:rPr>
              <a:t>Benglish casual</a:t>
            </a:r>
            <a:endParaRPr lang="en-US" sz="950" dirty="0"/>
          </a:p>
        </p:txBody>
      </p:sp>
      <p:sp>
        <p:nvSpPr>
          <p:cNvPr id="33" name="Text 29"/>
          <p:cNvSpPr txBox="1"/>
          <p:nvPr/>
        </p:nvSpPr>
        <p:spPr>
          <a:xfrm>
            <a:off x="8810244" y="2286000"/>
            <a:ext cx="896112" cy="457200"/>
          </a:xfrm>
          <a:prstGeom prst="rect">
            <a:avLst/>
          </a:prstGeom>
          <a:noFill/>
          <a:ln/>
        </p:spPr>
        <p:txBody>
          <a:bodyPr wrap="square" lIns="0" tIns="0" rIns="0" bIns="0" rtlCol="0" anchor="b"/>
          <a:lstStyle/>
          <a:p>
            <a:pPr algn="ctr" indent="0" marL="0">
              <a:buNone/>
            </a:pPr>
            <a:r>
              <a:rPr lang="en-US" sz="950" b="1" dirty="0">
                <a:solidFill>
                  <a:srgbClr val="E87BA4"/>
                </a:solidFill>
                <a:latin typeface="Segoe UI" pitchFamily="34" charset="0"/>
                <a:ea typeface="Segoe UI" pitchFamily="34" charset="-122"/>
                <a:cs typeface="Segoe UI" pitchFamily="34" charset="-120"/>
              </a:rPr>
              <a:t>Kanglish casual</a:t>
            </a:r>
            <a:endParaRPr lang="en-US" sz="950" dirty="0"/>
          </a:p>
        </p:txBody>
      </p:sp>
      <p:sp>
        <p:nvSpPr>
          <p:cNvPr id="34" name="Text 30"/>
          <p:cNvSpPr txBox="1"/>
          <p:nvPr/>
        </p:nvSpPr>
        <p:spPr>
          <a:xfrm>
            <a:off x="9774936" y="2286000"/>
            <a:ext cx="896112" cy="457200"/>
          </a:xfrm>
          <a:prstGeom prst="rect">
            <a:avLst/>
          </a:prstGeom>
          <a:noFill/>
          <a:ln/>
        </p:spPr>
        <p:txBody>
          <a:bodyPr wrap="square" lIns="0" tIns="0" rIns="0" bIns="0" rtlCol="0" anchor="b"/>
          <a:lstStyle/>
          <a:p>
            <a:pPr algn="ctr" indent="0" marL="0">
              <a:buNone/>
            </a:pPr>
            <a:r>
              <a:rPr lang="en-US" sz="950" dirty="0">
                <a:solidFill>
                  <a:srgbClr val="A9A3CF"/>
                </a:solidFill>
                <a:latin typeface="Segoe UI" pitchFamily="34" charset="0"/>
                <a:ea typeface="Segoe UI" pitchFamily="34" charset="-122"/>
                <a:cs typeface="Segoe UI" pitchFamily="34" charset="-120"/>
              </a:rPr>
              <a:t>Tanglish casual</a:t>
            </a:r>
            <a:endParaRPr lang="en-US" sz="950" dirty="0"/>
          </a:p>
        </p:txBody>
      </p:sp>
      <p:sp>
        <p:nvSpPr>
          <p:cNvPr id="35" name="Text 31"/>
          <p:cNvSpPr txBox="1"/>
          <p:nvPr/>
        </p:nvSpPr>
        <p:spPr>
          <a:xfrm>
            <a:off x="10739628" y="2286000"/>
            <a:ext cx="896112" cy="457200"/>
          </a:xfrm>
          <a:prstGeom prst="rect">
            <a:avLst/>
          </a:prstGeom>
          <a:noFill/>
          <a:ln/>
        </p:spPr>
        <p:txBody>
          <a:bodyPr wrap="square" lIns="0" tIns="0" rIns="0" bIns="0" rtlCol="0" anchor="b"/>
          <a:lstStyle/>
          <a:p>
            <a:pPr algn="ctr" indent="0" marL="0">
              <a:buNone/>
            </a:pPr>
            <a:r>
              <a:rPr lang="en-US" sz="950" dirty="0">
                <a:solidFill>
                  <a:srgbClr val="A9A3CF"/>
                </a:solidFill>
                <a:latin typeface="Segoe UI" pitchFamily="34" charset="0"/>
                <a:ea typeface="Segoe UI" pitchFamily="34" charset="-122"/>
                <a:cs typeface="Segoe UI" pitchFamily="34" charset="-120"/>
              </a:rPr>
              <a:t>Odia-Eng. casual</a:t>
            </a:r>
            <a:endParaRPr lang="en-US" sz="950" dirty="0"/>
          </a:p>
        </p:txBody>
      </p:sp>
      <p:sp>
        <p:nvSpPr>
          <p:cNvPr id="36" name="Text 32"/>
          <p:cNvSpPr txBox="1"/>
          <p:nvPr/>
        </p:nvSpPr>
        <p:spPr>
          <a:xfrm>
            <a:off x="548640" y="2834640"/>
            <a:ext cx="1417320" cy="731520"/>
          </a:xfrm>
          <a:prstGeom prst="rect">
            <a:avLst/>
          </a:prstGeom>
          <a:noFill/>
          <a:ln/>
        </p:spPr>
        <p:txBody>
          <a:bodyPr wrap="square" lIns="0" tIns="0" rIns="0" bIns="0" rtlCol="0" anchor="ctr"/>
          <a:lstStyle/>
          <a:p>
            <a:pPr algn="r" indent="0" marL="0">
              <a:buNone/>
            </a:pPr>
            <a:r>
              <a:rPr lang="en-US" sz="1300" b="1" dirty="0">
                <a:solidFill>
                  <a:srgbClr val="F2EFFF"/>
                </a:solidFill>
                <a:latin typeface="Segoe UI" pitchFamily="34" charset="0"/>
                <a:ea typeface="Segoe UI" pitchFamily="34" charset="-122"/>
                <a:cs typeface="Segoe UI" pitchFamily="34" charset="-120"/>
              </a:rPr>
              <a:t>Gemini</a:t>
            </a:r>
            <a:endParaRPr lang="en-US" sz="1300" dirty="0"/>
          </a:p>
        </p:txBody>
      </p:sp>
      <p:sp>
        <p:nvSpPr>
          <p:cNvPr id="37" name="Text 33"/>
          <p:cNvSpPr/>
          <p:nvPr/>
        </p:nvSpPr>
        <p:spPr>
          <a:xfrm>
            <a:off x="2057400" y="2834640"/>
            <a:ext cx="896112" cy="731520"/>
          </a:xfrm>
          <a:prstGeom prst="roundRect">
            <a:avLst>
              <a:gd name="adj" fmla="val 12500"/>
            </a:avLst>
          </a:prstGeom>
          <a:solidFill>
            <a:srgbClr val="FF5C7A">
              <a:alpha val="14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96%</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24/25</a:t>
            </a:r>
            <a:endParaRPr lang="en-US" sz="1500" dirty="0"/>
          </a:p>
        </p:txBody>
      </p:sp>
      <p:sp>
        <p:nvSpPr>
          <p:cNvPr id="38" name="Text 34"/>
          <p:cNvSpPr/>
          <p:nvPr/>
        </p:nvSpPr>
        <p:spPr>
          <a:xfrm>
            <a:off x="3022092" y="2834640"/>
            <a:ext cx="896112" cy="731520"/>
          </a:xfrm>
          <a:prstGeom prst="roundRect">
            <a:avLst>
              <a:gd name="adj" fmla="val 12500"/>
            </a:avLst>
          </a:prstGeom>
          <a:solidFill>
            <a:srgbClr val="FF5C7A">
              <a:alpha val="14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96%</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24/25</a:t>
            </a:r>
            <a:endParaRPr lang="en-US" sz="1500" dirty="0"/>
          </a:p>
        </p:txBody>
      </p:sp>
      <p:sp>
        <p:nvSpPr>
          <p:cNvPr id="39" name="Text 35"/>
          <p:cNvSpPr/>
          <p:nvPr/>
        </p:nvSpPr>
        <p:spPr>
          <a:xfrm>
            <a:off x="3986784" y="2834640"/>
            <a:ext cx="896112" cy="731520"/>
          </a:xfrm>
          <a:prstGeom prst="roundRect">
            <a:avLst>
              <a:gd name="adj" fmla="val 12500"/>
            </a:avLst>
          </a:prstGeom>
          <a:solidFill>
            <a:srgbClr val="17132E"/>
          </a:solidFill>
          <a:ln w="9525">
            <a:solidFill>
              <a:srgbClr val="2E2759"/>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100%</a:t>
            </a:r>
            <a:endParaRPr lang="en-US" sz="1500" dirty="0"/>
          </a:p>
          <a:p>
            <a:pPr algn="ctr" indent="0" marL="0">
              <a:buNone/>
            </a:pPr>
            <a:r>
              <a:rPr lang="en-US" sz="900" dirty="0">
                <a:solidFill>
                  <a:srgbClr val="6F6A99"/>
                </a:solidFill>
                <a:latin typeface="Segoe UI" pitchFamily="34" charset="0"/>
                <a:ea typeface="Segoe UI" pitchFamily="34" charset="-122"/>
                <a:cs typeface="Segoe UI" pitchFamily="34" charset="-120"/>
              </a:rPr>
              <a:t>25/25</a:t>
            </a:r>
            <a:endParaRPr lang="en-US" sz="1500" dirty="0"/>
          </a:p>
        </p:txBody>
      </p:sp>
      <p:sp>
        <p:nvSpPr>
          <p:cNvPr id="40" name="Text 36"/>
          <p:cNvSpPr/>
          <p:nvPr/>
        </p:nvSpPr>
        <p:spPr>
          <a:xfrm>
            <a:off x="4951476" y="2834640"/>
            <a:ext cx="896112" cy="731520"/>
          </a:xfrm>
          <a:prstGeom prst="roundRect">
            <a:avLst>
              <a:gd name="adj" fmla="val 12500"/>
            </a:avLst>
          </a:prstGeom>
          <a:solidFill>
            <a:srgbClr val="FF5C7A">
              <a:alpha val="14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96%</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24/25</a:t>
            </a:r>
            <a:endParaRPr lang="en-US" sz="1500" dirty="0"/>
          </a:p>
        </p:txBody>
      </p:sp>
      <p:sp>
        <p:nvSpPr>
          <p:cNvPr id="41" name="Text 37"/>
          <p:cNvSpPr/>
          <p:nvPr/>
        </p:nvSpPr>
        <p:spPr>
          <a:xfrm>
            <a:off x="5916168" y="2834640"/>
            <a:ext cx="896112" cy="731520"/>
          </a:xfrm>
          <a:prstGeom prst="roundRect">
            <a:avLst>
              <a:gd name="adj" fmla="val 12500"/>
            </a:avLst>
          </a:prstGeom>
          <a:solidFill>
            <a:srgbClr val="FF5C7A">
              <a:alpha val="14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96%</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24/25</a:t>
            </a:r>
            <a:endParaRPr lang="en-US" sz="1500" dirty="0"/>
          </a:p>
        </p:txBody>
      </p:sp>
      <p:sp>
        <p:nvSpPr>
          <p:cNvPr id="42" name="Text 38"/>
          <p:cNvSpPr/>
          <p:nvPr/>
        </p:nvSpPr>
        <p:spPr>
          <a:xfrm>
            <a:off x="6880860" y="2834640"/>
            <a:ext cx="896112" cy="731520"/>
          </a:xfrm>
          <a:prstGeom prst="roundRect">
            <a:avLst>
              <a:gd name="adj" fmla="val 12500"/>
            </a:avLst>
          </a:prstGeom>
          <a:solidFill>
            <a:srgbClr val="FF5C7A">
              <a:alpha val="14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96%</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24/25</a:t>
            </a:r>
            <a:endParaRPr lang="en-US" sz="1500" dirty="0"/>
          </a:p>
        </p:txBody>
      </p:sp>
      <p:sp>
        <p:nvSpPr>
          <p:cNvPr id="43" name="Text 39"/>
          <p:cNvSpPr/>
          <p:nvPr/>
        </p:nvSpPr>
        <p:spPr>
          <a:xfrm>
            <a:off x="7845552" y="2834640"/>
            <a:ext cx="896112" cy="731520"/>
          </a:xfrm>
          <a:prstGeom prst="roundRect">
            <a:avLst>
              <a:gd name="adj" fmla="val 12500"/>
            </a:avLst>
          </a:prstGeom>
          <a:solidFill>
            <a:srgbClr val="17132E"/>
          </a:solidFill>
          <a:ln w="9525">
            <a:solidFill>
              <a:srgbClr val="2E2759"/>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100%</a:t>
            </a:r>
            <a:endParaRPr lang="en-US" sz="1500" dirty="0"/>
          </a:p>
          <a:p>
            <a:pPr algn="ctr" indent="0" marL="0">
              <a:buNone/>
            </a:pPr>
            <a:r>
              <a:rPr lang="en-US" sz="900" dirty="0">
                <a:solidFill>
                  <a:srgbClr val="6F6A99"/>
                </a:solidFill>
                <a:latin typeface="Segoe UI" pitchFamily="34" charset="0"/>
                <a:ea typeface="Segoe UI" pitchFamily="34" charset="-122"/>
                <a:cs typeface="Segoe UI" pitchFamily="34" charset="-120"/>
              </a:rPr>
              <a:t>25/25</a:t>
            </a:r>
            <a:endParaRPr lang="en-US" sz="1500" dirty="0"/>
          </a:p>
        </p:txBody>
      </p:sp>
      <p:sp>
        <p:nvSpPr>
          <p:cNvPr id="44" name="Text 40"/>
          <p:cNvSpPr/>
          <p:nvPr/>
        </p:nvSpPr>
        <p:spPr>
          <a:xfrm>
            <a:off x="8810244" y="2834640"/>
            <a:ext cx="896112" cy="731520"/>
          </a:xfrm>
          <a:prstGeom prst="roundRect">
            <a:avLst>
              <a:gd name="adj" fmla="val 12500"/>
            </a:avLst>
          </a:prstGeom>
          <a:solidFill>
            <a:srgbClr val="FF5C7A">
              <a:alpha val="42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88%</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22/25</a:t>
            </a:r>
            <a:endParaRPr lang="en-US" sz="1500" dirty="0"/>
          </a:p>
        </p:txBody>
      </p:sp>
      <p:sp>
        <p:nvSpPr>
          <p:cNvPr id="45" name="Text 41"/>
          <p:cNvSpPr/>
          <p:nvPr/>
        </p:nvSpPr>
        <p:spPr>
          <a:xfrm>
            <a:off x="9774936" y="2834640"/>
            <a:ext cx="896112" cy="731520"/>
          </a:xfrm>
          <a:prstGeom prst="roundRect">
            <a:avLst>
              <a:gd name="adj" fmla="val 12500"/>
            </a:avLst>
          </a:prstGeom>
          <a:solidFill>
            <a:srgbClr val="FF5C7A">
              <a:alpha val="42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88%</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22/25</a:t>
            </a:r>
            <a:endParaRPr lang="en-US" sz="1500" dirty="0"/>
          </a:p>
        </p:txBody>
      </p:sp>
      <p:sp>
        <p:nvSpPr>
          <p:cNvPr id="46" name="Text 42"/>
          <p:cNvSpPr/>
          <p:nvPr/>
        </p:nvSpPr>
        <p:spPr>
          <a:xfrm>
            <a:off x="10739628" y="2834640"/>
            <a:ext cx="896112" cy="731520"/>
          </a:xfrm>
          <a:prstGeom prst="roundRect">
            <a:avLst>
              <a:gd name="adj" fmla="val 12500"/>
            </a:avLst>
          </a:prstGeom>
          <a:solidFill>
            <a:srgbClr val="FF5C7A">
              <a:alpha val="28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92%</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23/25</a:t>
            </a:r>
            <a:endParaRPr lang="en-US" sz="1500" dirty="0"/>
          </a:p>
        </p:txBody>
      </p:sp>
      <p:sp>
        <p:nvSpPr>
          <p:cNvPr id="47" name="Text 43"/>
          <p:cNvSpPr txBox="1"/>
          <p:nvPr/>
        </p:nvSpPr>
        <p:spPr>
          <a:xfrm>
            <a:off x="548640" y="3657600"/>
            <a:ext cx="1417320" cy="731520"/>
          </a:xfrm>
          <a:prstGeom prst="rect">
            <a:avLst/>
          </a:prstGeom>
          <a:noFill/>
          <a:ln/>
        </p:spPr>
        <p:txBody>
          <a:bodyPr wrap="square" lIns="0" tIns="0" rIns="0" bIns="0" rtlCol="0" anchor="ctr"/>
          <a:lstStyle/>
          <a:p>
            <a:pPr algn="r" indent="0" marL="0">
              <a:buNone/>
            </a:pPr>
            <a:r>
              <a:rPr lang="en-US" sz="1300" b="1" dirty="0">
                <a:solidFill>
                  <a:srgbClr val="F2EFFF"/>
                </a:solidFill>
                <a:latin typeface="Segoe UI" pitchFamily="34" charset="0"/>
                <a:ea typeface="Segoe UI" pitchFamily="34" charset="-122"/>
                <a:cs typeface="Segoe UI" pitchFamily="34" charset="-120"/>
              </a:rPr>
              <a:t>GPT-OSS 120B</a:t>
            </a:r>
            <a:endParaRPr lang="en-US" sz="1300" dirty="0"/>
          </a:p>
        </p:txBody>
      </p:sp>
      <p:sp>
        <p:nvSpPr>
          <p:cNvPr id="48" name="Text 44"/>
          <p:cNvSpPr/>
          <p:nvPr/>
        </p:nvSpPr>
        <p:spPr>
          <a:xfrm>
            <a:off x="2057400" y="3657600"/>
            <a:ext cx="896112" cy="731520"/>
          </a:xfrm>
          <a:prstGeom prst="roundRect">
            <a:avLst>
              <a:gd name="adj" fmla="val 12500"/>
            </a:avLst>
          </a:prstGeom>
          <a:solidFill>
            <a:srgbClr val="17132E"/>
          </a:solidFill>
          <a:ln w="9525">
            <a:solidFill>
              <a:srgbClr val="2E2759"/>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100%</a:t>
            </a:r>
            <a:endParaRPr lang="en-US" sz="1500" dirty="0"/>
          </a:p>
          <a:p>
            <a:pPr algn="ctr" indent="0" marL="0">
              <a:buNone/>
            </a:pPr>
            <a:r>
              <a:rPr lang="en-US" sz="900" dirty="0">
                <a:solidFill>
                  <a:srgbClr val="6F6A99"/>
                </a:solidFill>
                <a:latin typeface="Segoe UI" pitchFamily="34" charset="0"/>
                <a:ea typeface="Segoe UI" pitchFamily="34" charset="-122"/>
                <a:cs typeface="Segoe UI" pitchFamily="34" charset="-120"/>
              </a:rPr>
              <a:t>25/25</a:t>
            </a:r>
            <a:endParaRPr lang="en-US" sz="1500" dirty="0"/>
          </a:p>
        </p:txBody>
      </p:sp>
      <p:sp>
        <p:nvSpPr>
          <p:cNvPr id="49" name="Text 45"/>
          <p:cNvSpPr/>
          <p:nvPr/>
        </p:nvSpPr>
        <p:spPr>
          <a:xfrm>
            <a:off x="3022092" y="3657600"/>
            <a:ext cx="896112" cy="731520"/>
          </a:xfrm>
          <a:prstGeom prst="roundRect">
            <a:avLst>
              <a:gd name="adj" fmla="val 12500"/>
            </a:avLst>
          </a:prstGeom>
          <a:solidFill>
            <a:srgbClr val="FF5C7A">
              <a:alpha val="14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96%</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24/25</a:t>
            </a:r>
            <a:endParaRPr lang="en-US" sz="1500" dirty="0"/>
          </a:p>
        </p:txBody>
      </p:sp>
      <p:sp>
        <p:nvSpPr>
          <p:cNvPr id="50" name="Text 46"/>
          <p:cNvSpPr/>
          <p:nvPr/>
        </p:nvSpPr>
        <p:spPr>
          <a:xfrm>
            <a:off x="3986784" y="3657600"/>
            <a:ext cx="896112" cy="731520"/>
          </a:xfrm>
          <a:prstGeom prst="roundRect">
            <a:avLst>
              <a:gd name="adj" fmla="val 12500"/>
            </a:avLst>
          </a:prstGeom>
          <a:solidFill>
            <a:srgbClr val="FF5C7A">
              <a:alpha val="14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96%</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24/25</a:t>
            </a:r>
            <a:endParaRPr lang="en-US" sz="1500" dirty="0"/>
          </a:p>
        </p:txBody>
      </p:sp>
      <p:sp>
        <p:nvSpPr>
          <p:cNvPr id="51" name="Text 47"/>
          <p:cNvSpPr/>
          <p:nvPr/>
        </p:nvSpPr>
        <p:spPr>
          <a:xfrm>
            <a:off x="4951476" y="3657600"/>
            <a:ext cx="896112" cy="731520"/>
          </a:xfrm>
          <a:prstGeom prst="roundRect">
            <a:avLst>
              <a:gd name="adj" fmla="val 12500"/>
            </a:avLst>
          </a:prstGeom>
          <a:solidFill>
            <a:srgbClr val="FF5C7A">
              <a:alpha val="14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96%</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24/25</a:t>
            </a:r>
            <a:endParaRPr lang="en-US" sz="1500" dirty="0"/>
          </a:p>
        </p:txBody>
      </p:sp>
      <p:sp>
        <p:nvSpPr>
          <p:cNvPr id="52" name="Text 48"/>
          <p:cNvSpPr/>
          <p:nvPr/>
        </p:nvSpPr>
        <p:spPr>
          <a:xfrm>
            <a:off x="5916168" y="3657600"/>
            <a:ext cx="896112" cy="731520"/>
          </a:xfrm>
          <a:prstGeom prst="roundRect">
            <a:avLst>
              <a:gd name="adj" fmla="val 12500"/>
            </a:avLst>
          </a:prstGeom>
          <a:solidFill>
            <a:srgbClr val="FF5C7A">
              <a:alpha val="14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96%</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24/25</a:t>
            </a:r>
            <a:endParaRPr lang="en-US" sz="1500" dirty="0"/>
          </a:p>
        </p:txBody>
      </p:sp>
      <p:sp>
        <p:nvSpPr>
          <p:cNvPr id="53" name="Text 49"/>
          <p:cNvSpPr/>
          <p:nvPr/>
        </p:nvSpPr>
        <p:spPr>
          <a:xfrm>
            <a:off x="6880860" y="3657600"/>
            <a:ext cx="896112" cy="731520"/>
          </a:xfrm>
          <a:prstGeom prst="roundRect">
            <a:avLst>
              <a:gd name="adj" fmla="val 12500"/>
            </a:avLst>
          </a:prstGeom>
          <a:solidFill>
            <a:srgbClr val="FF5C7A">
              <a:alpha val="14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96%</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24/25</a:t>
            </a:r>
            <a:endParaRPr lang="en-US" sz="1500" dirty="0"/>
          </a:p>
        </p:txBody>
      </p:sp>
      <p:sp>
        <p:nvSpPr>
          <p:cNvPr id="54" name="Text 50"/>
          <p:cNvSpPr/>
          <p:nvPr/>
        </p:nvSpPr>
        <p:spPr>
          <a:xfrm>
            <a:off x="7845552" y="3657600"/>
            <a:ext cx="896112" cy="731520"/>
          </a:xfrm>
          <a:prstGeom prst="roundRect">
            <a:avLst>
              <a:gd name="adj" fmla="val 12500"/>
            </a:avLst>
          </a:prstGeom>
          <a:solidFill>
            <a:srgbClr val="FF5C7A">
              <a:alpha val="42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88%</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22/25</a:t>
            </a:r>
            <a:endParaRPr lang="en-US" sz="1500" dirty="0"/>
          </a:p>
        </p:txBody>
      </p:sp>
      <p:sp>
        <p:nvSpPr>
          <p:cNvPr id="55" name="btn-cell">
            <a:hlinkClick r:id="rId8" action="ppaction://hlinksldjump"/>
          </p:cNvPr>
          <p:cNvSpPr/>
          <p:nvPr/>
        </p:nvSpPr>
        <p:spPr>
          <a:xfrm>
            <a:off x="8810244" y="3657600"/>
            <a:ext cx="896112" cy="731520"/>
          </a:xfrm>
          <a:prstGeom prst="roundRect">
            <a:avLst>
              <a:gd name="adj" fmla="val 12500"/>
            </a:avLst>
          </a:prstGeom>
          <a:solidFill>
            <a:srgbClr val="FF5C7A">
              <a:alpha val="56000"/>
            </a:srgbClr>
          </a:solidFill>
          <a:ln w="31750">
            <a:solidFill>
              <a:srgbClr val="FF9F1C"/>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84%</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21/25</a:t>
            </a:r>
            <a:endParaRPr lang="en-US" sz="1500" dirty="0"/>
          </a:p>
        </p:txBody>
      </p:sp>
      <p:sp>
        <p:nvSpPr>
          <p:cNvPr id="56" name="Text 52"/>
          <p:cNvSpPr/>
          <p:nvPr/>
        </p:nvSpPr>
        <p:spPr>
          <a:xfrm>
            <a:off x="9774936" y="3657600"/>
            <a:ext cx="896112" cy="731520"/>
          </a:xfrm>
          <a:prstGeom prst="roundRect">
            <a:avLst>
              <a:gd name="adj" fmla="val 12500"/>
            </a:avLst>
          </a:prstGeom>
          <a:solidFill>
            <a:srgbClr val="FF5C7A">
              <a:alpha val="14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96%</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24/25</a:t>
            </a:r>
            <a:endParaRPr lang="en-US" sz="1500" dirty="0"/>
          </a:p>
        </p:txBody>
      </p:sp>
      <p:sp>
        <p:nvSpPr>
          <p:cNvPr id="57" name="Text 53"/>
          <p:cNvSpPr/>
          <p:nvPr/>
        </p:nvSpPr>
        <p:spPr>
          <a:xfrm>
            <a:off x="10739628" y="3657600"/>
            <a:ext cx="896112" cy="731520"/>
          </a:xfrm>
          <a:prstGeom prst="roundRect">
            <a:avLst>
              <a:gd name="adj" fmla="val 12500"/>
            </a:avLst>
          </a:prstGeom>
          <a:solidFill>
            <a:srgbClr val="17132E"/>
          </a:solidFill>
          <a:ln w="9525">
            <a:solidFill>
              <a:srgbClr val="2E2759"/>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100%</a:t>
            </a:r>
            <a:endParaRPr lang="en-US" sz="1500" dirty="0"/>
          </a:p>
          <a:p>
            <a:pPr algn="ctr" indent="0" marL="0">
              <a:buNone/>
            </a:pPr>
            <a:r>
              <a:rPr lang="en-US" sz="900" dirty="0">
                <a:solidFill>
                  <a:srgbClr val="6F6A99"/>
                </a:solidFill>
                <a:latin typeface="Segoe UI" pitchFamily="34" charset="0"/>
                <a:ea typeface="Segoe UI" pitchFamily="34" charset="-122"/>
                <a:cs typeface="Segoe UI" pitchFamily="34" charset="-120"/>
              </a:rPr>
              <a:t>25/25</a:t>
            </a:r>
            <a:endParaRPr lang="en-US" sz="1500" dirty="0"/>
          </a:p>
        </p:txBody>
      </p:sp>
      <p:sp>
        <p:nvSpPr>
          <p:cNvPr id="58" name="Text 54"/>
          <p:cNvSpPr txBox="1"/>
          <p:nvPr/>
        </p:nvSpPr>
        <p:spPr>
          <a:xfrm>
            <a:off x="548640" y="4480560"/>
            <a:ext cx="1417320" cy="731520"/>
          </a:xfrm>
          <a:prstGeom prst="rect">
            <a:avLst/>
          </a:prstGeom>
          <a:noFill/>
          <a:ln/>
        </p:spPr>
        <p:txBody>
          <a:bodyPr wrap="square" lIns="0" tIns="0" rIns="0" bIns="0" rtlCol="0" anchor="ctr"/>
          <a:lstStyle/>
          <a:p>
            <a:pPr algn="r" indent="0" marL="0">
              <a:buNone/>
            </a:pPr>
            <a:r>
              <a:rPr lang="en-US" sz="1300" b="1" dirty="0">
                <a:solidFill>
                  <a:srgbClr val="F2EFFF"/>
                </a:solidFill>
                <a:latin typeface="Segoe UI" pitchFamily="34" charset="0"/>
                <a:ea typeface="Segoe UI" pitchFamily="34" charset="-122"/>
                <a:cs typeface="Segoe UI" pitchFamily="34" charset="-120"/>
              </a:rPr>
              <a:t>GPT-OSS 20B</a:t>
            </a:r>
            <a:endParaRPr lang="en-US" sz="1300" dirty="0"/>
          </a:p>
        </p:txBody>
      </p:sp>
      <p:sp>
        <p:nvSpPr>
          <p:cNvPr id="59" name="Text 55"/>
          <p:cNvSpPr/>
          <p:nvPr/>
        </p:nvSpPr>
        <p:spPr>
          <a:xfrm>
            <a:off x="2057400" y="4480560"/>
            <a:ext cx="896112" cy="731520"/>
          </a:xfrm>
          <a:prstGeom prst="roundRect">
            <a:avLst>
              <a:gd name="adj" fmla="val 12500"/>
            </a:avLst>
          </a:prstGeom>
          <a:solidFill>
            <a:srgbClr val="FF5C7A">
              <a:alpha val="42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88%</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22/25</a:t>
            </a:r>
            <a:endParaRPr lang="en-US" sz="1500" dirty="0"/>
          </a:p>
        </p:txBody>
      </p:sp>
      <p:sp>
        <p:nvSpPr>
          <p:cNvPr id="60" name="Text 56"/>
          <p:cNvSpPr/>
          <p:nvPr/>
        </p:nvSpPr>
        <p:spPr>
          <a:xfrm>
            <a:off x="3022092" y="4480560"/>
            <a:ext cx="896112" cy="731520"/>
          </a:xfrm>
          <a:prstGeom prst="roundRect">
            <a:avLst>
              <a:gd name="adj" fmla="val 12500"/>
            </a:avLst>
          </a:prstGeom>
          <a:solidFill>
            <a:srgbClr val="17132E"/>
          </a:solidFill>
          <a:ln w="9525">
            <a:solidFill>
              <a:srgbClr val="2E2759"/>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100%</a:t>
            </a:r>
            <a:endParaRPr lang="en-US" sz="1500" dirty="0"/>
          </a:p>
          <a:p>
            <a:pPr algn="ctr" indent="0" marL="0">
              <a:buNone/>
            </a:pPr>
            <a:r>
              <a:rPr lang="en-US" sz="900" dirty="0">
                <a:solidFill>
                  <a:srgbClr val="6F6A99"/>
                </a:solidFill>
                <a:latin typeface="Segoe UI" pitchFamily="34" charset="0"/>
                <a:ea typeface="Segoe UI" pitchFamily="34" charset="-122"/>
                <a:cs typeface="Segoe UI" pitchFamily="34" charset="-120"/>
              </a:rPr>
              <a:t>25/25</a:t>
            </a:r>
            <a:endParaRPr lang="en-US" sz="1500" dirty="0"/>
          </a:p>
        </p:txBody>
      </p:sp>
      <p:sp>
        <p:nvSpPr>
          <p:cNvPr id="61" name="Text 57"/>
          <p:cNvSpPr/>
          <p:nvPr/>
        </p:nvSpPr>
        <p:spPr>
          <a:xfrm>
            <a:off x="3986784" y="4480560"/>
            <a:ext cx="896112" cy="731520"/>
          </a:xfrm>
          <a:prstGeom prst="roundRect">
            <a:avLst>
              <a:gd name="adj" fmla="val 12500"/>
            </a:avLst>
          </a:prstGeom>
          <a:solidFill>
            <a:srgbClr val="FF5C7A">
              <a:alpha val="14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96%</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24/25</a:t>
            </a:r>
            <a:endParaRPr lang="en-US" sz="1500" dirty="0"/>
          </a:p>
        </p:txBody>
      </p:sp>
      <p:sp>
        <p:nvSpPr>
          <p:cNvPr id="62" name="Text 58"/>
          <p:cNvSpPr/>
          <p:nvPr/>
        </p:nvSpPr>
        <p:spPr>
          <a:xfrm>
            <a:off x="4951476" y="4480560"/>
            <a:ext cx="896112" cy="731520"/>
          </a:xfrm>
          <a:prstGeom prst="roundRect">
            <a:avLst>
              <a:gd name="adj" fmla="val 12500"/>
            </a:avLst>
          </a:prstGeom>
          <a:solidFill>
            <a:srgbClr val="FF5C7A">
              <a:alpha val="14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96%</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24/25</a:t>
            </a:r>
            <a:endParaRPr lang="en-US" sz="1500" dirty="0"/>
          </a:p>
        </p:txBody>
      </p:sp>
      <p:sp>
        <p:nvSpPr>
          <p:cNvPr id="63" name="Text 59"/>
          <p:cNvSpPr/>
          <p:nvPr/>
        </p:nvSpPr>
        <p:spPr>
          <a:xfrm>
            <a:off x="5916168" y="4480560"/>
            <a:ext cx="896112" cy="731520"/>
          </a:xfrm>
          <a:prstGeom prst="roundRect">
            <a:avLst>
              <a:gd name="adj" fmla="val 12500"/>
            </a:avLst>
          </a:prstGeom>
          <a:solidFill>
            <a:srgbClr val="17132E"/>
          </a:solidFill>
          <a:ln w="9525">
            <a:solidFill>
              <a:srgbClr val="2E2759"/>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100%</a:t>
            </a:r>
            <a:endParaRPr lang="en-US" sz="1500" dirty="0"/>
          </a:p>
          <a:p>
            <a:pPr algn="ctr" indent="0" marL="0">
              <a:buNone/>
            </a:pPr>
            <a:r>
              <a:rPr lang="en-US" sz="900" dirty="0">
                <a:solidFill>
                  <a:srgbClr val="6F6A99"/>
                </a:solidFill>
                <a:latin typeface="Segoe UI" pitchFamily="34" charset="0"/>
                <a:ea typeface="Segoe UI" pitchFamily="34" charset="-122"/>
                <a:cs typeface="Segoe UI" pitchFamily="34" charset="-120"/>
              </a:rPr>
              <a:t>25/25</a:t>
            </a:r>
            <a:endParaRPr lang="en-US" sz="1500" dirty="0"/>
          </a:p>
        </p:txBody>
      </p:sp>
      <p:sp>
        <p:nvSpPr>
          <p:cNvPr id="64" name="Text 60"/>
          <p:cNvSpPr/>
          <p:nvPr/>
        </p:nvSpPr>
        <p:spPr>
          <a:xfrm>
            <a:off x="6880860" y="4480560"/>
            <a:ext cx="896112" cy="731520"/>
          </a:xfrm>
          <a:prstGeom prst="roundRect">
            <a:avLst>
              <a:gd name="adj" fmla="val 12500"/>
            </a:avLst>
          </a:prstGeom>
          <a:solidFill>
            <a:srgbClr val="17132E"/>
          </a:solidFill>
          <a:ln w="9525">
            <a:solidFill>
              <a:srgbClr val="2E2759"/>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100%</a:t>
            </a:r>
            <a:endParaRPr lang="en-US" sz="1500" dirty="0"/>
          </a:p>
          <a:p>
            <a:pPr algn="ctr" indent="0" marL="0">
              <a:buNone/>
            </a:pPr>
            <a:r>
              <a:rPr lang="en-US" sz="900" dirty="0">
                <a:solidFill>
                  <a:srgbClr val="6F6A99"/>
                </a:solidFill>
                <a:latin typeface="Segoe UI" pitchFamily="34" charset="0"/>
                <a:ea typeface="Segoe UI" pitchFamily="34" charset="-122"/>
                <a:cs typeface="Segoe UI" pitchFamily="34" charset="-120"/>
              </a:rPr>
              <a:t>25/25</a:t>
            </a:r>
            <a:endParaRPr lang="en-US" sz="1500" dirty="0"/>
          </a:p>
        </p:txBody>
      </p:sp>
      <p:sp>
        <p:nvSpPr>
          <p:cNvPr id="65" name="Text 61"/>
          <p:cNvSpPr/>
          <p:nvPr/>
        </p:nvSpPr>
        <p:spPr>
          <a:xfrm>
            <a:off x="7845552" y="4480560"/>
            <a:ext cx="896112" cy="731520"/>
          </a:xfrm>
          <a:prstGeom prst="roundRect">
            <a:avLst>
              <a:gd name="adj" fmla="val 12500"/>
            </a:avLst>
          </a:prstGeom>
          <a:solidFill>
            <a:srgbClr val="FF5C7A">
              <a:alpha val="28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92%</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23/25</a:t>
            </a:r>
            <a:endParaRPr lang="en-US" sz="1500" dirty="0"/>
          </a:p>
        </p:txBody>
      </p:sp>
      <p:sp>
        <p:nvSpPr>
          <p:cNvPr id="66" name="Text 62"/>
          <p:cNvSpPr/>
          <p:nvPr/>
        </p:nvSpPr>
        <p:spPr>
          <a:xfrm>
            <a:off x="8810244" y="4480560"/>
            <a:ext cx="896112" cy="731520"/>
          </a:xfrm>
          <a:prstGeom prst="roundRect">
            <a:avLst>
              <a:gd name="adj" fmla="val 12500"/>
            </a:avLst>
          </a:prstGeom>
          <a:solidFill>
            <a:srgbClr val="17132E"/>
          </a:solidFill>
          <a:ln w="9525">
            <a:solidFill>
              <a:srgbClr val="2E2759"/>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100%</a:t>
            </a:r>
            <a:endParaRPr lang="en-US" sz="1500" dirty="0"/>
          </a:p>
          <a:p>
            <a:pPr algn="ctr" indent="0" marL="0">
              <a:buNone/>
            </a:pPr>
            <a:r>
              <a:rPr lang="en-US" sz="900" dirty="0">
                <a:solidFill>
                  <a:srgbClr val="6F6A99"/>
                </a:solidFill>
                <a:latin typeface="Segoe UI" pitchFamily="34" charset="0"/>
                <a:ea typeface="Segoe UI" pitchFamily="34" charset="-122"/>
                <a:cs typeface="Segoe UI" pitchFamily="34" charset="-120"/>
              </a:rPr>
              <a:t>25/25</a:t>
            </a:r>
            <a:endParaRPr lang="en-US" sz="1500" dirty="0"/>
          </a:p>
        </p:txBody>
      </p:sp>
      <p:sp>
        <p:nvSpPr>
          <p:cNvPr id="67" name="Text 63"/>
          <p:cNvSpPr/>
          <p:nvPr/>
        </p:nvSpPr>
        <p:spPr>
          <a:xfrm>
            <a:off x="9774936" y="4480560"/>
            <a:ext cx="896112" cy="731520"/>
          </a:xfrm>
          <a:prstGeom prst="roundRect">
            <a:avLst>
              <a:gd name="adj" fmla="val 12500"/>
            </a:avLst>
          </a:prstGeom>
          <a:solidFill>
            <a:srgbClr val="17132E"/>
          </a:solidFill>
          <a:ln w="9525">
            <a:solidFill>
              <a:srgbClr val="2E2759"/>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100%</a:t>
            </a:r>
            <a:endParaRPr lang="en-US" sz="1500" dirty="0"/>
          </a:p>
          <a:p>
            <a:pPr algn="ctr" indent="0" marL="0">
              <a:buNone/>
            </a:pPr>
            <a:r>
              <a:rPr lang="en-US" sz="900" dirty="0">
                <a:solidFill>
                  <a:srgbClr val="6F6A99"/>
                </a:solidFill>
                <a:latin typeface="Segoe UI" pitchFamily="34" charset="0"/>
                <a:ea typeface="Segoe UI" pitchFamily="34" charset="-122"/>
                <a:cs typeface="Segoe UI" pitchFamily="34" charset="-120"/>
              </a:rPr>
              <a:t>25/25</a:t>
            </a:r>
            <a:endParaRPr lang="en-US" sz="1500" dirty="0"/>
          </a:p>
        </p:txBody>
      </p:sp>
      <p:sp>
        <p:nvSpPr>
          <p:cNvPr id="68" name="Text 64"/>
          <p:cNvSpPr/>
          <p:nvPr/>
        </p:nvSpPr>
        <p:spPr>
          <a:xfrm>
            <a:off x="10739628" y="4480560"/>
            <a:ext cx="896112" cy="731520"/>
          </a:xfrm>
          <a:prstGeom prst="roundRect">
            <a:avLst>
              <a:gd name="adj" fmla="val 12500"/>
            </a:avLst>
          </a:prstGeom>
          <a:solidFill>
            <a:srgbClr val="FF5C7A">
              <a:alpha val="28000"/>
            </a:srgbClr>
          </a:solidFill>
          <a:ln w="9525">
            <a:solidFill>
              <a:srgbClr val="FF5C7A"/>
            </a:solidFill>
          </a:ln>
        </p:spPr>
        <p:txBody>
          <a:bodyPr wrap="square" lIns="0" tIns="0" rIns="0" bIns="0" rtlCol="0" anchor="ctr"/>
          <a:lstStyle/>
          <a:p>
            <a:pPr algn="ctr" indent="0" marL="0">
              <a:buNone/>
            </a:pPr>
            <a:r>
              <a:rPr lang="en-US" sz="1500" b="1" dirty="0">
                <a:solidFill>
                  <a:srgbClr val="F2EFFF"/>
                </a:solidFill>
                <a:latin typeface="Segoe UI" pitchFamily="34" charset="0"/>
                <a:ea typeface="Segoe UI" pitchFamily="34" charset="-122"/>
                <a:cs typeface="Segoe UI" pitchFamily="34" charset="-120"/>
              </a:rPr>
              <a:t>92%</a:t>
            </a:r>
            <a:endParaRPr lang="en-US" sz="1500" dirty="0"/>
          </a:p>
          <a:p>
            <a:pPr algn="ctr" indent="0" marL="0">
              <a:buNone/>
            </a:pPr>
            <a:r>
              <a:rPr lang="en-US" sz="900" dirty="0">
                <a:solidFill>
                  <a:srgbClr val="FFD6DE"/>
                </a:solidFill>
                <a:latin typeface="Segoe UI" pitchFamily="34" charset="0"/>
                <a:ea typeface="Segoe UI" pitchFamily="34" charset="-122"/>
                <a:cs typeface="Segoe UI" pitchFamily="34" charset="-120"/>
              </a:rPr>
              <a:t>23/25</a:t>
            </a:r>
            <a:endParaRPr lang="en-US" sz="1500" dirty="0"/>
          </a:p>
        </p:txBody>
      </p:sp>
      <p:sp>
        <p:nvSpPr>
          <p:cNvPr id="69" name="Shape 65"/>
          <p:cNvSpPr/>
          <p:nvPr/>
        </p:nvSpPr>
        <p:spPr>
          <a:xfrm>
            <a:off x="548640" y="5440680"/>
            <a:ext cx="11183112" cy="777240"/>
          </a:xfrm>
          <a:prstGeom prst="roundRect">
            <a:avLst>
              <a:gd name="adj" fmla="val 16471"/>
            </a:avLst>
          </a:prstGeom>
          <a:solidFill>
            <a:srgbClr val="211B42"/>
          </a:solidFill>
          <a:ln w="12700">
            <a:solidFill>
              <a:srgbClr val="FF9F1C"/>
            </a:solidFill>
            <a:prstDash val="solid"/>
          </a:ln>
          <a:effectLst>
            <a:outerShdw sx="100000" sy="100000" kx="0" ky="0" algn="bl" rotWithShape="0" blurRad="177800" dist="50800" dir="5400000">
              <a:srgbClr val="000000">
                <a:alpha val="45000"/>
              </a:srgbClr>
            </a:outerShdw>
          </a:effectLst>
        </p:spPr>
      </p:sp>
      <p:pic>
        <p:nvPicPr>
          <p:cNvPr id="70" name="Image 2" descr="/tmp/claude-0/-home-claude/cf1b82dd-723a-5c0d-b3ee-f6062e85aabe/scratchpad/nd/ic/FaMousePointer_a.png">    </p:cNvPr>
          <p:cNvPicPr>
            <a:picLocks noChangeAspect="1"/>
          </p:cNvPicPr>
          <p:nvPr/>
        </p:nvPicPr>
        <p:blipFill>
          <a:blip r:embed="rId9"/>
          <a:stretch>
            <a:fillRect/>
          </a:stretch>
        </p:blipFill>
        <p:spPr>
          <a:xfrm>
            <a:off x="804672" y="5669280"/>
            <a:ext cx="310896" cy="310896"/>
          </a:xfrm>
          <a:prstGeom prst="rect">
            <a:avLst/>
          </a:prstGeom>
        </p:spPr>
      </p:pic>
      <p:sp>
        <p:nvSpPr>
          <p:cNvPr id="71" name="Text 66"/>
          <p:cNvSpPr txBox="1"/>
          <p:nvPr/>
        </p:nvSpPr>
        <p:spPr>
          <a:xfrm>
            <a:off x="1261872" y="5440680"/>
            <a:ext cx="10332720" cy="777240"/>
          </a:xfrm>
          <a:prstGeom prst="rect">
            <a:avLst/>
          </a:prstGeom>
          <a:noFill/>
          <a:ln/>
        </p:spPr>
        <p:txBody>
          <a:bodyPr wrap="square" lIns="0" tIns="0" rIns="0" bIns="0" rtlCol="0" anchor="ctr"/>
          <a:lstStyle/>
          <a:p>
            <a:pPr indent="0" marL="0">
              <a:buNone/>
            </a:pPr>
            <a:r>
              <a:rPr lang="en-US" sz="1300" b="1" dirty="0">
                <a:solidFill>
                  <a:srgbClr val="F2EFFF"/>
                </a:solidFill>
                <a:latin typeface="Segoe UI" pitchFamily="34" charset="0"/>
                <a:ea typeface="Segoe UI" pitchFamily="34" charset="-122"/>
                <a:cs typeface="Segoe UI" pitchFamily="34" charset="-120"/>
              </a:rPr>
              <a:t>Lowest score: GPT-OSS 120B on Kanglish, 21 of 25.</a:t>
            </a:r>
            <a:pPr indent="0" marL="0">
              <a:buNone/>
            </a:pPr>
            <a:r>
              <a:rPr lang="en-US" sz="1300" dirty="0">
                <a:solidFill>
                  <a:srgbClr val="A9A3CF"/>
                </a:solidFill>
                <a:latin typeface="Segoe UI" pitchFamily="34" charset="0"/>
                <a:ea typeface="Segoe UI" pitchFamily="34" charset="-122"/>
                <a:cs typeface="Segoe UI" pitchFamily="34" charset="-120"/>
              </a:rPr>
              <a:t>   Click the gold cell to see what went wrong. Every cell opens in the live dashboard too.</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10 / 19</a:t>
            </a:r>
            <a:endParaRPr lang="en-US" sz="900" dirty="0"/>
          </a:p>
        </p:txBody>
      </p:sp>
      <p:sp>
        <p:nvSpPr>
          <p:cNvPr id="11"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04 · RESULTS</a:t>
            </a:r>
            <a:endParaRPr lang="en-US" sz="1100" dirty="0"/>
          </a:p>
        </p:txBody>
      </p:sp>
      <p:sp>
        <p:nvSpPr>
          <p:cNvPr id="12"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The code mostly works. The instructions break.</a:t>
            </a:r>
            <a:endParaRPr lang="en-US" sz="3000" dirty="0"/>
          </a:p>
        </p:txBody>
      </p:sp>
      <p:sp>
        <p:nvSpPr>
          <p:cNvPr id="13" name="Shape 9"/>
          <p:cNvSpPr/>
          <p:nvPr/>
        </p:nvSpPr>
        <p:spPr>
          <a:xfrm>
            <a:off x="548640" y="2011680"/>
            <a:ext cx="7178040" cy="4251960"/>
          </a:xfrm>
          <a:prstGeom prst="roundRect">
            <a:avLst>
              <a:gd name="adj" fmla="val 3011"/>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4" name="Text 10"/>
          <p:cNvSpPr txBox="1"/>
          <p:nvPr/>
        </p:nvSpPr>
        <p:spPr>
          <a:xfrm>
            <a:off x="822960" y="2176272"/>
            <a:ext cx="5029200" cy="292608"/>
          </a:xfrm>
          <a:prstGeom prst="rect">
            <a:avLst/>
          </a:prstGeom>
          <a:noFill/>
          <a:ln/>
        </p:spPr>
        <p:txBody>
          <a:bodyPr wrap="square" lIns="0" tIns="0" rIns="0" bIns="0" rtlCol="0" anchor="t"/>
          <a:lstStyle/>
          <a:p>
            <a:pPr indent="0" marL="0">
              <a:buNone/>
            </a:pPr>
            <a:r>
              <a:rPr lang="en-US" sz="1400" b="1" dirty="0">
                <a:solidFill>
                  <a:srgbClr val="F2EFFF"/>
                </a:solidFill>
                <a:latin typeface="Segoe UI" pitchFamily="34" charset="0"/>
                <a:ea typeface="Segoe UI" pitchFamily="34" charset="-122"/>
                <a:cs typeface="Segoe UI" pitchFamily="34" charset="-120"/>
              </a:rPr>
              <a:t>Same casual style, only the language changes</a:t>
            </a:r>
            <a:endParaRPr lang="en-US" sz="1400" dirty="0"/>
          </a:p>
        </p:txBody>
      </p:sp>
      <p:sp>
        <p:nvSpPr>
          <p:cNvPr id="15" name="Text 11"/>
          <p:cNvSpPr txBox="1"/>
          <p:nvPr/>
        </p:nvSpPr>
        <p:spPr>
          <a:xfrm>
            <a:off x="822960" y="2468880"/>
            <a:ext cx="5029200" cy="237744"/>
          </a:xfrm>
          <a:prstGeom prst="rect">
            <a:avLst/>
          </a:prstGeom>
          <a:noFill/>
          <a:ln/>
        </p:spPr>
        <p:txBody>
          <a:bodyPr wrap="square" lIns="0" tIns="0" rIns="0" bIns="0" rtlCol="0" anchor="t"/>
          <a:lstStyle/>
          <a:p>
            <a:pPr indent="0" marL="0">
              <a:buNone/>
            </a:pPr>
            <a:r>
              <a:rPr lang="en-US" sz="1050" dirty="0">
                <a:solidFill>
                  <a:srgbClr val="6F6A99"/>
                </a:solidFill>
                <a:latin typeface="Segoe UI" pitchFamily="34" charset="0"/>
                <a:ea typeface="Segoe UI" pitchFamily="34" charset="-122"/>
                <a:cs typeface="Segoe UI" pitchFamily="34" charset="-120"/>
              </a:rPr>
              <a:t>3 models × 25 tasks per language · one run each</a:t>
            </a:r>
            <a:endParaRPr lang="en-US" sz="1050" dirty="0"/>
          </a:p>
        </p:txBody>
      </p:sp>
      <p:sp>
        <p:nvSpPr>
          <p:cNvPr id="16" name="Shape 12"/>
          <p:cNvSpPr/>
          <p:nvPr/>
        </p:nvSpPr>
        <p:spPr>
          <a:xfrm>
            <a:off x="822960" y="2862072"/>
            <a:ext cx="146304" cy="146304"/>
          </a:xfrm>
          <a:prstGeom prst="roundRect">
            <a:avLst>
              <a:gd name="adj" fmla="val 18750"/>
            </a:avLst>
          </a:prstGeom>
          <a:solidFill>
            <a:srgbClr val="9B8CFF"/>
          </a:solidFill>
          <a:ln/>
        </p:spPr>
      </p:sp>
      <p:sp>
        <p:nvSpPr>
          <p:cNvPr id="17" name="Text 13"/>
          <p:cNvSpPr txBox="1"/>
          <p:nvPr/>
        </p:nvSpPr>
        <p:spPr>
          <a:xfrm>
            <a:off x="1042416" y="2816352"/>
            <a:ext cx="2103120" cy="237744"/>
          </a:xfrm>
          <a:prstGeom prst="rect">
            <a:avLst/>
          </a:prstGeom>
          <a:noFill/>
          <a:ln/>
        </p:spPr>
        <p:txBody>
          <a:bodyPr wrap="square" lIns="0" tIns="0" rIns="0" bIns="0" rtlCol="0" anchor="t"/>
          <a:lstStyle/>
          <a:p>
            <a:pPr indent="0" marL="0">
              <a:buNone/>
            </a:pPr>
            <a:r>
              <a:rPr lang="en-US" sz="1050" dirty="0">
                <a:solidFill>
                  <a:srgbClr val="A9A3CF"/>
                </a:solidFill>
                <a:latin typeface="Segoe UI" pitchFamily="34" charset="0"/>
                <a:ea typeface="Segoe UI" pitchFamily="34" charset="-122"/>
                <a:cs typeface="Segoe UI" pitchFamily="34" charset="-120"/>
              </a:rPr>
              <a:t>Correct code</a:t>
            </a:r>
            <a:endParaRPr lang="en-US" sz="1050" dirty="0"/>
          </a:p>
        </p:txBody>
      </p:sp>
      <p:sp>
        <p:nvSpPr>
          <p:cNvPr id="18" name="Shape 14"/>
          <p:cNvSpPr/>
          <p:nvPr/>
        </p:nvSpPr>
        <p:spPr>
          <a:xfrm>
            <a:off x="2468880" y="2862072"/>
            <a:ext cx="146304" cy="146304"/>
          </a:xfrm>
          <a:prstGeom prst="roundRect">
            <a:avLst>
              <a:gd name="adj" fmla="val 18750"/>
            </a:avLst>
          </a:prstGeom>
          <a:solidFill>
            <a:srgbClr val="FF9F1C"/>
          </a:solidFill>
          <a:ln/>
        </p:spPr>
      </p:sp>
      <p:sp>
        <p:nvSpPr>
          <p:cNvPr id="19" name="Text 15"/>
          <p:cNvSpPr txBox="1"/>
          <p:nvPr/>
        </p:nvSpPr>
        <p:spPr>
          <a:xfrm>
            <a:off x="2688336" y="2816352"/>
            <a:ext cx="2103120" cy="237744"/>
          </a:xfrm>
          <a:prstGeom prst="rect">
            <a:avLst/>
          </a:prstGeom>
          <a:noFill/>
          <a:ln/>
        </p:spPr>
        <p:txBody>
          <a:bodyPr wrap="square" lIns="0" tIns="0" rIns="0" bIns="0" rtlCol="0" anchor="t"/>
          <a:lstStyle/>
          <a:p>
            <a:pPr indent="0" marL="0">
              <a:buNone/>
            </a:pPr>
            <a:r>
              <a:rPr lang="en-US" sz="1050" dirty="0">
                <a:solidFill>
                  <a:srgbClr val="A9A3CF"/>
                </a:solidFill>
                <a:latin typeface="Segoe UI" pitchFamily="34" charset="0"/>
                <a:ea typeface="Segoe UI" pitchFamily="34" charset="-122"/>
                <a:cs typeface="Segoe UI" pitchFamily="34" charset="-120"/>
              </a:rPr>
              <a:t>Replied with only code</a:t>
            </a:r>
            <a:endParaRPr lang="en-US" sz="1050" dirty="0"/>
          </a:p>
        </p:txBody>
      </p:sp>
      <p:sp>
        <p:nvSpPr>
          <p:cNvPr id="20" name="Shape 16"/>
          <p:cNvSpPr/>
          <p:nvPr/>
        </p:nvSpPr>
        <p:spPr>
          <a:xfrm>
            <a:off x="868680" y="5669280"/>
            <a:ext cx="6629400" cy="0"/>
          </a:xfrm>
          <a:prstGeom prst="line">
            <a:avLst/>
          </a:prstGeom>
          <a:noFill/>
          <a:ln w="12700">
            <a:solidFill>
              <a:srgbClr val="2E2759"/>
            </a:solidFill>
            <a:prstDash val="solid"/>
          </a:ln>
        </p:spPr>
      </p:sp>
      <p:sp>
        <p:nvSpPr>
          <p:cNvPr id="21" name="!!bar0-0"/>
          <p:cNvSpPr/>
          <p:nvPr/>
        </p:nvSpPr>
        <p:spPr>
          <a:xfrm>
            <a:off x="978408" y="3622243"/>
            <a:ext cx="384048" cy="2047037"/>
          </a:xfrm>
          <a:prstGeom prst="rect">
            <a:avLst/>
          </a:prstGeom>
          <a:solidFill>
            <a:srgbClr val="9B8CFF"/>
          </a:solidFill>
          <a:ln/>
        </p:spPr>
      </p:sp>
      <p:sp>
        <p:nvSpPr>
          <p:cNvPr id="22" name="Text 18"/>
          <p:cNvSpPr txBox="1"/>
          <p:nvPr/>
        </p:nvSpPr>
        <p:spPr>
          <a:xfrm>
            <a:off x="841248" y="3384499"/>
            <a:ext cx="658368" cy="219456"/>
          </a:xfrm>
          <a:prstGeom prst="rect">
            <a:avLst/>
          </a:prstGeom>
          <a:noFill/>
          <a:ln/>
        </p:spPr>
        <p:txBody>
          <a:bodyPr wrap="square" lIns="0" tIns="0" rIns="0" bIns="0" rtlCol="0" anchor="t"/>
          <a:lstStyle/>
          <a:p>
            <a:pPr algn="ctr" indent="0" marL="0">
              <a:buNone/>
            </a:pPr>
            <a:r>
              <a:rPr lang="en-US" sz="950" b="1" dirty="0">
                <a:solidFill>
                  <a:srgbClr val="F2EFFF"/>
                </a:solidFill>
                <a:latin typeface="Segoe UI" pitchFamily="34" charset="0"/>
                <a:ea typeface="Segoe UI" pitchFamily="34" charset="-122"/>
                <a:cs typeface="Segoe UI" pitchFamily="34" charset="-120"/>
              </a:rPr>
              <a:t>97%</a:t>
            </a:r>
            <a:endParaRPr lang="en-US" sz="950" dirty="0"/>
          </a:p>
        </p:txBody>
      </p:sp>
      <p:sp>
        <p:nvSpPr>
          <p:cNvPr id="23" name="!!bar1-0"/>
          <p:cNvSpPr/>
          <p:nvPr/>
        </p:nvSpPr>
        <p:spPr>
          <a:xfrm>
            <a:off x="1417320" y="3566160"/>
            <a:ext cx="384048" cy="2103120"/>
          </a:xfrm>
          <a:prstGeom prst="rect">
            <a:avLst/>
          </a:prstGeom>
          <a:solidFill>
            <a:srgbClr val="FF9F1C"/>
          </a:solidFill>
          <a:ln/>
        </p:spPr>
      </p:sp>
      <p:sp>
        <p:nvSpPr>
          <p:cNvPr id="24" name="Text 20"/>
          <p:cNvSpPr txBox="1"/>
          <p:nvPr/>
        </p:nvSpPr>
        <p:spPr>
          <a:xfrm>
            <a:off x="1280160" y="3328416"/>
            <a:ext cx="658368" cy="219456"/>
          </a:xfrm>
          <a:prstGeom prst="rect">
            <a:avLst/>
          </a:prstGeom>
          <a:noFill/>
          <a:ln/>
        </p:spPr>
        <p:txBody>
          <a:bodyPr wrap="square" lIns="0" tIns="0" rIns="0" bIns="0" rtlCol="0" anchor="t"/>
          <a:lstStyle/>
          <a:p>
            <a:pPr algn="ctr" indent="0" marL="0">
              <a:buNone/>
            </a:pPr>
            <a:r>
              <a:rPr lang="en-US" sz="950" b="1" dirty="0">
                <a:solidFill>
                  <a:srgbClr val="FF9F1C"/>
                </a:solidFill>
                <a:latin typeface="Segoe UI" pitchFamily="34" charset="0"/>
                <a:ea typeface="Segoe UI" pitchFamily="34" charset="-122"/>
                <a:cs typeface="Segoe UI" pitchFamily="34" charset="-120"/>
              </a:rPr>
              <a:t>100%</a:t>
            </a:r>
            <a:endParaRPr lang="en-US" sz="950" dirty="0"/>
          </a:p>
        </p:txBody>
      </p:sp>
      <p:sp>
        <p:nvSpPr>
          <p:cNvPr id="25" name="Text 21"/>
          <p:cNvSpPr txBox="1"/>
          <p:nvPr/>
        </p:nvSpPr>
        <p:spPr>
          <a:xfrm>
            <a:off x="822960" y="5760720"/>
            <a:ext cx="1188720" cy="256032"/>
          </a:xfrm>
          <a:prstGeom prst="rect">
            <a:avLst/>
          </a:prstGeom>
          <a:noFill/>
          <a:ln/>
        </p:spPr>
        <p:txBody>
          <a:bodyPr wrap="square" lIns="0" tIns="0" rIns="0" bIns="0" rtlCol="0" anchor="t"/>
          <a:lstStyle/>
          <a:p>
            <a:pPr algn="ctr" indent="0" marL="0">
              <a:buNone/>
            </a:pPr>
            <a:r>
              <a:rPr lang="en-US" sz="1100" dirty="0">
                <a:solidFill>
                  <a:srgbClr val="A9A3CF"/>
                </a:solidFill>
                <a:latin typeface="Segoe UI" pitchFamily="34" charset="0"/>
                <a:ea typeface="Segoe UI" pitchFamily="34" charset="-122"/>
                <a:cs typeface="Segoe UI" pitchFamily="34" charset="-120"/>
              </a:rPr>
              <a:t>English</a:t>
            </a:r>
            <a:endParaRPr lang="en-US" sz="1100" dirty="0"/>
          </a:p>
        </p:txBody>
      </p:sp>
      <p:sp>
        <p:nvSpPr>
          <p:cNvPr id="26" name="!!bar0-1"/>
          <p:cNvSpPr/>
          <p:nvPr/>
        </p:nvSpPr>
        <p:spPr>
          <a:xfrm>
            <a:off x="2075688" y="3650285"/>
            <a:ext cx="384048" cy="2018995"/>
          </a:xfrm>
          <a:prstGeom prst="rect">
            <a:avLst/>
          </a:prstGeom>
          <a:solidFill>
            <a:srgbClr val="9B8CFF"/>
          </a:solidFill>
          <a:ln/>
        </p:spPr>
      </p:sp>
      <p:sp>
        <p:nvSpPr>
          <p:cNvPr id="27" name="Text 23"/>
          <p:cNvSpPr txBox="1"/>
          <p:nvPr/>
        </p:nvSpPr>
        <p:spPr>
          <a:xfrm>
            <a:off x="1938528" y="3412541"/>
            <a:ext cx="658368" cy="219456"/>
          </a:xfrm>
          <a:prstGeom prst="rect">
            <a:avLst/>
          </a:prstGeom>
          <a:noFill/>
          <a:ln/>
        </p:spPr>
        <p:txBody>
          <a:bodyPr wrap="square" lIns="0" tIns="0" rIns="0" bIns="0" rtlCol="0" anchor="t"/>
          <a:lstStyle/>
          <a:p>
            <a:pPr algn="ctr" indent="0" marL="0">
              <a:buNone/>
            </a:pPr>
            <a:r>
              <a:rPr lang="en-US" sz="950" b="1" dirty="0">
                <a:solidFill>
                  <a:srgbClr val="F2EFFF"/>
                </a:solidFill>
                <a:latin typeface="Segoe UI" pitchFamily="34" charset="0"/>
                <a:ea typeface="Segoe UI" pitchFamily="34" charset="-122"/>
                <a:cs typeface="Segoe UI" pitchFamily="34" charset="-120"/>
              </a:rPr>
              <a:t>96%</a:t>
            </a:r>
            <a:endParaRPr lang="en-US" sz="950" dirty="0"/>
          </a:p>
        </p:txBody>
      </p:sp>
      <p:sp>
        <p:nvSpPr>
          <p:cNvPr id="28" name="!!bar1-1"/>
          <p:cNvSpPr/>
          <p:nvPr/>
        </p:nvSpPr>
        <p:spPr>
          <a:xfrm>
            <a:off x="2514600" y="3706368"/>
            <a:ext cx="384048" cy="1962912"/>
          </a:xfrm>
          <a:prstGeom prst="rect">
            <a:avLst/>
          </a:prstGeom>
          <a:solidFill>
            <a:srgbClr val="FF9F1C"/>
          </a:solidFill>
          <a:ln/>
        </p:spPr>
      </p:sp>
      <p:sp>
        <p:nvSpPr>
          <p:cNvPr id="29" name="Text 25"/>
          <p:cNvSpPr txBox="1"/>
          <p:nvPr/>
        </p:nvSpPr>
        <p:spPr>
          <a:xfrm>
            <a:off x="2377440" y="3468624"/>
            <a:ext cx="658368" cy="219456"/>
          </a:xfrm>
          <a:prstGeom prst="rect">
            <a:avLst/>
          </a:prstGeom>
          <a:noFill/>
          <a:ln/>
        </p:spPr>
        <p:txBody>
          <a:bodyPr wrap="square" lIns="0" tIns="0" rIns="0" bIns="0" rtlCol="0" anchor="t"/>
          <a:lstStyle/>
          <a:p>
            <a:pPr algn="ctr" indent="0" marL="0">
              <a:buNone/>
            </a:pPr>
            <a:r>
              <a:rPr lang="en-US" sz="950" b="1" dirty="0">
                <a:solidFill>
                  <a:srgbClr val="FF9F1C"/>
                </a:solidFill>
                <a:latin typeface="Segoe UI" pitchFamily="34" charset="0"/>
                <a:ea typeface="Segoe UI" pitchFamily="34" charset="-122"/>
                <a:cs typeface="Segoe UI" pitchFamily="34" charset="-120"/>
              </a:rPr>
              <a:t>93%</a:t>
            </a:r>
            <a:endParaRPr lang="en-US" sz="950" dirty="0"/>
          </a:p>
        </p:txBody>
      </p:sp>
      <p:sp>
        <p:nvSpPr>
          <p:cNvPr id="30" name="Text 26"/>
          <p:cNvSpPr txBox="1"/>
          <p:nvPr/>
        </p:nvSpPr>
        <p:spPr>
          <a:xfrm>
            <a:off x="1920240" y="5760720"/>
            <a:ext cx="1188720" cy="256032"/>
          </a:xfrm>
          <a:prstGeom prst="rect">
            <a:avLst/>
          </a:prstGeom>
          <a:noFill/>
          <a:ln/>
        </p:spPr>
        <p:txBody>
          <a:bodyPr wrap="square" lIns="0" tIns="0" rIns="0" bIns="0" rtlCol="0" anchor="t"/>
          <a:lstStyle/>
          <a:p>
            <a:pPr algn="ctr" indent="0" marL="0">
              <a:buNone/>
            </a:pPr>
            <a:r>
              <a:rPr lang="en-US" sz="1100" dirty="0">
                <a:solidFill>
                  <a:srgbClr val="A9A3CF"/>
                </a:solidFill>
                <a:latin typeface="Segoe UI" pitchFamily="34" charset="0"/>
                <a:ea typeface="Segoe UI" pitchFamily="34" charset="-122"/>
                <a:cs typeface="Segoe UI" pitchFamily="34" charset="-120"/>
              </a:rPr>
              <a:t>Hinglish</a:t>
            </a:r>
            <a:endParaRPr lang="en-US" sz="1100" dirty="0"/>
          </a:p>
        </p:txBody>
      </p:sp>
      <p:sp>
        <p:nvSpPr>
          <p:cNvPr id="31" name="!!bar0-2"/>
          <p:cNvSpPr/>
          <p:nvPr/>
        </p:nvSpPr>
        <p:spPr>
          <a:xfrm>
            <a:off x="3172968" y="3706368"/>
            <a:ext cx="384048" cy="1962912"/>
          </a:xfrm>
          <a:prstGeom prst="rect">
            <a:avLst/>
          </a:prstGeom>
          <a:solidFill>
            <a:srgbClr val="9B8CFF"/>
          </a:solidFill>
          <a:ln/>
        </p:spPr>
      </p:sp>
      <p:sp>
        <p:nvSpPr>
          <p:cNvPr id="32" name="Text 28"/>
          <p:cNvSpPr txBox="1"/>
          <p:nvPr/>
        </p:nvSpPr>
        <p:spPr>
          <a:xfrm>
            <a:off x="3035808" y="3468624"/>
            <a:ext cx="658368" cy="219456"/>
          </a:xfrm>
          <a:prstGeom prst="rect">
            <a:avLst/>
          </a:prstGeom>
          <a:noFill/>
          <a:ln/>
        </p:spPr>
        <p:txBody>
          <a:bodyPr wrap="square" lIns="0" tIns="0" rIns="0" bIns="0" rtlCol="0" anchor="t"/>
          <a:lstStyle/>
          <a:p>
            <a:pPr algn="ctr" indent="0" marL="0">
              <a:buNone/>
            </a:pPr>
            <a:r>
              <a:rPr lang="en-US" sz="950" b="1" dirty="0">
                <a:solidFill>
                  <a:srgbClr val="F2EFFF"/>
                </a:solidFill>
                <a:latin typeface="Segoe UI" pitchFamily="34" charset="0"/>
                <a:ea typeface="Segoe UI" pitchFamily="34" charset="-122"/>
                <a:cs typeface="Segoe UI" pitchFamily="34" charset="-120"/>
              </a:rPr>
              <a:t>93%</a:t>
            </a:r>
            <a:endParaRPr lang="en-US" sz="950" dirty="0"/>
          </a:p>
        </p:txBody>
      </p:sp>
      <p:sp>
        <p:nvSpPr>
          <p:cNvPr id="33" name="!!bar1-2"/>
          <p:cNvSpPr/>
          <p:nvPr/>
        </p:nvSpPr>
        <p:spPr>
          <a:xfrm>
            <a:off x="3611880" y="3566160"/>
            <a:ext cx="384048" cy="2103120"/>
          </a:xfrm>
          <a:prstGeom prst="rect">
            <a:avLst/>
          </a:prstGeom>
          <a:solidFill>
            <a:srgbClr val="FF9F1C"/>
          </a:solidFill>
          <a:ln/>
        </p:spPr>
      </p:sp>
      <p:sp>
        <p:nvSpPr>
          <p:cNvPr id="34" name="Text 30"/>
          <p:cNvSpPr txBox="1"/>
          <p:nvPr/>
        </p:nvSpPr>
        <p:spPr>
          <a:xfrm>
            <a:off x="3474720" y="3328416"/>
            <a:ext cx="658368" cy="219456"/>
          </a:xfrm>
          <a:prstGeom prst="rect">
            <a:avLst/>
          </a:prstGeom>
          <a:noFill/>
          <a:ln/>
        </p:spPr>
        <p:txBody>
          <a:bodyPr wrap="square" lIns="0" tIns="0" rIns="0" bIns="0" rtlCol="0" anchor="t"/>
          <a:lstStyle/>
          <a:p>
            <a:pPr algn="ctr" indent="0" marL="0">
              <a:buNone/>
            </a:pPr>
            <a:r>
              <a:rPr lang="en-US" sz="950" b="1" dirty="0">
                <a:solidFill>
                  <a:srgbClr val="FF9F1C"/>
                </a:solidFill>
                <a:latin typeface="Segoe UI" pitchFamily="34" charset="0"/>
                <a:ea typeface="Segoe UI" pitchFamily="34" charset="-122"/>
                <a:cs typeface="Segoe UI" pitchFamily="34" charset="-120"/>
              </a:rPr>
              <a:t>100%</a:t>
            </a:r>
            <a:endParaRPr lang="en-US" sz="950" dirty="0"/>
          </a:p>
        </p:txBody>
      </p:sp>
      <p:sp>
        <p:nvSpPr>
          <p:cNvPr id="35" name="Text 31"/>
          <p:cNvSpPr txBox="1"/>
          <p:nvPr/>
        </p:nvSpPr>
        <p:spPr>
          <a:xfrm>
            <a:off x="3017520" y="5760720"/>
            <a:ext cx="1188720" cy="256032"/>
          </a:xfrm>
          <a:prstGeom prst="rect">
            <a:avLst/>
          </a:prstGeom>
          <a:noFill/>
          <a:ln/>
        </p:spPr>
        <p:txBody>
          <a:bodyPr wrap="square" lIns="0" tIns="0" rIns="0" bIns="0" rtlCol="0" anchor="t"/>
          <a:lstStyle/>
          <a:p>
            <a:pPr algn="ctr" indent="0" marL="0">
              <a:buNone/>
            </a:pPr>
            <a:r>
              <a:rPr lang="en-US" sz="1100" dirty="0">
                <a:solidFill>
                  <a:srgbClr val="A9A3CF"/>
                </a:solidFill>
                <a:latin typeface="Segoe UI" pitchFamily="34" charset="0"/>
                <a:ea typeface="Segoe UI" pitchFamily="34" charset="-122"/>
                <a:cs typeface="Segoe UI" pitchFamily="34" charset="-120"/>
              </a:rPr>
              <a:t>Benglish</a:t>
            </a:r>
            <a:endParaRPr lang="en-US" sz="1100" dirty="0"/>
          </a:p>
        </p:txBody>
      </p:sp>
      <p:sp>
        <p:nvSpPr>
          <p:cNvPr id="36" name="!!bar0-3"/>
          <p:cNvSpPr/>
          <p:nvPr/>
        </p:nvSpPr>
        <p:spPr>
          <a:xfrm>
            <a:off x="4270248" y="3678326"/>
            <a:ext cx="384048" cy="1990954"/>
          </a:xfrm>
          <a:prstGeom prst="rect">
            <a:avLst/>
          </a:prstGeom>
          <a:solidFill>
            <a:srgbClr val="9B8CFF"/>
          </a:solidFill>
          <a:ln/>
        </p:spPr>
      </p:sp>
      <p:sp>
        <p:nvSpPr>
          <p:cNvPr id="37" name="Text 33"/>
          <p:cNvSpPr txBox="1"/>
          <p:nvPr/>
        </p:nvSpPr>
        <p:spPr>
          <a:xfrm>
            <a:off x="4133088" y="3440582"/>
            <a:ext cx="658368" cy="219456"/>
          </a:xfrm>
          <a:prstGeom prst="rect">
            <a:avLst/>
          </a:prstGeom>
          <a:noFill/>
          <a:ln/>
        </p:spPr>
        <p:txBody>
          <a:bodyPr wrap="square" lIns="0" tIns="0" rIns="0" bIns="0" rtlCol="0" anchor="t"/>
          <a:lstStyle/>
          <a:p>
            <a:pPr algn="ctr" indent="0" marL="0">
              <a:buNone/>
            </a:pPr>
            <a:r>
              <a:rPr lang="en-US" sz="950" b="1" dirty="0">
                <a:solidFill>
                  <a:srgbClr val="F2EFFF"/>
                </a:solidFill>
                <a:latin typeface="Segoe UI" pitchFamily="34" charset="0"/>
                <a:ea typeface="Segoe UI" pitchFamily="34" charset="-122"/>
                <a:cs typeface="Segoe UI" pitchFamily="34" charset="-120"/>
              </a:rPr>
              <a:t>95%</a:t>
            </a:r>
            <a:endParaRPr lang="en-US" sz="950" dirty="0"/>
          </a:p>
        </p:txBody>
      </p:sp>
      <p:sp>
        <p:nvSpPr>
          <p:cNvPr id="38" name="!!bar1-3"/>
          <p:cNvSpPr/>
          <p:nvPr/>
        </p:nvSpPr>
        <p:spPr>
          <a:xfrm>
            <a:off x="4709160" y="3594202"/>
            <a:ext cx="384048" cy="2075078"/>
          </a:xfrm>
          <a:prstGeom prst="rect">
            <a:avLst/>
          </a:prstGeom>
          <a:solidFill>
            <a:srgbClr val="FF9F1C"/>
          </a:solidFill>
          <a:ln/>
        </p:spPr>
      </p:sp>
      <p:sp>
        <p:nvSpPr>
          <p:cNvPr id="39" name="Text 35"/>
          <p:cNvSpPr txBox="1"/>
          <p:nvPr/>
        </p:nvSpPr>
        <p:spPr>
          <a:xfrm>
            <a:off x="4572000" y="3356458"/>
            <a:ext cx="658368" cy="219456"/>
          </a:xfrm>
          <a:prstGeom prst="rect">
            <a:avLst/>
          </a:prstGeom>
          <a:noFill/>
          <a:ln/>
        </p:spPr>
        <p:txBody>
          <a:bodyPr wrap="square" lIns="0" tIns="0" rIns="0" bIns="0" rtlCol="0" anchor="t"/>
          <a:lstStyle/>
          <a:p>
            <a:pPr algn="ctr" indent="0" marL="0">
              <a:buNone/>
            </a:pPr>
            <a:r>
              <a:rPr lang="en-US" sz="950" b="1" dirty="0">
                <a:solidFill>
                  <a:srgbClr val="FF9F1C"/>
                </a:solidFill>
                <a:latin typeface="Segoe UI" pitchFamily="34" charset="0"/>
                <a:ea typeface="Segoe UI" pitchFamily="34" charset="-122"/>
                <a:cs typeface="Segoe UI" pitchFamily="34" charset="-120"/>
              </a:rPr>
              <a:t>99%</a:t>
            </a:r>
            <a:endParaRPr lang="en-US" sz="950" dirty="0"/>
          </a:p>
        </p:txBody>
      </p:sp>
      <p:sp>
        <p:nvSpPr>
          <p:cNvPr id="40" name="Text 36"/>
          <p:cNvSpPr txBox="1"/>
          <p:nvPr/>
        </p:nvSpPr>
        <p:spPr>
          <a:xfrm>
            <a:off x="4114800" y="5760720"/>
            <a:ext cx="1188720" cy="256032"/>
          </a:xfrm>
          <a:prstGeom prst="rect">
            <a:avLst/>
          </a:prstGeom>
          <a:noFill/>
          <a:ln/>
        </p:spPr>
        <p:txBody>
          <a:bodyPr wrap="square" lIns="0" tIns="0" rIns="0" bIns="0" rtlCol="0" anchor="t"/>
          <a:lstStyle/>
          <a:p>
            <a:pPr algn="ctr" indent="0" marL="0">
              <a:buNone/>
            </a:pPr>
            <a:r>
              <a:rPr lang="en-US" sz="1100" dirty="0">
                <a:solidFill>
                  <a:srgbClr val="A9A3CF"/>
                </a:solidFill>
                <a:latin typeface="Segoe UI" pitchFamily="34" charset="0"/>
                <a:ea typeface="Segoe UI" pitchFamily="34" charset="-122"/>
                <a:cs typeface="Segoe UI" pitchFamily="34" charset="-120"/>
              </a:rPr>
              <a:t>Tanglish</a:t>
            </a:r>
            <a:endParaRPr lang="en-US" sz="1100" dirty="0"/>
          </a:p>
        </p:txBody>
      </p:sp>
      <p:sp>
        <p:nvSpPr>
          <p:cNvPr id="41" name="!!bar0-4"/>
          <p:cNvSpPr/>
          <p:nvPr/>
        </p:nvSpPr>
        <p:spPr>
          <a:xfrm>
            <a:off x="5367528" y="3678326"/>
            <a:ext cx="384048" cy="1990954"/>
          </a:xfrm>
          <a:prstGeom prst="rect">
            <a:avLst/>
          </a:prstGeom>
          <a:solidFill>
            <a:srgbClr val="9B8CFF"/>
          </a:solidFill>
          <a:ln/>
        </p:spPr>
      </p:sp>
      <p:sp>
        <p:nvSpPr>
          <p:cNvPr id="42" name="Text 38"/>
          <p:cNvSpPr txBox="1"/>
          <p:nvPr/>
        </p:nvSpPr>
        <p:spPr>
          <a:xfrm>
            <a:off x="5230368" y="3440582"/>
            <a:ext cx="658368" cy="219456"/>
          </a:xfrm>
          <a:prstGeom prst="rect">
            <a:avLst/>
          </a:prstGeom>
          <a:noFill/>
          <a:ln/>
        </p:spPr>
        <p:txBody>
          <a:bodyPr wrap="square" lIns="0" tIns="0" rIns="0" bIns="0" rtlCol="0" anchor="t"/>
          <a:lstStyle/>
          <a:p>
            <a:pPr algn="ctr" indent="0" marL="0">
              <a:buNone/>
            </a:pPr>
            <a:r>
              <a:rPr lang="en-US" sz="950" b="1" dirty="0">
                <a:solidFill>
                  <a:srgbClr val="F2EFFF"/>
                </a:solidFill>
                <a:latin typeface="Segoe UI" pitchFamily="34" charset="0"/>
                <a:ea typeface="Segoe UI" pitchFamily="34" charset="-122"/>
                <a:cs typeface="Segoe UI" pitchFamily="34" charset="-120"/>
              </a:rPr>
              <a:t>95%</a:t>
            </a:r>
            <a:endParaRPr lang="en-US" sz="950" dirty="0"/>
          </a:p>
        </p:txBody>
      </p:sp>
      <p:sp>
        <p:nvSpPr>
          <p:cNvPr id="43" name="!!bar1-4"/>
          <p:cNvSpPr/>
          <p:nvPr/>
        </p:nvSpPr>
        <p:spPr>
          <a:xfrm>
            <a:off x="5806440" y="3566160"/>
            <a:ext cx="384048" cy="2103120"/>
          </a:xfrm>
          <a:prstGeom prst="rect">
            <a:avLst/>
          </a:prstGeom>
          <a:solidFill>
            <a:srgbClr val="FF9F1C"/>
          </a:solidFill>
          <a:ln/>
        </p:spPr>
      </p:sp>
      <p:sp>
        <p:nvSpPr>
          <p:cNvPr id="44" name="Text 40"/>
          <p:cNvSpPr txBox="1"/>
          <p:nvPr/>
        </p:nvSpPr>
        <p:spPr>
          <a:xfrm>
            <a:off x="5669280" y="3328416"/>
            <a:ext cx="658368" cy="219456"/>
          </a:xfrm>
          <a:prstGeom prst="rect">
            <a:avLst/>
          </a:prstGeom>
          <a:noFill/>
          <a:ln/>
        </p:spPr>
        <p:txBody>
          <a:bodyPr wrap="square" lIns="0" tIns="0" rIns="0" bIns="0" rtlCol="0" anchor="t"/>
          <a:lstStyle/>
          <a:p>
            <a:pPr algn="ctr" indent="0" marL="0">
              <a:buNone/>
            </a:pPr>
            <a:r>
              <a:rPr lang="en-US" sz="950" b="1" dirty="0">
                <a:solidFill>
                  <a:srgbClr val="FF9F1C"/>
                </a:solidFill>
                <a:latin typeface="Segoe UI" pitchFamily="34" charset="0"/>
                <a:ea typeface="Segoe UI" pitchFamily="34" charset="-122"/>
                <a:cs typeface="Segoe UI" pitchFamily="34" charset="-120"/>
              </a:rPr>
              <a:t>100%</a:t>
            </a:r>
            <a:endParaRPr lang="en-US" sz="950" dirty="0"/>
          </a:p>
        </p:txBody>
      </p:sp>
      <p:sp>
        <p:nvSpPr>
          <p:cNvPr id="45" name="Text 41"/>
          <p:cNvSpPr txBox="1"/>
          <p:nvPr/>
        </p:nvSpPr>
        <p:spPr>
          <a:xfrm>
            <a:off x="5212080" y="5760720"/>
            <a:ext cx="1188720" cy="256032"/>
          </a:xfrm>
          <a:prstGeom prst="rect">
            <a:avLst/>
          </a:prstGeom>
          <a:noFill/>
          <a:ln/>
        </p:spPr>
        <p:txBody>
          <a:bodyPr wrap="square" lIns="0" tIns="0" rIns="0" bIns="0" rtlCol="0" anchor="t"/>
          <a:lstStyle/>
          <a:p>
            <a:pPr algn="ctr" indent="0" marL="0">
              <a:buNone/>
            </a:pPr>
            <a:r>
              <a:rPr lang="en-US" sz="1100" dirty="0">
                <a:solidFill>
                  <a:srgbClr val="A9A3CF"/>
                </a:solidFill>
                <a:latin typeface="Segoe UI" pitchFamily="34" charset="0"/>
                <a:ea typeface="Segoe UI" pitchFamily="34" charset="-122"/>
                <a:cs typeface="Segoe UI" pitchFamily="34" charset="-120"/>
              </a:rPr>
              <a:t>Odia-English</a:t>
            </a:r>
            <a:endParaRPr lang="en-US" sz="1100" dirty="0"/>
          </a:p>
        </p:txBody>
      </p:sp>
      <p:sp>
        <p:nvSpPr>
          <p:cNvPr id="46" name="!!bar0-5"/>
          <p:cNvSpPr/>
          <p:nvPr/>
        </p:nvSpPr>
        <p:spPr>
          <a:xfrm>
            <a:off x="6464808" y="3762451"/>
            <a:ext cx="384048" cy="1906829"/>
          </a:xfrm>
          <a:prstGeom prst="rect">
            <a:avLst/>
          </a:prstGeom>
          <a:solidFill>
            <a:srgbClr val="9B8CFF"/>
          </a:solidFill>
          <a:ln/>
        </p:spPr>
      </p:sp>
      <p:sp>
        <p:nvSpPr>
          <p:cNvPr id="47" name="Text 43"/>
          <p:cNvSpPr txBox="1"/>
          <p:nvPr/>
        </p:nvSpPr>
        <p:spPr>
          <a:xfrm>
            <a:off x="6327648" y="3524707"/>
            <a:ext cx="658368" cy="219456"/>
          </a:xfrm>
          <a:prstGeom prst="rect">
            <a:avLst/>
          </a:prstGeom>
          <a:noFill/>
          <a:ln/>
        </p:spPr>
        <p:txBody>
          <a:bodyPr wrap="square" lIns="0" tIns="0" rIns="0" bIns="0" rtlCol="0" anchor="t"/>
          <a:lstStyle/>
          <a:p>
            <a:pPr algn="ctr" indent="0" marL="0">
              <a:buNone/>
            </a:pPr>
            <a:r>
              <a:rPr lang="en-US" sz="950" b="1" dirty="0">
                <a:solidFill>
                  <a:srgbClr val="F2EFFF"/>
                </a:solidFill>
                <a:latin typeface="Segoe UI" pitchFamily="34" charset="0"/>
                <a:ea typeface="Segoe UI" pitchFamily="34" charset="-122"/>
                <a:cs typeface="Segoe UI" pitchFamily="34" charset="-120"/>
              </a:rPr>
              <a:t>91%</a:t>
            </a:r>
            <a:endParaRPr lang="en-US" sz="950" dirty="0"/>
          </a:p>
        </p:txBody>
      </p:sp>
      <p:sp>
        <p:nvSpPr>
          <p:cNvPr id="48" name="!!bar1-5"/>
          <p:cNvSpPr/>
          <p:nvPr/>
        </p:nvSpPr>
        <p:spPr>
          <a:xfrm>
            <a:off x="6903720" y="4940198"/>
            <a:ext cx="384048" cy="729082"/>
          </a:xfrm>
          <a:prstGeom prst="rect">
            <a:avLst/>
          </a:prstGeom>
          <a:solidFill>
            <a:srgbClr val="FF9F1C"/>
          </a:solidFill>
          <a:ln/>
        </p:spPr>
      </p:sp>
      <p:sp>
        <p:nvSpPr>
          <p:cNvPr id="49" name="Text 45"/>
          <p:cNvSpPr txBox="1"/>
          <p:nvPr/>
        </p:nvSpPr>
        <p:spPr>
          <a:xfrm>
            <a:off x="6766560" y="4592726"/>
            <a:ext cx="658368" cy="310896"/>
          </a:xfrm>
          <a:prstGeom prst="rect">
            <a:avLst/>
          </a:prstGeom>
          <a:noFill/>
          <a:ln/>
        </p:spPr>
        <p:txBody>
          <a:bodyPr wrap="square" lIns="0" tIns="0" rIns="0" bIns="0" rtlCol="0" anchor="t"/>
          <a:lstStyle/>
          <a:p>
            <a:pPr algn="ctr" indent="0" marL="0">
              <a:buNone/>
            </a:pPr>
            <a:r>
              <a:rPr lang="en-US" sz="1600" b="1" dirty="0">
                <a:solidFill>
                  <a:srgbClr val="FF9F1C"/>
                </a:solidFill>
                <a:latin typeface="Segoe UI" pitchFamily="34" charset="0"/>
                <a:ea typeface="Segoe UI" pitchFamily="34" charset="-122"/>
                <a:cs typeface="Segoe UI" pitchFamily="34" charset="-120"/>
              </a:rPr>
              <a:t>35%</a:t>
            </a:r>
            <a:endParaRPr lang="en-US" sz="1600" dirty="0"/>
          </a:p>
        </p:txBody>
      </p:sp>
      <p:sp>
        <p:nvSpPr>
          <p:cNvPr id="50" name="Text 46"/>
          <p:cNvSpPr txBox="1"/>
          <p:nvPr/>
        </p:nvSpPr>
        <p:spPr>
          <a:xfrm>
            <a:off x="6309360" y="5760720"/>
            <a:ext cx="1188720" cy="256032"/>
          </a:xfrm>
          <a:prstGeom prst="rect">
            <a:avLst/>
          </a:prstGeom>
          <a:noFill/>
          <a:ln/>
        </p:spPr>
        <p:txBody>
          <a:bodyPr wrap="square" lIns="0" tIns="0" rIns="0" bIns="0" rtlCol="0" anchor="t"/>
          <a:lstStyle/>
          <a:p>
            <a:pPr algn="ctr" indent="0" marL="0">
              <a:buNone/>
            </a:pPr>
            <a:r>
              <a:rPr lang="en-US" sz="1100" b="1" dirty="0">
                <a:solidFill>
                  <a:srgbClr val="E87BA4"/>
                </a:solidFill>
                <a:latin typeface="Segoe UI" pitchFamily="34" charset="0"/>
                <a:ea typeface="Segoe UI" pitchFamily="34" charset="-122"/>
                <a:cs typeface="Segoe UI" pitchFamily="34" charset="-120"/>
              </a:rPr>
              <a:t>Kanglish</a:t>
            </a:r>
            <a:endParaRPr lang="en-US" sz="1100" dirty="0"/>
          </a:p>
        </p:txBody>
      </p:sp>
      <p:sp>
        <p:nvSpPr>
          <p:cNvPr id="51" name="Shape 47"/>
          <p:cNvSpPr/>
          <p:nvPr/>
        </p:nvSpPr>
        <p:spPr>
          <a:xfrm>
            <a:off x="7955280" y="2011680"/>
            <a:ext cx="3776472" cy="1325880"/>
          </a:xfrm>
          <a:prstGeom prst="roundRect">
            <a:avLst>
              <a:gd name="adj" fmla="val 9655"/>
            </a:avLst>
          </a:prstGeom>
          <a:solidFill>
            <a:srgbClr val="17132E"/>
          </a:solidFill>
          <a:ln w="12700">
            <a:solidFill>
              <a:srgbClr val="FF9F1C"/>
            </a:solidFill>
            <a:prstDash val="solid"/>
          </a:ln>
          <a:effectLst>
            <a:outerShdw sx="100000" sy="100000" kx="0" ky="0" algn="bl" rotWithShape="0" blurRad="177800" dist="50800" dir="5400000">
              <a:srgbClr val="000000">
                <a:alpha val="45000"/>
              </a:srgbClr>
            </a:outerShdw>
          </a:effectLst>
        </p:spPr>
      </p:sp>
      <p:sp>
        <p:nvSpPr>
          <p:cNvPr id="52" name="Text 48"/>
          <p:cNvSpPr txBox="1"/>
          <p:nvPr/>
        </p:nvSpPr>
        <p:spPr>
          <a:xfrm>
            <a:off x="8211312" y="2148840"/>
            <a:ext cx="3291840" cy="502920"/>
          </a:xfrm>
          <a:prstGeom prst="rect">
            <a:avLst/>
          </a:prstGeom>
          <a:noFill/>
          <a:ln/>
        </p:spPr>
        <p:txBody>
          <a:bodyPr wrap="square" lIns="0" tIns="0" rIns="0" bIns="0" rtlCol="0" anchor="t"/>
          <a:lstStyle/>
          <a:p>
            <a:pPr indent="0" marL="0">
              <a:buNone/>
            </a:pPr>
            <a:r>
              <a:rPr lang="en-US" sz="2800" b="1" dirty="0">
                <a:solidFill>
                  <a:srgbClr val="FF9F1C"/>
                </a:solidFill>
                <a:latin typeface="Segoe UI" pitchFamily="34" charset="0"/>
                <a:ea typeface="Segoe UI" pitchFamily="34" charset="-122"/>
                <a:cs typeface="Segoe UI" pitchFamily="34" charset="-120"/>
              </a:rPr>
              <a:t>35%</a:t>
            </a:r>
            <a:endParaRPr lang="en-US" sz="2800" dirty="0"/>
          </a:p>
        </p:txBody>
      </p:sp>
      <p:sp>
        <p:nvSpPr>
          <p:cNvPr id="53" name="Text 49"/>
          <p:cNvSpPr txBox="1"/>
          <p:nvPr/>
        </p:nvSpPr>
        <p:spPr>
          <a:xfrm>
            <a:off x="8211312" y="2670048"/>
            <a:ext cx="3383280" cy="603504"/>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of Kanglish answers replied with only the code, as asked. Casual English: 100%.</a:t>
            </a:r>
            <a:endParaRPr lang="en-US" sz="1150" dirty="0"/>
          </a:p>
        </p:txBody>
      </p:sp>
      <p:sp>
        <p:nvSpPr>
          <p:cNvPr id="54" name="Shape 50"/>
          <p:cNvSpPr/>
          <p:nvPr/>
        </p:nvSpPr>
        <p:spPr>
          <a:xfrm>
            <a:off x="7955280" y="3474720"/>
            <a:ext cx="3776472" cy="1325880"/>
          </a:xfrm>
          <a:prstGeom prst="roundRect">
            <a:avLst>
              <a:gd name="adj" fmla="val 9655"/>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55" name="Text 51"/>
          <p:cNvSpPr txBox="1"/>
          <p:nvPr/>
        </p:nvSpPr>
        <p:spPr>
          <a:xfrm>
            <a:off x="8211312" y="3611880"/>
            <a:ext cx="3291840" cy="502920"/>
          </a:xfrm>
          <a:prstGeom prst="rect">
            <a:avLst/>
          </a:prstGeom>
          <a:noFill/>
          <a:ln/>
        </p:spPr>
        <p:txBody>
          <a:bodyPr wrap="square" lIns="0" tIns="0" rIns="0" bIns="0" rtlCol="0" anchor="t"/>
          <a:lstStyle/>
          <a:p>
            <a:pPr indent="0" marL="0">
              <a:buNone/>
            </a:pPr>
            <a:r>
              <a:rPr lang="en-US" sz="2800" b="1" dirty="0">
                <a:solidFill>
                  <a:srgbClr val="F2EFFF"/>
                </a:solidFill>
                <a:latin typeface="Segoe UI" pitchFamily="34" charset="0"/>
                <a:ea typeface="Segoe UI" pitchFamily="34" charset="-122"/>
                <a:cs typeface="Segoe UI" pitchFamily="34" charset="-120"/>
              </a:rPr>
              <a:t>0 of 25</a:t>
            </a:r>
            <a:endParaRPr lang="en-US" sz="2800" dirty="0"/>
          </a:p>
        </p:txBody>
      </p:sp>
      <p:sp>
        <p:nvSpPr>
          <p:cNvPr id="56" name="Text 52"/>
          <p:cNvSpPr txBox="1"/>
          <p:nvPr/>
        </p:nvSpPr>
        <p:spPr>
          <a:xfrm>
            <a:off x="8211312" y="4133088"/>
            <a:ext cx="3383280" cy="603504"/>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times GPT-OSS 120B obeyed “only code” in Kanglish. 10 answers drifted into Kannada script.</a:t>
            </a:r>
            <a:endParaRPr lang="en-US" sz="1150" dirty="0"/>
          </a:p>
        </p:txBody>
      </p:sp>
      <p:sp>
        <p:nvSpPr>
          <p:cNvPr id="57" name="Shape 53"/>
          <p:cNvSpPr/>
          <p:nvPr/>
        </p:nvSpPr>
        <p:spPr>
          <a:xfrm>
            <a:off x="7955280" y="4937760"/>
            <a:ext cx="3776472" cy="1325880"/>
          </a:xfrm>
          <a:prstGeom prst="roundRect">
            <a:avLst>
              <a:gd name="adj" fmla="val 9655"/>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58" name="Text 54"/>
          <p:cNvSpPr txBox="1"/>
          <p:nvPr/>
        </p:nvSpPr>
        <p:spPr>
          <a:xfrm>
            <a:off x="8211312" y="5074920"/>
            <a:ext cx="3291840" cy="502920"/>
          </a:xfrm>
          <a:prstGeom prst="rect">
            <a:avLst/>
          </a:prstGeom>
          <a:noFill/>
          <a:ln/>
        </p:spPr>
        <p:txBody>
          <a:bodyPr wrap="square" lIns="0" tIns="0" rIns="0" bIns="0" rtlCol="0" anchor="t"/>
          <a:lstStyle/>
          <a:p>
            <a:pPr indent="0" marL="0">
              <a:buNone/>
            </a:pPr>
            <a:r>
              <a:rPr lang="en-US" sz="2800" b="1" dirty="0">
                <a:solidFill>
                  <a:srgbClr val="F2EFFF"/>
                </a:solidFill>
                <a:latin typeface="Segoe UI" pitchFamily="34" charset="0"/>
                <a:ea typeface="Segoe UI" pitchFamily="34" charset="-122"/>
                <a:cs typeface="Segoe UI" pitchFamily="34" charset="-120"/>
              </a:rPr>
              <a:t>9 vs 0</a:t>
            </a:r>
            <a:endParaRPr lang="en-US" sz="2800" dirty="0"/>
          </a:p>
        </p:txBody>
      </p:sp>
      <p:sp>
        <p:nvSpPr>
          <p:cNvPr id="59" name="Text 55"/>
          <p:cNvSpPr txBox="1"/>
          <p:nvPr/>
        </p:nvSpPr>
        <p:spPr>
          <a:xfrm>
            <a:off x="8211312" y="5596128"/>
            <a:ext cx="3383280" cy="603504"/>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renamed functions: in 600 mixed prompts vs 150 English ones.</a:t>
            </a:r>
            <a:endParaRPr lang="en-US" sz="11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11 / 19</a:t>
            </a:r>
            <a:endParaRPr lang="en-US" sz="900" dirty="0"/>
          </a:p>
        </p:txBody>
      </p:sp>
      <p:sp>
        <p:nvSpPr>
          <p:cNvPr id="11"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05 · YOUR TURN, JUDGES</a:t>
            </a:r>
            <a:endParaRPr lang="en-US" sz="1100" dirty="0"/>
          </a:p>
        </p:txBody>
      </p:sp>
      <p:sp>
        <p:nvSpPr>
          <p:cNvPr id="12"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Guess the verdict</a:t>
            </a:r>
            <a:endParaRPr lang="en-US" sz="3000" dirty="0"/>
          </a:p>
        </p:txBody>
      </p:sp>
      <p:sp>
        <p:nvSpPr>
          <p:cNvPr id="13" name="!!gprompt"/>
          <p:cNvSpPr/>
          <p:nvPr/>
        </p:nvSpPr>
        <p:spPr>
          <a:xfrm>
            <a:off x="548640" y="2011680"/>
            <a:ext cx="5349240" cy="3108960"/>
          </a:xfrm>
          <a:prstGeom prst="roundRect">
            <a:avLst>
              <a:gd name="adj" fmla="val 4118"/>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4" name="Text 10"/>
          <p:cNvSpPr txBox="1"/>
          <p:nvPr/>
        </p:nvSpPr>
        <p:spPr>
          <a:xfrm>
            <a:off x="804672" y="2194560"/>
            <a:ext cx="4937760" cy="201168"/>
          </a:xfrm>
          <a:prstGeom prst="rect">
            <a:avLst/>
          </a:prstGeom>
          <a:noFill/>
          <a:ln/>
        </p:spPr>
        <p:txBody>
          <a:bodyPr wrap="square" lIns="0" tIns="0" rIns="0" bIns="0" rtlCol="0" anchor="t"/>
          <a:lstStyle/>
          <a:p>
            <a:pPr indent="0" marL="0">
              <a:buNone/>
            </a:pPr>
            <a:r>
              <a:rPr lang="en-US" sz="950" b="1" spc="100" kern="0" dirty="0">
                <a:solidFill>
                  <a:srgbClr val="6F6A99"/>
                </a:solidFill>
                <a:latin typeface="Consolas" pitchFamily="34" charset="0"/>
                <a:ea typeface="Consolas" pitchFamily="34" charset="-122"/>
                <a:cs typeface="Consolas" pitchFamily="34" charset="-120"/>
              </a:rPr>
              <a:t>THE PROMPT  ·  CASUAL BENGLISH  →  GPT-OSS 120B</a:t>
            </a:r>
            <a:endParaRPr lang="en-US" sz="950" dirty="0"/>
          </a:p>
        </p:txBody>
      </p:sp>
      <p:sp>
        <p:nvSpPr>
          <p:cNvPr id="15" name="Text 11"/>
          <p:cNvSpPr txBox="1"/>
          <p:nvPr/>
        </p:nvSpPr>
        <p:spPr>
          <a:xfrm>
            <a:off x="804672" y="2542032"/>
            <a:ext cx="4846320" cy="1645920"/>
          </a:xfrm>
          <a:prstGeom prst="rect">
            <a:avLst/>
          </a:prstGeom>
          <a:noFill/>
          <a:ln/>
        </p:spPr>
        <p:txBody>
          <a:bodyPr wrap="square" lIns="0" tIns="0" rIns="0" bIns="0" rtlCol="0" anchor="t"/>
          <a:lstStyle/>
          <a:p>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bhai </a:t>
            </a:r>
            <a:pPr indent="0" marL="0">
              <a:lnSpc>
                <a:spcPct val="110000"/>
              </a:lnSpc>
              <a:buNone/>
            </a:pPr>
            <a:r>
              <a:rPr lang="en-US" sz="1500" dirty="0">
                <a:solidFill>
                  <a:srgbClr val="F2EFFF"/>
                </a:solidFill>
                <a:latin typeface="Segoe UI" pitchFamily="34" charset="0"/>
                <a:ea typeface="Segoe UI" pitchFamily="34" charset="-122"/>
                <a:cs typeface="Segoe UI" pitchFamily="34" charset="-120"/>
              </a:rPr>
              <a:t>python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e </a:t>
            </a:r>
            <a:pPr indent="0" marL="0">
              <a:lnSpc>
                <a:spcPct val="110000"/>
              </a:lnSpc>
              <a:buNone/>
            </a:pPr>
            <a:r>
              <a:rPr lang="en-US" sz="1400" dirty="0">
                <a:solidFill>
                  <a:srgbClr val="C9C2FF"/>
                </a:solidFill>
                <a:latin typeface="Consolas" pitchFamily="34" charset="0"/>
                <a:ea typeface="Consolas" pitchFamily="34" charset="-122"/>
                <a:cs typeface="Consolas" pitchFamily="34" charset="-120"/>
              </a:rPr>
              <a:t>is_palindrome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naam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er </a:t>
            </a:r>
            <a:pPr indent="0" marL="0">
              <a:lnSpc>
                <a:spcPct val="110000"/>
              </a:lnSpc>
              <a:buNone/>
            </a:pPr>
            <a:r>
              <a:rPr lang="en-US" sz="1500" dirty="0">
                <a:solidFill>
                  <a:srgbClr val="F2EFFF"/>
                </a:solidFill>
                <a:latin typeface="Segoe UI" pitchFamily="34" charset="0"/>
                <a:ea typeface="Segoe UI" pitchFamily="34" charset="-122"/>
                <a:cs typeface="Segoe UI" pitchFamily="34" charset="-120"/>
              </a:rPr>
              <a:t>fn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bana, </a:t>
            </a:r>
            <a:pPr indent="0" marL="0">
              <a:lnSpc>
                <a:spcPct val="110000"/>
              </a:lnSpc>
              <a:buNone/>
            </a:pPr>
            <a:r>
              <a:rPr lang="en-US" sz="1500" dirty="0">
                <a:solidFill>
                  <a:srgbClr val="F2EFFF"/>
                </a:solidFill>
                <a:latin typeface="Segoe UI" pitchFamily="34" charset="0"/>
                <a:ea typeface="Segoe UI" pitchFamily="34" charset="-122"/>
                <a:cs typeface="Segoe UI" pitchFamily="34" charset="-120"/>
              </a:rPr>
              <a:t>string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e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kono </a:t>
            </a:r>
            <a:pPr indent="0" marL="0">
              <a:lnSpc>
                <a:spcPct val="110000"/>
              </a:lnSpc>
              <a:buNone/>
            </a:pPr>
            <a:r>
              <a:rPr lang="en-US" sz="1500" dirty="0">
                <a:solidFill>
                  <a:srgbClr val="F2EFFF"/>
                </a:solidFill>
                <a:latin typeface="Segoe UI" pitchFamily="34" charset="0"/>
                <a:ea typeface="Segoe UI" pitchFamily="34" charset="-122"/>
                <a:cs typeface="Segoe UI" pitchFamily="34" charset="-120"/>
              </a:rPr>
              <a:t>space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thakbe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na,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shamne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theke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aar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pichon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theke </a:t>
            </a:r>
            <a:pPr indent="0" marL="0">
              <a:lnSpc>
                <a:spcPct val="110000"/>
              </a:lnSpc>
              <a:buNone/>
            </a:pPr>
            <a:r>
              <a:rPr lang="en-US" sz="1500" dirty="0">
                <a:solidFill>
                  <a:srgbClr val="F2EFFF"/>
                </a:solidFill>
                <a:latin typeface="Segoe UI" pitchFamily="34" charset="0"/>
                <a:ea typeface="Segoe UI" pitchFamily="34" charset="-122"/>
                <a:cs typeface="Segoe UI" pitchFamily="34" charset="-120"/>
              </a:rPr>
              <a:t>same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porle </a:t>
            </a:r>
            <a:pPr indent="0" marL="0">
              <a:lnSpc>
                <a:spcPct val="110000"/>
              </a:lnSpc>
              <a:buNone/>
            </a:pPr>
            <a:r>
              <a:rPr lang="en-US" sz="1500" dirty="0">
                <a:solidFill>
                  <a:srgbClr val="F2EFFF"/>
                </a:solidFill>
                <a:latin typeface="Segoe UI" pitchFamily="34" charset="0"/>
                <a:ea typeface="Segoe UI" pitchFamily="34" charset="-122"/>
                <a:cs typeface="Segoe UI" pitchFamily="34" charset="-120"/>
              </a:rPr>
              <a:t>True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noile </a:t>
            </a:r>
            <a:pPr indent="0" marL="0">
              <a:lnSpc>
                <a:spcPct val="110000"/>
              </a:lnSpc>
              <a:buNone/>
            </a:pPr>
            <a:r>
              <a:rPr lang="en-US" sz="1500" dirty="0">
                <a:solidFill>
                  <a:srgbClr val="F2EFFF"/>
                </a:solidFill>
                <a:latin typeface="Segoe UI" pitchFamily="34" charset="0"/>
                <a:ea typeface="Segoe UI" pitchFamily="34" charset="-122"/>
                <a:cs typeface="Segoe UI" pitchFamily="34" charset="-120"/>
              </a:rPr>
              <a:t>False, </a:t>
            </a:r>
            <a:pPr indent="0" marL="0">
              <a:lnSpc>
                <a:spcPct val="110000"/>
              </a:lnSpc>
              <a:buNone/>
            </a:pPr>
            <a:r>
              <a:rPr lang="en-US" sz="1500" dirty="0">
                <a:solidFill>
                  <a:srgbClr val="F2EFFF"/>
                </a:solidFill>
                <a:latin typeface="Segoe UI" pitchFamily="34" charset="0"/>
                <a:ea typeface="Segoe UI" pitchFamily="34" charset="-122"/>
                <a:cs typeface="Segoe UI" pitchFamily="34" charset="-120"/>
              </a:rPr>
              <a:t>capital </a:t>
            </a:r>
            <a:pPr indent="0" marL="0">
              <a:lnSpc>
                <a:spcPct val="110000"/>
              </a:lnSpc>
              <a:buNone/>
            </a:pPr>
            <a:r>
              <a:rPr lang="en-US" sz="1500" dirty="0">
                <a:solidFill>
                  <a:srgbClr val="F2EFFF"/>
                </a:solidFill>
                <a:latin typeface="Segoe UI" pitchFamily="34" charset="0"/>
                <a:ea typeface="Segoe UI" pitchFamily="34" charset="-122"/>
                <a:cs typeface="Segoe UI" pitchFamily="34" charset="-120"/>
              </a:rPr>
              <a:t>small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er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tofat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korbi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na. </a:t>
            </a:r>
            <a:pPr indent="0" marL="0">
              <a:lnSpc>
                <a:spcPct val="110000"/>
              </a:lnSpc>
              <a:buNone/>
            </a:pPr>
            <a:r>
              <a:rPr lang="en-US" sz="1500" b="1" dirty="0">
                <a:solidFill>
                  <a:srgbClr val="4CC9F0"/>
                </a:solidFill>
                <a:latin typeface="Segoe UI" pitchFamily="34" charset="0"/>
                <a:ea typeface="Segoe UI" pitchFamily="34" charset="-122"/>
                <a:cs typeface="Segoe UI" pitchFamily="34" charset="-120"/>
              </a:rPr>
              <a:t>shudhu </a:t>
            </a:r>
            <a:pPr indent="0" marL="0">
              <a:lnSpc>
                <a:spcPct val="110000"/>
              </a:lnSpc>
              <a:buNone/>
            </a:pPr>
            <a:r>
              <a:rPr lang="en-US" sz="1500" dirty="0">
                <a:solidFill>
                  <a:srgbClr val="F2EFFF"/>
                </a:solidFill>
                <a:latin typeface="Segoe UI" pitchFamily="34" charset="0"/>
                <a:ea typeface="Segoe UI" pitchFamily="34" charset="-122"/>
                <a:cs typeface="Segoe UI" pitchFamily="34" charset="-120"/>
              </a:rPr>
              <a:t>code</a:t>
            </a:r>
            <a:endParaRPr lang="en-US" sz="1400" dirty="0"/>
          </a:p>
        </p:txBody>
      </p:sp>
      <p:sp>
        <p:nvSpPr>
          <p:cNvPr id="16" name="Text 12"/>
          <p:cNvSpPr txBox="1"/>
          <p:nvPr/>
        </p:nvSpPr>
        <p:spPr>
          <a:xfrm>
            <a:off x="804672" y="4343400"/>
            <a:ext cx="4846320" cy="548640"/>
          </a:xfrm>
          <a:prstGeom prst="rect">
            <a:avLst/>
          </a:prstGeom>
          <a:noFill/>
          <a:ln/>
        </p:spPr>
        <p:txBody>
          <a:bodyPr wrap="square" lIns="0" tIns="0" rIns="0" bIns="0" rtlCol="0" anchor="t"/>
          <a:lstStyle/>
          <a:p>
            <a:pPr indent="0" marL="0">
              <a:buNone/>
            </a:pPr>
            <a:r>
              <a:rPr lang="en-US" sz="1100" i="1" dirty="0">
                <a:solidFill>
                  <a:srgbClr val="A9A3CF"/>
                </a:solidFill>
                <a:latin typeface="Segoe UI" pitchFamily="34" charset="0"/>
                <a:ea typeface="Segoe UI" pitchFamily="34" charset="-122"/>
                <a:cs typeface="Segoe UI" pitchFamily="34" charset="-120"/>
              </a:rPr>
              <a:t>“capital small er tofat korbi na” = don't treat capital and small letters differently.</a:t>
            </a:r>
            <a:endParaRPr lang="en-US" sz="1100" dirty="0"/>
          </a:p>
        </p:txBody>
      </p:sp>
      <p:sp>
        <p:nvSpPr>
          <p:cNvPr id="17" name="!!gcode"/>
          <p:cNvSpPr/>
          <p:nvPr/>
        </p:nvSpPr>
        <p:spPr>
          <a:xfrm>
            <a:off x="6126480" y="2011680"/>
            <a:ext cx="5605272" cy="3108960"/>
          </a:xfrm>
          <a:prstGeom prst="roundRect">
            <a:avLst>
              <a:gd name="adj" fmla="val 4118"/>
            </a:avLst>
          </a:prstGeom>
          <a:solidFill>
            <a:srgbClr val="0B0918"/>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8" name="Shape 14"/>
          <p:cNvSpPr/>
          <p:nvPr/>
        </p:nvSpPr>
        <p:spPr>
          <a:xfrm>
            <a:off x="6355080" y="2240280"/>
            <a:ext cx="118872" cy="118872"/>
          </a:xfrm>
          <a:prstGeom prst="ellipse">
            <a:avLst/>
          </a:prstGeom>
          <a:solidFill>
            <a:srgbClr val="FF5C7A"/>
          </a:solidFill>
          <a:ln/>
        </p:spPr>
      </p:sp>
      <p:sp>
        <p:nvSpPr>
          <p:cNvPr id="19" name="Shape 15"/>
          <p:cNvSpPr/>
          <p:nvPr/>
        </p:nvSpPr>
        <p:spPr>
          <a:xfrm>
            <a:off x="6574536" y="2240280"/>
            <a:ext cx="118872" cy="118872"/>
          </a:xfrm>
          <a:prstGeom prst="ellipse">
            <a:avLst/>
          </a:prstGeom>
          <a:solidFill>
            <a:srgbClr val="FF9F1C"/>
          </a:solidFill>
          <a:ln/>
        </p:spPr>
      </p:sp>
      <p:sp>
        <p:nvSpPr>
          <p:cNvPr id="20" name="Shape 16"/>
          <p:cNvSpPr/>
          <p:nvPr/>
        </p:nvSpPr>
        <p:spPr>
          <a:xfrm>
            <a:off x="6793992" y="2240280"/>
            <a:ext cx="118872" cy="118872"/>
          </a:xfrm>
          <a:prstGeom prst="ellipse">
            <a:avLst/>
          </a:prstGeom>
          <a:solidFill>
            <a:srgbClr val="2BD9A0"/>
          </a:solidFill>
          <a:ln/>
        </p:spPr>
      </p:sp>
      <p:sp>
        <p:nvSpPr>
          <p:cNvPr id="21" name="Text 17"/>
          <p:cNvSpPr txBox="1"/>
          <p:nvPr/>
        </p:nvSpPr>
        <p:spPr>
          <a:xfrm>
            <a:off x="7132320" y="2194560"/>
            <a:ext cx="2743200" cy="219456"/>
          </a:xfrm>
          <a:prstGeom prst="rect">
            <a:avLst/>
          </a:prstGeom>
          <a:noFill/>
          <a:ln/>
        </p:spPr>
        <p:txBody>
          <a:bodyPr wrap="square" lIns="0" tIns="0" rIns="0" bIns="0" rtlCol="0" anchor="t"/>
          <a:lstStyle/>
          <a:p>
            <a:pPr indent="0" marL="0">
              <a:buNone/>
            </a:pPr>
            <a:r>
              <a:rPr lang="en-US" sz="1000" dirty="0">
                <a:solidFill>
                  <a:srgbClr val="6F6A99"/>
                </a:solidFill>
                <a:latin typeface="Consolas" pitchFamily="34" charset="0"/>
                <a:ea typeface="Consolas" pitchFamily="34" charset="-122"/>
                <a:cs typeface="Consolas" pitchFamily="34" charset="-120"/>
              </a:rPr>
              <a:t>the AI's reply</a:t>
            </a:r>
            <a:endParaRPr lang="en-US" sz="1000" dirty="0"/>
          </a:p>
        </p:txBody>
      </p:sp>
      <p:sp>
        <p:nvSpPr>
          <p:cNvPr id="22" name="Text 18"/>
          <p:cNvSpPr txBox="1"/>
          <p:nvPr/>
        </p:nvSpPr>
        <p:spPr>
          <a:xfrm>
            <a:off x="6382512" y="2697480"/>
            <a:ext cx="5212080" cy="914400"/>
          </a:xfrm>
          <a:prstGeom prst="rect">
            <a:avLst/>
          </a:prstGeom>
          <a:noFill/>
          <a:ln/>
        </p:spPr>
        <p:txBody>
          <a:bodyPr wrap="square" lIns="0" tIns="0" rIns="0" bIns="0" rtlCol="0" anchor="t"/>
          <a:lstStyle/>
          <a:p>
            <a:pPr indent="0" marL="0">
              <a:buNone/>
            </a:pPr>
            <a:r>
              <a:rPr lang="en-US" sz="1600" dirty="0">
                <a:solidFill>
                  <a:srgbClr val="FF9F1C"/>
                </a:solidFill>
                <a:latin typeface="Consolas" pitchFamily="34" charset="0"/>
                <a:ea typeface="Consolas" pitchFamily="34" charset="-122"/>
                <a:cs typeface="Consolas" pitchFamily="34" charset="-120"/>
              </a:rPr>
              <a:t>def </a:t>
            </a:r>
            <a:pPr indent="0" marL="0">
              <a:buNone/>
            </a:pPr>
            <a:r>
              <a:rPr lang="en-US" sz="1600" dirty="0">
                <a:solidFill>
                  <a:srgbClr val="9B8CFF"/>
                </a:solidFill>
                <a:latin typeface="Consolas" pitchFamily="34" charset="0"/>
                <a:ea typeface="Consolas" pitchFamily="34" charset="-122"/>
                <a:cs typeface="Consolas" pitchFamily="34" charset="-120"/>
              </a:rPr>
              <a:t>is_palindrome</a:t>
            </a:r>
            <a:pPr indent="0" marL="0">
              <a:buNone/>
            </a:pPr>
            <a:r>
              <a:rPr lang="en-US" sz="1600" dirty="0">
                <a:solidFill>
                  <a:srgbClr val="F2EFFF"/>
                </a:solidFill>
                <a:latin typeface="Consolas" pitchFamily="34" charset="0"/>
                <a:ea typeface="Consolas" pitchFamily="34" charset="-122"/>
                <a:cs typeface="Consolas" pitchFamily="34" charset="-120"/>
              </a:rPr>
              <a:t>(s: str) -&gt; bool:</a:t>
            </a:r>
            <a:endParaRPr lang="en-US" sz="1600" dirty="0"/>
          </a:p>
          <a:p>
            <a:pPr indent="0" marL="0">
              <a:buNone/>
            </a:pPr>
            <a:r>
              <a:rPr lang="en-US" sz="1600" dirty="0">
                <a:solidFill>
                  <a:srgbClr val="FF9F1C"/>
                </a:solidFill>
                <a:latin typeface="Consolas" pitchFamily="34" charset="0"/>
                <a:ea typeface="Consolas" pitchFamily="34" charset="-122"/>
                <a:cs typeface="Consolas" pitchFamily="34" charset="-120"/>
              </a:rPr>
              <a:t>    return </a:t>
            </a:r>
            <a:pPr indent="0" marL="0">
              <a:buNone/>
            </a:pPr>
            <a:r>
              <a:rPr lang="en-US" sz="1600" dirty="0">
                <a:solidFill>
                  <a:srgbClr val="F2EFFF"/>
                </a:solidFill>
                <a:latin typeface="Consolas" pitchFamily="34" charset="0"/>
                <a:ea typeface="Consolas" pitchFamily="34" charset="-122"/>
                <a:cs typeface="Consolas" pitchFamily="34" charset="-120"/>
              </a:rPr>
              <a:t>s == s[::-1]</a:t>
            </a:r>
            <a:endParaRPr lang="en-US" sz="1600" dirty="0"/>
          </a:p>
        </p:txBody>
      </p:sp>
      <p:sp>
        <p:nvSpPr>
          <p:cNvPr id="23" name="Text 19"/>
          <p:cNvSpPr txBox="1"/>
          <p:nvPr/>
        </p:nvSpPr>
        <p:spPr>
          <a:xfrm>
            <a:off x="6382512" y="4572000"/>
            <a:ext cx="5212080" cy="274320"/>
          </a:xfrm>
          <a:prstGeom prst="rect">
            <a:avLst/>
          </a:prstGeom>
          <a:noFill/>
          <a:ln/>
        </p:spPr>
        <p:txBody>
          <a:bodyPr wrap="square" lIns="0" tIns="0" rIns="0" bIns="0" rtlCol="0" anchor="t"/>
          <a:lstStyle/>
          <a:p>
            <a:pPr indent="0" marL="0">
              <a:buNone/>
            </a:pPr>
            <a:r>
              <a:rPr lang="en-US" sz="1100" dirty="0">
                <a:solidFill>
                  <a:srgbClr val="A9A3CF"/>
                </a:solidFill>
                <a:latin typeface="Segoe UI" pitchFamily="34" charset="0"/>
                <a:ea typeface="Segoe UI" pitchFamily="34" charset="-122"/>
                <a:cs typeface="Segoe UI" pitchFamily="34" charset="-120"/>
              </a:rPr>
              <a:t>5 hidden tests, e.g. is_palindrome("Racecar") should be True</a:t>
            </a:r>
            <a:endParaRPr lang="en-US" sz="1100" dirty="0"/>
          </a:p>
        </p:txBody>
      </p:sp>
      <p:pic>
        <p:nvPicPr>
          <p:cNvPr id="24" name="Image 2" descr="/tmp/claude-0/-home-claude/cf1b82dd-723a-5c0d-b3ee-f6062e85aabe/scratchpad/nd/ic/FaQuestion_a.png">    </p:cNvPr>
          <p:cNvPicPr>
            <a:picLocks noChangeAspect="1"/>
          </p:cNvPicPr>
          <p:nvPr/>
        </p:nvPicPr>
        <p:blipFill>
          <a:blip r:embed="rId8"/>
          <a:stretch>
            <a:fillRect/>
          </a:stretch>
        </p:blipFill>
        <p:spPr>
          <a:xfrm>
            <a:off x="566928" y="5486400"/>
            <a:ext cx="384048" cy="384048"/>
          </a:xfrm>
          <a:prstGeom prst="rect">
            <a:avLst/>
          </a:prstGeom>
        </p:spPr>
      </p:pic>
      <p:sp>
        <p:nvSpPr>
          <p:cNvPr id="25" name="Text 20"/>
          <p:cNvSpPr txBox="1"/>
          <p:nvPr/>
        </p:nvSpPr>
        <p:spPr>
          <a:xfrm>
            <a:off x="1097280" y="5394960"/>
            <a:ext cx="5120640" cy="594360"/>
          </a:xfrm>
          <a:prstGeom prst="rect">
            <a:avLst/>
          </a:prstGeom>
          <a:noFill/>
          <a:ln/>
        </p:spPr>
        <p:txBody>
          <a:bodyPr wrap="square" lIns="0" tIns="0" rIns="0" bIns="0" rtlCol="0" anchor="ctr"/>
          <a:lstStyle/>
          <a:p>
            <a:pPr indent="0" marL="0">
              <a:buNone/>
            </a:pPr>
            <a:r>
              <a:rPr lang="en-US" sz="2100" b="1" dirty="0">
                <a:solidFill>
                  <a:srgbClr val="F2EFFF"/>
                </a:solidFill>
                <a:latin typeface="Segoe UI" pitchFamily="34" charset="0"/>
                <a:ea typeface="Segoe UI" pitchFamily="34" charset="-122"/>
                <a:cs typeface="Segoe UI" pitchFamily="34" charset="-120"/>
              </a:rPr>
              <a:t>Will this code pass all 5 tests?</a:t>
            </a:r>
            <a:endParaRPr lang="en-US" sz="2100" dirty="0"/>
          </a:p>
        </p:txBody>
      </p:sp>
      <p:sp>
        <p:nvSpPr>
          <p:cNvPr id="26" name="btn-pass">
            <a:hlinkClick r:id="rId9" action="ppaction://hlinksldjump"/>
          </p:cNvPr>
          <p:cNvSpPr/>
          <p:nvPr/>
        </p:nvSpPr>
        <p:spPr>
          <a:xfrm>
            <a:off x="6126480" y="5349240"/>
            <a:ext cx="2697480" cy="685800"/>
          </a:xfrm>
          <a:prstGeom prst="roundRect">
            <a:avLst>
              <a:gd name="adj" fmla="val 50000"/>
            </a:avLst>
          </a:prstGeom>
          <a:solidFill>
            <a:srgbClr val="2BD9A0">
              <a:alpha val="18000"/>
            </a:srgbClr>
          </a:solidFill>
          <a:ln w="15875">
            <a:solidFill>
              <a:srgbClr val="2BD9A0"/>
            </a:solidFill>
          </a:ln>
        </p:spPr>
        <p:txBody>
          <a:bodyPr wrap="square" lIns="0" tIns="0" rIns="0" bIns="0" rtlCol="0" anchor="ctr"/>
          <a:lstStyle/>
          <a:p>
            <a:pPr algn="ctr" indent="0" marL="0">
              <a:buNone/>
            </a:pPr>
            <a:r>
              <a:rPr lang="en-US" sz="1600" b="1" dirty="0">
                <a:solidFill>
                  <a:srgbClr val="2BD9A0"/>
                </a:solidFill>
                <a:latin typeface="Segoe UI" pitchFamily="34" charset="0"/>
                <a:ea typeface="Segoe UI" pitchFamily="34" charset="-122"/>
                <a:cs typeface="Segoe UI" pitchFamily="34" charset="-120"/>
              </a:rPr>
              <a:t>✔  It passes</a:t>
            </a:r>
            <a:endParaRPr lang="en-US" sz="1600" dirty="0"/>
          </a:p>
        </p:txBody>
      </p:sp>
      <p:sp>
        <p:nvSpPr>
          <p:cNvPr id="27" name="btn-fail">
            <a:hlinkClick r:id="rId10" action="ppaction://hlinksldjump"/>
          </p:cNvPr>
          <p:cNvSpPr/>
          <p:nvPr/>
        </p:nvSpPr>
        <p:spPr>
          <a:xfrm>
            <a:off x="9034272" y="5349240"/>
            <a:ext cx="2697480" cy="685800"/>
          </a:xfrm>
          <a:prstGeom prst="roundRect">
            <a:avLst>
              <a:gd name="adj" fmla="val 50000"/>
            </a:avLst>
          </a:prstGeom>
          <a:solidFill>
            <a:srgbClr val="FF5C7A">
              <a:alpha val="18000"/>
            </a:srgbClr>
          </a:solidFill>
          <a:ln w="15875">
            <a:solidFill>
              <a:srgbClr val="FF5C7A"/>
            </a:solidFill>
          </a:ln>
        </p:spPr>
        <p:txBody>
          <a:bodyPr wrap="square" lIns="0" tIns="0" rIns="0" bIns="0" rtlCol="0" anchor="ctr"/>
          <a:lstStyle/>
          <a:p>
            <a:pPr algn="ctr" indent="0" marL="0">
              <a:buNone/>
            </a:pPr>
            <a:r>
              <a:rPr lang="en-US" sz="1600" b="1" dirty="0">
                <a:solidFill>
                  <a:srgbClr val="FF5C7A"/>
                </a:solidFill>
                <a:latin typeface="Segoe UI" pitchFamily="34" charset="0"/>
                <a:ea typeface="Segoe UI" pitchFamily="34" charset="-122"/>
                <a:cs typeface="Segoe UI" pitchFamily="34" charset="-120"/>
              </a:rPr>
              <a:t>✖  It fails</a:t>
            </a:r>
            <a:endParaRPr lang="en-US" sz="16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12 / 19</a:t>
            </a:r>
            <a:endParaRPr lang="en-US" sz="900" dirty="0"/>
          </a:p>
        </p:txBody>
      </p:sp>
      <p:sp>
        <p:nvSpPr>
          <p:cNvPr id="11"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04 · RESULTS</a:t>
            </a:r>
            <a:endParaRPr lang="en-US" sz="1100" dirty="0"/>
          </a:p>
        </p:txBody>
      </p:sp>
      <p:sp>
        <p:nvSpPr>
          <p:cNvPr id="12"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Three ways the AI slips</a:t>
            </a:r>
            <a:endParaRPr lang="en-US" sz="3000" dirty="0"/>
          </a:p>
        </p:txBody>
      </p:sp>
      <p:sp>
        <p:nvSpPr>
          <p:cNvPr id="13" name="Shape 9"/>
          <p:cNvSpPr/>
          <p:nvPr/>
        </p:nvSpPr>
        <p:spPr>
          <a:xfrm>
            <a:off x="548640" y="2011680"/>
            <a:ext cx="3611880" cy="3657600"/>
          </a:xfrm>
          <a:prstGeom prst="roundRect">
            <a:avLst>
              <a:gd name="adj" fmla="val 354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4" name="Shape 10"/>
          <p:cNvSpPr/>
          <p:nvPr/>
        </p:nvSpPr>
        <p:spPr>
          <a:xfrm>
            <a:off x="795528" y="2240280"/>
            <a:ext cx="603504" cy="603504"/>
          </a:xfrm>
          <a:prstGeom prst="ellipse">
            <a:avLst/>
          </a:prstGeom>
          <a:solidFill>
            <a:srgbClr val="211B42"/>
          </a:solidFill>
          <a:ln/>
        </p:spPr>
      </p:sp>
      <p:pic>
        <p:nvPicPr>
          <p:cNvPr id="15" name="Image 2" descr="/tmp/claude-0/-home-claude/cf1b82dd-723a-5c0d-b3ee-f6062e85aabe/scratchpad/nd/ic/FaTag_w.png">    </p:cNvPr>
          <p:cNvPicPr>
            <a:picLocks noChangeAspect="1"/>
          </p:cNvPicPr>
          <p:nvPr/>
        </p:nvPicPr>
        <p:blipFill>
          <a:blip r:embed="rId8"/>
          <a:stretch>
            <a:fillRect/>
          </a:stretch>
        </p:blipFill>
        <p:spPr>
          <a:xfrm>
            <a:off x="958474" y="2403226"/>
            <a:ext cx="277612" cy="277612"/>
          </a:xfrm>
          <a:prstGeom prst="rect">
            <a:avLst/>
          </a:prstGeom>
        </p:spPr>
      </p:pic>
      <p:sp>
        <p:nvSpPr>
          <p:cNvPr id="16" name="Text 11"/>
          <p:cNvSpPr txBox="1"/>
          <p:nvPr/>
        </p:nvSpPr>
        <p:spPr>
          <a:xfrm>
            <a:off x="1572768" y="2395728"/>
            <a:ext cx="1828800" cy="274320"/>
          </a:xfrm>
          <a:prstGeom prst="rect">
            <a:avLst/>
          </a:prstGeom>
          <a:noFill/>
          <a:ln/>
        </p:spPr>
        <p:txBody>
          <a:bodyPr wrap="square" lIns="0" tIns="0" rIns="0" bIns="0" rtlCol="0" anchor="t"/>
          <a:lstStyle/>
          <a:p>
            <a:pPr indent="0" marL="0">
              <a:buNone/>
            </a:pPr>
            <a:r>
              <a:rPr lang="en-US" sz="1100" b="1" spc="100" kern="0" dirty="0">
                <a:solidFill>
                  <a:srgbClr val="FF9F1C"/>
                </a:solidFill>
                <a:latin typeface="Consolas" pitchFamily="34" charset="0"/>
                <a:ea typeface="Consolas" pitchFamily="34" charset="-122"/>
                <a:cs typeface="Consolas" pitchFamily="34" charset="-120"/>
              </a:rPr>
              <a:t>SLIP 1</a:t>
            </a:r>
            <a:endParaRPr lang="en-US" sz="1100" dirty="0"/>
          </a:p>
        </p:txBody>
      </p:sp>
      <p:sp>
        <p:nvSpPr>
          <p:cNvPr id="17" name="Text 12"/>
          <p:cNvSpPr txBox="1"/>
          <p:nvPr/>
        </p:nvSpPr>
        <p:spPr>
          <a:xfrm>
            <a:off x="795528" y="2990088"/>
            <a:ext cx="3200400" cy="365760"/>
          </a:xfrm>
          <a:prstGeom prst="rect">
            <a:avLst/>
          </a:prstGeom>
          <a:noFill/>
          <a:ln/>
        </p:spPr>
        <p:txBody>
          <a:bodyPr wrap="square" lIns="0" tIns="0" rIns="0" bIns="0" rtlCol="0" anchor="t"/>
          <a:lstStyle/>
          <a:p>
            <a:pPr indent="0" marL="0">
              <a:buNone/>
            </a:pPr>
            <a:r>
              <a:rPr lang="en-US" sz="1700" b="1" dirty="0">
                <a:solidFill>
                  <a:srgbClr val="F2EFFF"/>
                </a:solidFill>
                <a:latin typeface="Segoe UI" pitchFamily="34" charset="0"/>
                <a:ea typeface="Segoe UI" pitchFamily="34" charset="-122"/>
                <a:cs typeface="Segoe UI" pitchFamily="34" charset="-120"/>
              </a:rPr>
              <a:t>Renames your function</a:t>
            </a:r>
            <a:endParaRPr lang="en-US" sz="1700" dirty="0"/>
          </a:p>
        </p:txBody>
      </p:sp>
      <p:sp>
        <p:nvSpPr>
          <p:cNvPr id="18" name="Text 13"/>
          <p:cNvSpPr txBox="1"/>
          <p:nvPr/>
        </p:nvSpPr>
        <p:spPr>
          <a:xfrm>
            <a:off x="795528" y="3383280"/>
            <a:ext cx="3154680" cy="731520"/>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9 of 600 mixed prompts, 0 of 150 English. The name was in every prompt.</a:t>
            </a:r>
            <a:endParaRPr lang="en-US" sz="1150" dirty="0"/>
          </a:p>
        </p:txBody>
      </p:sp>
      <p:sp>
        <p:nvSpPr>
          <p:cNvPr id="19" name="Shape 14"/>
          <p:cNvSpPr/>
          <p:nvPr/>
        </p:nvSpPr>
        <p:spPr>
          <a:xfrm>
            <a:off x="4334256" y="2011680"/>
            <a:ext cx="3611880" cy="3657600"/>
          </a:xfrm>
          <a:prstGeom prst="roundRect">
            <a:avLst>
              <a:gd name="adj" fmla="val 354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0" name="Shape 15"/>
          <p:cNvSpPr/>
          <p:nvPr/>
        </p:nvSpPr>
        <p:spPr>
          <a:xfrm>
            <a:off x="4581144" y="2240280"/>
            <a:ext cx="603504" cy="603504"/>
          </a:xfrm>
          <a:prstGeom prst="ellipse">
            <a:avLst/>
          </a:prstGeom>
          <a:solidFill>
            <a:srgbClr val="211B42"/>
          </a:solidFill>
          <a:ln/>
        </p:spPr>
      </p:sp>
      <p:pic>
        <p:nvPicPr>
          <p:cNvPr id="21" name="Image 3" descr="/tmp/claude-0/-home-claude/cf1b82dd-723a-5c0d-b3ee-f6062e85aabe/scratchpad/nd/ic/FaCommentSlash_w.png">    </p:cNvPr>
          <p:cNvPicPr>
            <a:picLocks noChangeAspect="1"/>
          </p:cNvPicPr>
          <p:nvPr/>
        </p:nvPicPr>
        <p:blipFill>
          <a:blip r:embed="rId9"/>
          <a:stretch>
            <a:fillRect/>
          </a:stretch>
        </p:blipFill>
        <p:spPr>
          <a:xfrm>
            <a:off x="4744090" y="2403226"/>
            <a:ext cx="277612" cy="277612"/>
          </a:xfrm>
          <a:prstGeom prst="rect">
            <a:avLst/>
          </a:prstGeom>
        </p:spPr>
      </p:pic>
      <p:sp>
        <p:nvSpPr>
          <p:cNvPr id="22" name="Text 16"/>
          <p:cNvSpPr txBox="1"/>
          <p:nvPr/>
        </p:nvSpPr>
        <p:spPr>
          <a:xfrm>
            <a:off x="5358384" y="2395728"/>
            <a:ext cx="1828800" cy="274320"/>
          </a:xfrm>
          <a:prstGeom prst="rect">
            <a:avLst/>
          </a:prstGeom>
          <a:noFill/>
          <a:ln/>
        </p:spPr>
        <p:txBody>
          <a:bodyPr wrap="square" lIns="0" tIns="0" rIns="0" bIns="0" rtlCol="0" anchor="t"/>
          <a:lstStyle/>
          <a:p>
            <a:pPr indent="0" marL="0">
              <a:buNone/>
            </a:pPr>
            <a:r>
              <a:rPr lang="en-US" sz="1100" b="1" spc="100" kern="0" dirty="0">
                <a:solidFill>
                  <a:srgbClr val="FF9F1C"/>
                </a:solidFill>
                <a:latin typeface="Consolas" pitchFamily="34" charset="0"/>
                <a:ea typeface="Consolas" pitchFamily="34" charset="-122"/>
                <a:cs typeface="Consolas" pitchFamily="34" charset="-120"/>
              </a:rPr>
              <a:t>SLIP 2</a:t>
            </a:r>
            <a:endParaRPr lang="en-US" sz="1100" dirty="0"/>
          </a:p>
        </p:txBody>
      </p:sp>
      <p:sp>
        <p:nvSpPr>
          <p:cNvPr id="23" name="Text 17"/>
          <p:cNvSpPr txBox="1"/>
          <p:nvPr/>
        </p:nvSpPr>
        <p:spPr>
          <a:xfrm>
            <a:off x="4581144" y="2990088"/>
            <a:ext cx="3200400" cy="365760"/>
          </a:xfrm>
          <a:prstGeom prst="rect">
            <a:avLst/>
          </a:prstGeom>
          <a:noFill/>
          <a:ln/>
        </p:spPr>
        <p:txBody>
          <a:bodyPr wrap="square" lIns="0" tIns="0" rIns="0" bIns="0" rtlCol="0" anchor="t"/>
          <a:lstStyle/>
          <a:p>
            <a:pPr indent="0" marL="0">
              <a:buNone/>
            </a:pPr>
            <a:r>
              <a:rPr lang="en-US" sz="1700" b="1" dirty="0">
                <a:solidFill>
                  <a:srgbClr val="F2EFFF"/>
                </a:solidFill>
                <a:latin typeface="Segoe UI" pitchFamily="34" charset="0"/>
                <a:ea typeface="Segoe UI" pitchFamily="34" charset="-122"/>
                <a:cs typeface="Segoe UI" pitchFamily="34" charset="-120"/>
              </a:rPr>
              <a:t>Ignores “only code”</a:t>
            </a:r>
            <a:endParaRPr lang="en-US" sz="1700" dirty="0"/>
          </a:p>
        </p:txBody>
      </p:sp>
      <p:sp>
        <p:nvSpPr>
          <p:cNvPr id="24" name="Text 18"/>
          <p:cNvSpPr txBox="1"/>
          <p:nvPr/>
        </p:nvSpPr>
        <p:spPr>
          <a:xfrm>
            <a:off x="4581144" y="3383280"/>
            <a:ext cx="3154680" cy="731520"/>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In Kanglish, GPT-OSS 120B wrote essays, partly in Kannada script. A real reply:</a:t>
            </a:r>
            <a:endParaRPr lang="en-US" sz="1150" dirty="0"/>
          </a:p>
        </p:txBody>
      </p:sp>
      <p:sp>
        <p:nvSpPr>
          <p:cNvPr id="25" name="Shape 19"/>
          <p:cNvSpPr/>
          <p:nvPr/>
        </p:nvSpPr>
        <p:spPr>
          <a:xfrm>
            <a:off x="8119872" y="2011680"/>
            <a:ext cx="3611880" cy="3657600"/>
          </a:xfrm>
          <a:prstGeom prst="roundRect">
            <a:avLst>
              <a:gd name="adj" fmla="val 354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6" name="Shape 20"/>
          <p:cNvSpPr/>
          <p:nvPr/>
        </p:nvSpPr>
        <p:spPr>
          <a:xfrm>
            <a:off x="8366760" y="2240280"/>
            <a:ext cx="603504" cy="603504"/>
          </a:xfrm>
          <a:prstGeom prst="ellipse">
            <a:avLst/>
          </a:prstGeom>
          <a:solidFill>
            <a:srgbClr val="211B42"/>
          </a:solidFill>
          <a:ln/>
        </p:spPr>
      </p:sp>
      <p:pic>
        <p:nvPicPr>
          <p:cNvPr id="27" name="Image 4" descr="/tmp/claude-0/-home-claude/cf1b82dd-723a-5c0d-b3ee-f6062e85aabe/scratchpad/nd/ic/FaExchangeAlt_w.png">    </p:cNvPr>
          <p:cNvPicPr>
            <a:picLocks noChangeAspect="1"/>
          </p:cNvPicPr>
          <p:nvPr/>
        </p:nvPicPr>
        <p:blipFill>
          <a:blip r:embed="rId10"/>
          <a:stretch>
            <a:fillRect/>
          </a:stretch>
        </p:blipFill>
        <p:spPr>
          <a:xfrm>
            <a:off x="8529706" y="2403226"/>
            <a:ext cx="277612" cy="277612"/>
          </a:xfrm>
          <a:prstGeom prst="rect">
            <a:avLst/>
          </a:prstGeom>
        </p:spPr>
      </p:pic>
      <p:sp>
        <p:nvSpPr>
          <p:cNvPr id="28" name="Text 21"/>
          <p:cNvSpPr txBox="1"/>
          <p:nvPr/>
        </p:nvSpPr>
        <p:spPr>
          <a:xfrm>
            <a:off x="9144000" y="2395728"/>
            <a:ext cx="1828800" cy="274320"/>
          </a:xfrm>
          <a:prstGeom prst="rect">
            <a:avLst/>
          </a:prstGeom>
          <a:noFill/>
          <a:ln/>
        </p:spPr>
        <p:txBody>
          <a:bodyPr wrap="square" lIns="0" tIns="0" rIns="0" bIns="0" rtlCol="0" anchor="t"/>
          <a:lstStyle/>
          <a:p>
            <a:pPr indent="0" marL="0">
              <a:buNone/>
            </a:pPr>
            <a:r>
              <a:rPr lang="en-US" sz="1100" b="1" spc="100" kern="0" dirty="0">
                <a:solidFill>
                  <a:srgbClr val="FF9F1C"/>
                </a:solidFill>
                <a:latin typeface="Consolas" pitchFamily="34" charset="0"/>
                <a:ea typeface="Consolas" pitchFamily="34" charset="-122"/>
                <a:cs typeface="Consolas" pitchFamily="34" charset="-120"/>
              </a:rPr>
              <a:t>SLIP 3</a:t>
            </a:r>
            <a:endParaRPr lang="en-US" sz="1100" dirty="0"/>
          </a:p>
        </p:txBody>
      </p:sp>
      <p:sp>
        <p:nvSpPr>
          <p:cNvPr id="29" name="Text 22"/>
          <p:cNvSpPr txBox="1"/>
          <p:nvPr/>
        </p:nvSpPr>
        <p:spPr>
          <a:xfrm>
            <a:off x="8366760" y="2990088"/>
            <a:ext cx="3200400" cy="365760"/>
          </a:xfrm>
          <a:prstGeom prst="rect">
            <a:avLst/>
          </a:prstGeom>
          <a:noFill/>
          <a:ln/>
        </p:spPr>
        <p:txBody>
          <a:bodyPr wrap="square" lIns="0" tIns="0" rIns="0" bIns="0" rtlCol="0" anchor="t"/>
          <a:lstStyle/>
          <a:p>
            <a:pPr indent="0" marL="0">
              <a:buNone/>
            </a:pPr>
            <a:r>
              <a:rPr lang="en-US" sz="1700" b="1" dirty="0">
                <a:solidFill>
                  <a:srgbClr val="F2EFFF"/>
                </a:solidFill>
                <a:latin typeface="Segoe UI" pitchFamily="34" charset="0"/>
                <a:ea typeface="Segoe UI" pitchFamily="34" charset="-122"/>
                <a:cs typeface="Segoe UI" pitchFamily="34" charset="-120"/>
              </a:rPr>
              <a:t>Changes the inputs</a:t>
            </a:r>
            <a:endParaRPr lang="en-US" sz="1700" dirty="0"/>
          </a:p>
        </p:txBody>
      </p:sp>
      <p:sp>
        <p:nvSpPr>
          <p:cNvPr id="30" name="Text 23"/>
          <p:cNvSpPr txBox="1"/>
          <p:nvPr/>
        </p:nvSpPr>
        <p:spPr>
          <a:xfrm>
            <a:off x="8366760" y="3383280"/>
            <a:ext cx="3154680" cy="731520"/>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Asked for a function that takes a list. GPT-OSS 120B (Kanglish) added a second input.</a:t>
            </a:r>
            <a:endParaRPr lang="en-US" sz="1150" dirty="0"/>
          </a:p>
        </p:txBody>
      </p:sp>
      <p:sp>
        <p:nvSpPr>
          <p:cNvPr id="31" name="Shape 24"/>
          <p:cNvSpPr/>
          <p:nvPr/>
        </p:nvSpPr>
        <p:spPr>
          <a:xfrm>
            <a:off x="795528" y="4206240"/>
            <a:ext cx="3118104" cy="1234440"/>
          </a:xfrm>
          <a:prstGeom prst="roundRect">
            <a:avLst>
              <a:gd name="adj" fmla="val 5926"/>
            </a:avLst>
          </a:prstGeom>
          <a:solidFill>
            <a:srgbClr val="0B0918"/>
          </a:solidFill>
          <a:ln w="12700">
            <a:solidFill>
              <a:srgbClr val="2E2759"/>
            </a:solidFill>
            <a:prstDash val="solid"/>
          </a:ln>
        </p:spPr>
      </p:sp>
      <p:sp>
        <p:nvSpPr>
          <p:cNvPr id="32" name="Text 25"/>
          <p:cNvSpPr txBox="1"/>
          <p:nvPr/>
        </p:nvSpPr>
        <p:spPr>
          <a:xfrm>
            <a:off x="960120" y="4343400"/>
            <a:ext cx="2880360" cy="1005840"/>
          </a:xfrm>
          <a:prstGeom prst="rect">
            <a:avLst/>
          </a:prstGeom>
          <a:noFill/>
          <a:ln/>
        </p:spPr>
        <p:txBody>
          <a:bodyPr wrap="square" lIns="0" tIns="0" rIns="0" bIns="0" rtlCol="0" anchor="t"/>
          <a:lstStyle/>
          <a:p>
            <a:pPr indent="0" marL="0">
              <a:lnSpc>
                <a:spcPct val="115000"/>
              </a:lnSpc>
              <a:buNone/>
            </a:pPr>
            <a:r>
              <a:rPr lang="en-US" sz="1150" dirty="0">
                <a:solidFill>
                  <a:srgbClr val="4CC9F0"/>
                </a:solidFill>
                <a:latin typeface="Consolas" pitchFamily="34" charset="0"/>
                <a:ea typeface="Consolas" pitchFamily="34" charset="-122"/>
                <a:cs typeface="Consolas" pitchFamily="34" charset="-120"/>
              </a:rPr>
              <a:t>bhai indian_format naam er</a:t>
            </a:r>
            <a:endParaRPr lang="en-US" sz="1150" dirty="0"/>
          </a:p>
          <a:p>
            <a:pPr indent="0" marL="0">
              <a:lnSpc>
                <a:spcPct val="115000"/>
              </a:lnSpc>
              <a:buNone/>
            </a:pPr>
            <a:r>
              <a:rPr lang="en-US" sz="1150" dirty="0">
                <a:solidFill>
                  <a:srgbClr val="4CC9F0"/>
                </a:solidFill>
                <a:latin typeface="Consolas" pitchFamily="34" charset="0"/>
                <a:ea typeface="Consolas" pitchFamily="34" charset="-122"/>
                <a:cs typeface="Consolas" pitchFamily="34" charset="-120"/>
              </a:rPr>
              <a:t>python fn bana…</a:t>
            </a:r>
            <a:endParaRPr lang="en-US" sz="1150" dirty="0"/>
          </a:p>
          <a:p>
            <a:pPr indent="0" marL="0">
              <a:lnSpc>
                <a:spcPct val="115000"/>
              </a:lnSpc>
              <a:buNone/>
            </a:pPr>
            <a:r>
              <a:rPr lang="en-US" sz="1150" dirty="0">
                <a:solidFill>
                  <a:srgbClr val="FF9F1C"/>
                </a:solidFill>
                <a:latin typeface="Consolas" pitchFamily="34" charset="0"/>
                <a:ea typeface="Consolas" pitchFamily="34" charset="-122"/>
                <a:cs typeface="Consolas" pitchFamily="34" charset="-120"/>
              </a:rPr>
              <a:t>def </a:t>
            </a:r>
            <a:pPr indent="0" marL="0">
              <a:lnSpc>
                <a:spcPct val="115000"/>
              </a:lnSpc>
              <a:buNone/>
            </a:pPr>
            <a:r>
              <a:rPr lang="en-US" sz="1150" b="1" dirty="0">
                <a:solidFill>
                  <a:srgbClr val="FF5C7A"/>
                </a:solidFill>
                <a:latin typeface="Consolas" pitchFamily="34" charset="0"/>
                <a:ea typeface="Consolas" pitchFamily="34" charset="-122"/>
                <a:cs typeface="Consolas" pitchFamily="34" charset="-120"/>
              </a:rPr>
              <a:t>bhai_indian_format</a:t>
            </a:r>
            <a:pPr indent="0" marL="0">
              <a:lnSpc>
                <a:spcPct val="115000"/>
              </a:lnSpc>
              <a:buNone/>
            </a:pPr>
            <a:r>
              <a:rPr lang="en-US" sz="1150" dirty="0">
                <a:solidFill>
                  <a:srgbClr val="F2EFFF"/>
                </a:solidFill>
                <a:latin typeface="Consolas" pitchFamily="34" charset="0"/>
                <a:ea typeface="Consolas" pitchFamily="34" charset="-122"/>
                <a:cs typeface="Consolas" pitchFamily="34" charset="-120"/>
              </a:rPr>
              <a:t>(n):</a:t>
            </a:r>
            <a:endParaRPr lang="en-US" sz="1150" dirty="0"/>
          </a:p>
        </p:txBody>
      </p:sp>
      <p:pic>
        <p:nvPicPr>
          <p:cNvPr id="33" name="Image 5" descr="/tmp/claude-0/-home-claude/cf1b82dd-723a-5c0d-b3ee-f6062e85aabe/scratchpad/nd/kr.png">    </p:cNvPr>
          <p:cNvPicPr>
            <a:picLocks noChangeAspect="1"/>
          </p:cNvPicPr>
          <p:nvPr/>
        </p:nvPicPr>
        <p:blipFill>
          <a:blip r:embed="rId11"/>
          <a:stretch>
            <a:fillRect/>
          </a:stretch>
        </p:blipFill>
        <p:spPr>
          <a:xfrm>
            <a:off x="4572000" y="4206240"/>
            <a:ext cx="3118104" cy="1244985"/>
          </a:xfrm>
          <a:prstGeom prst="rect">
            <a:avLst/>
          </a:prstGeom>
        </p:spPr>
      </p:pic>
      <p:sp>
        <p:nvSpPr>
          <p:cNvPr id="34" name="Shape 26"/>
          <p:cNvSpPr/>
          <p:nvPr/>
        </p:nvSpPr>
        <p:spPr>
          <a:xfrm>
            <a:off x="8366760" y="4206240"/>
            <a:ext cx="3118104" cy="1234440"/>
          </a:xfrm>
          <a:prstGeom prst="roundRect">
            <a:avLst>
              <a:gd name="adj" fmla="val 5926"/>
            </a:avLst>
          </a:prstGeom>
          <a:solidFill>
            <a:srgbClr val="0B0918"/>
          </a:solidFill>
          <a:ln w="12700">
            <a:solidFill>
              <a:srgbClr val="2E2759"/>
            </a:solidFill>
            <a:prstDash val="solid"/>
          </a:ln>
        </p:spPr>
      </p:sp>
      <p:sp>
        <p:nvSpPr>
          <p:cNvPr id="35" name="Text 27"/>
          <p:cNvSpPr txBox="1"/>
          <p:nvPr/>
        </p:nvSpPr>
        <p:spPr>
          <a:xfrm>
            <a:off x="8531352" y="4297680"/>
            <a:ext cx="2880360" cy="1097280"/>
          </a:xfrm>
          <a:prstGeom prst="rect">
            <a:avLst/>
          </a:prstGeom>
          <a:noFill/>
          <a:ln/>
        </p:spPr>
        <p:txBody>
          <a:bodyPr wrap="square" lIns="0" tIns="0" rIns="0" bIns="0" rtlCol="0" anchor="t"/>
          <a:lstStyle/>
          <a:p>
            <a:pPr indent="0" marL="0">
              <a:buNone/>
            </a:pPr>
            <a:r>
              <a:rPr lang="en-US" sz="1100" dirty="0">
                <a:solidFill>
                  <a:srgbClr val="6F6A99"/>
                </a:solidFill>
                <a:latin typeface="Consolas" pitchFamily="34" charset="0"/>
                <a:ea typeface="Consolas" pitchFamily="34" charset="-122"/>
                <a:cs typeface="Consolas" pitchFamily="34" charset="-120"/>
              </a:rPr>
              <a:t># what the tests call</a:t>
            </a:r>
            <a:endParaRPr lang="en-US" sz="1100" dirty="0"/>
          </a:p>
          <a:p>
            <a:pPr indent="0" marL="0">
              <a:buNone/>
            </a:pPr>
            <a:r>
              <a:rPr lang="en-US" sz="1100" dirty="0">
                <a:solidFill>
                  <a:srgbClr val="2BD9A0"/>
                </a:solidFill>
                <a:latin typeface="Consolas" pitchFamily="34" charset="0"/>
                <a:ea typeface="Consolas" pitchFamily="34" charset="-122"/>
                <a:cs typeface="Consolas" pitchFamily="34" charset="-120"/>
              </a:rPr>
              <a:t>missing_number([3, 1, 4])</a:t>
            </a:r>
            <a:endParaRPr lang="en-US" sz="1100" dirty="0"/>
          </a:p>
          <a:p>
            <a:pPr indent="0" marL="0">
              <a:buNone/>
            </a:pPr>
            <a:r>
              <a:rPr lang="en-US" sz="1100" dirty="0">
                <a:solidFill>
                  <a:srgbClr val="6F6A99"/>
                </a:solidFill>
                <a:latin typeface="Consolas" pitchFamily="34" charset="0"/>
                <a:ea typeface="Consolas" pitchFamily="34" charset="-122"/>
                <a:cs typeface="Consolas" pitchFamily="34" charset="-120"/>
              </a:rPr>
              <a:t># what the AI wrote</a:t>
            </a:r>
            <a:endParaRPr lang="en-US" sz="1100" dirty="0"/>
          </a:p>
          <a:p>
            <a:pPr indent="0" marL="0">
              <a:buNone/>
            </a:pPr>
            <a:r>
              <a:rPr lang="en-US" sz="1100" dirty="0">
                <a:solidFill>
                  <a:srgbClr val="FF9F1C"/>
                </a:solidFill>
                <a:latin typeface="Consolas" pitchFamily="34" charset="0"/>
                <a:ea typeface="Consolas" pitchFamily="34" charset="-122"/>
                <a:cs typeface="Consolas" pitchFamily="34" charset="-120"/>
              </a:rPr>
              <a:t>def </a:t>
            </a:r>
            <a:pPr indent="0" marL="0">
              <a:buNone/>
            </a:pPr>
            <a:r>
              <a:rPr lang="en-US" sz="1100" b="1" dirty="0">
                <a:solidFill>
                  <a:srgbClr val="FF5C7A"/>
                </a:solidFill>
                <a:latin typeface="Consolas" pitchFamily="34" charset="0"/>
                <a:ea typeface="Consolas" pitchFamily="34" charset="-122"/>
                <a:cs typeface="Consolas" pitchFamily="34" charset="-120"/>
              </a:rPr>
              <a:t>missing_number(nums, n)</a:t>
            </a:r>
            <a:endParaRPr lang="en-US" sz="1100" dirty="0"/>
          </a:p>
        </p:txBody>
      </p:sp>
      <p:sp>
        <p:nvSpPr>
          <p:cNvPr id="36" name="Shape 28"/>
          <p:cNvSpPr/>
          <p:nvPr/>
        </p:nvSpPr>
        <p:spPr>
          <a:xfrm>
            <a:off x="548640" y="5806440"/>
            <a:ext cx="11183112" cy="457200"/>
          </a:xfrm>
          <a:prstGeom prst="roundRect">
            <a:avLst>
              <a:gd name="adj" fmla="val 28000"/>
            </a:avLst>
          </a:prstGeom>
          <a:solidFill>
            <a:srgbClr val="211B42"/>
          </a:solidFill>
          <a:ln w="12700">
            <a:solidFill>
              <a:srgbClr val="2E2759"/>
            </a:solidFill>
            <a:prstDash val="solid"/>
          </a:ln>
        </p:spPr>
      </p:sp>
      <p:sp>
        <p:nvSpPr>
          <p:cNvPr id="37" name="Text 29"/>
          <p:cNvSpPr txBox="1"/>
          <p:nvPr/>
        </p:nvSpPr>
        <p:spPr>
          <a:xfrm>
            <a:off x="777240" y="5806440"/>
            <a:ext cx="10789920" cy="457200"/>
          </a:xfrm>
          <a:prstGeom prst="rect">
            <a:avLst/>
          </a:prstGeom>
          <a:noFill/>
          <a:ln/>
        </p:spPr>
        <p:txBody>
          <a:bodyPr wrap="square" lIns="0" tIns="0" rIns="0" bIns="0" rtlCol="0" anchor="ctr"/>
          <a:lstStyle/>
          <a:p>
            <a:pPr algn="ctr" indent="0" marL="0">
              <a:buNone/>
            </a:pPr>
            <a:r>
              <a:rPr lang="en-US" sz="1250" b="1" dirty="0">
                <a:solidFill>
                  <a:srgbClr val="F2EFFF"/>
                </a:solidFill>
                <a:latin typeface="Segoe UI" pitchFamily="34" charset="0"/>
                <a:ea typeface="Segoe UI" pitchFamily="34" charset="-122"/>
                <a:cs typeface="Segoe UI" pitchFamily="34" charset="-120"/>
              </a:rPr>
              <a:t>In every case the fix is trivial for a human, and invisible until the code is run. That is what MixCheck catches.</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13 / 19</a:t>
            </a:r>
            <a:endParaRPr lang="en-US" sz="900" dirty="0"/>
          </a:p>
        </p:txBody>
      </p:sp>
      <p:sp>
        <p:nvSpPr>
          <p:cNvPr id="11"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06 · WHAT'S NEW</a:t>
            </a:r>
            <a:endParaRPr lang="en-US" sz="1100" dirty="0"/>
          </a:p>
        </p:txBody>
      </p:sp>
      <p:sp>
        <p:nvSpPr>
          <p:cNvPr id="12"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What makes MixCheck different</a:t>
            </a:r>
            <a:endParaRPr lang="en-US" sz="3000" dirty="0"/>
          </a:p>
        </p:txBody>
      </p:sp>
      <p:sp>
        <p:nvSpPr>
          <p:cNvPr id="13" name="Shape 9"/>
          <p:cNvSpPr/>
          <p:nvPr/>
        </p:nvSpPr>
        <p:spPr>
          <a:xfrm>
            <a:off x="548640" y="2011680"/>
            <a:ext cx="4937760" cy="960120"/>
          </a:xfrm>
          <a:prstGeom prst="roundRect">
            <a:avLst>
              <a:gd name="adj" fmla="val 13333"/>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4" name="Shape 10"/>
          <p:cNvSpPr/>
          <p:nvPr/>
        </p:nvSpPr>
        <p:spPr>
          <a:xfrm>
            <a:off x="749808" y="2194560"/>
            <a:ext cx="585216" cy="585216"/>
          </a:xfrm>
          <a:prstGeom prst="ellipse">
            <a:avLst/>
          </a:prstGeom>
          <a:solidFill>
            <a:srgbClr val="9B8CFF"/>
          </a:solidFill>
          <a:ln/>
        </p:spPr>
      </p:sp>
      <p:pic>
        <p:nvPicPr>
          <p:cNvPr id="15" name="Image 2" descr="/tmp/claude-0/-home-claude/cf1b82dd-723a-5c0d-b3ee-f6062e85aabe/scratchpad/nd/ic/FaExchangeAlt_w.png">    </p:cNvPr>
          <p:cNvPicPr>
            <a:picLocks noChangeAspect="1"/>
          </p:cNvPicPr>
          <p:nvPr/>
        </p:nvPicPr>
        <p:blipFill>
          <a:blip r:embed="rId8"/>
          <a:stretch>
            <a:fillRect/>
          </a:stretch>
        </p:blipFill>
        <p:spPr>
          <a:xfrm>
            <a:off x="907816" y="2352568"/>
            <a:ext cx="269199" cy="269199"/>
          </a:xfrm>
          <a:prstGeom prst="rect">
            <a:avLst/>
          </a:prstGeom>
        </p:spPr>
      </p:pic>
      <p:sp>
        <p:nvSpPr>
          <p:cNvPr id="16" name="Text 11"/>
          <p:cNvSpPr txBox="1"/>
          <p:nvPr/>
        </p:nvSpPr>
        <p:spPr>
          <a:xfrm>
            <a:off x="1536192" y="2139696"/>
            <a:ext cx="3840480" cy="310896"/>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Paired prompts</a:t>
            </a:r>
            <a:endParaRPr lang="en-US" sz="1500" dirty="0"/>
          </a:p>
        </p:txBody>
      </p:sp>
      <p:sp>
        <p:nvSpPr>
          <p:cNvPr id="17" name="Text 12"/>
          <p:cNvSpPr txBox="1"/>
          <p:nvPr/>
        </p:nvSpPr>
        <p:spPr>
          <a:xfrm>
            <a:off x="1536192" y="2450592"/>
            <a:ext cx="3840480" cy="457200"/>
          </a:xfrm>
          <a:prstGeom prst="rect">
            <a:avLst/>
          </a:prstGeom>
          <a:noFill/>
          <a:ln/>
        </p:spPr>
        <p:txBody>
          <a:bodyPr wrap="square" lIns="0" tIns="0" rIns="0" bIns="0" rtlCol="0" anchor="t"/>
          <a:lstStyle/>
          <a:p>
            <a:pPr indent="0" marL="0">
              <a:buNone/>
            </a:pPr>
            <a:r>
              <a:rPr lang="en-US" sz="1100" dirty="0">
                <a:solidFill>
                  <a:srgbClr val="A9A3CF"/>
                </a:solidFill>
                <a:latin typeface="Segoe UI" pitchFamily="34" charset="0"/>
                <a:ea typeface="Segoe UI" pitchFamily="34" charset="-122"/>
                <a:cs typeface="Segoe UI" pitchFamily="34" charset="-120"/>
              </a:rPr>
              <a:t>Same task, only the language changes, so any drop comes from the mixing.</a:t>
            </a:r>
            <a:endParaRPr lang="en-US" sz="1100" dirty="0"/>
          </a:p>
        </p:txBody>
      </p:sp>
      <p:sp>
        <p:nvSpPr>
          <p:cNvPr id="18" name="Shape 13"/>
          <p:cNvSpPr/>
          <p:nvPr/>
        </p:nvSpPr>
        <p:spPr>
          <a:xfrm>
            <a:off x="548640" y="3090672"/>
            <a:ext cx="4937760" cy="960120"/>
          </a:xfrm>
          <a:prstGeom prst="roundRect">
            <a:avLst>
              <a:gd name="adj" fmla="val 13333"/>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9" name="Shape 14"/>
          <p:cNvSpPr/>
          <p:nvPr/>
        </p:nvSpPr>
        <p:spPr>
          <a:xfrm>
            <a:off x="749808" y="3273552"/>
            <a:ext cx="585216" cy="585216"/>
          </a:xfrm>
          <a:prstGeom prst="ellipse">
            <a:avLst/>
          </a:prstGeom>
          <a:solidFill>
            <a:srgbClr val="9B8CFF"/>
          </a:solidFill>
          <a:ln/>
        </p:spPr>
      </p:sp>
      <p:pic>
        <p:nvPicPr>
          <p:cNvPr id="20" name="Image 3" descr="/tmp/claude-0/-home-claude/cf1b82dd-723a-5c0d-b3ee-f6062e85aabe/scratchpad/nd/ic/FaVial_w.png">    </p:cNvPr>
          <p:cNvPicPr>
            <a:picLocks noChangeAspect="1"/>
          </p:cNvPicPr>
          <p:nvPr/>
        </p:nvPicPr>
        <p:blipFill>
          <a:blip r:embed="rId9"/>
          <a:stretch>
            <a:fillRect/>
          </a:stretch>
        </p:blipFill>
        <p:spPr>
          <a:xfrm>
            <a:off x="907816" y="3431560"/>
            <a:ext cx="269199" cy="269199"/>
          </a:xfrm>
          <a:prstGeom prst="rect">
            <a:avLst/>
          </a:prstGeom>
        </p:spPr>
      </p:pic>
      <p:sp>
        <p:nvSpPr>
          <p:cNvPr id="21" name="Text 15"/>
          <p:cNvSpPr txBox="1"/>
          <p:nvPr/>
        </p:nvSpPr>
        <p:spPr>
          <a:xfrm>
            <a:off x="1536192" y="3218688"/>
            <a:ext cx="3840480" cy="310896"/>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Graded by running code</a:t>
            </a:r>
            <a:endParaRPr lang="en-US" sz="1500" dirty="0"/>
          </a:p>
        </p:txBody>
      </p:sp>
      <p:sp>
        <p:nvSpPr>
          <p:cNvPr id="22" name="Text 16"/>
          <p:cNvSpPr txBox="1"/>
          <p:nvPr/>
        </p:nvSpPr>
        <p:spPr>
          <a:xfrm>
            <a:off x="1536192" y="3529584"/>
            <a:ext cx="3840480" cy="457200"/>
          </a:xfrm>
          <a:prstGeom prst="rect">
            <a:avLst/>
          </a:prstGeom>
          <a:noFill/>
          <a:ln/>
        </p:spPr>
        <p:txBody>
          <a:bodyPr wrap="square" lIns="0" tIns="0" rIns="0" bIns="0" rtlCol="0" anchor="t"/>
          <a:lstStyle/>
          <a:p>
            <a:pPr indent="0" marL="0">
              <a:buNone/>
            </a:pPr>
            <a:r>
              <a:rPr lang="en-US" sz="1100" dirty="0">
                <a:solidFill>
                  <a:srgbClr val="A9A3CF"/>
                </a:solidFill>
                <a:latin typeface="Segoe UI" pitchFamily="34" charset="0"/>
                <a:ea typeface="Segoe UI" pitchFamily="34" charset="-122"/>
                <a:cs typeface="Segoe UI" pitchFamily="34" charset="-120"/>
              </a:rPr>
              <a:t>Test cases decide. No opinions, no hand-labelling.</a:t>
            </a:r>
            <a:endParaRPr lang="en-US" sz="1100" dirty="0"/>
          </a:p>
        </p:txBody>
      </p:sp>
      <p:sp>
        <p:nvSpPr>
          <p:cNvPr id="23" name="Shape 17"/>
          <p:cNvSpPr/>
          <p:nvPr/>
        </p:nvSpPr>
        <p:spPr>
          <a:xfrm>
            <a:off x="548640" y="4169664"/>
            <a:ext cx="4937760" cy="960120"/>
          </a:xfrm>
          <a:prstGeom prst="roundRect">
            <a:avLst>
              <a:gd name="adj" fmla="val 13333"/>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4" name="Shape 18"/>
          <p:cNvSpPr/>
          <p:nvPr/>
        </p:nvSpPr>
        <p:spPr>
          <a:xfrm>
            <a:off x="749808" y="4352544"/>
            <a:ext cx="585216" cy="585216"/>
          </a:xfrm>
          <a:prstGeom prst="ellipse">
            <a:avLst/>
          </a:prstGeom>
          <a:solidFill>
            <a:srgbClr val="9B8CFF"/>
          </a:solidFill>
          <a:ln/>
        </p:spPr>
      </p:sp>
      <p:pic>
        <p:nvPicPr>
          <p:cNvPr id="25" name="Image 4" descr="/tmp/claude-0/-home-claude/cf1b82dd-723a-5c0d-b3ee-f6062e85aabe/scratchpad/nd/ic/FaBalanceScale_w.png">    </p:cNvPr>
          <p:cNvPicPr>
            <a:picLocks noChangeAspect="1"/>
          </p:cNvPicPr>
          <p:nvPr/>
        </p:nvPicPr>
        <p:blipFill>
          <a:blip r:embed="rId10"/>
          <a:stretch>
            <a:fillRect/>
          </a:stretch>
        </p:blipFill>
        <p:spPr>
          <a:xfrm>
            <a:off x="907816" y="4510552"/>
            <a:ext cx="269199" cy="269199"/>
          </a:xfrm>
          <a:prstGeom prst="rect">
            <a:avLst/>
          </a:prstGeom>
        </p:spPr>
      </p:pic>
      <p:sp>
        <p:nvSpPr>
          <p:cNvPr id="26" name="Text 19"/>
          <p:cNvSpPr txBox="1"/>
          <p:nvPr/>
        </p:nvSpPr>
        <p:spPr>
          <a:xfrm>
            <a:off x="1536192" y="4297680"/>
            <a:ext cx="3840480" cy="310896"/>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Two scores</a:t>
            </a:r>
            <a:endParaRPr lang="en-US" sz="1500" dirty="0"/>
          </a:p>
        </p:txBody>
      </p:sp>
      <p:sp>
        <p:nvSpPr>
          <p:cNvPr id="27" name="Text 20"/>
          <p:cNvSpPr txBox="1"/>
          <p:nvPr/>
        </p:nvSpPr>
        <p:spPr>
          <a:xfrm>
            <a:off x="1536192" y="4608576"/>
            <a:ext cx="3840480" cy="457200"/>
          </a:xfrm>
          <a:prstGeom prst="rect">
            <a:avLst/>
          </a:prstGeom>
          <a:noFill/>
          <a:ln/>
        </p:spPr>
        <p:txBody>
          <a:bodyPr wrap="square" lIns="0" tIns="0" rIns="0" bIns="0" rtlCol="0" anchor="t"/>
          <a:lstStyle/>
          <a:p>
            <a:pPr indent="0" marL="0">
              <a:buNone/>
            </a:pPr>
            <a:r>
              <a:rPr lang="en-US" sz="1100" dirty="0">
                <a:solidFill>
                  <a:srgbClr val="A9A3CF"/>
                </a:solidFill>
                <a:latin typeface="Segoe UI" pitchFamily="34" charset="0"/>
                <a:ea typeface="Segoe UI" pitchFamily="34" charset="-122"/>
                <a:cs typeface="Segoe UI" pitchFamily="34" charset="-120"/>
              </a:rPr>
              <a:t>Does the code work? Did the AI follow the instructions?</a:t>
            </a:r>
            <a:endParaRPr lang="en-US" sz="1100" dirty="0"/>
          </a:p>
        </p:txBody>
      </p:sp>
      <p:sp>
        <p:nvSpPr>
          <p:cNvPr id="28" name="Shape 21"/>
          <p:cNvSpPr/>
          <p:nvPr/>
        </p:nvSpPr>
        <p:spPr>
          <a:xfrm>
            <a:off x="548640" y="5248656"/>
            <a:ext cx="4937760" cy="960120"/>
          </a:xfrm>
          <a:prstGeom prst="roundRect">
            <a:avLst>
              <a:gd name="adj" fmla="val 13333"/>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9" name="Shape 22"/>
          <p:cNvSpPr/>
          <p:nvPr/>
        </p:nvSpPr>
        <p:spPr>
          <a:xfrm>
            <a:off x="749808" y="5431536"/>
            <a:ext cx="585216" cy="585216"/>
          </a:xfrm>
          <a:prstGeom prst="ellipse">
            <a:avLst/>
          </a:prstGeom>
          <a:solidFill>
            <a:srgbClr val="9B8CFF"/>
          </a:solidFill>
          <a:ln/>
        </p:spPr>
      </p:sp>
      <p:pic>
        <p:nvPicPr>
          <p:cNvPr id="30" name="Image 5" descr="/tmp/claude-0/-home-claude/cf1b82dd-723a-5c0d-b3ee-f6062e85aabe/scratchpad/nd/ic/FaGlobeAsia_w.png">    </p:cNvPr>
          <p:cNvPicPr>
            <a:picLocks noChangeAspect="1"/>
          </p:cNvPicPr>
          <p:nvPr/>
        </p:nvPicPr>
        <p:blipFill>
          <a:blip r:embed="rId11"/>
          <a:stretch>
            <a:fillRect/>
          </a:stretch>
        </p:blipFill>
        <p:spPr>
          <a:xfrm>
            <a:off x="907816" y="5589544"/>
            <a:ext cx="269199" cy="269199"/>
          </a:xfrm>
          <a:prstGeom prst="rect">
            <a:avLst/>
          </a:prstGeom>
        </p:spPr>
      </p:pic>
      <p:sp>
        <p:nvSpPr>
          <p:cNvPr id="31" name="Text 23"/>
          <p:cNvSpPr txBox="1"/>
          <p:nvPr/>
        </p:nvSpPr>
        <p:spPr>
          <a:xfrm>
            <a:off x="1536192" y="5376672"/>
            <a:ext cx="3840480" cy="310896"/>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Low-resource mixes</a:t>
            </a:r>
            <a:endParaRPr lang="en-US" sz="1500" dirty="0"/>
          </a:p>
        </p:txBody>
      </p:sp>
      <p:sp>
        <p:nvSpPr>
          <p:cNvPr id="32" name="Text 24"/>
          <p:cNvSpPr txBox="1"/>
          <p:nvPr/>
        </p:nvSpPr>
        <p:spPr>
          <a:xfrm>
            <a:off x="1536192" y="5687568"/>
            <a:ext cx="3840480" cy="457200"/>
          </a:xfrm>
          <a:prstGeom prst="rect">
            <a:avLst/>
          </a:prstGeom>
          <a:noFill/>
          <a:ln/>
        </p:spPr>
        <p:txBody>
          <a:bodyPr wrap="square" lIns="0" tIns="0" rIns="0" bIns="0" rtlCol="0" anchor="t"/>
          <a:lstStyle/>
          <a:p>
            <a:pPr indent="0" marL="0">
              <a:buNone/>
            </a:pPr>
            <a:r>
              <a:rPr lang="en-US" sz="1100" dirty="0">
                <a:solidFill>
                  <a:srgbClr val="A9A3CF"/>
                </a:solidFill>
                <a:latin typeface="Segoe UI" pitchFamily="34" charset="0"/>
                <a:ea typeface="Segoe UI" pitchFamily="34" charset="-122"/>
                <a:cs typeface="Segoe UI" pitchFamily="34" charset="-120"/>
              </a:rPr>
              <a:t>Kanglish and Odia-English, next to Hinglish, Benglish and Tanglish.</a:t>
            </a:r>
            <a:endParaRPr lang="en-US" sz="1100" dirty="0"/>
          </a:p>
        </p:txBody>
      </p:sp>
      <p:sp>
        <p:nvSpPr>
          <p:cNvPr id="33" name="Shape 25"/>
          <p:cNvSpPr/>
          <p:nvPr/>
        </p:nvSpPr>
        <p:spPr>
          <a:xfrm>
            <a:off x="5715000" y="2011680"/>
            <a:ext cx="6016752" cy="4206240"/>
          </a:xfrm>
          <a:prstGeom prst="roundRect">
            <a:avLst>
              <a:gd name="adj" fmla="val 3043"/>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34" name="Text 26"/>
          <p:cNvSpPr txBox="1"/>
          <p:nvPr/>
        </p:nvSpPr>
        <p:spPr>
          <a:xfrm>
            <a:off x="5897880" y="2212848"/>
            <a:ext cx="1691640" cy="502920"/>
          </a:xfrm>
          <a:prstGeom prst="rect">
            <a:avLst/>
          </a:prstGeom>
          <a:noFill/>
          <a:ln/>
        </p:spPr>
        <p:txBody>
          <a:bodyPr wrap="square" lIns="0" tIns="0" rIns="0" bIns="0" rtlCol="0" anchor="b"/>
          <a:lstStyle/>
          <a:p>
            <a:pPr algn="l" indent="0" marL="0">
              <a:buNone/>
            </a:pPr>
            <a:endParaRPr lang="en-US" sz="1050" dirty="0"/>
          </a:p>
        </p:txBody>
      </p:sp>
      <p:sp>
        <p:nvSpPr>
          <p:cNvPr id="35" name="Text 27"/>
          <p:cNvSpPr txBox="1"/>
          <p:nvPr/>
        </p:nvSpPr>
        <p:spPr>
          <a:xfrm>
            <a:off x="7635240" y="2212848"/>
            <a:ext cx="1005840" cy="502920"/>
          </a:xfrm>
          <a:prstGeom prst="rect">
            <a:avLst/>
          </a:prstGeom>
          <a:noFill/>
          <a:ln/>
        </p:spPr>
        <p:txBody>
          <a:bodyPr wrap="square" lIns="0" tIns="0" rIns="0" bIns="0" rtlCol="0" anchor="b"/>
          <a:lstStyle/>
          <a:p>
            <a:pPr algn="ctr" indent="0" marL="0">
              <a:buNone/>
            </a:pPr>
            <a:r>
              <a:rPr lang="en-US" sz="1050" b="1" dirty="0">
                <a:solidFill>
                  <a:srgbClr val="A9A3CF"/>
                </a:solidFill>
                <a:latin typeface="Segoe UI" pitchFamily="34" charset="0"/>
                <a:ea typeface="Segoe UI" pitchFamily="34" charset="-122"/>
                <a:cs typeface="Segoe UI" pitchFamily="34" charset="-120"/>
              </a:rPr>
              <a:t>Indian languages</a:t>
            </a:r>
            <a:endParaRPr lang="en-US" sz="1050" dirty="0"/>
          </a:p>
        </p:txBody>
      </p:sp>
      <p:sp>
        <p:nvSpPr>
          <p:cNvPr id="36" name="Text 28"/>
          <p:cNvSpPr txBox="1"/>
          <p:nvPr/>
        </p:nvSpPr>
        <p:spPr>
          <a:xfrm>
            <a:off x="8686800" y="2212848"/>
            <a:ext cx="1005840" cy="502920"/>
          </a:xfrm>
          <a:prstGeom prst="rect">
            <a:avLst/>
          </a:prstGeom>
          <a:noFill/>
          <a:ln/>
        </p:spPr>
        <p:txBody>
          <a:bodyPr wrap="square" lIns="0" tIns="0" rIns="0" bIns="0" rtlCol="0" anchor="b"/>
          <a:lstStyle/>
          <a:p>
            <a:pPr algn="ctr" indent="0" marL="0">
              <a:buNone/>
            </a:pPr>
            <a:r>
              <a:rPr lang="en-US" sz="1050" b="1" dirty="0">
                <a:solidFill>
                  <a:srgbClr val="A9A3CF"/>
                </a:solidFill>
                <a:latin typeface="Segoe UI" pitchFamily="34" charset="0"/>
                <a:ea typeface="Segoe UI" pitchFamily="34" charset="-122"/>
                <a:cs typeface="Segoe UI" pitchFamily="34" charset="-120"/>
              </a:rPr>
              <a:t>Mixed prompts</a:t>
            </a:r>
            <a:endParaRPr lang="en-US" sz="1050" dirty="0"/>
          </a:p>
        </p:txBody>
      </p:sp>
      <p:sp>
        <p:nvSpPr>
          <p:cNvPr id="37" name="Text 29"/>
          <p:cNvSpPr txBox="1"/>
          <p:nvPr/>
        </p:nvSpPr>
        <p:spPr>
          <a:xfrm>
            <a:off x="9738360" y="2212848"/>
            <a:ext cx="914400" cy="502920"/>
          </a:xfrm>
          <a:prstGeom prst="rect">
            <a:avLst/>
          </a:prstGeom>
          <a:noFill/>
          <a:ln/>
        </p:spPr>
        <p:txBody>
          <a:bodyPr wrap="square" lIns="0" tIns="0" rIns="0" bIns="0" rtlCol="0" anchor="b"/>
          <a:lstStyle/>
          <a:p>
            <a:pPr algn="ctr" indent="0" marL="0">
              <a:buNone/>
            </a:pPr>
            <a:r>
              <a:rPr lang="en-US" sz="1050" b="1" dirty="0">
                <a:solidFill>
                  <a:srgbClr val="A9A3CF"/>
                </a:solidFill>
                <a:latin typeface="Segoe UI" pitchFamily="34" charset="0"/>
                <a:ea typeface="Segoe UI" pitchFamily="34" charset="-122"/>
                <a:cs typeface="Segoe UI" pitchFamily="34" charset="-120"/>
              </a:rPr>
              <a:t>Tests code</a:t>
            </a:r>
            <a:endParaRPr lang="en-US" sz="1050" dirty="0"/>
          </a:p>
        </p:txBody>
      </p:sp>
      <p:sp>
        <p:nvSpPr>
          <p:cNvPr id="38" name="Text 30"/>
          <p:cNvSpPr txBox="1"/>
          <p:nvPr/>
        </p:nvSpPr>
        <p:spPr>
          <a:xfrm>
            <a:off x="10698480" y="2212848"/>
            <a:ext cx="960120" cy="502920"/>
          </a:xfrm>
          <a:prstGeom prst="rect">
            <a:avLst/>
          </a:prstGeom>
          <a:noFill/>
          <a:ln/>
        </p:spPr>
        <p:txBody>
          <a:bodyPr wrap="square" lIns="0" tIns="0" rIns="0" bIns="0" rtlCol="0" anchor="b"/>
          <a:lstStyle/>
          <a:p>
            <a:pPr algn="ctr" indent="0" marL="0">
              <a:buNone/>
            </a:pPr>
            <a:r>
              <a:rPr lang="en-US" sz="1050" b="1" dirty="0">
                <a:solidFill>
                  <a:srgbClr val="A9A3CF"/>
                </a:solidFill>
                <a:latin typeface="Segoe UI" pitchFamily="34" charset="0"/>
                <a:ea typeface="Segoe UI" pitchFamily="34" charset="-122"/>
                <a:cs typeface="Segoe UI" pitchFamily="34" charset="-120"/>
              </a:rPr>
              <a:t>Checks instructions</a:t>
            </a:r>
            <a:endParaRPr lang="en-US" sz="1050" dirty="0"/>
          </a:p>
        </p:txBody>
      </p:sp>
      <p:sp>
        <p:nvSpPr>
          <p:cNvPr id="39" name="Shape 31"/>
          <p:cNvSpPr/>
          <p:nvPr/>
        </p:nvSpPr>
        <p:spPr>
          <a:xfrm>
            <a:off x="5897880" y="3447288"/>
            <a:ext cx="5669280" cy="0"/>
          </a:xfrm>
          <a:prstGeom prst="line">
            <a:avLst/>
          </a:prstGeom>
          <a:noFill/>
          <a:ln w="9525">
            <a:solidFill>
              <a:srgbClr val="2E2759"/>
            </a:solidFill>
            <a:prstDash val="solid"/>
          </a:ln>
        </p:spPr>
      </p:sp>
      <p:sp>
        <p:nvSpPr>
          <p:cNvPr id="40" name="Text 32"/>
          <p:cNvSpPr txBox="1"/>
          <p:nvPr/>
        </p:nvSpPr>
        <p:spPr>
          <a:xfrm>
            <a:off x="5989320" y="2788920"/>
            <a:ext cx="1645920" cy="548640"/>
          </a:xfrm>
          <a:prstGeom prst="rect">
            <a:avLst/>
          </a:prstGeom>
          <a:noFill/>
          <a:ln/>
        </p:spPr>
        <p:txBody>
          <a:bodyPr wrap="square" lIns="0" tIns="0" rIns="0" bIns="0" rtlCol="0" anchor="ctr"/>
          <a:lstStyle/>
          <a:p>
            <a:pPr indent="0" marL="0">
              <a:buNone/>
            </a:pPr>
            <a:r>
              <a:rPr lang="en-US" sz="1400" b="1" dirty="0">
                <a:solidFill>
                  <a:srgbClr val="F2EFFF"/>
                </a:solidFill>
                <a:latin typeface="Segoe UI" pitchFamily="34" charset="0"/>
                <a:ea typeface="Segoe UI" pitchFamily="34" charset="-122"/>
                <a:cs typeface="Segoe UI" pitchFamily="34" charset="-120"/>
              </a:rPr>
              <a:t>HumanEval-XL</a:t>
            </a:r>
            <a:endParaRPr lang="en-US" sz="1400" dirty="0"/>
          </a:p>
        </p:txBody>
      </p:sp>
      <p:pic>
        <p:nvPicPr>
          <p:cNvPr id="41" name="Image 6" descr="/tmp/claude-0/-home-claude/cf1b82dd-723a-5c0d-b3ee-f6062e85aabe/scratchpad/nd/ic/FaTimes_f.png">    </p:cNvPr>
          <p:cNvPicPr>
            <a:picLocks noChangeAspect="1"/>
          </p:cNvPicPr>
          <p:nvPr/>
        </p:nvPicPr>
        <p:blipFill>
          <a:blip r:embed="rId12"/>
          <a:stretch>
            <a:fillRect/>
          </a:stretch>
        </p:blipFill>
        <p:spPr>
          <a:xfrm>
            <a:off x="8010144" y="2935224"/>
            <a:ext cx="256032" cy="256032"/>
          </a:xfrm>
          <a:prstGeom prst="rect">
            <a:avLst/>
          </a:prstGeom>
        </p:spPr>
      </p:pic>
      <p:pic>
        <p:nvPicPr>
          <p:cNvPr id="42" name="Image 7" descr="/tmp/claude-0/-home-claude/cf1b82dd-723a-5c0d-b3ee-f6062e85aabe/scratchpad/nd/ic/FaTimes_f.png">    </p:cNvPr>
          <p:cNvPicPr>
            <a:picLocks noChangeAspect="1"/>
          </p:cNvPicPr>
          <p:nvPr/>
        </p:nvPicPr>
        <p:blipFill>
          <a:blip r:embed="rId13"/>
          <a:stretch>
            <a:fillRect/>
          </a:stretch>
        </p:blipFill>
        <p:spPr>
          <a:xfrm>
            <a:off x="9061704" y="2935224"/>
            <a:ext cx="256032" cy="256032"/>
          </a:xfrm>
          <a:prstGeom prst="rect">
            <a:avLst/>
          </a:prstGeom>
        </p:spPr>
      </p:pic>
      <p:pic>
        <p:nvPicPr>
          <p:cNvPr id="43" name="Image 8" descr="/tmp/claude-0/-home-claude/cf1b82dd-723a-5c0d-b3ee-f6062e85aabe/scratchpad/nd/ic/FaCheck_g.png">    </p:cNvPr>
          <p:cNvPicPr>
            <a:picLocks noChangeAspect="1"/>
          </p:cNvPicPr>
          <p:nvPr/>
        </p:nvPicPr>
        <p:blipFill>
          <a:blip r:embed="rId14"/>
          <a:stretch>
            <a:fillRect/>
          </a:stretch>
        </p:blipFill>
        <p:spPr>
          <a:xfrm>
            <a:off x="10067544" y="2935224"/>
            <a:ext cx="256032" cy="256032"/>
          </a:xfrm>
          <a:prstGeom prst="rect">
            <a:avLst/>
          </a:prstGeom>
        </p:spPr>
      </p:pic>
      <p:pic>
        <p:nvPicPr>
          <p:cNvPr id="44" name="Image 9" descr="/tmp/claude-0/-home-claude/cf1b82dd-723a-5c0d-b3ee-f6062e85aabe/scratchpad/nd/ic/FaTimes_f.png">    </p:cNvPr>
          <p:cNvPicPr>
            <a:picLocks noChangeAspect="1"/>
          </p:cNvPicPr>
          <p:nvPr/>
        </p:nvPicPr>
        <p:blipFill>
          <a:blip r:embed="rId15"/>
          <a:stretch>
            <a:fillRect/>
          </a:stretch>
        </p:blipFill>
        <p:spPr>
          <a:xfrm>
            <a:off x="11050524" y="2935224"/>
            <a:ext cx="256032" cy="256032"/>
          </a:xfrm>
          <a:prstGeom prst="rect">
            <a:avLst/>
          </a:prstGeom>
        </p:spPr>
      </p:pic>
      <p:sp>
        <p:nvSpPr>
          <p:cNvPr id="45" name="Shape 33"/>
          <p:cNvSpPr/>
          <p:nvPr/>
        </p:nvSpPr>
        <p:spPr>
          <a:xfrm>
            <a:off x="5897880" y="4160520"/>
            <a:ext cx="5669280" cy="0"/>
          </a:xfrm>
          <a:prstGeom prst="line">
            <a:avLst/>
          </a:prstGeom>
          <a:noFill/>
          <a:ln w="9525">
            <a:solidFill>
              <a:srgbClr val="2E2759"/>
            </a:solidFill>
            <a:prstDash val="solid"/>
          </a:ln>
        </p:spPr>
      </p:sp>
      <p:sp>
        <p:nvSpPr>
          <p:cNvPr id="46" name="Text 34"/>
          <p:cNvSpPr txBox="1"/>
          <p:nvPr/>
        </p:nvSpPr>
        <p:spPr>
          <a:xfrm>
            <a:off x="5989320" y="3502152"/>
            <a:ext cx="1645920" cy="548640"/>
          </a:xfrm>
          <a:prstGeom prst="rect">
            <a:avLst/>
          </a:prstGeom>
          <a:noFill/>
          <a:ln/>
        </p:spPr>
        <p:txBody>
          <a:bodyPr wrap="square" lIns="0" tIns="0" rIns="0" bIns="0" rtlCol="0" anchor="ctr"/>
          <a:lstStyle/>
          <a:p>
            <a:pPr indent="0" marL="0">
              <a:buNone/>
            </a:pPr>
            <a:r>
              <a:rPr lang="en-US" sz="1400" b="1" dirty="0">
                <a:solidFill>
                  <a:srgbClr val="F2EFFF"/>
                </a:solidFill>
                <a:latin typeface="Segoe UI" pitchFamily="34" charset="0"/>
                <a:ea typeface="Segoe UI" pitchFamily="34" charset="-122"/>
                <a:cs typeface="Segoe UI" pitchFamily="34" charset="-120"/>
              </a:rPr>
              <a:t>LinCE</a:t>
            </a:r>
            <a:endParaRPr lang="en-US" sz="1400" dirty="0"/>
          </a:p>
        </p:txBody>
      </p:sp>
      <p:pic>
        <p:nvPicPr>
          <p:cNvPr id="47" name="Image 10" descr="/tmp/claude-0/-home-claude/cf1b82dd-723a-5c0d-b3ee-f6062e85aabe/scratchpad/nd/ic/FaCheck_g.png">    </p:cNvPr>
          <p:cNvPicPr>
            <a:picLocks noChangeAspect="1"/>
          </p:cNvPicPr>
          <p:nvPr/>
        </p:nvPicPr>
        <p:blipFill>
          <a:blip r:embed="rId16"/>
          <a:stretch>
            <a:fillRect/>
          </a:stretch>
        </p:blipFill>
        <p:spPr>
          <a:xfrm>
            <a:off x="8010144" y="3648456"/>
            <a:ext cx="256032" cy="256032"/>
          </a:xfrm>
          <a:prstGeom prst="rect">
            <a:avLst/>
          </a:prstGeom>
        </p:spPr>
      </p:pic>
      <p:pic>
        <p:nvPicPr>
          <p:cNvPr id="48" name="Image 11" descr="/tmp/claude-0/-home-claude/cf1b82dd-723a-5c0d-b3ee-f6062e85aabe/scratchpad/nd/ic/FaCheck_g.png">    </p:cNvPr>
          <p:cNvPicPr>
            <a:picLocks noChangeAspect="1"/>
          </p:cNvPicPr>
          <p:nvPr/>
        </p:nvPicPr>
        <p:blipFill>
          <a:blip r:embed="rId17"/>
          <a:stretch>
            <a:fillRect/>
          </a:stretch>
        </p:blipFill>
        <p:spPr>
          <a:xfrm>
            <a:off x="9061704" y="3648456"/>
            <a:ext cx="256032" cy="256032"/>
          </a:xfrm>
          <a:prstGeom prst="rect">
            <a:avLst/>
          </a:prstGeom>
        </p:spPr>
      </p:pic>
      <p:pic>
        <p:nvPicPr>
          <p:cNvPr id="49" name="Image 12" descr="/tmp/claude-0/-home-claude/cf1b82dd-723a-5c0d-b3ee-f6062e85aabe/scratchpad/nd/ic/FaTimes_f.png">    </p:cNvPr>
          <p:cNvPicPr>
            <a:picLocks noChangeAspect="1"/>
          </p:cNvPicPr>
          <p:nvPr/>
        </p:nvPicPr>
        <p:blipFill>
          <a:blip r:embed="rId18"/>
          <a:stretch>
            <a:fillRect/>
          </a:stretch>
        </p:blipFill>
        <p:spPr>
          <a:xfrm>
            <a:off x="10067544" y="3648456"/>
            <a:ext cx="256032" cy="256032"/>
          </a:xfrm>
          <a:prstGeom prst="rect">
            <a:avLst/>
          </a:prstGeom>
        </p:spPr>
      </p:pic>
      <p:pic>
        <p:nvPicPr>
          <p:cNvPr id="50" name="Image 13" descr="/tmp/claude-0/-home-claude/cf1b82dd-723a-5c0d-b3ee-f6062e85aabe/scratchpad/nd/ic/FaTimes_f.png">    </p:cNvPr>
          <p:cNvPicPr>
            <a:picLocks noChangeAspect="1"/>
          </p:cNvPicPr>
          <p:nvPr/>
        </p:nvPicPr>
        <p:blipFill>
          <a:blip r:embed="rId19"/>
          <a:stretch>
            <a:fillRect/>
          </a:stretch>
        </p:blipFill>
        <p:spPr>
          <a:xfrm>
            <a:off x="11050524" y="3648456"/>
            <a:ext cx="256032" cy="256032"/>
          </a:xfrm>
          <a:prstGeom prst="rect">
            <a:avLst/>
          </a:prstGeom>
        </p:spPr>
      </p:pic>
      <p:sp>
        <p:nvSpPr>
          <p:cNvPr id="51" name="Shape 35"/>
          <p:cNvSpPr/>
          <p:nvPr/>
        </p:nvSpPr>
        <p:spPr>
          <a:xfrm>
            <a:off x="5897880" y="4873752"/>
            <a:ext cx="5669280" cy="0"/>
          </a:xfrm>
          <a:prstGeom prst="line">
            <a:avLst/>
          </a:prstGeom>
          <a:noFill/>
          <a:ln w="9525">
            <a:solidFill>
              <a:srgbClr val="2E2759"/>
            </a:solidFill>
            <a:prstDash val="solid"/>
          </a:ln>
        </p:spPr>
      </p:sp>
      <p:sp>
        <p:nvSpPr>
          <p:cNvPr id="52" name="Text 36"/>
          <p:cNvSpPr txBox="1"/>
          <p:nvPr/>
        </p:nvSpPr>
        <p:spPr>
          <a:xfrm>
            <a:off x="5989320" y="4215384"/>
            <a:ext cx="1645920" cy="548640"/>
          </a:xfrm>
          <a:prstGeom prst="rect">
            <a:avLst/>
          </a:prstGeom>
          <a:noFill/>
          <a:ln/>
        </p:spPr>
        <p:txBody>
          <a:bodyPr wrap="square" lIns="0" tIns="0" rIns="0" bIns="0" rtlCol="0" anchor="ctr"/>
          <a:lstStyle/>
          <a:p>
            <a:pPr indent="0" marL="0">
              <a:buNone/>
            </a:pPr>
            <a:r>
              <a:rPr lang="en-US" sz="1400" b="1" dirty="0">
                <a:solidFill>
                  <a:srgbClr val="F2EFFF"/>
                </a:solidFill>
                <a:latin typeface="Segoe UI" pitchFamily="34" charset="0"/>
                <a:ea typeface="Segoe UI" pitchFamily="34" charset="-122"/>
                <a:cs typeface="Segoe UI" pitchFamily="34" charset="-120"/>
              </a:rPr>
              <a:t>GLUECoS</a:t>
            </a:r>
            <a:endParaRPr lang="en-US" sz="1400" dirty="0"/>
          </a:p>
        </p:txBody>
      </p:sp>
      <p:pic>
        <p:nvPicPr>
          <p:cNvPr id="53" name="Image 14" descr="/tmp/claude-0/-home-claude/cf1b82dd-723a-5c0d-b3ee-f6062e85aabe/scratchpad/nd/ic/FaCheck_g.png">    </p:cNvPr>
          <p:cNvPicPr>
            <a:picLocks noChangeAspect="1"/>
          </p:cNvPicPr>
          <p:nvPr/>
        </p:nvPicPr>
        <p:blipFill>
          <a:blip r:embed="rId20"/>
          <a:stretch>
            <a:fillRect/>
          </a:stretch>
        </p:blipFill>
        <p:spPr>
          <a:xfrm>
            <a:off x="8010144" y="4361688"/>
            <a:ext cx="256032" cy="256032"/>
          </a:xfrm>
          <a:prstGeom prst="rect">
            <a:avLst/>
          </a:prstGeom>
        </p:spPr>
      </p:pic>
      <p:pic>
        <p:nvPicPr>
          <p:cNvPr id="54" name="Image 15" descr="/tmp/claude-0/-home-claude/cf1b82dd-723a-5c0d-b3ee-f6062e85aabe/scratchpad/nd/ic/FaCheck_g.png">    </p:cNvPr>
          <p:cNvPicPr>
            <a:picLocks noChangeAspect="1"/>
          </p:cNvPicPr>
          <p:nvPr/>
        </p:nvPicPr>
        <p:blipFill>
          <a:blip r:embed="rId21"/>
          <a:stretch>
            <a:fillRect/>
          </a:stretch>
        </p:blipFill>
        <p:spPr>
          <a:xfrm>
            <a:off x="9061704" y="4361688"/>
            <a:ext cx="256032" cy="256032"/>
          </a:xfrm>
          <a:prstGeom prst="rect">
            <a:avLst/>
          </a:prstGeom>
        </p:spPr>
      </p:pic>
      <p:pic>
        <p:nvPicPr>
          <p:cNvPr id="55" name="Image 16" descr="/tmp/claude-0/-home-claude/cf1b82dd-723a-5c0d-b3ee-f6062e85aabe/scratchpad/nd/ic/FaTimes_f.png">    </p:cNvPr>
          <p:cNvPicPr>
            <a:picLocks noChangeAspect="1"/>
          </p:cNvPicPr>
          <p:nvPr/>
        </p:nvPicPr>
        <p:blipFill>
          <a:blip r:embed="rId22"/>
          <a:stretch>
            <a:fillRect/>
          </a:stretch>
        </p:blipFill>
        <p:spPr>
          <a:xfrm>
            <a:off x="10067544" y="4361688"/>
            <a:ext cx="256032" cy="256032"/>
          </a:xfrm>
          <a:prstGeom prst="rect">
            <a:avLst/>
          </a:prstGeom>
        </p:spPr>
      </p:pic>
      <p:pic>
        <p:nvPicPr>
          <p:cNvPr id="56" name="Image 17" descr="/tmp/claude-0/-home-claude/cf1b82dd-723a-5c0d-b3ee-f6062e85aabe/scratchpad/nd/ic/FaTimes_f.png">    </p:cNvPr>
          <p:cNvPicPr>
            <a:picLocks noChangeAspect="1"/>
          </p:cNvPicPr>
          <p:nvPr/>
        </p:nvPicPr>
        <p:blipFill>
          <a:blip r:embed="rId23"/>
          <a:stretch>
            <a:fillRect/>
          </a:stretch>
        </p:blipFill>
        <p:spPr>
          <a:xfrm>
            <a:off x="11050524" y="4361688"/>
            <a:ext cx="256032" cy="256032"/>
          </a:xfrm>
          <a:prstGeom prst="rect">
            <a:avLst/>
          </a:prstGeom>
        </p:spPr>
      </p:pic>
      <p:sp>
        <p:nvSpPr>
          <p:cNvPr id="57" name="Shape 37"/>
          <p:cNvSpPr/>
          <p:nvPr/>
        </p:nvSpPr>
        <p:spPr>
          <a:xfrm>
            <a:off x="5852160" y="4873752"/>
            <a:ext cx="5742432" cy="658368"/>
          </a:xfrm>
          <a:prstGeom prst="roundRect">
            <a:avLst>
              <a:gd name="adj" fmla="val 13889"/>
            </a:avLst>
          </a:prstGeom>
          <a:solidFill>
            <a:srgbClr val="FF9F1C">
              <a:alpha val="15000"/>
            </a:srgbClr>
          </a:solidFill>
          <a:ln w="12700">
            <a:solidFill>
              <a:srgbClr val="FF9F1C"/>
            </a:solidFill>
            <a:prstDash val="solid"/>
          </a:ln>
        </p:spPr>
      </p:sp>
      <p:sp>
        <p:nvSpPr>
          <p:cNvPr id="58" name="Text 38"/>
          <p:cNvSpPr txBox="1"/>
          <p:nvPr/>
        </p:nvSpPr>
        <p:spPr>
          <a:xfrm>
            <a:off x="5989320" y="4928616"/>
            <a:ext cx="1645920" cy="548640"/>
          </a:xfrm>
          <a:prstGeom prst="rect">
            <a:avLst/>
          </a:prstGeom>
          <a:noFill/>
          <a:ln/>
        </p:spPr>
        <p:txBody>
          <a:bodyPr wrap="square" lIns="0" tIns="0" rIns="0" bIns="0" rtlCol="0" anchor="ctr"/>
          <a:lstStyle/>
          <a:p>
            <a:pPr indent="0" marL="0">
              <a:buNone/>
            </a:pPr>
            <a:r>
              <a:rPr lang="en-US" sz="1400" b="1" dirty="0">
                <a:solidFill>
                  <a:srgbClr val="FF9F1C"/>
                </a:solidFill>
                <a:latin typeface="Segoe UI" pitchFamily="34" charset="0"/>
                <a:ea typeface="Segoe UI" pitchFamily="34" charset="-122"/>
                <a:cs typeface="Segoe UI" pitchFamily="34" charset="-120"/>
              </a:rPr>
              <a:t>MixCheck</a:t>
            </a:r>
            <a:endParaRPr lang="en-US" sz="1400" dirty="0"/>
          </a:p>
        </p:txBody>
      </p:sp>
      <p:pic>
        <p:nvPicPr>
          <p:cNvPr id="59" name="Image 18" descr="/tmp/claude-0/-home-claude/cf1b82dd-723a-5c0d-b3ee-f6062e85aabe/scratchpad/nd/ic/FaCheck_g.png">    </p:cNvPr>
          <p:cNvPicPr>
            <a:picLocks noChangeAspect="1"/>
          </p:cNvPicPr>
          <p:nvPr/>
        </p:nvPicPr>
        <p:blipFill>
          <a:blip r:embed="rId24"/>
          <a:stretch>
            <a:fillRect/>
          </a:stretch>
        </p:blipFill>
        <p:spPr>
          <a:xfrm>
            <a:off x="8010144" y="5074920"/>
            <a:ext cx="256032" cy="256032"/>
          </a:xfrm>
          <a:prstGeom prst="rect">
            <a:avLst/>
          </a:prstGeom>
        </p:spPr>
      </p:pic>
      <p:pic>
        <p:nvPicPr>
          <p:cNvPr id="60" name="Image 19" descr="/tmp/claude-0/-home-claude/cf1b82dd-723a-5c0d-b3ee-f6062e85aabe/scratchpad/nd/ic/FaCheck_g.png">    </p:cNvPr>
          <p:cNvPicPr>
            <a:picLocks noChangeAspect="1"/>
          </p:cNvPicPr>
          <p:nvPr/>
        </p:nvPicPr>
        <p:blipFill>
          <a:blip r:embed="rId25"/>
          <a:stretch>
            <a:fillRect/>
          </a:stretch>
        </p:blipFill>
        <p:spPr>
          <a:xfrm>
            <a:off x="9061704" y="5074920"/>
            <a:ext cx="256032" cy="256032"/>
          </a:xfrm>
          <a:prstGeom prst="rect">
            <a:avLst/>
          </a:prstGeom>
        </p:spPr>
      </p:pic>
      <p:pic>
        <p:nvPicPr>
          <p:cNvPr id="61" name="Image 20" descr="/tmp/claude-0/-home-claude/cf1b82dd-723a-5c0d-b3ee-f6062e85aabe/scratchpad/nd/ic/FaCheck_g.png">    </p:cNvPr>
          <p:cNvPicPr>
            <a:picLocks noChangeAspect="1"/>
          </p:cNvPicPr>
          <p:nvPr/>
        </p:nvPicPr>
        <p:blipFill>
          <a:blip r:embed="rId26"/>
          <a:stretch>
            <a:fillRect/>
          </a:stretch>
        </p:blipFill>
        <p:spPr>
          <a:xfrm>
            <a:off x="10067544" y="5074920"/>
            <a:ext cx="256032" cy="256032"/>
          </a:xfrm>
          <a:prstGeom prst="rect">
            <a:avLst/>
          </a:prstGeom>
        </p:spPr>
      </p:pic>
      <p:pic>
        <p:nvPicPr>
          <p:cNvPr id="62" name="Image 21" descr="/tmp/claude-0/-home-claude/cf1b82dd-723a-5c0d-b3ee-f6062e85aabe/scratchpad/nd/ic/FaCheck_g.png">    </p:cNvPr>
          <p:cNvPicPr>
            <a:picLocks noChangeAspect="1"/>
          </p:cNvPicPr>
          <p:nvPr/>
        </p:nvPicPr>
        <p:blipFill>
          <a:blip r:embed="rId27"/>
          <a:stretch>
            <a:fillRect/>
          </a:stretch>
        </p:blipFill>
        <p:spPr>
          <a:xfrm>
            <a:off x="11050524" y="5074920"/>
            <a:ext cx="256032" cy="256032"/>
          </a:xfrm>
          <a:prstGeom prst="rect">
            <a:avLst/>
          </a:prstGeom>
        </p:spPr>
      </p:pic>
      <p:sp>
        <p:nvSpPr>
          <p:cNvPr id="63" name="Text 39"/>
          <p:cNvSpPr txBox="1"/>
          <p:nvPr/>
        </p:nvSpPr>
        <p:spPr>
          <a:xfrm>
            <a:off x="5943600" y="5715000"/>
            <a:ext cx="5623560" cy="411480"/>
          </a:xfrm>
          <a:prstGeom prst="rect">
            <a:avLst/>
          </a:prstGeom>
          <a:noFill/>
          <a:ln/>
        </p:spPr>
        <p:txBody>
          <a:bodyPr wrap="square" lIns="0" tIns="0" rIns="0" bIns="0" rtlCol="0" anchor="t"/>
          <a:lstStyle/>
          <a:p>
            <a:pPr indent="0" marL="0">
              <a:buNone/>
            </a:pPr>
            <a:r>
              <a:rPr lang="en-US" sz="950" dirty="0">
                <a:solidFill>
                  <a:srgbClr val="6F6A99"/>
                </a:solidFill>
                <a:latin typeface="Segoe UI" pitchFamily="34" charset="0"/>
                <a:ea typeface="Segoe UI" pitchFamily="34" charset="-122"/>
                <a:cs typeface="Segoe UI" pitchFamily="34" charset="-120"/>
              </a:rPr>
              <a:t>LinCE and GLUECoS include Hindi-English but test language understanding, not code. HumanEval-XL covers 23 languages, none Indian.</a:t>
            </a:r>
            <a:endParaRPr lang="en-US" sz="9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14 / 19</a:t>
            </a:r>
            <a:endParaRPr lang="en-US" sz="900" dirty="0"/>
          </a:p>
        </p:txBody>
      </p:sp>
      <p:sp>
        <p:nvSpPr>
          <p:cNvPr id="11"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07 · TECH STACK</a:t>
            </a:r>
            <a:endParaRPr lang="en-US" sz="1100" dirty="0"/>
          </a:p>
        </p:txBody>
      </p:sp>
      <p:sp>
        <p:nvSpPr>
          <p:cNvPr id="12"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Built on laptops. No GPU.</a:t>
            </a:r>
            <a:endParaRPr lang="en-US" sz="3000" dirty="0"/>
          </a:p>
        </p:txBody>
      </p:sp>
      <p:sp>
        <p:nvSpPr>
          <p:cNvPr id="13" name="Shape 9"/>
          <p:cNvSpPr/>
          <p:nvPr/>
        </p:nvSpPr>
        <p:spPr>
          <a:xfrm>
            <a:off x="548640" y="2011680"/>
            <a:ext cx="2651760" cy="3291840"/>
          </a:xfrm>
          <a:prstGeom prst="roundRect">
            <a:avLst>
              <a:gd name="adj" fmla="val 4828"/>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4" name="Shape 10"/>
          <p:cNvSpPr/>
          <p:nvPr/>
        </p:nvSpPr>
        <p:spPr>
          <a:xfrm>
            <a:off x="777240" y="2286000"/>
            <a:ext cx="566928" cy="566928"/>
          </a:xfrm>
          <a:prstGeom prst="ellipse">
            <a:avLst/>
          </a:prstGeom>
          <a:solidFill>
            <a:srgbClr val="211B42"/>
          </a:solidFill>
          <a:ln/>
        </p:spPr>
      </p:sp>
      <p:pic>
        <p:nvPicPr>
          <p:cNvPr id="15" name="Image 2" descr="/tmp/claude-0/-home-claude/cf1b82dd-723a-5c0d-b3ee-f6062e85aabe/scratchpad/nd/ic/FaDatabase_w.png">    </p:cNvPr>
          <p:cNvPicPr>
            <a:picLocks noChangeAspect="1"/>
          </p:cNvPicPr>
          <p:nvPr/>
        </p:nvPicPr>
        <p:blipFill>
          <a:blip r:embed="rId8"/>
          <a:stretch>
            <a:fillRect/>
          </a:stretch>
        </p:blipFill>
        <p:spPr>
          <a:xfrm>
            <a:off x="930311" y="2439071"/>
            <a:ext cx="260787" cy="260787"/>
          </a:xfrm>
          <a:prstGeom prst="rect">
            <a:avLst/>
          </a:prstGeom>
        </p:spPr>
      </p:pic>
      <p:sp>
        <p:nvSpPr>
          <p:cNvPr id="16" name="Text 11"/>
          <p:cNvSpPr txBox="1"/>
          <p:nvPr/>
        </p:nvSpPr>
        <p:spPr>
          <a:xfrm>
            <a:off x="1463040" y="2395728"/>
            <a:ext cx="1645920" cy="365760"/>
          </a:xfrm>
          <a:prstGeom prst="rect">
            <a:avLst/>
          </a:prstGeom>
          <a:noFill/>
          <a:ln/>
        </p:spPr>
        <p:txBody>
          <a:bodyPr wrap="square" lIns="0" tIns="0" rIns="0" bIns="0" rtlCol="0" anchor="t"/>
          <a:lstStyle/>
          <a:p>
            <a:pPr indent="0" marL="0">
              <a:buNone/>
            </a:pPr>
            <a:r>
              <a:rPr lang="en-US" sz="1700" b="1" dirty="0">
                <a:solidFill>
                  <a:srgbClr val="4CC9F0"/>
                </a:solidFill>
                <a:latin typeface="Segoe UI" pitchFamily="34" charset="0"/>
                <a:ea typeface="Segoe UI" pitchFamily="34" charset="-122"/>
                <a:cs typeface="Segoe UI" pitchFamily="34" charset="-120"/>
              </a:rPr>
              <a:t>Data</a:t>
            </a:r>
            <a:endParaRPr lang="en-US" sz="1700" dirty="0"/>
          </a:p>
        </p:txBody>
      </p:sp>
      <p:sp>
        <p:nvSpPr>
          <p:cNvPr id="17" name="Text 12"/>
          <p:cNvSpPr txBox="1"/>
          <p:nvPr/>
        </p:nvSpPr>
        <p:spPr>
          <a:xfrm>
            <a:off x="777240" y="3090672"/>
            <a:ext cx="2194560" cy="402336"/>
          </a:xfrm>
          <a:prstGeom prst="roundRect">
            <a:avLst>
              <a:gd name="adj" fmla="val 22727"/>
            </a:avLst>
          </a:prstGeom>
          <a:solidFill>
            <a:srgbClr val="211B42"/>
          </a:solidFill>
          <a:ln w="9525">
            <a:solidFill>
              <a:srgbClr val="2E2759"/>
            </a:solidFill>
          </a:ln>
        </p:spPr>
        <p:txBody>
          <a:bodyPr wrap="square" lIns="101600" tIns="101600" rIns="101600" bIns="101600" rtlCol="0" anchor="ctr"/>
          <a:lstStyle/>
          <a:p>
            <a:pPr algn="l" indent="0" marL="0">
              <a:buNone/>
            </a:pPr>
            <a:r>
              <a:rPr lang="en-US" sz="1100" dirty="0">
                <a:solidFill>
                  <a:srgbClr val="F2EFFF"/>
                </a:solidFill>
                <a:latin typeface="Segoe UI" pitchFamily="34" charset="0"/>
                <a:ea typeface="Segoe UI" pitchFamily="34" charset="-122"/>
                <a:cs typeface="Segoe UI" pitchFamily="34" charset="-120"/>
              </a:rPr>
              <a:t>Python</a:t>
            </a:r>
            <a:endParaRPr lang="en-US" sz="1100" dirty="0"/>
          </a:p>
        </p:txBody>
      </p:sp>
      <p:sp>
        <p:nvSpPr>
          <p:cNvPr id="18" name="Text 13"/>
          <p:cNvSpPr txBox="1"/>
          <p:nvPr/>
        </p:nvSpPr>
        <p:spPr>
          <a:xfrm>
            <a:off x="777240" y="3621024"/>
            <a:ext cx="2194560" cy="402336"/>
          </a:xfrm>
          <a:prstGeom prst="roundRect">
            <a:avLst>
              <a:gd name="adj" fmla="val 22727"/>
            </a:avLst>
          </a:prstGeom>
          <a:solidFill>
            <a:srgbClr val="211B42"/>
          </a:solidFill>
          <a:ln w="9525">
            <a:solidFill>
              <a:srgbClr val="2E2759"/>
            </a:solidFill>
          </a:ln>
        </p:spPr>
        <p:txBody>
          <a:bodyPr wrap="square" lIns="101600" tIns="101600" rIns="101600" bIns="101600" rtlCol="0" anchor="ctr"/>
          <a:lstStyle/>
          <a:p>
            <a:pPr algn="l" indent="0" marL="0">
              <a:buNone/>
            </a:pPr>
            <a:r>
              <a:rPr lang="en-US" sz="1100" dirty="0">
                <a:solidFill>
                  <a:srgbClr val="F2EFFF"/>
                </a:solidFill>
                <a:latin typeface="Segoe UI" pitchFamily="34" charset="0"/>
                <a:ea typeface="Segoe UI" pitchFamily="34" charset="-122"/>
                <a:cs typeface="Segoe UI" pitchFamily="34" charset="-120"/>
              </a:rPr>
              <a:t>pandas</a:t>
            </a:r>
            <a:endParaRPr lang="en-US" sz="1100" dirty="0"/>
          </a:p>
        </p:txBody>
      </p:sp>
      <p:sp>
        <p:nvSpPr>
          <p:cNvPr id="19" name="Text 14"/>
          <p:cNvSpPr txBox="1"/>
          <p:nvPr/>
        </p:nvSpPr>
        <p:spPr>
          <a:xfrm>
            <a:off x="777240" y="4151376"/>
            <a:ext cx="2194560" cy="402336"/>
          </a:xfrm>
          <a:prstGeom prst="roundRect">
            <a:avLst>
              <a:gd name="adj" fmla="val 22727"/>
            </a:avLst>
          </a:prstGeom>
          <a:solidFill>
            <a:srgbClr val="211B42"/>
          </a:solidFill>
          <a:ln w="9525">
            <a:solidFill>
              <a:srgbClr val="2E2759"/>
            </a:solidFill>
          </a:ln>
        </p:spPr>
        <p:txBody>
          <a:bodyPr wrap="square" lIns="101600" tIns="101600" rIns="101600" bIns="101600" rtlCol="0" anchor="ctr"/>
          <a:lstStyle/>
          <a:p>
            <a:pPr algn="l" indent="0" marL="0">
              <a:buNone/>
            </a:pPr>
            <a:r>
              <a:rPr lang="en-US" sz="1100" dirty="0">
                <a:solidFill>
                  <a:srgbClr val="F2EFFF"/>
                </a:solidFill>
                <a:latin typeface="Segoe UI" pitchFamily="34" charset="0"/>
                <a:ea typeface="Segoe UI" pitchFamily="34" charset="-122"/>
                <a:cs typeface="Segoe UI" pitchFamily="34" charset="-120"/>
              </a:rPr>
              <a:t>tasks.csv: 250 prompts</a:t>
            </a:r>
            <a:endParaRPr lang="en-US" sz="1100" dirty="0"/>
          </a:p>
        </p:txBody>
      </p:sp>
      <p:sp>
        <p:nvSpPr>
          <p:cNvPr id="20" name="Text 15"/>
          <p:cNvSpPr txBox="1"/>
          <p:nvPr/>
        </p:nvSpPr>
        <p:spPr>
          <a:xfrm>
            <a:off x="777240" y="4681728"/>
            <a:ext cx="2194560" cy="402336"/>
          </a:xfrm>
          <a:prstGeom prst="roundRect">
            <a:avLst>
              <a:gd name="adj" fmla="val 22727"/>
            </a:avLst>
          </a:prstGeom>
          <a:solidFill>
            <a:srgbClr val="211B42"/>
          </a:solidFill>
          <a:ln w="9525">
            <a:solidFill>
              <a:srgbClr val="2E2759"/>
            </a:solidFill>
          </a:ln>
        </p:spPr>
        <p:txBody>
          <a:bodyPr wrap="square" lIns="101600" tIns="101600" rIns="101600" bIns="101600" rtlCol="0" anchor="ctr"/>
          <a:lstStyle/>
          <a:p>
            <a:pPr algn="l" indent="0" marL="0">
              <a:buNone/>
            </a:pPr>
            <a:r>
              <a:rPr lang="en-US" sz="1100" dirty="0">
                <a:solidFill>
                  <a:srgbClr val="F2EFFF"/>
                </a:solidFill>
                <a:latin typeface="Segoe UI" pitchFamily="34" charset="0"/>
                <a:ea typeface="Segoe UI" pitchFamily="34" charset="-122"/>
                <a:cs typeface="Segoe UI" pitchFamily="34" charset="-120"/>
              </a:rPr>
              <a:t>25 test files</a:t>
            </a:r>
            <a:endParaRPr lang="en-US" sz="1100" dirty="0"/>
          </a:p>
        </p:txBody>
      </p:sp>
      <p:pic>
        <p:nvPicPr>
          <p:cNvPr id="21" name="Image 3" descr="/tmp/claude-0/-home-claude/cf1b82dd-723a-5c0d-b3ee-f6062e85aabe/scratchpad/nd/ic/FaArrowRight_a.png">    </p:cNvPr>
          <p:cNvPicPr>
            <a:picLocks noChangeAspect="1"/>
          </p:cNvPicPr>
          <p:nvPr/>
        </p:nvPicPr>
        <p:blipFill>
          <a:blip r:embed="rId9"/>
          <a:stretch>
            <a:fillRect/>
          </a:stretch>
        </p:blipFill>
        <p:spPr>
          <a:xfrm>
            <a:off x="3227832" y="3520440"/>
            <a:ext cx="128016" cy="128016"/>
          </a:xfrm>
          <a:prstGeom prst="rect">
            <a:avLst/>
          </a:prstGeom>
        </p:spPr>
      </p:pic>
      <p:sp>
        <p:nvSpPr>
          <p:cNvPr id="22" name="Shape 16"/>
          <p:cNvSpPr/>
          <p:nvPr/>
        </p:nvSpPr>
        <p:spPr>
          <a:xfrm>
            <a:off x="3383280" y="2011680"/>
            <a:ext cx="2651760" cy="3291840"/>
          </a:xfrm>
          <a:prstGeom prst="roundRect">
            <a:avLst>
              <a:gd name="adj" fmla="val 4828"/>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3" name="Shape 17"/>
          <p:cNvSpPr/>
          <p:nvPr/>
        </p:nvSpPr>
        <p:spPr>
          <a:xfrm>
            <a:off x="3611880" y="2286000"/>
            <a:ext cx="566928" cy="566928"/>
          </a:xfrm>
          <a:prstGeom prst="ellipse">
            <a:avLst/>
          </a:prstGeom>
          <a:solidFill>
            <a:srgbClr val="211B42"/>
          </a:solidFill>
          <a:ln/>
        </p:spPr>
      </p:sp>
      <p:pic>
        <p:nvPicPr>
          <p:cNvPr id="24" name="Image 4" descr="/tmp/claude-0/-home-claude/cf1b82dd-723a-5c0d-b3ee-f6062e85aabe/scratchpad/nd/ic/FaRobot_w.png">    </p:cNvPr>
          <p:cNvPicPr>
            <a:picLocks noChangeAspect="1"/>
          </p:cNvPicPr>
          <p:nvPr/>
        </p:nvPicPr>
        <p:blipFill>
          <a:blip r:embed="rId10"/>
          <a:stretch>
            <a:fillRect/>
          </a:stretch>
        </p:blipFill>
        <p:spPr>
          <a:xfrm>
            <a:off x="3764951" y="2439071"/>
            <a:ext cx="260787" cy="260787"/>
          </a:xfrm>
          <a:prstGeom prst="rect">
            <a:avLst/>
          </a:prstGeom>
        </p:spPr>
      </p:pic>
      <p:sp>
        <p:nvSpPr>
          <p:cNvPr id="25" name="Text 18"/>
          <p:cNvSpPr txBox="1"/>
          <p:nvPr/>
        </p:nvSpPr>
        <p:spPr>
          <a:xfrm>
            <a:off x="4297680" y="2395728"/>
            <a:ext cx="1645920" cy="365760"/>
          </a:xfrm>
          <a:prstGeom prst="rect">
            <a:avLst/>
          </a:prstGeom>
          <a:noFill/>
          <a:ln/>
        </p:spPr>
        <p:txBody>
          <a:bodyPr wrap="square" lIns="0" tIns="0" rIns="0" bIns="0" rtlCol="0" anchor="t"/>
          <a:lstStyle/>
          <a:p>
            <a:pPr indent="0" marL="0">
              <a:buNone/>
            </a:pPr>
            <a:r>
              <a:rPr lang="en-US" sz="1700" b="1" dirty="0">
                <a:solidFill>
                  <a:srgbClr val="9B8CFF"/>
                </a:solidFill>
                <a:latin typeface="Segoe UI" pitchFamily="34" charset="0"/>
                <a:ea typeface="Segoe UI" pitchFamily="34" charset="-122"/>
                <a:cs typeface="Segoe UI" pitchFamily="34" charset="-120"/>
              </a:rPr>
              <a:t>Models</a:t>
            </a:r>
            <a:endParaRPr lang="en-US" sz="1700" dirty="0"/>
          </a:p>
        </p:txBody>
      </p:sp>
      <p:sp>
        <p:nvSpPr>
          <p:cNvPr id="26" name="Text 19"/>
          <p:cNvSpPr txBox="1"/>
          <p:nvPr/>
        </p:nvSpPr>
        <p:spPr>
          <a:xfrm>
            <a:off x="3611880" y="3090672"/>
            <a:ext cx="2194560" cy="402336"/>
          </a:xfrm>
          <a:prstGeom prst="roundRect">
            <a:avLst>
              <a:gd name="adj" fmla="val 22727"/>
            </a:avLst>
          </a:prstGeom>
          <a:solidFill>
            <a:srgbClr val="211B42"/>
          </a:solidFill>
          <a:ln w="9525">
            <a:solidFill>
              <a:srgbClr val="2E2759"/>
            </a:solidFill>
          </a:ln>
        </p:spPr>
        <p:txBody>
          <a:bodyPr wrap="square" lIns="101600" tIns="101600" rIns="101600" bIns="101600" rtlCol="0" anchor="ctr"/>
          <a:lstStyle/>
          <a:p>
            <a:pPr algn="l" indent="0" marL="0">
              <a:buNone/>
            </a:pPr>
            <a:r>
              <a:rPr lang="en-US" sz="1100" dirty="0">
                <a:solidFill>
                  <a:srgbClr val="F2EFFF"/>
                </a:solidFill>
                <a:latin typeface="Segoe UI" pitchFamily="34" charset="0"/>
                <a:ea typeface="Segoe UI" pitchFamily="34" charset="-122"/>
                <a:cs typeface="Segoe UI" pitchFamily="34" charset="-120"/>
              </a:rPr>
              <a:t>Gemini API</a:t>
            </a:r>
            <a:endParaRPr lang="en-US" sz="1100" dirty="0"/>
          </a:p>
        </p:txBody>
      </p:sp>
      <p:sp>
        <p:nvSpPr>
          <p:cNvPr id="27" name="Text 20"/>
          <p:cNvSpPr txBox="1"/>
          <p:nvPr/>
        </p:nvSpPr>
        <p:spPr>
          <a:xfrm>
            <a:off x="3611880" y="3621024"/>
            <a:ext cx="2194560" cy="402336"/>
          </a:xfrm>
          <a:prstGeom prst="roundRect">
            <a:avLst>
              <a:gd name="adj" fmla="val 22727"/>
            </a:avLst>
          </a:prstGeom>
          <a:solidFill>
            <a:srgbClr val="211B42"/>
          </a:solidFill>
          <a:ln w="9525">
            <a:solidFill>
              <a:srgbClr val="2E2759"/>
            </a:solidFill>
          </a:ln>
        </p:spPr>
        <p:txBody>
          <a:bodyPr wrap="square" lIns="101600" tIns="101600" rIns="101600" bIns="101600" rtlCol="0" anchor="ctr"/>
          <a:lstStyle/>
          <a:p>
            <a:pPr algn="l" indent="0" marL="0">
              <a:buNone/>
            </a:pPr>
            <a:r>
              <a:rPr lang="en-US" sz="1100" dirty="0">
                <a:solidFill>
                  <a:srgbClr val="F2EFFF"/>
                </a:solidFill>
                <a:latin typeface="Segoe UI" pitchFamily="34" charset="0"/>
                <a:ea typeface="Segoe UI" pitchFamily="34" charset="-122"/>
                <a:cs typeface="Segoe UI" pitchFamily="34" charset="-120"/>
              </a:rPr>
              <a:t>Groq API</a:t>
            </a:r>
            <a:endParaRPr lang="en-US" sz="1100" dirty="0"/>
          </a:p>
        </p:txBody>
      </p:sp>
      <p:sp>
        <p:nvSpPr>
          <p:cNvPr id="28" name="Text 21"/>
          <p:cNvSpPr txBox="1"/>
          <p:nvPr/>
        </p:nvSpPr>
        <p:spPr>
          <a:xfrm>
            <a:off x="3611880" y="4151376"/>
            <a:ext cx="2194560" cy="402336"/>
          </a:xfrm>
          <a:prstGeom prst="roundRect">
            <a:avLst>
              <a:gd name="adj" fmla="val 22727"/>
            </a:avLst>
          </a:prstGeom>
          <a:solidFill>
            <a:srgbClr val="211B42"/>
          </a:solidFill>
          <a:ln w="9525">
            <a:solidFill>
              <a:srgbClr val="2E2759"/>
            </a:solidFill>
          </a:ln>
        </p:spPr>
        <p:txBody>
          <a:bodyPr wrap="square" lIns="101600" tIns="101600" rIns="101600" bIns="101600" rtlCol="0" anchor="ctr"/>
          <a:lstStyle/>
          <a:p>
            <a:pPr algn="l" indent="0" marL="0">
              <a:buNone/>
            </a:pPr>
            <a:r>
              <a:rPr lang="en-US" sz="1100" dirty="0">
                <a:solidFill>
                  <a:srgbClr val="F2EFFF"/>
                </a:solidFill>
                <a:latin typeface="Segoe UI" pitchFamily="34" charset="0"/>
                <a:ea typeface="Segoe UI" pitchFamily="34" charset="-122"/>
                <a:cs typeface="Segoe UI" pitchFamily="34" charset="-120"/>
              </a:rPr>
              <a:t>GPT-OSS 120B / 20B</a:t>
            </a:r>
            <a:endParaRPr lang="en-US" sz="1100" dirty="0"/>
          </a:p>
        </p:txBody>
      </p:sp>
      <p:sp>
        <p:nvSpPr>
          <p:cNvPr id="29" name="Text 22"/>
          <p:cNvSpPr txBox="1"/>
          <p:nvPr/>
        </p:nvSpPr>
        <p:spPr>
          <a:xfrm>
            <a:off x="3611880" y="4681728"/>
            <a:ext cx="2194560" cy="402336"/>
          </a:xfrm>
          <a:prstGeom prst="roundRect">
            <a:avLst>
              <a:gd name="adj" fmla="val 22727"/>
            </a:avLst>
          </a:prstGeom>
          <a:solidFill>
            <a:srgbClr val="211B42"/>
          </a:solidFill>
          <a:ln w="9525">
            <a:solidFill>
              <a:srgbClr val="2E2759"/>
            </a:solidFill>
          </a:ln>
        </p:spPr>
        <p:txBody>
          <a:bodyPr wrap="square" lIns="101600" tIns="101600" rIns="101600" bIns="101600" rtlCol="0" anchor="ctr"/>
          <a:lstStyle/>
          <a:p>
            <a:pPr algn="l" indent="0" marL="0">
              <a:buNone/>
            </a:pPr>
            <a:r>
              <a:rPr lang="en-US" sz="1100" dirty="0">
                <a:solidFill>
                  <a:srgbClr val="F2EFFF"/>
                </a:solidFill>
                <a:latin typeface="Segoe UI" pitchFamily="34" charset="0"/>
                <a:ea typeface="Segoe UI" pitchFamily="34" charset="-122"/>
                <a:cs typeface="Segoe UI" pitchFamily="34" charset="-120"/>
              </a:rPr>
              <a:t>temperature 0</a:t>
            </a:r>
            <a:endParaRPr lang="en-US" sz="1100" dirty="0"/>
          </a:p>
        </p:txBody>
      </p:sp>
      <p:pic>
        <p:nvPicPr>
          <p:cNvPr id="30" name="Image 5" descr="/tmp/claude-0/-home-claude/cf1b82dd-723a-5c0d-b3ee-f6062e85aabe/scratchpad/nd/ic/FaArrowRight_a.png">    </p:cNvPr>
          <p:cNvPicPr>
            <a:picLocks noChangeAspect="1"/>
          </p:cNvPicPr>
          <p:nvPr/>
        </p:nvPicPr>
        <p:blipFill>
          <a:blip r:embed="rId11"/>
          <a:stretch>
            <a:fillRect/>
          </a:stretch>
        </p:blipFill>
        <p:spPr>
          <a:xfrm>
            <a:off x="6062472" y="3520440"/>
            <a:ext cx="128016" cy="128016"/>
          </a:xfrm>
          <a:prstGeom prst="rect">
            <a:avLst/>
          </a:prstGeom>
        </p:spPr>
      </p:pic>
      <p:sp>
        <p:nvSpPr>
          <p:cNvPr id="31" name="Shape 23"/>
          <p:cNvSpPr/>
          <p:nvPr/>
        </p:nvSpPr>
        <p:spPr>
          <a:xfrm>
            <a:off x="6217920" y="2011680"/>
            <a:ext cx="2651760" cy="3291840"/>
          </a:xfrm>
          <a:prstGeom prst="roundRect">
            <a:avLst>
              <a:gd name="adj" fmla="val 4828"/>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32" name="Shape 24"/>
          <p:cNvSpPr/>
          <p:nvPr/>
        </p:nvSpPr>
        <p:spPr>
          <a:xfrm>
            <a:off x="6446520" y="2286000"/>
            <a:ext cx="566928" cy="566928"/>
          </a:xfrm>
          <a:prstGeom prst="ellipse">
            <a:avLst/>
          </a:prstGeom>
          <a:solidFill>
            <a:srgbClr val="211B42"/>
          </a:solidFill>
          <a:ln/>
        </p:spPr>
      </p:sp>
      <p:pic>
        <p:nvPicPr>
          <p:cNvPr id="33" name="Image 6" descr="/tmp/claude-0/-home-claude/cf1b82dd-723a-5c0d-b3ee-f6062e85aabe/scratchpad/nd/ic/FaShieldAlt_w.png">    </p:cNvPr>
          <p:cNvPicPr>
            <a:picLocks noChangeAspect="1"/>
          </p:cNvPicPr>
          <p:nvPr/>
        </p:nvPicPr>
        <p:blipFill>
          <a:blip r:embed="rId12"/>
          <a:stretch>
            <a:fillRect/>
          </a:stretch>
        </p:blipFill>
        <p:spPr>
          <a:xfrm>
            <a:off x="6599591" y="2439071"/>
            <a:ext cx="260787" cy="260787"/>
          </a:xfrm>
          <a:prstGeom prst="rect">
            <a:avLst/>
          </a:prstGeom>
        </p:spPr>
      </p:pic>
      <p:sp>
        <p:nvSpPr>
          <p:cNvPr id="34" name="Text 25"/>
          <p:cNvSpPr txBox="1"/>
          <p:nvPr/>
        </p:nvSpPr>
        <p:spPr>
          <a:xfrm>
            <a:off x="7132320" y="2395728"/>
            <a:ext cx="1645920" cy="365760"/>
          </a:xfrm>
          <a:prstGeom prst="rect">
            <a:avLst/>
          </a:prstGeom>
          <a:noFill/>
          <a:ln/>
        </p:spPr>
        <p:txBody>
          <a:bodyPr wrap="square" lIns="0" tIns="0" rIns="0" bIns="0" rtlCol="0" anchor="t"/>
          <a:lstStyle/>
          <a:p>
            <a:pPr indent="0" marL="0">
              <a:buNone/>
            </a:pPr>
            <a:r>
              <a:rPr lang="en-US" sz="1700" b="1" dirty="0">
                <a:solidFill>
                  <a:srgbClr val="2BD9A0"/>
                </a:solidFill>
                <a:latin typeface="Segoe UI" pitchFamily="34" charset="0"/>
                <a:ea typeface="Segoe UI" pitchFamily="34" charset="-122"/>
                <a:cs typeface="Segoe UI" pitchFamily="34" charset="-120"/>
              </a:rPr>
              <a:t>Grading</a:t>
            </a:r>
            <a:endParaRPr lang="en-US" sz="1700" dirty="0"/>
          </a:p>
        </p:txBody>
      </p:sp>
      <p:sp>
        <p:nvSpPr>
          <p:cNvPr id="35" name="Text 26"/>
          <p:cNvSpPr txBox="1"/>
          <p:nvPr/>
        </p:nvSpPr>
        <p:spPr>
          <a:xfrm>
            <a:off x="6446520" y="3090672"/>
            <a:ext cx="2194560" cy="402336"/>
          </a:xfrm>
          <a:prstGeom prst="roundRect">
            <a:avLst>
              <a:gd name="adj" fmla="val 22727"/>
            </a:avLst>
          </a:prstGeom>
          <a:solidFill>
            <a:srgbClr val="211B42"/>
          </a:solidFill>
          <a:ln w="9525">
            <a:solidFill>
              <a:srgbClr val="2E2759"/>
            </a:solidFill>
          </a:ln>
        </p:spPr>
        <p:txBody>
          <a:bodyPr wrap="square" lIns="101600" tIns="101600" rIns="101600" bIns="101600" rtlCol="0" anchor="ctr"/>
          <a:lstStyle/>
          <a:p>
            <a:pPr algn="l" indent="0" marL="0">
              <a:buNone/>
            </a:pPr>
            <a:r>
              <a:rPr lang="en-US" sz="1100" dirty="0">
                <a:solidFill>
                  <a:srgbClr val="F2EFFF"/>
                </a:solidFill>
                <a:latin typeface="Segoe UI" pitchFamily="34" charset="0"/>
                <a:ea typeface="Segoe UI" pitchFamily="34" charset="-122"/>
                <a:cs typeface="Segoe UI" pitchFamily="34" charset="-120"/>
              </a:rPr>
              <a:t>subprocess runner</a:t>
            </a:r>
            <a:endParaRPr lang="en-US" sz="1100" dirty="0"/>
          </a:p>
        </p:txBody>
      </p:sp>
      <p:sp>
        <p:nvSpPr>
          <p:cNvPr id="36" name="Text 27"/>
          <p:cNvSpPr txBox="1"/>
          <p:nvPr/>
        </p:nvSpPr>
        <p:spPr>
          <a:xfrm>
            <a:off x="6446520" y="3621024"/>
            <a:ext cx="2194560" cy="402336"/>
          </a:xfrm>
          <a:prstGeom prst="roundRect">
            <a:avLst>
              <a:gd name="adj" fmla="val 22727"/>
            </a:avLst>
          </a:prstGeom>
          <a:solidFill>
            <a:srgbClr val="211B42"/>
          </a:solidFill>
          <a:ln w="9525">
            <a:solidFill>
              <a:srgbClr val="2E2759"/>
            </a:solidFill>
          </a:ln>
        </p:spPr>
        <p:txBody>
          <a:bodyPr wrap="square" lIns="101600" tIns="101600" rIns="101600" bIns="101600" rtlCol="0" anchor="ctr"/>
          <a:lstStyle/>
          <a:p>
            <a:pPr algn="l" indent="0" marL="0">
              <a:buNone/>
            </a:pPr>
            <a:r>
              <a:rPr lang="en-US" sz="1100" dirty="0">
                <a:solidFill>
                  <a:srgbClr val="F2EFFF"/>
                </a:solidFill>
                <a:latin typeface="Segoe UI" pitchFamily="34" charset="0"/>
                <a:ea typeface="Segoe UI" pitchFamily="34" charset="-122"/>
                <a:cs typeface="Segoe UI" pitchFamily="34" charset="-120"/>
              </a:rPr>
              <a:t>10 s time limit</a:t>
            </a:r>
            <a:endParaRPr lang="en-US" sz="1100" dirty="0"/>
          </a:p>
        </p:txBody>
      </p:sp>
      <p:sp>
        <p:nvSpPr>
          <p:cNvPr id="37" name="Text 28"/>
          <p:cNvSpPr txBox="1"/>
          <p:nvPr/>
        </p:nvSpPr>
        <p:spPr>
          <a:xfrm>
            <a:off x="6446520" y="4151376"/>
            <a:ext cx="2194560" cy="402336"/>
          </a:xfrm>
          <a:prstGeom prst="roundRect">
            <a:avLst>
              <a:gd name="adj" fmla="val 22727"/>
            </a:avLst>
          </a:prstGeom>
          <a:solidFill>
            <a:srgbClr val="211B42"/>
          </a:solidFill>
          <a:ln w="9525">
            <a:solidFill>
              <a:srgbClr val="2E2759"/>
            </a:solidFill>
          </a:ln>
        </p:spPr>
        <p:txBody>
          <a:bodyPr wrap="square" lIns="101600" tIns="101600" rIns="101600" bIns="101600" rtlCol="0" anchor="ctr"/>
          <a:lstStyle/>
          <a:p>
            <a:pPr algn="l" indent="0" marL="0">
              <a:buNone/>
            </a:pPr>
            <a:r>
              <a:rPr lang="en-US" sz="1100" dirty="0">
                <a:solidFill>
                  <a:srgbClr val="F2EFFF"/>
                </a:solidFill>
                <a:latin typeface="Segoe UI" pitchFamily="34" charset="0"/>
                <a:ea typeface="Segoe UI" pitchFamily="34" charset="-122"/>
                <a:cs typeface="Segoe UI" pitchFamily="34" charset="-120"/>
              </a:rPr>
              <a:t>code-block finder</a:t>
            </a:r>
            <a:endParaRPr lang="en-US" sz="1100" dirty="0"/>
          </a:p>
        </p:txBody>
      </p:sp>
      <p:sp>
        <p:nvSpPr>
          <p:cNvPr id="38" name="Text 29"/>
          <p:cNvSpPr txBox="1"/>
          <p:nvPr/>
        </p:nvSpPr>
        <p:spPr>
          <a:xfrm>
            <a:off x="6446520" y="4681728"/>
            <a:ext cx="2194560" cy="402336"/>
          </a:xfrm>
          <a:prstGeom prst="roundRect">
            <a:avLst>
              <a:gd name="adj" fmla="val 22727"/>
            </a:avLst>
          </a:prstGeom>
          <a:solidFill>
            <a:srgbClr val="211B42"/>
          </a:solidFill>
          <a:ln w="9525">
            <a:solidFill>
              <a:srgbClr val="2E2759"/>
            </a:solidFill>
          </a:ln>
        </p:spPr>
        <p:txBody>
          <a:bodyPr wrap="square" lIns="101600" tIns="101600" rIns="101600" bIns="101600" rtlCol="0" anchor="ctr"/>
          <a:lstStyle/>
          <a:p>
            <a:pPr algn="l" indent="0" marL="0">
              <a:buNone/>
            </a:pPr>
            <a:r>
              <a:rPr lang="en-US" sz="1100" dirty="0">
                <a:solidFill>
                  <a:srgbClr val="F2EFFF"/>
                </a:solidFill>
                <a:latin typeface="Segoe UI" pitchFamily="34" charset="0"/>
                <a:ea typeface="Segoe UI" pitchFamily="34" charset="-122"/>
                <a:cs typeface="Segoe UI" pitchFamily="34" charset="-120"/>
              </a:rPr>
              <a:t>format check</a:t>
            </a:r>
            <a:endParaRPr lang="en-US" sz="1100" dirty="0"/>
          </a:p>
        </p:txBody>
      </p:sp>
      <p:pic>
        <p:nvPicPr>
          <p:cNvPr id="39" name="Image 7" descr="/tmp/claude-0/-home-claude/cf1b82dd-723a-5c0d-b3ee-f6062e85aabe/scratchpad/nd/ic/FaArrowRight_a.png">    </p:cNvPr>
          <p:cNvPicPr>
            <a:picLocks noChangeAspect="1"/>
          </p:cNvPicPr>
          <p:nvPr/>
        </p:nvPicPr>
        <p:blipFill>
          <a:blip r:embed="rId13"/>
          <a:stretch>
            <a:fillRect/>
          </a:stretch>
        </p:blipFill>
        <p:spPr>
          <a:xfrm>
            <a:off x="8897112" y="3520440"/>
            <a:ext cx="128016" cy="128016"/>
          </a:xfrm>
          <a:prstGeom prst="rect">
            <a:avLst/>
          </a:prstGeom>
        </p:spPr>
      </p:pic>
      <p:sp>
        <p:nvSpPr>
          <p:cNvPr id="40" name="Shape 30"/>
          <p:cNvSpPr/>
          <p:nvPr/>
        </p:nvSpPr>
        <p:spPr>
          <a:xfrm>
            <a:off x="9052560" y="2011680"/>
            <a:ext cx="2651760" cy="3291840"/>
          </a:xfrm>
          <a:prstGeom prst="roundRect">
            <a:avLst>
              <a:gd name="adj" fmla="val 4828"/>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41" name="Shape 31"/>
          <p:cNvSpPr/>
          <p:nvPr/>
        </p:nvSpPr>
        <p:spPr>
          <a:xfrm>
            <a:off x="9281160" y="2286000"/>
            <a:ext cx="566928" cy="566928"/>
          </a:xfrm>
          <a:prstGeom prst="ellipse">
            <a:avLst/>
          </a:prstGeom>
          <a:solidFill>
            <a:srgbClr val="211B42"/>
          </a:solidFill>
          <a:ln/>
        </p:spPr>
      </p:sp>
      <p:pic>
        <p:nvPicPr>
          <p:cNvPr id="42" name="Image 8" descr="/tmp/claude-0/-home-claude/cf1b82dd-723a-5c0d-b3ee-f6062e85aabe/scratchpad/nd/ic/FaChartBar_w.png">    </p:cNvPr>
          <p:cNvPicPr>
            <a:picLocks noChangeAspect="1"/>
          </p:cNvPicPr>
          <p:nvPr/>
        </p:nvPicPr>
        <p:blipFill>
          <a:blip r:embed="rId14"/>
          <a:stretch>
            <a:fillRect/>
          </a:stretch>
        </p:blipFill>
        <p:spPr>
          <a:xfrm>
            <a:off x="9434231" y="2439071"/>
            <a:ext cx="260787" cy="260787"/>
          </a:xfrm>
          <a:prstGeom prst="rect">
            <a:avLst/>
          </a:prstGeom>
        </p:spPr>
      </p:pic>
      <p:sp>
        <p:nvSpPr>
          <p:cNvPr id="43" name="Text 32"/>
          <p:cNvSpPr txBox="1"/>
          <p:nvPr/>
        </p:nvSpPr>
        <p:spPr>
          <a:xfrm>
            <a:off x="9966960" y="2395728"/>
            <a:ext cx="1645920" cy="365760"/>
          </a:xfrm>
          <a:prstGeom prst="rect">
            <a:avLst/>
          </a:prstGeom>
          <a:noFill/>
          <a:ln/>
        </p:spPr>
        <p:txBody>
          <a:bodyPr wrap="square" lIns="0" tIns="0" rIns="0" bIns="0" rtlCol="0" anchor="t"/>
          <a:lstStyle/>
          <a:p>
            <a:pPr indent="0" marL="0">
              <a:buNone/>
            </a:pPr>
            <a:r>
              <a:rPr lang="en-US" sz="1700" b="1" dirty="0">
                <a:solidFill>
                  <a:srgbClr val="FF9F1C"/>
                </a:solidFill>
                <a:latin typeface="Segoe UI" pitchFamily="34" charset="0"/>
                <a:ea typeface="Segoe UI" pitchFamily="34" charset="-122"/>
                <a:cs typeface="Segoe UI" pitchFamily="34" charset="-120"/>
              </a:rPr>
              <a:t>Dashboard</a:t>
            </a:r>
            <a:endParaRPr lang="en-US" sz="1700" dirty="0"/>
          </a:p>
        </p:txBody>
      </p:sp>
      <p:sp>
        <p:nvSpPr>
          <p:cNvPr id="44" name="Text 33"/>
          <p:cNvSpPr txBox="1"/>
          <p:nvPr/>
        </p:nvSpPr>
        <p:spPr>
          <a:xfrm>
            <a:off x="9281160" y="3090672"/>
            <a:ext cx="2194560" cy="402336"/>
          </a:xfrm>
          <a:prstGeom prst="roundRect">
            <a:avLst>
              <a:gd name="adj" fmla="val 22727"/>
            </a:avLst>
          </a:prstGeom>
          <a:solidFill>
            <a:srgbClr val="211B42"/>
          </a:solidFill>
          <a:ln w="9525">
            <a:solidFill>
              <a:srgbClr val="2E2759"/>
            </a:solidFill>
          </a:ln>
        </p:spPr>
        <p:txBody>
          <a:bodyPr wrap="square" lIns="101600" tIns="101600" rIns="101600" bIns="101600" rtlCol="0" anchor="ctr"/>
          <a:lstStyle/>
          <a:p>
            <a:pPr algn="l" indent="0" marL="0">
              <a:buNone/>
            </a:pPr>
            <a:r>
              <a:rPr lang="en-US" sz="1100" dirty="0">
                <a:solidFill>
                  <a:srgbClr val="F2EFFF"/>
                </a:solidFill>
                <a:latin typeface="Segoe UI" pitchFamily="34" charset="0"/>
                <a:ea typeface="Segoe UI" pitchFamily="34" charset="-122"/>
                <a:cs typeface="Segoe UI" pitchFamily="34" charset="-120"/>
              </a:rPr>
              <a:t>Streamlit</a:t>
            </a:r>
            <a:endParaRPr lang="en-US" sz="1100" dirty="0"/>
          </a:p>
        </p:txBody>
      </p:sp>
      <p:sp>
        <p:nvSpPr>
          <p:cNvPr id="45" name="Text 34"/>
          <p:cNvSpPr txBox="1"/>
          <p:nvPr/>
        </p:nvSpPr>
        <p:spPr>
          <a:xfrm>
            <a:off x="9281160" y="3621024"/>
            <a:ext cx="2194560" cy="402336"/>
          </a:xfrm>
          <a:prstGeom prst="roundRect">
            <a:avLst>
              <a:gd name="adj" fmla="val 22727"/>
            </a:avLst>
          </a:prstGeom>
          <a:solidFill>
            <a:srgbClr val="211B42"/>
          </a:solidFill>
          <a:ln w="9525">
            <a:solidFill>
              <a:srgbClr val="2E2759"/>
            </a:solidFill>
          </a:ln>
        </p:spPr>
        <p:txBody>
          <a:bodyPr wrap="square" lIns="101600" tIns="101600" rIns="101600" bIns="101600" rtlCol="0" anchor="ctr"/>
          <a:lstStyle/>
          <a:p>
            <a:pPr algn="l" indent="0" marL="0">
              <a:buNone/>
            </a:pPr>
            <a:r>
              <a:rPr lang="en-US" sz="1100" dirty="0">
                <a:solidFill>
                  <a:srgbClr val="F2EFFF"/>
                </a:solidFill>
                <a:latin typeface="Segoe UI" pitchFamily="34" charset="0"/>
                <a:ea typeface="Segoe UI" pitchFamily="34" charset="-122"/>
                <a:cs typeface="Segoe UI" pitchFamily="34" charset="-120"/>
              </a:rPr>
              <a:t>Plotly</a:t>
            </a:r>
            <a:endParaRPr lang="en-US" sz="1100" dirty="0"/>
          </a:p>
        </p:txBody>
      </p:sp>
      <p:sp>
        <p:nvSpPr>
          <p:cNvPr id="46" name="Text 35"/>
          <p:cNvSpPr txBox="1"/>
          <p:nvPr/>
        </p:nvSpPr>
        <p:spPr>
          <a:xfrm>
            <a:off x="9281160" y="4151376"/>
            <a:ext cx="2194560" cy="402336"/>
          </a:xfrm>
          <a:prstGeom prst="roundRect">
            <a:avLst>
              <a:gd name="adj" fmla="val 22727"/>
            </a:avLst>
          </a:prstGeom>
          <a:solidFill>
            <a:srgbClr val="211B42"/>
          </a:solidFill>
          <a:ln w="9525">
            <a:solidFill>
              <a:srgbClr val="2E2759"/>
            </a:solidFill>
          </a:ln>
        </p:spPr>
        <p:txBody>
          <a:bodyPr wrap="square" lIns="101600" tIns="101600" rIns="101600" bIns="101600" rtlCol="0" anchor="ctr"/>
          <a:lstStyle/>
          <a:p>
            <a:pPr algn="l" indent="0" marL="0">
              <a:buNone/>
            </a:pPr>
            <a:r>
              <a:rPr lang="en-US" sz="1100" dirty="0">
                <a:solidFill>
                  <a:srgbClr val="F2EFFF"/>
                </a:solidFill>
                <a:latin typeface="Segoe UI" pitchFamily="34" charset="0"/>
                <a:ea typeface="Segoe UI" pitchFamily="34" charset="-122"/>
                <a:cs typeface="Segoe UI" pitchFamily="34" charset="-120"/>
              </a:rPr>
              <a:t>custom HTML/JS widgets</a:t>
            </a:r>
            <a:endParaRPr lang="en-US" sz="1100" dirty="0"/>
          </a:p>
        </p:txBody>
      </p:sp>
      <p:sp>
        <p:nvSpPr>
          <p:cNvPr id="47" name="Text 36"/>
          <p:cNvSpPr txBox="1"/>
          <p:nvPr/>
        </p:nvSpPr>
        <p:spPr>
          <a:xfrm>
            <a:off x="9281160" y="4681728"/>
            <a:ext cx="2194560" cy="402336"/>
          </a:xfrm>
          <a:prstGeom prst="roundRect">
            <a:avLst>
              <a:gd name="adj" fmla="val 22727"/>
            </a:avLst>
          </a:prstGeom>
          <a:solidFill>
            <a:srgbClr val="211B42"/>
          </a:solidFill>
          <a:ln w="9525">
            <a:solidFill>
              <a:srgbClr val="2E2759"/>
            </a:solidFill>
          </a:ln>
        </p:spPr>
        <p:txBody>
          <a:bodyPr wrap="square" lIns="101600" tIns="101600" rIns="101600" bIns="101600" rtlCol="0" anchor="ctr"/>
          <a:lstStyle/>
          <a:p>
            <a:pPr algn="l" indent="0" marL="0">
              <a:buNone/>
            </a:pPr>
            <a:r>
              <a:rPr lang="en-US" sz="1100" dirty="0">
                <a:solidFill>
                  <a:srgbClr val="F2EFFF"/>
                </a:solidFill>
                <a:latin typeface="Segoe UI" pitchFamily="34" charset="0"/>
                <a:ea typeface="Segoe UI" pitchFamily="34" charset="-122"/>
                <a:cs typeface="Segoe UI" pitchFamily="34" charset="-120"/>
              </a:rPr>
              <a:t>live face-off</a:t>
            </a:r>
            <a:endParaRPr lang="en-US" sz="1100" dirty="0"/>
          </a:p>
        </p:txBody>
      </p:sp>
      <p:sp>
        <p:nvSpPr>
          <p:cNvPr id="48" name="Shape 37"/>
          <p:cNvSpPr/>
          <p:nvPr/>
        </p:nvSpPr>
        <p:spPr>
          <a:xfrm>
            <a:off x="548640" y="5486400"/>
            <a:ext cx="11183112" cy="777240"/>
          </a:xfrm>
          <a:prstGeom prst="roundRect">
            <a:avLst>
              <a:gd name="adj" fmla="val 16471"/>
            </a:avLst>
          </a:prstGeom>
          <a:solidFill>
            <a:srgbClr val="211B42"/>
          </a:solidFill>
          <a:ln w="12700">
            <a:solidFill>
              <a:srgbClr val="2E2759"/>
            </a:solidFill>
            <a:prstDash val="solid"/>
          </a:ln>
        </p:spPr>
      </p:sp>
      <p:pic>
        <p:nvPicPr>
          <p:cNvPr id="49" name="Image 9" descr="/tmp/claude-0/-home-claude/cf1b82dd-723a-5c0d-b3ee-f6062e85aabe/scratchpad/nd/ic/FaGithub_w.png">    </p:cNvPr>
          <p:cNvPicPr>
            <a:picLocks noChangeAspect="1"/>
          </p:cNvPicPr>
          <p:nvPr/>
        </p:nvPicPr>
        <p:blipFill>
          <a:blip r:embed="rId15"/>
          <a:stretch>
            <a:fillRect/>
          </a:stretch>
        </p:blipFill>
        <p:spPr>
          <a:xfrm>
            <a:off x="804672" y="5705856"/>
            <a:ext cx="347472" cy="347472"/>
          </a:xfrm>
          <a:prstGeom prst="rect">
            <a:avLst/>
          </a:prstGeom>
        </p:spPr>
      </p:pic>
      <p:sp>
        <p:nvSpPr>
          <p:cNvPr id="50" name="Text 38"/>
          <p:cNvSpPr txBox="1"/>
          <p:nvPr/>
        </p:nvSpPr>
        <p:spPr>
          <a:xfrm>
            <a:off x="1298448" y="5486400"/>
            <a:ext cx="10332720" cy="777240"/>
          </a:xfrm>
          <a:prstGeom prst="rect">
            <a:avLst/>
          </a:prstGeom>
          <a:noFill/>
          <a:ln/>
        </p:spPr>
        <p:txBody>
          <a:bodyPr wrap="square" lIns="0" tIns="0" rIns="0" bIns="0" rtlCol="0" anchor="ctr"/>
          <a:lstStyle/>
          <a:p>
            <a:pPr indent="0" marL="0">
              <a:buNone/>
            </a:pPr>
            <a:r>
              <a:rPr lang="en-US" sz="1300" b="1" dirty="0">
                <a:solidFill>
                  <a:srgbClr val="F2EFFF"/>
                </a:solidFill>
                <a:latin typeface="Segoe UI" pitchFamily="34" charset="0"/>
                <a:ea typeface="Segoe UI" pitchFamily="34" charset="-122"/>
                <a:cs typeface="Segoe UI" pitchFamily="34" charset="-120"/>
              </a:rPr>
              <a:t>Team tools: </a:t>
            </a:r>
            <a:pPr indent="0" marL="0">
              <a:buNone/>
            </a:pPr>
            <a:r>
              <a:rPr lang="en-US" sz="1300" dirty="0">
                <a:solidFill>
                  <a:srgbClr val="A9A3CF"/>
                </a:solidFill>
                <a:latin typeface="Segoe UI" pitchFamily="34" charset="0"/>
                <a:ea typeface="Segoe UI" pitchFamily="34" charset="-122"/>
                <a:cs typeface="Segoe UI" pitchFamily="34" charset="-120"/>
              </a:rPr>
              <a:t>GitHub  ·  VS Code  ·  Claude as our pair programmer</a:t>
            </a:r>
            <a:pPr indent="0" marL="0">
              <a:buNone/>
            </a:pPr>
            <a:r>
              <a:rPr lang="en-US" sz="1300" b="1" dirty="0">
                <a:solidFill>
                  <a:srgbClr val="FF9F1C"/>
                </a:solidFill>
                <a:latin typeface="Segoe UI" pitchFamily="34" charset="0"/>
                <a:ea typeface="Segoe UI" pitchFamily="34" charset="-122"/>
                <a:cs typeface="Segoe UI" pitchFamily="34" charset="-120"/>
              </a:rPr>
              <a:t>      Free API tiers only. Runs on any student laptop.</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15 / 19</a:t>
            </a:r>
            <a:endParaRPr lang="en-US" sz="900" dirty="0"/>
          </a:p>
        </p:txBody>
      </p:sp>
      <p:sp>
        <p:nvSpPr>
          <p:cNvPr id="11"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08 · LIVE DEMO</a:t>
            </a:r>
            <a:endParaRPr lang="en-US" sz="1100" dirty="0"/>
          </a:p>
        </p:txBody>
      </p:sp>
      <p:sp>
        <p:nvSpPr>
          <p:cNvPr id="12"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Let's try it live</a:t>
            </a:r>
            <a:endParaRPr lang="en-US" sz="3000" dirty="0"/>
          </a:p>
        </p:txBody>
      </p:sp>
      <p:sp>
        <p:nvSpPr>
          <p:cNvPr id="13" name="Shape 9"/>
          <p:cNvSpPr/>
          <p:nvPr/>
        </p:nvSpPr>
        <p:spPr>
          <a:xfrm>
            <a:off x="502920" y="1965960"/>
            <a:ext cx="7269480" cy="4278493"/>
          </a:xfrm>
          <a:prstGeom prst="roundRect">
            <a:avLst>
              <a:gd name="adj" fmla="val 2992"/>
            </a:avLst>
          </a:prstGeom>
          <a:solidFill>
            <a:srgbClr val="17132E"/>
          </a:solidFill>
          <a:ln w="15875">
            <a:solidFill>
              <a:srgbClr val="9B8CFF"/>
            </a:solidFill>
            <a:prstDash val="solid"/>
          </a:ln>
          <a:effectLst>
            <a:outerShdw sx="100000" sy="100000" kx="0" ky="0" algn="bl" rotWithShape="0" blurRad="177800" dist="50800" dir="5400000">
              <a:srgbClr val="000000">
                <a:alpha val="45000"/>
              </a:srgbClr>
            </a:outerShdw>
          </a:effectLst>
        </p:spPr>
      </p:sp>
      <p:pic>
        <p:nvPicPr>
          <p:cNvPr id="14" name="Image 2" descr="/tmp/claude-0/-home-claude/cf1b82dd-723a-5c0d-b3ee-f6062e85aabe/scratchpad/nd/hero_crop.png">    </p:cNvPr>
          <p:cNvPicPr>
            <a:picLocks noChangeAspect="1"/>
          </p:cNvPicPr>
          <p:nvPr/>
        </p:nvPicPr>
        <p:blipFill>
          <a:blip r:embed="rId8"/>
          <a:stretch>
            <a:fillRect/>
          </a:stretch>
        </p:blipFill>
        <p:spPr>
          <a:xfrm>
            <a:off x="594360" y="2057400"/>
            <a:ext cx="7086600" cy="4095613"/>
          </a:xfrm>
          <a:prstGeom prst="rect">
            <a:avLst/>
          </a:prstGeom>
        </p:spPr>
      </p:pic>
      <p:sp>
        <p:nvSpPr>
          <p:cNvPr id="15" name="btn-open">
            <a:hlinkClick r:id="rId9"/>
          </p:cNvPr>
          <p:cNvSpPr/>
          <p:nvPr/>
        </p:nvSpPr>
        <p:spPr>
          <a:xfrm>
            <a:off x="8092440" y="2011680"/>
            <a:ext cx="3639312" cy="777240"/>
          </a:xfrm>
          <a:prstGeom prst="roundRect">
            <a:avLst>
              <a:gd name="adj" fmla="val 50000"/>
            </a:avLst>
          </a:prstGeom>
          <a:solidFill>
            <a:srgbClr val="FF9F1C"/>
          </a:solidFill>
          <a:ln w="15875">
            <a:solidFill>
              <a:srgbClr val="FF9F1C"/>
            </a:solidFill>
          </a:ln>
        </p:spPr>
        <p:txBody>
          <a:bodyPr wrap="square" lIns="0" tIns="0" rIns="0" bIns="0" rtlCol="0" anchor="ctr"/>
          <a:lstStyle/>
          <a:p>
            <a:pPr algn="ctr" indent="0" marL="0">
              <a:buNone/>
            </a:pPr>
            <a:r>
              <a:rPr lang="en-US" sz="1600" b="1" dirty="0">
                <a:solidFill>
                  <a:srgbClr val="0E0B1F"/>
                </a:solidFill>
                <a:latin typeface="Segoe UI" pitchFamily="34" charset="0"/>
                <a:ea typeface="Segoe UI" pitchFamily="34" charset="-122"/>
                <a:cs typeface="Segoe UI" pitchFamily="34" charset="-120"/>
              </a:rPr>
              <a:t>▶  Open the live dashboard</a:t>
            </a:r>
            <a:endParaRPr lang="en-US" sz="1600" dirty="0"/>
          </a:p>
        </p:txBody>
      </p:sp>
      <p:sp>
        <p:nvSpPr>
          <p:cNvPr id="16" name="Shape 11"/>
          <p:cNvSpPr/>
          <p:nvPr/>
        </p:nvSpPr>
        <p:spPr>
          <a:xfrm>
            <a:off x="8092440" y="2971800"/>
            <a:ext cx="3639312" cy="731520"/>
          </a:xfrm>
          <a:prstGeom prst="roundRect">
            <a:avLst>
              <a:gd name="adj" fmla="val 17500"/>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7" name="Shape 12"/>
          <p:cNvSpPr/>
          <p:nvPr/>
        </p:nvSpPr>
        <p:spPr>
          <a:xfrm>
            <a:off x="8247888" y="3099816"/>
            <a:ext cx="475488" cy="475488"/>
          </a:xfrm>
          <a:prstGeom prst="ellipse">
            <a:avLst/>
          </a:prstGeom>
          <a:solidFill>
            <a:srgbClr val="9B8CFF"/>
          </a:solidFill>
          <a:ln/>
        </p:spPr>
      </p:sp>
      <p:pic>
        <p:nvPicPr>
          <p:cNvPr id="18" name="Image 3" descr="/tmp/claude-0/-home-claude/cf1b82dd-723a-5c0d-b3ee-f6062e85aabe/scratchpad/nd/ic/FaSlidersH_w.png">    </p:cNvPr>
          <p:cNvPicPr>
            <a:picLocks noChangeAspect="1"/>
          </p:cNvPicPr>
          <p:nvPr/>
        </p:nvPicPr>
        <p:blipFill>
          <a:blip r:embed="rId10"/>
          <a:stretch>
            <a:fillRect/>
          </a:stretch>
        </p:blipFill>
        <p:spPr>
          <a:xfrm>
            <a:off x="8376270" y="3228198"/>
            <a:ext cx="218724" cy="218724"/>
          </a:xfrm>
          <a:prstGeom prst="rect">
            <a:avLst/>
          </a:prstGeom>
        </p:spPr>
      </p:pic>
      <p:sp>
        <p:nvSpPr>
          <p:cNvPr id="19" name="Text 13"/>
          <p:cNvSpPr txBox="1"/>
          <p:nvPr/>
        </p:nvSpPr>
        <p:spPr>
          <a:xfrm>
            <a:off x="8869680" y="3063240"/>
            <a:ext cx="2743200" cy="274320"/>
          </a:xfrm>
          <a:prstGeom prst="rect">
            <a:avLst/>
          </a:prstGeom>
          <a:noFill/>
          <a:ln/>
        </p:spPr>
        <p:txBody>
          <a:bodyPr wrap="square" lIns="0" tIns="0" rIns="0" bIns="0" rtlCol="0" anchor="t"/>
          <a:lstStyle/>
          <a:p>
            <a:pPr indent="0" marL="0">
              <a:buNone/>
            </a:pPr>
            <a:r>
              <a:rPr lang="en-US" sz="1300" b="1" dirty="0">
                <a:solidFill>
                  <a:srgbClr val="F2EFFF"/>
                </a:solidFill>
                <a:latin typeface="Segoe UI" pitchFamily="34" charset="0"/>
                <a:ea typeface="Segoe UI" pitchFamily="34" charset="-122"/>
                <a:cs typeface="Segoe UI" pitchFamily="34" charset="-120"/>
              </a:rPr>
              <a:t>Turn the Mix Dial</a:t>
            </a:r>
            <a:endParaRPr lang="en-US" sz="1300" dirty="0"/>
          </a:p>
        </p:txBody>
      </p:sp>
      <p:sp>
        <p:nvSpPr>
          <p:cNvPr id="20" name="Text 14"/>
          <p:cNvSpPr txBox="1"/>
          <p:nvPr/>
        </p:nvSpPr>
        <p:spPr>
          <a:xfrm>
            <a:off x="8869680" y="3337560"/>
            <a:ext cx="2788920" cy="31089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Watch one prompt go from English to Kanglish.</a:t>
            </a:r>
            <a:endParaRPr lang="en-US" sz="1000" dirty="0"/>
          </a:p>
        </p:txBody>
      </p:sp>
      <p:sp>
        <p:nvSpPr>
          <p:cNvPr id="21" name="Shape 15"/>
          <p:cNvSpPr/>
          <p:nvPr/>
        </p:nvSpPr>
        <p:spPr>
          <a:xfrm>
            <a:off x="8092440" y="3813048"/>
            <a:ext cx="3639312" cy="731520"/>
          </a:xfrm>
          <a:prstGeom prst="roundRect">
            <a:avLst>
              <a:gd name="adj" fmla="val 17500"/>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2" name="Shape 16"/>
          <p:cNvSpPr/>
          <p:nvPr/>
        </p:nvSpPr>
        <p:spPr>
          <a:xfrm>
            <a:off x="8247888" y="3941064"/>
            <a:ext cx="475488" cy="475488"/>
          </a:xfrm>
          <a:prstGeom prst="ellipse">
            <a:avLst/>
          </a:prstGeom>
          <a:solidFill>
            <a:srgbClr val="9B8CFF"/>
          </a:solidFill>
          <a:ln/>
        </p:spPr>
      </p:sp>
      <p:pic>
        <p:nvPicPr>
          <p:cNvPr id="23" name="Image 4" descr="/tmp/claude-0/-home-claude/cf1b82dd-723a-5c0d-b3ee-f6062e85aabe/scratchpad/nd/ic/FaMousePointer_w.png">    </p:cNvPr>
          <p:cNvPicPr>
            <a:picLocks noChangeAspect="1"/>
          </p:cNvPicPr>
          <p:nvPr/>
        </p:nvPicPr>
        <p:blipFill>
          <a:blip r:embed="rId11"/>
          <a:stretch>
            <a:fillRect/>
          </a:stretch>
        </p:blipFill>
        <p:spPr>
          <a:xfrm>
            <a:off x="8376270" y="4069446"/>
            <a:ext cx="218724" cy="218724"/>
          </a:xfrm>
          <a:prstGeom prst="rect">
            <a:avLst/>
          </a:prstGeom>
        </p:spPr>
      </p:pic>
      <p:sp>
        <p:nvSpPr>
          <p:cNvPr id="24" name="Text 17"/>
          <p:cNvSpPr txBox="1"/>
          <p:nvPr/>
        </p:nvSpPr>
        <p:spPr>
          <a:xfrm>
            <a:off x="8869680" y="3904488"/>
            <a:ext cx="2743200" cy="274320"/>
          </a:xfrm>
          <a:prstGeom prst="rect">
            <a:avLst/>
          </a:prstGeom>
          <a:noFill/>
          <a:ln/>
        </p:spPr>
        <p:txBody>
          <a:bodyPr wrap="square" lIns="0" tIns="0" rIns="0" bIns="0" rtlCol="0" anchor="t"/>
          <a:lstStyle/>
          <a:p>
            <a:pPr indent="0" marL="0">
              <a:buNone/>
            </a:pPr>
            <a:r>
              <a:rPr lang="en-US" sz="1300" b="1" dirty="0">
                <a:solidFill>
                  <a:srgbClr val="F2EFFF"/>
                </a:solidFill>
                <a:latin typeface="Segoe UI" pitchFamily="34" charset="0"/>
                <a:ea typeface="Segoe UI" pitchFamily="34" charset="-122"/>
                <a:cs typeface="Segoe UI" pitchFamily="34" charset="-120"/>
              </a:rPr>
              <a:t>Click a red cell</a:t>
            </a:r>
            <a:endParaRPr lang="en-US" sz="1300" dirty="0"/>
          </a:p>
        </p:txBody>
      </p:sp>
      <p:sp>
        <p:nvSpPr>
          <p:cNvPr id="25" name="Text 18"/>
          <p:cNvSpPr txBox="1"/>
          <p:nvPr/>
        </p:nvSpPr>
        <p:spPr>
          <a:xfrm>
            <a:off x="8869680" y="4178808"/>
            <a:ext cx="2788920" cy="31089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Read the AI's exact answer and the failed test.</a:t>
            </a:r>
            <a:endParaRPr lang="en-US" sz="1000" dirty="0"/>
          </a:p>
        </p:txBody>
      </p:sp>
      <p:sp>
        <p:nvSpPr>
          <p:cNvPr id="26" name="Shape 19"/>
          <p:cNvSpPr/>
          <p:nvPr/>
        </p:nvSpPr>
        <p:spPr>
          <a:xfrm>
            <a:off x="8092440" y="4654296"/>
            <a:ext cx="3639312" cy="731520"/>
          </a:xfrm>
          <a:prstGeom prst="roundRect">
            <a:avLst>
              <a:gd name="adj" fmla="val 17500"/>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7" name="Shape 20"/>
          <p:cNvSpPr/>
          <p:nvPr/>
        </p:nvSpPr>
        <p:spPr>
          <a:xfrm>
            <a:off x="8247888" y="4782312"/>
            <a:ext cx="475488" cy="475488"/>
          </a:xfrm>
          <a:prstGeom prst="ellipse">
            <a:avLst/>
          </a:prstGeom>
          <a:solidFill>
            <a:srgbClr val="9B8CFF"/>
          </a:solidFill>
          <a:ln/>
        </p:spPr>
      </p:sp>
      <p:pic>
        <p:nvPicPr>
          <p:cNvPr id="28" name="Image 5" descr="/tmp/claude-0/-home-claude/cf1b82dd-723a-5c0d-b3ee-f6062e85aabe/scratchpad/nd/ic/FaBolt_w.png">    </p:cNvPr>
          <p:cNvPicPr>
            <a:picLocks noChangeAspect="1"/>
          </p:cNvPicPr>
          <p:nvPr/>
        </p:nvPicPr>
        <p:blipFill>
          <a:blip r:embed="rId12"/>
          <a:stretch>
            <a:fillRect/>
          </a:stretch>
        </p:blipFill>
        <p:spPr>
          <a:xfrm>
            <a:off x="8376270" y="4910694"/>
            <a:ext cx="218724" cy="218724"/>
          </a:xfrm>
          <a:prstGeom prst="rect">
            <a:avLst/>
          </a:prstGeom>
        </p:spPr>
      </p:pic>
      <p:sp>
        <p:nvSpPr>
          <p:cNvPr id="29" name="Text 21"/>
          <p:cNvSpPr txBox="1"/>
          <p:nvPr/>
        </p:nvSpPr>
        <p:spPr>
          <a:xfrm>
            <a:off x="8869680" y="4745736"/>
            <a:ext cx="2743200" cy="274320"/>
          </a:xfrm>
          <a:prstGeom prst="rect">
            <a:avLst/>
          </a:prstGeom>
          <a:noFill/>
          <a:ln/>
        </p:spPr>
        <p:txBody>
          <a:bodyPr wrap="square" lIns="0" tIns="0" rIns="0" bIns="0" rtlCol="0" anchor="t"/>
          <a:lstStyle/>
          <a:p>
            <a:pPr indent="0" marL="0">
              <a:buNone/>
            </a:pPr>
            <a:r>
              <a:rPr lang="en-US" sz="1300" b="1" dirty="0">
                <a:solidFill>
                  <a:srgbClr val="F2EFFF"/>
                </a:solidFill>
                <a:latin typeface="Segoe UI" pitchFamily="34" charset="0"/>
                <a:ea typeface="Segoe UI" pitchFamily="34" charset="-122"/>
                <a:cs typeface="Segoe UI" pitchFamily="34" charset="-120"/>
              </a:rPr>
              <a:t>Run a face-off</a:t>
            </a:r>
            <a:endParaRPr lang="en-US" sz="1300" dirty="0"/>
          </a:p>
        </p:txBody>
      </p:sp>
      <p:sp>
        <p:nvSpPr>
          <p:cNvPr id="30" name="Text 22"/>
          <p:cNvSpPr txBox="1"/>
          <p:nvPr/>
        </p:nvSpPr>
        <p:spPr>
          <a:xfrm>
            <a:off x="8869680" y="5020056"/>
            <a:ext cx="2788920" cy="310896"/>
          </a:xfrm>
          <a:prstGeom prst="rect">
            <a:avLst/>
          </a:prstGeom>
          <a:noFill/>
          <a:ln/>
        </p:spPr>
        <p:txBody>
          <a:bodyPr wrap="square" lIns="0" tIns="0" rIns="0" bIns="0" rtlCol="0" anchor="t"/>
          <a:lstStyle/>
          <a:p>
            <a:pPr indent="0" marL="0">
              <a:buNone/>
            </a:pPr>
            <a:r>
              <a:rPr lang="en-US" sz="1000" dirty="0">
                <a:solidFill>
                  <a:srgbClr val="A9A3CF"/>
                </a:solidFill>
                <a:latin typeface="Segoe UI" pitchFamily="34" charset="0"/>
                <a:ea typeface="Segoe UI" pitchFamily="34" charset="-122"/>
                <a:cs typeface="Segoe UI" pitchFamily="34" charset="-120"/>
              </a:rPr>
              <a:t>Same task, two languages, sent live.</a:t>
            </a:r>
            <a:endParaRPr lang="en-US" sz="1000" dirty="0"/>
          </a:p>
        </p:txBody>
      </p:sp>
      <p:sp>
        <p:nvSpPr>
          <p:cNvPr id="31" name="btn-backup">
            <a:hlinkClick r:id="rId13" action="ppaction://hlinksldjump"/>
          </p:cNvPr>
          <p:cNvSpPr/>
          <p:nvPr/>
        </p:nvSpPr>
        <p:spPr>
          <a:xfrm>
            <a:off x="8092440" y="5596128"/>
            <a:ext cx="3639312" cy="566928"/>
          </a:xfrm>
          <a:prstGeom prst="roundRect">
            <a:avLst>
              <a:gd name="adj" fmla="val 50000"/>
            </a:avLst>
          </a:prstGeom>
          <a:solidFill>
            <a:srgbClr val="211B42"/>
          </a:solidFill>
          <a:ln w="15875">
            <a:solidFill>
              <a:srgbClr val="2E2759"/>
            </a:solidFill>
          </a:ln>
        </p:spPr>
        <p:txBody>
          <a:bodyPr wrap="square" lIns="0" tIns="0" rIns="0" bIns="0" rtlCol="0" anchor="ctr"/>
          <a:lstStyle/>
          <a:p>
            <a:pPr algn="ctr" indent="0" marL="0">
              <a:buNone/>
            </a:pPr>
            <a:r>
              <a:rPr lang="en-US" sz="1250" b="1" dirty="0">
                <a:solidFill>
                  <a:srgbClr val="A9A3CF"/>
                </a:solidFill>
                <a:latin typeface="Segoe UI" pitchFamily="34" charset="0"/>
                <a:ea typeface="Segoe UI" pitchFamily="34" charset="-122"/>
                <a:cs typeface="Segoe UI" pitchFamily="34" charset="-120"/>
              </a:rPr>
              <a:t>No Wi-Fi?  Backup tour  →</a:t>
            </a:r>
            <a:endParaRPr lang="en-US" sz="125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16 / 19</a:t>
            </a:r>
            <a:endParaRPr lang="en-US" sz="900" dirty="0"/>
          </a:p>
        </p:txBody>
      </p:sp>
      <p:sp>
        <p:nvSpPr>
          <p:cNvPr id="11"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09 · IMPACT</a:t>
            </a:r>
            <a:endParaRPr lang="en-US" sz="1100" dirty="0"/>
          </a:p>
        </p:txBody>
      </p:sp>
      <p:sp>
        <p:nvSpPr>
          <p:cNvPr id="12"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Who this helps</a:t>
            </a:r>
            <a:endParaRPr lang="en-US" sz="3000" dirty="0"/>
          </a:p>
        </p:txBody>
      </p:sp>
      <p:sp>
        <p:nvSpPr>
          <p:cNvPr id="13" name="Shape 9"/>
          <p:cNvSpPr/>
          <p:nvPr/>
        </p:nvSpPr>
        <p:spPr>
          <a:xfrm>
            <a:off x="548640" y="2011680"/>
            <a:ext cx="3474720" cy="2011680"/>
          </a:xfrm>
          <a:prstGeom prst="roundRect">
            <a:avLst>
              <a:gd name="adj" fmla="val 636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4" name="Shape 10"/>
          <p:cNvSpPr/>
          <p:nvPr/>
        </p:nvSpPr>
        <p:spPr>
          <a:xfrm>
            <a:off x="795528" y="2258568"/>
            <a:ext cx="603504" cy="603504"/>
          </a:xfrm>
          <a:prstGeom prst="ellipse">
            <a:avLst/>
          </a:prstGeom>
          <a:solidFill>
            <a:srgbClr val="9B8CFF"/>
          </a:solidFill>
          <a:ln/>
        </p:spPr>
      </p:sp>
      <p:pic>
        <p:nvPicPr>
          <p:cNvPr id="15" name="Image 2" descr="/tmp/claude-0/-home-claude/cf1b82dd-723a-5c0d-b3ee-f6062e85aabe/scratchpad/nd/ic/FaLaptopCode_w.png">    </p:cNvPr>
          <p:cNvPicPr>
            <a:picLocks noChangeAspect="1"/>
          </p:cNvPicPr>
          <p:nvPr/>
        </p:nvPicPr>
        <p:blipFill>
          <a:blip r:embed="rId8"/>
          <a:stretch>
            <a:fillRect/>
          </a:stretch>
        </p:blipFill>
        <p:spPr>
          <a:xfrm>
            <a:off x="958474" y="2421514"/>
            <a:ext cx="277612" cy="277612"/>
          </a:xfrm>
          <a:prstGeom prst="rect">
            <a:avLst/>
          </a:prstGeom>
        </p:spPr>
      </p:pic>
      <p:sp>
        <p:nvSpPr>
          <p:cNvPr id="16" name="Text 11"/>
          <p:cNvSpPr txBox="1"/>
          <p:nvPr/>
        </p:nvSpPr>
        <p:spPr>
          <a:xfrm>
            <a:off x="795528" y="3017520"/>
            <a:ext cx="3017520" cy="329184"/>
          </a:xfrm>
          <a:prstGeom prst="rect">
            <a:avLst/>
          </a:prstGeom>
          <a:noFill/>
          <a:ln/>
        </p:spPr>
        <p:txBody>
          <a:bodyPr wrap="square" lIns="0" tIns="0" rIns="0" bIns="0" rtlCol="0" anchor="t"/>
          <a:lstStyle/>
          <a:p>
            <a:pPr indent="0" marL="0">
              <a:buNone/>
            </a:pPr>
            <a:r>
              <a:rPr lang="en-US" sz="1600" b="1" dirty="0">
                <a:solidFill>
                  <a:srgbClr val="F2EFFF"/>
                </a:solidFill>
                <a:latin typeface="Segoe UI" pitchFamily="34" charset="0"/>
                <a:ea typeface="Segoe UI" pitchFamily="34" charset="-122"/>
                <a:cs typeface="Segoe UI" pitchFamily="34" charset="-120"/>
              </a:rPr>
              <a:t>AI tool builders</a:t>
            </a:r>
            <a:endParaRPr lang="en-US" sz="1600" dirty="0"/>
          </a:p>
        </p:txBody>
      </p:sp>
      <p:sp>
        <p:nvSpPr>
          <p:cNvPr id="17" name="Text 12"/>
          <p:cNvSpPr txBox="1"/>
          <p:nvPr/>
        </p:nvSpPr>
        <p:spPr>
          <a:xfrm>
            <a:off x="795528" y="3364992"/>
            <a:ext cx="3017520" cy="594360"/>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Find language blind spots before launching in India.</a:t>
            </a:r>
            <a:endParaRPr lang="en-US" sz="1150" dirty="0"/>
          </a:p>
        </p:txBody>
      </p:sp>
      <p:sp>
        <p:nvSpPr>
          <p:cNvPr id="18" name="Shape 13"/>
          <p:cNvSpPr/>
          <p:nvPr/>
        </p:nvSpPr>
        <p:spPr>
          <a:xfrm>
            <a:off x="4187952" y="2011680"/>
            <a:ext cx="3474720" cy="2011680"/>
          </a:xfrm>
          <a:prstGeom prst="roundRect">
            <a:avLst>
              <a:gd name="adj" fmla="val 636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9" name="Shape 14"/>
          <p:cNvSpPr/>
          <p:nvPr/>
        </p:nvSpPr>
        <p:spPr>
          <a:xfrm>
            <a:off x="4434840" y="2258568"/>
            <a:ext cx="603504" cy="603504"/>
          </a:xfrm>
          <a:prstGeom prst="ellipse">
            <a:avLst/>
          </a:prstGeom>
          <a:solidFill>
            <a:srgbClr val="FF9F1C"/>
          </a:solidFill>
          <a:ln/>
        </p:spPr>
      </p:sp>
      <p:pic>
        <p:nvPicPr>
          <p:cNvPr id="20" name="Image 3" descr="/tmp/claude-0/-home-claude/cf1b82dd-723a-5c0d-b3ee-f6062e85aabe/scratchpad/nd/ic/FaUserGraduate_d.png">    </p:cNvPr>
          <p:cNvPicPr>
            <a:picLocks noChangeAspect="1"/>
          </p:cNvPicPr>
          <p:nvPr/>
        </p:nvPicPr>
        <p:blipFill>
          <a:blip r:embed="rId9"/>
          <a:stretch>
            <a:fillRect/>
          </a:stretch>
        </p:blipFill>
        <p:spPr>
          <a:xfrm>
            <a:off x="4597786" y="2421514"/>
            <a:ext cx="277612" cy="277612"/>
          </a:xfrm>
          <a:prstGeom prst="rect">
            <a:avLst/>
          </a:prstGeom>
        </p:spPr>
      </p:pic>
      <p:sp>
        <p:nvSpPr>
          <p:cNvPr id="21" name="Text 15"/>
          <p:cNvSpPr txBox="1"/>
          <p:nvPr/>
        </p:nvSpPr>
        <p:spPr>
          <a:xfrm>
            <a:off x="4434840" y="3017520"/>
            <a:ext cx="3017520" cy="329184"/>
          </a:xfrm>
          <a:prstGeom prst="rect">
            <a:avLst/>
          </a:prstGeom>
          <a:noFill/>
          <a:ln/>
        </p:spPr>
        <p:txBody>
          <a:bodyPr wrap="square" lIns="0" tIns="0" rIns="0" bIns="0" rtlCol="0" anchor="t"/>
          <a:lstStyle/>
          <a:p>
            <a:pPr indent="0" marL="0">
              <a:buNone/>
            </a:pPr>
            <a:r>
              <a:rPr lang="en-US" sz="1600" b="1" dirty="0">
                <a:solidFill>
                  <a:srgbClr val="F2EFFF"/>
                </a:solidFill>
                <a:latin typeface="Segoe UI" pitchFamily="34" charset="0"/>
                <a:ea typeface="Segoe UI" pitchFamily="34" charset="-122"/>
                <a:cs typeface="Segoe UI" pitchFamily="34" charset="-120"/>
              </a:rPr>
              <a:t>Colleges and edtech</a:t>
            </a:r>
            <a:endParaRPr lang="en-US" sz="1600" dirty="0"/>
          </a:p>
        </p:txBody>
      </p:sp>
      <p:sp>
        <p:nvSpPr>
          <p:cNvPr id="22" name="Text 16"/>
          <p:cNvSpPr txBox="1"/>
          <p:nvPr/>
        </p:nvSpPr>
        <p:spPr>
          <a:xfrm>
            <a:off x="4434840" y="3364992"/>
            <a:ext cx="3017520" cy="594360"/>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Students ask in Hinglish. Know when an answer can be trusted.</a:t>
            </a:r>
            <a:endParaRPr lang="en-US" sz="1150" dirty="0"/>
          </a:p>
        </p:txBody>
      </p:sp>
      <p:sp>
        <p:nvSpPr>
          <p:cNvPr id="23" name="Shape 17"/>
          <p:cNvSpPr/>
          <p:nvPr/>
        </p:nvSpPr>
        <p:spPr>
          <a:xfrm>
            <a:off x="548640" y="4160520"/>
            <a:ext cx="3474720" cy="2011680"/>
          </a:xfrm>
          <a:prstGeom prst="roundRect">
            <a:avLst>
              <a:gd name="adj" fmla="val 636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4" name="Shape 18"/>
          <p:cNvSpPr/>
          <p:nvPr/>
        </p:nvSpPr>
        <p:spPr>
          <a:xfrm>
            <a:off x="795528" y="4407408"/>
            <a:ext cx="603504" cy="603504"/>
          </a:xfrm>
          <a:prstGeom prst="ellipse">
            <a:avLst/>
          </a:prstGeom>
          <a:solidFill>
            <a:srgbClr val="9B8CFF"/>
          </a:solidFill>
          <a:ln/>
        </p:spPr>
      </p:sp>
      <p:pic>
        <p:nvPicPr>
          <p:cNvPr id="25" name="Image 4" descr="/tmp/claude-0/-home-claude/cf1b82dd-723a-5c0d-b3ee-f6062e85aabe/scratchpad/nd/ic/FaFlask_w.png">    </p:cNvPr>
          <p:cNvPicPr>
            <a:picLocks noChangeAspect="1"/>
          </p:cNvPicPr>
          <p:nvPr/>
        </p:nvPicPr>
        <p:blipFill>
          <a:blip r:embed="rId10"/>
          <a:stretch>
            <a:fillRect/>
          </a:stretch>
        </p:blipFill>
        <p:spPr>
          <a:xfrm>
            <a:off x="958474" y="4570354"/>
            <a:ext cx="277612" cy="277612"/>
          </a:xfrm>
          <a:prstGeom prst="rect">
            <a:avLst/>
          </a:prstGeom>
        </p:spPr>
      </p:pic>
      <p:sp>
        <p:nvSpPr>
          <p:cNvPr id="26" name="Text 19"/>
          <p:cNvSpPr txBox="1"/>
          <p:nvPr/>
        </p:nvSpPr>
        <p:spPr>
          <a:xfrm>
            <a:off x="795528" y="5166360"/>
            <a:ext cx="3017520" cy="329184"/>
          </a:xfrm>
          <a:prstGeom prst="rect">
            <a:avLst/>
          </a:prstGeom>
          <a:noFill/>
          <a:ln/>
        </p:spPr>
        <p:txBody>
          <a:bodyPr wrap="square" lIns="0" tIns="0" rIns="0" bIns="0" rtlCol="0" anchor="t"/>
          <a:lstStyle/>
          <a:p>
            <a:pPr indent="0" marL="0">
              <a:buNone/>
            </a:pPr>
            <a:r>
              <a:rPr lang="en-US" sz="1600" b="1" dirty="0">
                <a:solidFill>
                  <a:srgbClr val="F2EFFF"/>
                </a:solidFill>
                <a:latin typeface="Segoe UI" pitchFamily="34" charset="0"/>
                <a:ea typeface="Segoe UI" pitchFamily="34" charset="-122"/>
                <a:cs typeface="Segoe UI" pitchFamily="34" charset="-120"/>
              </a:rPr>
              <a:t>Researchers</a:t>
            </a:r>
            <a:endParaRPr lang="en-US" sz="1600" dirty="0"/>
          </a:p>
        </p:txBody>
      </p:sp>
      <p:sp>
        <p:nvSpPr>
          <p:cNvPr id="27" name="Text 20"/>
          <p:cNvSpPr txBox="1"/>
          <p:nvPr/>
        </p:nvSpPr>
        <p:spPr>
          <a:xfrm>
            <a:off x="795528" y="5513832"/>
            <a:ext cx="3017520" cy="594360"/>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An open benchmark. Adding a language means adding one column.</a:t>
            </a:r>
            <a:endParaRPr lang="en-US" sz="1150" dirty="0"/>
          </a:p>
        </p:txBody>
      </p:sp>
      <p:sp>
        <p:nvSpPr>
          <p:cNvPr id="28" name="Shape 21"/>
          <p:cNvSpPr/>
          <p:nvPr/>
        </p:nvSpPr>
        <p:spPr>
          <a:xfrm>
            <a:off x="4187952" y="4160520"/>
            <a:ext cx="3474720" cy="2011680"/>
          </a:xfrm>
          <a:prstGeom prst="roundRect">
            <a:avLst>
              <a:gd name="adj" fmla="val 636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9" name="Shape 22"/>
          <p:cNvSpPr/>
          <p:nvPr/>
        </p:nvSpPr>
        <p:spPr>
          <a:xfrm>
            <a:off x="4434840" y="4407408"/>
            <a:ext cx="603504" cy="603504"/>
          </a:xfrm>
          <a:prstGeom prst="ellipse">
            <a:avLst/>
          </a:prstGeom>
          <a:solidFill>
            <a:srgbClr val="FF9F1C"/>
          </a:solidFill>
          <a:ln/>
        </p:spPr>
      </p:sp>
      <p:pic>
        <p:nvPicPr>
          <p:cNvPr id="30" name="Image 5" descr="/tmp/claude-0/-home-claude/cf1b82dd-723a-5c0d-b3ee-f6062e85aabe/scratchpad/nd/ic/FaUsers_d.png">    </p:cNvPr>
          <p:cNvPicPr>
            <a:picLocks noChangeAspect="1"/>
          </p:cNvPicPr>
          <p:nvPr/>
        </p:nvPicPr>
        <p:blipFill>
          <a:blip r:embed="rId11"/>
          <a:stretch>
            <a:fillRect/>
          </a:stretch>
        </p:blipFill>
        <p:spPr>
          <a:xfrm>
            <a:off x="4597786" y="4570354"/>
            <a:ext cx="277612" cy="277612"/>
          </a:xfrm>
          <a:prstGeom prst="rect">
            <a:avLst/>
          </a:prstGeom>
        </p:spPr>
      </p:pic>
      <p:sp>
        <p:nvSpPr>
          <p:cNvPr id="31" name="Text 23"/>
          <p:cNvSpPr txBox="1"/>
          <p:nvPr/>
        </p:nvSpPr>
        <p:spPr>
          <a:xfrm>
            <a:off x="4434840" y="5166360"/>
            <a:ext cx="3017520" cy="329184"/>
          </a:xfrm>
          <a:prstGeom prst="rect">
            <a:avLst/>
          </a:prstGeom>
          <a:noFill/>
          <a:ln/>
        </p:spPr>
        <p:txBody>
          <a:bodyPr wrap="square" lIns="0" tIns="0" rIns="0" bIns="0" rtlCol="0" anchor="t"/>
          <a:lstStyle/>
          <a:p>
            <a:pPr indent="0" marL="0">
              <a:buNone/>
            </a:pPr>
            <a:r>
              <a:rPr lang="en-US" sz="1600" b="1" dirty="0">
                <a:solidFill>
                  <a:srgbClr val="F2EFFF"/>
                </a:solidFill>
                <a:latin typeface="Segoe UI" pitchFamily="34" charset="0"/>
                <a:ea typeface="Segoe UI" pitchFamily="34" charset="-122"/>
                <a:cs typeface="Segoe UI" pitchFamily="34" charset="-120"/>
              </a:rPr>
              <a:t>Every Indian developer</a:t>
            </a:r>
            <a:endParaRPr lang="en-US" sz="1600" dirty="0"/>
          </a:p>
        </p:txBody>
      </p:sp>
      <p:sp>
        <p:nvSpPr>
          <p:cNvPr id="32" name="Text 24"/>
          <p:cNvSpPr txBox="1"/>
          <p:nvPr/>
        </p:nvSpPr>
        <p:spPr>
          <a:xfrm>
            <a:off x="4434840" y="5513832"/>
            <a:ext cx="3017520" cy="594360"/>
          </a:xfrm>
          <a:prstGeom prst="rect">
            <a:avLst/>
          </a:prstGeom>
          <a:noFill/>
          <a:ln/>
        </p:spPr>
        <p:txBody>
          <a:bodyPr wrap="square" lIns="0" tIns="0" rIns="0" bIns="0" rtlCol="0" anchor="t"/>
          <a:lstStyle/>
          <a:p>
            <a:pPr indent="0" marL="0">
              <a:buNone/>
            </a:pPr>
            <a:r>
              <a:rPr lang="en-US" sz="1150" dirty="0">
                <a:solidFill>
                  <a:srgbClr val="A9A3CF"/>
                </a:solidFill>
                <a:latin typeface="Segoe UI" pitchFamily="34" charset="0"/>
                <a:ea typeface="Segoe UI" pitchFamily="34" charset="-122"/>
                <a:cs typeface="Segoe UI" pitchFamily="34" charset="-120"/>
              </a:rPr>
              <a:t>Asking in your own language shouldn't cost you working code.</a:t>
            </a:r>
            <a:endParaRPr lang="en-US" sz="1150" dirty="0"/>
          </a:p>
        </p:txBody>
      </p:sp>
      <p:sp>
        <p:nvSpPr>
          <p:cNvPr id="33" name="Shape 25"/>
          <p:cNvSpPr/>
          <p:nvPr/>
        </p:nvSpPr>
        <p:spPr>
          <a:xfrm>
            <a:off x="7863840" y="2011680"/>
            <a:ext cx="3867912" cy="4160520"/>
          </a:xfrm>
          <a:prstGeom prst="roundRect">
            <a:avLst>
              <a:gd name="adj" fmla="val 3310"/>
            </a:avLst>
          </a:prstGeom>
          <a:solidFill>
            <a:srgbClr val="211B42"/>
          </a:solidFill>
          <a:ln w="12700">
            <a:solidFill>
              <a:srgbClr val="FF9F1C"/>
            </a:solidFill>
            <a:prstDash val="solid"/>
          </a:ln>
          <a:effectLst>
            <a:outerShdw sx="100000" sy="100000" kx="0" ky="0" algn="bl" rotWithShape="0" blurRad="177800" dist="50800" dir="5400000">
              <a:srgbClr val="000000">
                <a:alpha val="45000"/>
              </a:srgbClr>
            </a:outerShdw>
          </a:effectLst>
        </p:spPr>
      </p:sp>
      <p:pic>
        <p:nvPicPr>
          <p:cNvPr id="34" name="Image 6" descr="/tmp/claude-0/-home-claude/cf1b82dd-723a-5c0d-b3ee-f6062e85aabe/scratchpad/nd/glow_a.png">    </p:cNvPr>
          <p:cNvPicPr>
            <a:picLocks noChangeAspect="1"/>
          </p:cNvPicPr>
          <p:nvPr/>
        </p:nvPicPr>
        <p:blipFill>
          <a:blip r:embed="rId12">
            <a:alphaModFix amt="35000"/>
          </a:blip>
          <a:stretch>
            <a:fillRect/>
          </a:stretch>
        </p:blipFill>
        <p:spPr>
          <a:xfrm>
            <a:off x="8229600" y="2103120"/>
            <a:ext cx="3108960" cy="3108960"/>
          </a:xfrm>
          <a:prstGeom prst="rect">
            <a:avLst/>
          </a:prstGeom>
        </p:spPr>
      </p:pic>
      <p:sp>
        <p:nvSpPr>
          <p:cNvPr id="35" name="Text 26"/>
          <p:cNvSpPr txBox="1"/>
          <p:nvPr/>
        </p:nvSpPr>
        <p:spPr>
          <a:xfrm>
            <a:off x="8119872" y="2240280"/>
            <a:ext cx="3383280" cy="219456"/>
          </a:xfrm>
          <a:prstGeom prst="rect">
            <a:avLst/>
          </a:prstGeom>
          <a:noFill/>
          <a:ln/>
        </p:spPr>
        <p:txBody>
          <a:bodyPr wrap="square" lIns="0" tIns="0" rIns="0" bIns="0" rtlCol="0" anchor="t"/>
          <a:lstStyle/>
          <a:p>
            <a:pPr indent="0" marL="0">
              <a:buNone/>
            </a:pPr>
            <a:r>
              <a:rPr lang="en-US" sz="1000" b="1" spc="100" kern="0" dirty="0">
                <a:solidFill>
                  <a:srgbClr val="FF9F1C"/>
                </a:solidFill>
                <a:latin typeface="Consolas" pitchFamily="34" charset="0"/>
                <a:ea typeface="Consolas" pitchFamily="34" charset="-122"/>
                <a:cs typeface="Consolas" pitchFamily="34" charset="-120"/>
              </a:rPr>
              <a:t>AI CODE TOOLS MARKET</a:t>
            </a:r>
            <a:endParaRPr lang="en-US" sz="1000" dirty="0"/>
          </a:p>
        </p:txBody>
      </p:sp>
      <p:sp>
        <p:nvSpPr>
          <p:cNvPr id="36" name="Text 27"/>
          <p:cNvSpPr txBox="1"/>
          <p:nvPr/>
        </p:nvSpPr>
        <p:spPr>
          <a:xfrm>
            <a:off x="8119872" y="2606040"/>
            <a:ext cx="3383280" cy="1737360"/>
          </a:xfrm>
          <a:prstGeom prst="rect">
            <a:avLst/>
          </a:prstGeom>
          <a:noFill/>
          <a:ln/>
        </p:spPr>
        <p:txBody>
          <a:bodyPr wrap="square" lIns="0" tIns="0" rIns="0" bIns="0" rtlCol="0" anchor="t"/>
          <a:lstStyle/>
          <a:p>
            <a:pPr indent="0" marL="0">
              <a:buNone/>
            </a:pPr>
            <a:r>
              <a:rPr lang="en-US" sz="2200" b="1" dirty="0">
                <a:solidFill>
                  <a:srgbClr val="A9A3CF"/>
                </a:solidFill>
                <a:latin typeface="Segoe UI" pitchFamily="34" charset="0"/>
                <a:ea typeface="Segoe UI" pitchFamily="34" charset="-122"/>
                <a:cs typeface="Segoe UI" pitchFamily="34" charset="-120"/>
              </a:rPr>
              <a:t>USD 4.3B</a:t>
            </a:r>
            <a:endParaRPr lang="en-US" sz="1400" dirty="0"/>
          </a:p>
          <a:p>
            <a:pPr indent="0" marL="0">
              <a:buNone/>
            </a:pPr>
            <a:r>
              <a:rPr lang="en-US" sz="1800" dirty="0">
                <a:solidFill>
                  <a:srgbClr val="6F6A99"/>
                </a:solidFill>
                <a:latin typeface="Segoe UI" pitchFamily="34" charset="0"/>
                <a:ea typeface="Segoe UI" pitchFamily="34" charset="-122"/>
                <a:cs typeface="Segoe UI" pitchFamily="34" charset="-120"/>
              </a:rPr>
              <a:t>↓</a:t>
            </a:r>
            <a:endParaRPr lang="en-US" sz="1400" dirty="0"/>
          </a:p>
          <a:p>
            <a:pPr indent="0" marL="0">
              <a:buNone/>
            </a:pPr>
            <a:r>
              <a:rPr lang="en-US" sz="3600" b="1" dirty="0">
                <a:solidFill>
                  <a:srgbClr val="F2EFFF"/>
                </a:solidFill>
                <a:latin typeface="Segoe UI" pitchFamily="34" charset="0"/>
                <a:ea typeface="Segoe UI" pitchFamily="34" charset="-122"/>
                <a:cs typeface="Segoe UI" pitchFamily="34" charset="-120"/>
              </a:rPr>
              <a:t>USD 12.6B</a:t>
            </a:r>
            <a:endParaRPr lang="en-US" sz="1400" dirty="0"/>
          </a:p>
        </p:txBody>
      </p:sp>
      <p:sp>
        <p:nvSpPr>
          <p:cNvPr id="37" name="Text 28"/>
          <p:cNvSpPr txBox="1"/>
          <p:nvPr/>
        </p:nvSpPr>
        <p:spPr>
          <a:xfrm>
            <a:off x="8119872" y="4206240"/>
            <a:ext cx="3383280" cy="411480"/>
          </a:xfrm>
          <a:prstGeom prst="rect">
            <a:avLst/>
          </a:prstGeom>
          <a:noFill/>
          <a:ln/>
        </p:spPr>
        <p:txBody>
          <a:bodyPr wrap="square" lIns="0" tIns="0" rIns="0" bIns="0" rtlCol="0" anchor="t"/>
          <a:lstStyle/>
          <a:p>
            <a:pPr indent="0" marL="0">
              <a:buNone/>
            </a:pPr>
            <a:r>
              <a:rPr lang="en-US" sz="1100" dirty="0">
                <a:solidFill>
                  <a:srgbClr val="A9A3CF"/>
                </a:solidFill>
                <a:latin typeface="Segoe UI" pitchFamily="34" charset="0"/>
                <a:ea typeface="Segoe UI" pitchFamily="34" charset="-122"/>
                <a:cs typeface="Segoe UI" pitchFamily="34" charset="-120"/>
              </a:rPr>
              <a:t>2023 → 2028, about 24% a year (MarketsandMarkets)</a:t>
            </a:r>
            <a:endParaRPr lang="en-US" sz="1100" dirty="0"/>
          </a:p>
        </p:txBody>
      </p:sp>
      <p:sp>
        <p:nvSpPr>
          <p:cNvPr id="38" name="Shape 29"/>
          <p:cNvSpPr/>
          <p:nvPr/>
        </p:nvSpPr>
        <p:spPr>
          <a:xfrm>
            <a:off x="8119872" y="4800600"/>
            <a:ext cx="3337560" cy="0"/>
          </a:xfrm>
          <a:prstGeom prst="line">
            <a:avLst/>
          </a:prstGeom>
          <a:noFill/>
          <a:ln w="12700">
            <a:solidFill>
              <a:srgbClr val="2E2759"/>
            </a:solidFill>
            <a:prstDash val="solid"/>
          </a:ln>
        </p:spPr>
      </p:sp>
      <p:sp>
        <p:nvSpPr>
          <p:cNvPr id="39" name="Text 30"/>
          <p:cNvSpPr txBox="1"/>
          <p:nvPr/>
        </p:nvSpPr>
        <p:spPr>
          <a:xfrm>
            <a:off x="8119872" y="4937760"/>
            <a:ext cx="3383280" cy="822960"/>
          </a:xfrm>
          <a:prstGeom prst="rect">
            <a:avLst/>
          </a:prstGeom>
          <a:noFill/>
          <a:ln/>
        </p:spPr>
        <p:txBody>
          <a:bodyPr wrap="square" lIns="0" tIns="0" rIns="0" bIns="0" rtlCol="0" anchor="t"/>
          <a:lstStyle/>
          <a:p>
            <a:pPr indent="0" marL="0">
              <a:buNone/>
            </a:pPr>
            <a:r>
              <a:rPr lang="en-US" sz="1300" b="1" dirty="0">
                <a:solidFill>
                  <a:srgbClr val="FF9F1C"/>
                </a:solidFill>
                <a:latin typeface="Segoe UI" pitchFamily="34" charset="0"/>
                <a:ea typeface="Segoe UI" pitchFamily="34" charset="-122"/>
                <a:cs typeface="Segoe UI" pitchFamily="34" charset="-120"/>
              </a:rPr>
              <a:t>314.9M </a:t>
            </a:r>
            <a:pPr indent="0" marL="0">
              <a:buNone/>
            </a:pPr>
            <a:r>
              <a:rPr lang="en-US" sz="1300" dirty="0">
                <a:solidFill>
                  <a:srgbClr val="A9A3CF"/>
                </a:solidFill>
                <a:latin typeface="Segoe UI" pitchFamily="34" charset="0"/>
                <a:ea typeface="Segoe UI" pitchFamily="34" charset="-122"/>
                <a:cs typeface="Segoe UI" pitchFamily="34" charset="-120"/>
              </a:rPr>
              <a:t>bilingual Indians who could be typing those prompts.</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17 / 19</a:t>
            </a:r>
            <a:endParaRPr lang="en-US" sz="900" dirty="0"/>
          </a:p>
        </p:txBody>
      </p:sp>
      <p:sp>
        <p:nvSpPr>
          <p:cNvPr id="11"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10 · BUSINESS MODEL</a:t>
            </a:r>
            <a:endParaRPr lang="en-US" sz="1100" dirty="0"/>
          </a:p>
        </p:txBody>
      </p:sp>
      <p:sp>
        <p:nvSpPr>
          <p:cNvPr id="12"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Free core, paid testing</a:t>
            </a:r>
            <a:endParaRPr lang="en-US" sz="3000" dirty="0"/>
          </a:p>
        </p:txBody>
      </p:sp>
      <p:sp>
        <p:nvSpPr>
          <p:cNvPr id="13" name="Shape 9"/>
          <p:cNvSpPr/>
          <p:nvPr/>
        </p:nvSpPr>
        <p:spPr>
          <a:xfrm>
            <a:off x="548640" y="2011680"/>
            <a:ext cx="3611880" cy="4206240"/>
          </a:xfrm>
          <a:prstGeom prst="roundRect">
            <a:avLst>
              <a:gd name="adj" fmla="val 354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4" name="Shape 10"/>
          <p:cNvSpPr/>
          <p:nvPr/>
        </p:nvSpPr>
        <p:spPr>
          <a:xfrm>
            <a:off x="822960" y="2240280"/>
            <a:ext cx="603504" cy="603504"/>
          </a:xfrm>
          <a:prstGeom prst="ellipse">
            <a:avLst/>
          </a:prstGeom>
          <a:solidFill>
            <a:srgbClr val="9B8CFF"/>
          </a:solidFill>
          <a:ln/>
        </p:spPr>
      </p:sp>
      <p:pic>
        <p:nvPicPr>
          <p:cNvPr id="15" name="Image 2" descr="/tmp/claude-0/-home-claude/cf1b82dd-723a-5c0d-b3ee-f6062e85aabe/scratchpad/nd/ic/FaGithub_w.png">    </p:cNvPr>
          <p:cNvPicPr>
            <a:picLocks noChangeAspect="1"/>
          </p:cNvPicPr>
          <p:nvPr/>
        </p:nvPicPr>
        <p:blipFill>
          <a:blip r:embed="rId8"/>
          <a:stretch>
            <a:fillRect/>
          </a:stretch>
        </p:blipFill>
        <p:spPr>
          <a:xfrm>
            <a:off x="985906" y="2403226"/>
            <a:ext cx="277612" cy="277612"/>
          </a:xfrm>
          <a:prstGeom prst="rect">
            <a:avLst/>
          </a:prstGeom>
        </p:spPr>
      </p:pic>
      <p:sp>
        <p:nvSpPr>
          <p:cNvPr id="16" name="Text 11"/>
          <p:cNvSpPr txBox="1"/>
          <p:nvPr/>
        </p:nvSpPr>
        <p:spPr>
          <a:xfrm>
            <a:off x="822960" y="3017520"/>
            <a:ext cx="3108960" cy="365760"/>
          </a:xfrm>
          <a:prstGeom prst="rect">
            <a:avLst/>
          </a:prstGeom>
          <a:noFill/>
          <a:ln/>
        </p:spPr>
        <p:txBody>
          <a:bodyPr wrap="square" lIns="0" tIns="0" rIns="0" bIns="0" rtlCol="0" anchor="t"/>
          <a:lstStyle/>
          <a:p>
            <a:pPr indent="0" marL="0">
              <a:buNone/>
            </a:pPr>
            <a:r>
              <a:rPr lang="en-US" sz="1800" b="1" dirty="0">
                <a:solidFill>
                  <a:srgbClr val="F2EFFF"/>
                </a:solidFill>
                <a:latin typeface="Segoe UI" pitchFamily="34" charset="0"/>
                <a:ea typeface="Segoe UI" pitchFamily="34" charset="-122"/>
                <a:cs typeface="Segoe UI" pitchFamily="34" charset="-120"/>
              </a:rPr>
              <a:t>Open-source core</a:t>
            </a:r>
            <a:endParaRPr lang="en-US" sz="1800" dirty="0"/>
          </a:p>
        </p:txBody>
      </p:sp>
      <p:sp>
        <p:nvSpPr>
          <p:cNvPr id="17" name="Text 12"/>
          <p:cNvSpPr txBox="1"/>
          <p:nvPr/>
        </p:nvSpPr>
        <p:spPr>
          <a:xfrm>
            <a:off x="822960" y="3401568"/>
            <a:ext cx="3108960" cy="457200"/>
          </a:xfrm>
          <a:prstGeom prst="rect">
            <a:avLst/>
          </a:prstGeom>
          <a:noFill/>
          <a:ln/>
        </p:spPr>
        <p:txBody>
          <a:bodyPr wrap="square" lIns="0" tIns="0" rIns="0" bIns="0" rtlCol="0" anchor="t"/>
          <a:lstStyle/>
          <a:p>
            <a:pPr indent="0" marL="0">
              <a:buNone/>
            </a:pPr>
            <a:r>
              <a:rPr lang="en-US" sz="2400" b="1" dirty="0">
                <a:solidFill>
                  <a:srgbClr val="9B8CFF"/>
                </a:solidFill>
                <a:latin typeface="Segoe UI" pitchFamily="34" charset="0"/>
                <a:ea typeface="Segoe UI" pitchFamily="34" charset="-122"/>
                <a:cs typeface="Segoe UI" pitchFamily="34" charset="-120"/>
              </a:rPr>
              <a:t>Free</a:t>
            </a:r>
            <a:endParaRPr lang="en-US" sz="2400" dirty="0"/>
          </a:p>
        </p:txBody>
      </p:sp>
      <p:sp>
        <p:nvSpPr>
          <p:cNvPr id="18" name="Shape 13"/>
          <p:cNvSpPr/>
          <p:nvPr/>
        </p:nvSpPr>
        <p:spPr>
          <a:xfrm>
            <a:off x="822960" y="3977640"/>
            <a:ext cx="3063240" cy="0"/>
          </a:xfrm>
          <a:prstGeom prst="line">
            <a:avLst/>
          </a:prstGeom>
          <a:noFill/>
          <a:ln w="12700">
            <a:solidFill>
              <a:srgbClr val="2E2759"/>
            </a:solidFill>
            <a:prstDash val="solid"/>
          </a:ln>
        </p:spPr>
      </p:sp>
      <p:pic>
        <p:nvPicPr>
          <p:cNvPr id="19" name="Image 3" descr="/tmp/claude-0/-home-claude/cf1b82dd-723a-5c0d-b3ee-f6062e85aabe/scratchpad/nd/ic/FaCheck_g.png">    </p:cNvPr>
          <p:cNvPicPr>
            <a:picLocks noChangeAspect="1"/>
          </p:cNvPicPr>
          <p:nvPr/>
        </p:nvPicPr>
        <p:blipFill>
          <a:blip r:embed="rId9"/>
          <a:stretch>
            <a:fillRect/>
          </a:stretch>
        </p:blipFill>
        <p:spPr>
          <a:xfrm>
            <a:off x="822960" y="4224528"/>
            <a:ext cx="182880" cy="182880"/>
          </a:xfrm>
          <a:prstGeom prst="rect">
            <a:avLst/>
          </a:prstGeom>
        </p:spPr>
      </p:pic>
      <p:sp>
        <p:nvSpPr>
          <p:cNvPr id="20" name="Text 14"/>
          <p:cNvSpPr txBox="1"/>
          <p:nvPr/>
        </p:nvSpPr>
        <p:spPr>
          <a:xfrm>
            <a:off x="1115568" y="4160520"/>
            <a:ext cx="2834640" cy="45720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Benchmark and dashboard on GitHub</a:t>
            </a:r>
            <a:endParaRPr lang="en-US" sz="1200" dirty="0"/>
          </a:p>
        </p:txBody>
      </p:sp>
      <p:pic>
        <p:nvPicPr>
          <p:cNvPr id="21" name="Image 4" descr="/tmp/claude-0/-home-claude/cf1b82dd-723a-5c0d-b3ee-f6062e85aabe/scratchpad/nd/ic/FaCheck_g.png">    </p:cNvPr>
          <p:cNvPicPr>
            <a:picLocks noChangeAspect="1"/>
          </p:cNvPicPr>
          <p:nvPr/>
        </p:nvPicPr>
        <p:blipFill>
          <a:blip r:embed="rId10"/>
          <a:stretch>
            <a:fillRect/>
          </a:stretch>
        </p:blipFill>
        <p:spPr>
          <a:xfrm>
            <a:off x="822960" y="4773168"/>
            <a:ext cx="182880" cy="182880"/>
          </a:xfrm>
          <a:prstGeom prst="rect">
            <a:avLst/>
          </a:prstGeom>
        </p:spPr>
      </p:pic>
      <p:sp>
        <p:nvSpPr>
          <p:cNvPr id="22" name="Text 15"/>
          <p:cNvSpPr txBox="1"/>
          <p:nvPr/>
        </p:nvSpPr>
        <p:spPr>
          <a:xfrm>
            <a:off x="1115568" y="4709160"/>
            <a:ext cx="2834640" cy="45720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Community adds languages</a:t>
            </a:r>
            <a:endParaRPr lang="en-US" sz="1200" dirty="0"/>
          </a:p>
        </p:txBody>
      </p:sp>
      <p:pic>
        <p:nvPicPr>
          <p:cNvPr id="23" name="Image 5" descr="/tmp/claude-0/-home-claude/cf1b82dd-723a-5c0d-b3ee-f6062e85aabe/scratchpad/nd/ic/FaCheck_g.png">    </p:cNvPr>
          <p:cNvPicPr>
            <a:picLocks noChangeAspect="1"/>
          </p:cNvPicPr>
          <p:nvPr/>
        </p:nvPicPr>
        <p:blipFill>
          <a:blip r:embed="rId11"/>
          <a:stretch>
            <a:fillRect/>
          </a:stretch>
        </p:blipFill>
        <p:spPr>
          <a:xfrm>
            <a:off x="822960" y="5321808"/>
            <a:ext cx="182880" cy="182880"/>
          </a:xfrm>
          <a:prstGeom prst="rect">
            <a:avLst/>
          </a:prstGeom>
        </p:spPr>
      </p:pic>
      <p:sp>
        <p:nvSpPr>
          <p:cNvPr id="24" name="Text 16"/>
          <p:cNvSpPr txBox="1"/>
          <p:nvPr/>
        </p:nvSpPr>
        <p:spPr>
          <a:xfrm>
            <a:off x="1115568" y="5257800"/>
            <a:ext cx="2834640" cy="45720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Builds trust and adoption</a:t>
            </a:r>
            <a:endParaRPr lang="en-US" sz="1200" dirty="0"/>
          </a:p>
        </p:txBody>
      </p:sp>
      <p:sp>
        <p:nvSpPr>
          <p:cNvPr id="25" name="Shape 17"/>
          <p:cNvSpPr/>
          <p:nvPr/>
        </p:nvSpPr>
        <p:spPr>
          <a:xfrm>
            <a:off x="4334256" y="2011680"/>
            <a:ext cx="3611880" cy="4206240"/>
          </a:xfrm>
          <a:prstGeom prst="roundRect">
            <a:avLst>
              <a:gd name="adj" fmla="val 3544"/>
            </a:avLst>
          </a:prstGeom>
          <a:solidFill>
            <a:srgbClr val="211B42"/>
          </a:solidFill>
          <a:ln w="22225">
            <a:solidFill>
              <a:srgbClr val="FF9F1C"/>
            </a:solidFill>
            <a:prstDash val="solid"/>
          </a:ln>
          <a:effectLst>
            <a:outerShdw sx="100000" sy="100000" kx="0" ky="0" algn="bl" rotWithShape="0" blurRad="177800" dist="50800" dir="5400000">
              <a:srgbClr val="000000">
                <a:alpha val="45000"/>
              </a:srgbClr>
            </a:outerShdw>
          </a:effectLst>
        </p:spPr>
      </p:sp>
      <p:sp>
        <p:nvSpPr>
          <p:cNvPr id="26" name="Text 18"/>
          <p:cNvSpPr txBox="1"/>
          <p:nvPr/>
        </p:nvSpPr>
        <p:spPr>
          <a:xfrm>
            <a:off x="6574536" y="2212848"/>
            <a:ext cx="1143000" cy="274320"/>
          </a:xfrm>
          <a:prstGeom prst="roundRect">
            <a:avLst>
              <a:gd name="adj" fmla="val 50000"/>
            </a:avLst>
          </a:prstGeom>
          <a:solidFill>
            <a:srgbClr val="FF9F1C"/>
          </a:solidFill>
          <a:ln/>
        </p:spPr>
        <p:txBody>
          <a:bodyPr wrap="square" lIns="0" tIns="0" rIns="0" bIns="0" rtlCol="0" anchor="ctr"/>
          <a:lstStyle/>
          <a:p>
            <a:pPr algn="ctr" indent="0" marL="0">
              <a:buNone/>
            </a:pPr>
            <a:r>
              <a:rPr lang="en-US" sz="900" b="1" dirty="0">
                <a:solidFill>
                  <a:srgbClr val="0E0B1F"/>
                </a:solidFill>
                <a:latin typeface="Consolas" pitchFamily="34" charset="0"/>
                <a:ea typeface="Consolas" pitchFamily="34" charset="-122"/>
                <a:cs typeface="Consolas" pitchFamily="34" charset="-120"/>
              </a:rPr>
              <a:t>FOR TEAMS</a:t>
            </a:r>
            <a:endParaRPr lang="en-US" sz="900" dirty="0"/>
          </a:p>
        </p:txBody>
      </p:sp>
      <p:sp>
        <p:nvSpPr>
          <p:cNvPr id="27" name="Shape 19"/>
          <p:cNvSpPr/>
          <p:nvPr/>
        </p:nvSpPr>
        <p:spPr>
          <a:xfrm>
            <a:off x="4608576" y="2240280"/>
            <a:ext cx="603504" cy="603504"/>
          </a:xfrm>
          <a:prstGeom prst="ellipse">
            <a:avLst/>
          </a:prstGeom>
          <a:solidFill>
            <a:srgbClr val="FF9F1C"/>
          </a:solidFill>
          <a:ln/>
        </p:spPr>
      </p:sp>
      <p:pic>
        <p:nvPicPr>
          <p:cNvPr id="28" name="Image 6" descr="/tmp/claude-0/-home-claude/cf1b82dd-723a-5c0d-b3ee-f6062e85aabe/scratchpad/nd/ic/FaServer_d.png">    </p:cNvPr>
          <p:cNvPicPr>
            <a:picLocks noChangeAspect="1"/>
          </p:cNvPicPr>
          <p:nvPr/>
        </p:nvPicPr>
        <p:blipFill>
          <a:blip r:embed="rId12"/>
          <a:stretch>
            <a:fillRect/>
          </a:stretch>
        </p:blipFill>
        <p:spPr>
          <a:xfrm>
            <a:off x="4771522" y="2403226"/>
            <a:ext cx="277612" cy="277612"/>
          </a:xfrm>
          <a:prstGeom prst="rect">
            <a:avLst/>
          </a:prstGeom>
        </p:spPr>
      </p:pic>
      <p:sp>
        <p:nvSpPr>
          <p:cNvPr id="29" name="Text 20"/>
          <p:cNvSpPr txBox="1"/>
          <p:nvPr/>
        </p:nvSpPr>
        <p:spPr>
          <a:xfrm>
            <a:off x="4608576" y="3017520"/>
            <a:ext cx="3108960" cy="365760"/>
          </a:xfrm>
          <a:prstGeom prst="rect">
            <a:avLst/>
          </a:prstGeom>
          <a:noFill/>
          <a:ln/>
        </p:spPr>
        <p:txBody>
          <a:bodyPr wrap="square" lIns="0" tIns="0" rIns="0" bIns="0" rtlCol="0" anchor="t"/>
          <a:lstStyle/>
          <a:p>
            <a:pPr indent="0" marL="0">
              <a:buNone/>
            </a:pPr>
            <a:r>
              <a:rPr lang="en-US" sz="1800" b="1" dirty="0">
                <a:solidFill>
                  <a:srgbClr val="F2EFFF"/>
                </a:solidFill>
                <a:latin typeface="Segoe UI" pitchFamily="34" charset="0"/>
                <a:ea typeface="Segoe UI" pitchFamily="34" charset="-122"/>
                <a:cs typeface="Segoe UI" pitchFamily="34" charset="-120"/>
              </a:rPr>
              <a:t>MixCheck Pro</a:t>
            </a:r>
            <a:endParaRPr lang="en-US" sz="1800" dirty="0"/>
          </a:p>
        </p:txBody>
      </p:sp>
      <p:sp>
        <p:nvSpPr>
          <p:cNvPr id="30" name="Text 21"/>
          <p:cNvSpPr txBox="1"/>
          <p:nvPr/>
        </p:nvSpPr>
        <p:spPr>
          <a:xfrm>
            <a:off x="4608576" y="3401568"/>
            <a:ext cx="3108960" cy="457200"/>
          </a:xfrm>
          <a:prstGeom prst="rect">
            <a:avLst/>
          </a:prstGeom>
          <a:noFill/>
          <a:ln/>
        </p:spPr>
        <p:txBody>
          <a:bodyPr wrap="square" lIns="0" tIns="0" rIns="0" bIns="0" rtlCol="0" anchor="t"/>
          <a:lstStyle/>
          <a:p>
            <a:pPr indent="0" marL="0">
              <a:buNone/>
            </a:pPr>
            <a:r>
              <a:rPr lang="en-US" sz="2400" b="1" dirty="0">
                <a:solidFill>
                  <a:srgbClr val="FF9F1C"/>
                </a:solidFill>
                <a:latin typeface="Segoe UI" pitchFamily="34" charset="0"/>
                <a:ea typeface="Segoe UI" pitchFamily="34" charset="-122"/>
                <a:cs typeface="Segoe UI" pitchFamily="34" charset="-120"/>
              </a:rPr>
              <a:t>₹799 / month</a:t>
            </a:r>
            <a:endParaRPr lang="en-US" sz="2400" dirty="0"/>
          </a:p>
        </p:txBody>
      </p:sp>
      <p:sp>
        <p:nvSpPr>
          <p:cNvPr id="31" name="Shape 22"/>
          <p:cNvSpPr/>
          <p:nvPr/>
        </p:nvSpPr>
        <p:spPr>
          <a:xfrm>
            <a:off x="4608576" y="3977640"/>
            <a:ext cx="3063240" cy="0"/>
          </a:xfrm>
          <a:prstGeom prst="line">
            <a:avLst/>
          </a:prstGeom>
          <a:noFill/>
          <a:ln w="12700">
            <a:solidFill>
              <a:srgbClr val="2E2759"/>
            </a:solidFill>
            <a:prstDash val="solid"/>
          </a:ln>
        </p:spPr>
      </p:sp>
      <p:pic>
        <p:nvPicPr>
          <p:cNvPr id="32" name="Image 7" descr="/tmp/claude-0/-home-claude/cf1b82dd-723a-5c0d-b3ee-f6062e85aabe/scratchpad/nd/ic/FaCheck_g.png">    </p:cNvPr>
          <p:cNvPicPr>
            <a:picLocks noChangeAspect="1"/>
          </p:cNvPicPr>
          <p:nvPr/>
        </p:nvPicPr>
        <p:blipFill>
          <a:blip r:embed="rId13"/>
          <a:stretch>
            <a:fillRect/>
          </a:stretch>
        </p:blipFill>
        <p:spPr>
          <a:xfrm>
            <a:off x="4608576" y="4224528"/>
            <a:ext cx="182880" cy="182880"/>
          </a:xfrm>
          <a:prstGeom prst="rect">
            <a:avLst/>
          </a:prstGeom>
        </p:spPr>
      </p:pic>
      <p:sp>
        <p:nvSpPr>
          <p:cNvPr id="33" name="Text 23"/>
          <p:cNvSpPr txBox="1"/>
          <p:nvPr/>
        </p:nvSpPr>
        <p:spPr>
          <a:xfrm>
            <a:off x="4901184" y="4160520"/>
            <a:ext cx="2834640" cy="45720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Test your own model through an API</a:t>
            </a:r>
            <a:endParaRPr lang="en-US" sz="1200" dirty="0"/>
          </a:p>
        </p:txBody>
      </p:sp>
      <p:pic>
        <p:nvPicPr>
          <p:cNvPr id="34" name="Image 8" descr="/tmp/claude-0/-home-claude/cf1b82dd-723a-5c0d-b3ee-f6062e85aabe/scratchpad/nd/ic/FaCheck_g.png">    </p:cNvPr>
          <p:cNvPicPr>
            <a:picLocks noChangeAspect="1"/>
          </p:cNvPicPr>
          <p:nvPr/>
        </p:nvPicPr>
        <p:blipFill>
          <a:blip r:embed="rId14"/>
          <a:stretch>
            <a:fillRect/>
          </a:stretch>
        </p:blipFill>
        <p:spPr>
          <a:xfrm>
            <a:off x="4608576" y="4773168"/>
            <a:ext cx="182880" cy="182880"/>
          </a:xfrm>
          <a:prstGeom prst="rect">
            <a:avLst/>
          </a:prstGeom>
        </p:spPr>
      </p:pic>
      <p:sp>
        <p:nvSpPr>
          <p:cNvPr id="35" name="Text 24"/>
          <p:cNvSpPr txBox="1"/>
          <p:nvPr/>
        </p:nvSpPr>
        <p:spPr>
          <a:xfrm>
            <a:off x="4901184" y="4709160"/>
            <a:ext cx="2834640" cy="45720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Private reports for your team</a:t>
            </a:r>
            <a:endParaRPr lang="en-US" sz="1200" dirty="0"/>
          </a:p>
        </p:txBody>
      </p:sp>
      <p:pic>
        <p:nvPicPr>
          <p:cNvPr id="36" name="Image 9" descr="/tmp/claude-0/-home-claude/cf1b82dd-723a-5c0d-b3ee-f6062e85aabe/scratchpad/nd/ic/FaCheck_g.png">    </p:cNvPr>
          <p:cNvPicPr>
            <a:picLocks noChangeAspect="1"/>
          </p:cNvPicPr>
          <p:nvPr/>
        </p:nvPicPr>
        <p:blipFill>
          <a:blip r:embed="rId15"/>
          <a:stretch>
            <a:fillRect/>
          </a:stretch>
        </p:blipFill>
        <p:spPr>
          <a:xfrm>
            <a:off x="4608576" y="5321808"/>
            <a:ext cx="182880" cy="182880"/>
          </a:xfrm>
          <a:prstGeom prst="rect">
            <a:avLst/>
          </a:prstGeom>
        </p:spPr>
      </p:pic>
      <p:sp>
        <p:nvSpPr>
          <p:cNvPr id="37" name="Text 25"/>
          <p:cNvSpPr txBox="1"/>
          <p:nvPr/>
        </p:nvSpPr>
        <p:spPr>
          <a:xfrm>
            <a:off x="4901184" y="5257800"/>
            <a:ext cx="2834640" cy="45720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Alerts when a model update gets worse</a:t>
            </a:r>
            <a:endParaRPr lang="en-US" sz="1200" dirty="0"/>
          </a:p>
        </p:txBody>
      </p:sp>
      <p:sp>
        <p:nvSpPr>
          <p:cNvPr id="38" name="Shape 26"/>
          <p:cNvSpPr/>
          <p:nvPr/>
        </p:nvSpPr>
        <p:spPr>
          <a:xfrm>
            <a:off x="8119872" y="2011680"/>
            <a:ext cx="3611880" cy="4206240"/>
          </a:xfrm>
          <a:prstGeom prst="roundRect">
            <a:avLst>
              <a:gd name="adj" fmla="val 354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39" name="Shape 27"/>
          <p:cNvSpPr/>
          <p:nvPr/>
        </p:nvSpPr>
        <p:spPr>
          <a:xfrm>
            <a:off x="8394192" y="2240280"/>
            <a:ext cx="603504" cy="603504"/>
          </a:xfrm>
          <a:prstGeom prst="ellipse">
            <a:avLst/>
          </a:prstGeom>
          <a:solidFill>
            <a:srgbClr val="9B8CFF"/>
          </a:solidFill>
          <a:ln/>
        </p:spPr>
      </p:sp>
      <p:pic>
        <p:nvPicPr>
          <p:cNvPr id="40" name="Image 10" descr="/tmp/claude-0/-home-claude/cf1b82dd-723a-5c0d-b3ee-f6062e85aabe/scratchpad/nd/ic/FaShieldAlt_w.png">    </p:cNvPr>
          <p:cNvPicPr>
            <a:picLocks noChangeAspect="1"/>
          </p:cNvPicPr>
          <p:nvPr/>
        </p:nvPicPr>
        <p:blipFill>
          <a:blip r:embed="rId16"/>
          <a:stretch>
            <a:fillRect/>
          </a:stretch>
        </p:blipFill>
        <p:spPr>
          <a:xfrm>
            <a:off x="8557138" y="2403226"/>
            <a:ext cx="277612" cy="277612"/>
          </a:xfrm>
          <a:prstGeom prst="rect">
            <a:avLst/>
          </a:prstGeom>
        </p:spPr>
      </p:pic>
      <p:sp>
        <p:nvSpPr>
          <p:cNvPr id="41" name="Text 28"/>
          <p:cNvSpPr txBox="1"/>
          <p:nvPr/>
        </p:nvSpPr>
        <p:spPr>
          <a:xfrm>
            <a:off x="8394192" y="3017520"/>
            <a:ext cx="3108960" cy="365760"/>
          </a:xfrm>
          <a:prstGeom prst="rect">
            <a:avLst/>
          </a:prstGeom>
          <a:noFill/>
          <a:ln/>
        </p:spPr>
        <p:txBody>
          <a:bodyPr wrap="square" lIns="0" tIns="0" rIns="0" bIns="0" rtlCol="0" anchor="t"/>
          <a:lstStyle/>
          <a:p>
            <a:pPr indent="0" marL="0">
              <a:buNone/>
            </a:pPr>
            <a:r>
              <a:rPr lang="en-US" sz="1800" b="1" dirty="0">
                <a:solidFill>
                  <a:srgbClr val="F2EFFF"/>
                </a:solidFill>
                <a:latin typeface="Segoe UI" pitchFamily="34" charset="0"/>
                <a:ea typeface="Segoe UI" pitchFamily="34" charset="-122"/>
                <a:cs typeface="Segoe UI" pitchFamily="34" charset="-120"/>
              </a:rPr>
              <a:t>Custom audits</a:t>
            </a:r>
            <a:endParaRPr lang="en-US" sz="1800" dirty="0"/>
          </a:p>
        </p:txBody>
      </p:sp>
      <p:sp>
        <p:nvSpPr>
          <p:cNvPr id="42" name="Text 29"/>
          <p:cNvSpPr txBox="1"/>
          <p:nvPr/>
        </p:nvSpPr>
        <p:spPr>
          <a:xfrm>
            <a:off x="8394192" y="3401568"/>
            <a:ext cx="3108960" cy="457200"/>
          </a:xfrm>
          <a:prstGeom prst="rect">
            <a:avLst/>
          </a:prstGeom>
          <a:noFill/>
          <a:ln/>
        </p:spPr>
        <p:txBody>
          <a:bodyPr wrap="square" lIns="0" tIns="0" rIns="0" bIns="0" rtlCol="0" anchor="t"/>
          <a:lstStyle/>
          <a:p>
            <a:pPr indent="0" marL="0">
              <a:buNone/>
            </a:pPr>
            <a:r>
              <a:rPr lang="en-US" sz="2400" b="1" dirty="0">
                <a:solidFill>
                  <a:srgbClr val="9B8CFF"/>
                </a:solidFill>
                <a:latin typeface="Segoe UI" pitchFamily="34" charset="0"/>
                <a:ea typeface="Segoe UI" pitchFamily="34" charset="-122"/>
                <a:cs typeface="Segoe UI" pitchFamily="34" charset="-120"/>
              </a:rPr>
              <a:t>One-time fee</a:t>
            </a:r>
            <a:endParaRPr lang="en-US" sz="2400" dirty="0"/>
          </a:p>
        </p:txBody>
      </p:sp>
      <p:sp>
        <p:nvSpPr>
          <p:cNvPr id="43" name="Shape 30"/>
          <p:cNvSpPr/>
          <p:nvPr/>
        </p:nvSpPr>
        <p:spPr>
          <a:xfrm>
            <a:off x="8394192" y="3977640"/>
            <a:ext cx="3063240" cy="0"/>
          </a:xfrm>
          <a:prstGeom prst="line">
            <a:avLst/>
          </a:prstGeom>
          <a:noFill/>
          <a:ln w="12700">
            <a:solidFill>
              <a:srgbClr val="2E2759"/>
            </a:solidFill>
            <a:prstDash val="solid"/>
          </a:ln>
        </p:spPr>
      </p:sp>
      <p:pic>
        <p:nvPicPr>
          <p:cNvPr id="44" name="Image 11" descr="/tmp/claude-0/-home-claude/cf1b82dd-723a-5c0d-b3ee-f6062e85aabe/scratchpad/nd/ic/FaCheck_g.png">    </p:cNvPr>
          <p:cNvPicPr>
            <a:picLocks noChangeAspect="1"/>
          </p:cNvPicPr>
          <p:nvPr/>
        </p:nvPicPr>
        <p:blipFill>
          <a:blip r:embed="rId17"/>
          <a:stretch>
            <a:fillRect/>
          </a:stretch>
        </p:blipFill>
        <p:spPr>
          <a:xfrm>
            <a:off x="8394192" y="4224528"/>
            <a:ext cx="182880" cy="182880"/>
          </a:xfrm>
          <a:prstGeom prst="rect">
            <a:avLst/>
          </a:prstGeom>
        </p:spPr>
      </p:pic>
      <p:sp>
        <p:nvSpPr>
          <p:cNvPr id="45" name="Text 31"/>
          <p:cNvSpPr txBox="1"/>
          <p:nvPr/>
        </p:nvSpPr>
        <p:spPr>
          <a:xfrm>
            <a:off x="8686800" y="4160520"/>
            <a:ext cx="2834640" cy="45720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Pre-launch testing of your product</a:t>
            </a:r>
            <a:endParaRPr lang="en-US" sz="1200" dirty="0"/>
          </a:p>
        </p:txBody>
      </p:sp>
      <p:pic>
        <p:nvPicPr>
          <p:cNvPr id="46" name="Image 12" descr="/tmp/claude-0/-home-claude/cf1b82dd-723a-5c0d-b3ee-f6062e85aabe/scratchpad/nd/ic/FaCheck_g.png">    </p:cNvPr>
          <p:cNvPicPr>
            <a:picLocks noChangeAspect="1"/>
          </p:cNvPicPr>
          <p:nvPr/>
        </p:nvPicPr>
        <p:blipFill>
          <a:blip r:embed="rId18"/>
          <a:stretch>
            <a:fillRect/>
          </a:stretch>
        </p:blipFill>
        <p:spPr>
          <a:xfrm>
            <a:off x="8394192" y="4773168"/>
            <a:ext cx="182880" cy="182880"/>
          </a:xfrm>
          <a:prstGeom prst="rect">
            <a:avLst/>
          </a:prstGeom>
        </p:spPr>
      </p:pic>
      <p:sp>
        <p:nvSpPr>
          <p:cNvPr id="47" name="Text 32"/>
          <p:cNvSpPr txBox="1"/>
          <p:nvPr/>
        </p:nvSpPr>
        <p:spPr>
          <a:xfrm>
            <a:off x="8686800" y="4709160"/>
            <a:ext cx="2834640" cy="45720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Your languages and domains</a:t>
            </a:r>
            <a:endParaRPr lang="en-US" sz="1200" dirty="0"/>
          </a:p>
        </p:txBody>
      </p:sp>
      <p:pic>
        <p:nvPicPr>
          <p:cNvPr id="48" name="Image 13" descr="/tmp/claude-0/-home-claude/cf1b82dd-723a-5c0d-b3ee-f6062e85aabe/scratchpad/nd/ic/FaCheck_g.png">    </p:cNvPr>
          <p:cNvPicPr>
            <a:picLocks noChangeAspect="1"/>
          </p:cNvPicPr>
          <p:nvPr/>
        </p:nvPicPr>
        <p:blipFill>
          <a:blip r:embed="rId19"/>
          <a:stretch>
            <a:fillRect/>
          </a:stretch>
        </p:blipFill>
        <p:spPr>
          <a:xfrm>
            <a:off x="8394192" y="5321808"/>
            <a:ext cx="182880" cy="182880"/>
          </a:xfrm>
          <a:prstGeom prst="rect">
            <a:avLst/>
          </a:prstGeom>
        </p:spPr>
      </p:pic>
      <p:sp>
        <p:nvSpPr>
          <p:cNvPr id="49" name="Text 33"/>
          <p:cNvSpPr txBox="1"/>
          <p:nvPr/>
        </p:nvSpPr>
        <p:spPr>
          <a:xfrm>
            <a:off x="8686800" y="5257800"/>
            <a:ext cx="2834640" cy="45720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A “MixCheck Verified” report</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18 / 19</a:t>
            </a:r>
            <a:endParaRPr lang="en-US" sz="900" dirty="0"/>
          </a:p>
        </p:txBody>
      </p:sp>
      <p:sp>
        <p:nvSpPr>
          <p:cNvPr id="11"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11 · ROADMAP</a:t>
            </a:r>
            <a:endParaRPr lang="en-US" sz="1100" dirty="0"/>
          </a:p>
        </p:txBody>
      </p:sp>
      <p:sp>
        <p:nvSpPr>
          <p:cNvPr id="12"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Where MixCheck goes next</a:t>
            </a:r>
            <a:endParaRPr lang="en-US" sz="3000" dirty="0"/>
          </a:p>
        </p:txBody>
      </p:sp>
      <p:sp>
        <p:nvSpPr>
          <p:cNvPr id="13" name="Shape 9"/>
          <p:cNvSpPr/>
          <p:nvPr/>
        </p:nvSpPr>
        <p:spPr>
          <a:xfrm>
            <a:off x="1737360" y="2514600"/>
            <a:ext cx="8686800" cy="0"/>
          </a:xfrm>
          <a:prstGeom prst="line">
            <a:avLst/>
          </a:prstGeom>
          <a:noFill/>
          <a:ln w="25400">
            <a:solidFill>
              <a:srgbClr val="9B8CFF"/>
            </a:solidFill>
            <a:prstDash val="dash"/>
          </a:ln>
        </p:spPr>
      </p:sp>
      <p:sp>
        <p:nvSpPr>
          <p:cNvPr id="14" name="Shape 10"/>
          <p:cNvSpPr/>
          <p:nvPr/>
        </p:nvSpPr>
        <p:spPr>
          <a:xfrm>
            <a:off x="1508760" y="2103120"/>
            <a:ext cx="822960" cy="822960"/>
          </a:xfrm>
          <a:prstGeom prst="ellipse">
            <a:avLst/>
          </a:prstGeom>
          <a:solidFill>
            <a:srgbClr val="FF9F1C"/>
          </a:solidFill>
          <a:ln/>
        </p:spPr>
      </p:sp>
      <p:pic>
        <p:nvPicPr>
          <p:cNvPr id="15" name="Image 2" descr="/tmp/claude-0/-home-claude/cf1b82dd-723a-5c0d-b3ee-f6062e85aabe/scratchpad/nd/ic/FaRocket_d.png">    </p:cNvPr>
          <p:cNvPicPr>
            <a:picLocks noChangeAspect="1"/>
          </p:cNvPicPr>
          <p:nvPr/>
        </p:nvPicPr>
        <p:blipFill>
          <a:blip r:embed="rId8"/>
          <a:stretch>
            <a:fillRect/>
          </a:stretch>
        </p:blipFill>
        <p:spPr>
          <a:xfrm>
            <a:off x="1730959" y="2325319"/>
            <a:ext cx="378562" cy="378562"/>
          </a:xfrm>
          <a:prstGeom prst="rect">
            <a:avLst/>
          </a:prstGeom>
        </p:spPr>
      </p:pic>
      <p:sp>
        <p:nvSpPr>
          <p:cNvPr id="16" name="Shape 11"/>
          <p:cNvSpPr/>
          <p:nvPr/>
        </p:nvSpPr>
        <p:spPr>
          <a:xfrm>
            <a:off x="548640" y="3200400"/>
            <a:ext cx="2651760" cy="2240280"/>
          </a:xfrm>
          <a:prstGeom prst="roundRect">
            <a:avLst>
              <a:gd name="adj" fmla="val 5714"/>
            </a:avLst>
          </a:prstGeom>
          <a:solidFill>
            <a:srgbClr val="211B42"/>
          </a:solidFill>
          <a:ln w="12700">
            <a:solidFill>
              <a:srgbClr val="FF9F1C"/>
            </a:solidFill>
            <a:prstDash val="solid"/>
          </a:ln>
          <a:effectLst>
            <a:outerShdw sx="100000" sy="100000" kx="0" ky="0" algn="bl" rotWithShape="0" blurRad="177800" dist="50800" dir="5400000">
              <a:srgbClr val="000000">
                <a:alpha val="45000"/>
              </a:srgbClr>
            </a:outerShdw>
          </a:effectLst>
        </p:spPr>
      </p:sp>
      <p:sp>
        <p:nvSpPr>
          <p:cNvPr id="17" name="Text 12"/>
          <p:cNvSpPr txBox="1"/>
          <p:nvPr/>
        </p:nvSpPr>
        <p:spPr>
          <a:xfrm>
            <a:off x="795528" y="3383280"/>
            <a:ext cx="2194560" cy="256032"/>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NOW</a:t>
            </a:r>
            <a:endParaRPr lang="en-US" sz="1100" dirty="0"/>
          </a:p>
        </p:txBody>
      </p:sp>
      <p:sp>
        <p:nvSpPr>
          <p:cNvPr id="18" name="Text 13"/>
          <p:cNvSpPr txBox="1"/>
          <p:nvPr/>
        </p:nvSpPr>
        <p:spPr>
          <a:xfrm>
            <a:off x="795528" y="3703320"/>
            <a:ext cx="2240280" cy="365760"/>
          </a:xfrm>
          <a:prstGeom prst="rect">
            <a:avLst/>
          </a:prstGeom>
          <a:noFill/>
          <a:ln/>
        </p:spPr>
        <p:txBody>
          <a:bodyPr wrap="square" lIns="0" tIns="0" rIns="0" bIns="0" rtlCol="0" anchor="t"/>
          <a:lstStyle/>
          <a:p>
            <a:pPr indent="0" marL="0">
              <a:buNone/>
            </a:pPr>
            <a:r>
              <a:rPr lang="en-US" sz="1600" b="1" dirty="0">
                <a:solidFill>
                  <a:srgbClr val="F2EFFF"/>
                </a:solidFill>
                <a:latin typeface="Segoe UI" pitchFamily="34" charset="0"/>
                <a:ea typeface="Segoe UI" pitchFamily="34" charset="-122"/>
                <a:cs typeface="Segoe UI" pitchFamily="34" charset="-120"/>
              </a:rPr>
              <a:t>Built and tested</a:t>
            </a:r>
            <a:endParaRPr lang="en-US" sz="1600" dirty="0"/>
          </a:p>
        </p:txBody>
      </p:sp>
      <p:sp>
        <p:nvSpPr>
          <p:cNvPr id="19" name="Text 14"/>
          <p:cNvSpPr txBox="1"/>
          <p:nvPr/>
        </p:nvSpPr>
        <p:spPr>
          <a:xfrm>
            <a:off x="795528" y="4114800"/>
            <a:ext cx="2240280" cy="123444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5 language mixes, 25 tasks, 3 models, two scores, live dashboard.</a:t>
            </a:r>
            <a:endParaRPr lang="en-US" sz="1200" dirty="0"/>
          </a:p>
        </p:txBody>
      </p:sp>
      <p:sp>
        <p:nvSpPr>
          <p:cNvPr id="20" name="Shape 15"/>
          <p:cNvSpPr/>
          <p:nvPr/>
        </p:nvSpPr>
        <p:spPr>
          <a:xfrm>
            <a:off x="4343400" y="2103120"/>
            <a:ext cx="822960" cy="822960"/>
          </a:xfrm>
          <a:prstGeom prst="ellipse">
            <a:avLst/>
          </a:prstGeom>
          <a:solidFill>
            <a:srgbClr val="211B42"/>
          </a:solidFill>
          <a:ln/>
        </p:spPr>
      </p:sp>
      <p:pic>
        <p:nvPicPr>
          <p:cNvPr id="21" name="Image 3" descr="/tmp/claude-0/-home-claude/cf1b82dd-723a-5c0d-b3ee-f6062e85aabe/scratchpad/nd/ic/FaUsers_w.png">    </p:cNvPr>
          <p:cNvPicPr>
            <a:picLocks noChangeAspect="1"/>
          </p:cNvPicPr>
          <p:nvPr/>
        </p:nvPicPr>
        <p:blipFill>
          <a:blip r:embed="rId9"/>
          <a:stretch>
            <a:fillRect/>
          </a:stretch>
        </p:blipFill>
        <p:spPr>
          <a:xfrm>
            <a:off x="4565599" y="2325319"/>
            <a:ext cx="378562" cy="378562"/>
          </a:xfrm>
          <a:prstGeom prst="rect">
            <a:avLst/>
          </a:prstGeom>
        </p:spPr>
      </p:pic>
      <p:sp>
        <p:nvSpPr>
          <p:cNvPr id="22" name="Shape 16"/>
          <p:cNvSpPr/>
          <p:nvPr/>
        </p:nvSpPr>
        <p:spPr>
          <a:xfrm>
            <a:off x="3383280" y="3200400"/>
            <a:ext cx="2651760" cy="2240280"/>
          </a:xfrm>
          <a:prstGeom prst="roundRect">
            <a:avLst>
              <a:gd name="adj" fmla="val 571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3" name="Text 17"/>
          <p:cNvSpPr txBox="1"/>
          <p:nvPr/>
        </p:nvSpPr>
        <p:spPr>
          <a:xfrm>
            <a:off x="3630168" y="3383280"/>
            <a:ext cx="2194560" cy="256032"/>
          </a:xfrm>
          <a:prstGeom prst="rect">
            <a:avLst/>
          </a:prstGeom>
          <a:noFill/>
          <a:ln/>
        </p:spPr>
        <p:txBody>
          <a:bodyPr wrap="square" lIns="0" tIns="0" rIns="0" bIns="0" rtlCol="0" anchor="t"/>
          <a:lstStyle/>
          <a:p>
            <a:pPr indent="0" marL="0">
              <a:buNone/>
            </a:pPr>
            <a:r>
              <a:rPr lang="en-US" sz="1100" b="1" spc="200" kern="0" dirty="0">
                <a:solidFill>
                  <a:srgbClr val="9B8CFF"/>
                </a:solidFill>
                <a:latin typeface="Consolas" pitchFamily="34" charset="0"/>
                <a:ea typeface="Consolas" pitchFamily="34" charset="-122"/>
                <a:cs typeface="Consolas" pitchFamily="34" charset="-120"/>
              </a:rPr>
              <a:t>NEXT</a:t>
            </a:r>
            <a:endParaRPr lang="en-US" sz="1100" dirty="0"/>
          </a:p>
        </p:txBody>
      </p:sp>
      <p:sp>
        <p:nvSpPr>
          <p:cNvPr id="24" name="Text 18"/>
          <p:cNvSpPr txBox="1"/>
          <p:nvPr/>
        </p:nvSpPr>
        <p:spPr>
          <a:xfrm>
            <a:off x="3630168" y="3703320"/>
            <a:ext cx="2240280" cy="365760"/>
          </a:xfrm>
          <a:prstGeom prst="rect">
            <a:avLst/>
          </a:prstGeom>
          <a:noFill/>
          <a:ln/>
        </p:spPr>
        <p:txBody>
          <a:bodyPr wrap="square" lIns="0" tIns="0" rIns="0" bIns="0" rtlCol="0" anchor="t"/>
          <a:lstStyle/>
          <a:p>
            <a:pPr indent="0" marL="0">
              <a:buNone/>
            </a:pPr>
            <a:r>
              <a:rPr lang="en-US" sz="1600" b="1" dirty="0">
                <a:solidFill>
                  <a:srgbClr val="F2EFFF"/>
                </a:solidFill>
                <a:latin typeface="Segoe UI" pitchFamily="34" charset="0"/>
                <a:ea typeface="Segoe UI" pitchFamily="34" charset="-122"/>
                <a:cs typeface="Segoe UI" pitchFamily="34" charset="-120"/>
              </a:rPr>
              <a:t>Wider and stronger</a:t>
            </a:r>
            <a:endParaRPr lang="en-US" sz="1600" dirty="0"/>
          </a:p>
        </p:txBody>
      </p:sp>
      <p:sp>
        <p:nvSpPr>
          <p:cNvPr id="25" name="Text 19"/>
          <p:cNvSpPr txBox="1"/>
          <p:nvPr/>
        </p:nvSpPr>
        <p:spPr>
          <a:xfrm>
            <a:off x="3630168" y="4114800"/>
            <a:ext cx="2240280" cy="123444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Native-speaker review of every prompt. Marathi, Telugu and Malayalam mixes. Several runs per prompt.</a:t>
            </a:r>
            <a:endParaRPr lang="en-US" sz="1200" dirty="0"/>
          </a:p>
        </p:txBody>
      </p:sp>
      <p:sp>
        <p:nvSpPr>
          <p:cNvPr id="26" name="Shape 20"/>
          <p:cNvSpPr/>
          <p:nvPr/>
        </p:nvSpPr>
        <p:spPr>
          <a:xfrm>
            <a:off x="7178040" y="2103120"/>
            <a:ext cx="822960" cy="822960"/>
          </a:xfrm>
          <a:prstGeom prst="ellipse">
            <a:avLst/>
          </a:prstGeom>
          <a:solidFill>
            <a:srgbClr val="211B42"/>
          </a:solidFill>
          <a:ln/>
        </p:spPr>
      </p:sp>
      <p:pic>
        <p:nvPicPr>
          <p:cNvPr id="27" name="Image 4" descr="/tmp/claude-0/-home-claude/cf1b82dd-723a-5c0d-b3ee-f6062e85aabe/scratchpad/nd/ic/FaMicrophone_w.png">    </p:cNvPr>
          <p:cNvPicPr>
            <a:picLocks noChangeAspect="1"/>
          </p:cNvPicPr>
          <p:nvPr/>
        </p:nvPicPr>
        <p:blipFill>
          <a:blip r:embed="rId10"/>
          <a:stretch>
            <a:fillRect/>
          </a:stretch>
        </p:blipFill>
        <p:spPr>
          <a:xfrm>
            <a:off x="7400239" y="2325319"/>
            <a:ext cx="378562" cy="378562"/>
          </a:xfrm>
          <a:prstGeom prst="rect">
            <a:avLst/>
          </a:prstGeom>
        </p:spPr>
      </p:pic>
      <p:sp>
        <p:nvSpPr>
          <p:cNvPr id="28" name="Shape 21"/>
          <p:cNvSpPr/>
          <p:nvPr/>
        </p:nvSpPr>
        <p:spPr>
          <a:xfrm>
            <a:off x="6217920" y="3200400"/>
            <a:ext cx="2651760" cy="2240280"/>
          </a:xfrm>
          <a:prstGeom prst="roundRect">
            <a:avLst>
              <a:gd name="adj" fmla="val 571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9" name="Text 22"/>
          <p:cNvSpPr txBox="1"/>
          <p:nvPr/>
        </p:nvSpPr>
        <p:spPr>
          <a:xfrm>
            <a:off x="6464808" y="3383280"/>
            <a:ext cx="2194560" cy="256032"/>
          </a:xfrm>
          <a:prstGeom prst="rect">
            <a:avLst/>
          </a:prstGeom>
          <a:noFill/>
          <a:ln/>
        </p:spPr>
        <p:txBody>
          <a:bodyPr wrap="square" lIns="0" tIns="0" rIns="0" bIns="0" rtlCol="0" anchor="t"/>
          <a:lstStyle/>
          <a:p>
            <a:pPr indent="0" marL="0">
              <a:buNone/>
            </a:pPr>
            <a:r>
              <a:rPr lang="en-US" sz="1100" b="1" spc="200" kern="0" dirty="0">
                <a:solidFill>
                  <a:srgbClr val="9B8CFF"/>
                </a:solidFill>
                <a:latin typeface="Consolas" pitchFamily="34" charset="0"/>
                <a:ea typeface="Consolas" pitchFamily="34" charset="-122"/>
                <a:cs typeface="Consolas" pitchFamily="34" charset="-120"/>
              </a:rPr>
              <a:t>THEN</a:t>
            </a:r>
            <a:endParaRPr lang="en-US" sz="1100" dirty="0"/>
          </a:p>
        </p:txBody>
      </p:sp>
      <p:sp>
        <p:nvSpPr>
          <p:cNvPr id="30" name="Text 23"/>
          <p:cNvSpPr txBox="1"/>
          <p:nvPr/>
        </p:nvSpPr>
        <p:spPr>
          <a:xfrm>
            <a:off x="6464808" y="3703320"/>
            <a:ext cx="2240280" cy="365760"/>
          </a:xfrm>
          <a:prstGeom prst="rect">
            <a:avLst/>
          </a:prstGeom>
          <a:noFill/>
          <a:ln/>
        </p:spPr>
        <p:txBody>
          <a:bodyPr wrap="square" lIns="0" tIns="0" rIns="0" bIns="0" rtlCol="0" anchor="t"/>
          <a:lstStyle/>
          <a:p>
            <a:pPr indent="0" marL="0">
              <a:buNone/>
            </a:pPr>
            <a:r>
              <a:rPr lang="en-US" sz="1600" b="1" dirty="0">
                <a:solidFill>
                  <a:srgbClr val="F2EFFF"/>
                </a:solidFill>
                <a:latin typeface="Segoe UI" pitchFamily="34" charset="0"/>
                <a:ea typeface="Segoe UI" pitchFamily="34" charset="-122"/>
                <a:cs typeface="Segoe UI" pitchFamily="34" charset="-120"/>
              </a:rPr>
              <a:t>Voice prompts</a:t>
            </a:r>
            <a:endParaRPr lang="en-US" sz="1600" dirty="0"/>
          </a:p>
        </p:txBody>
      </p:sp>
      <p:sp>
        <p:nvSpPr>
          <p:cNvPr id="31" name="Text 24"/>
          <p:cNvSpPr txBox="1"/>
          <p:nvPr/>
        </p:nvSpPr>
        <p:spPr>
          <a:xfrm>
            <a:off x="6464808" y="4114800"/>
            <a:ext cx="2240280" cy="123444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Test speech-to-code when people talk in mixed languages.</a:t>
            </a:r>
            <a:endParaRPr lang="en-US" sz="1200" dirty="0"/>
          </a:p>
        </p:txBody>
      </p:sp>
      <p:sp>
        <p:nvSpPr>
          <p:cNvPr id="32" name="Shape 25"/>
          <p:cNvSpPr/>
          <p:nvPr/>
        </p:nvSpPr>
        <p:spPr>
          <a:xfrm>
            <a:off x="10012680" y="2103120"/>
            <a:ext cx="822960" cy="822960"/>
          </a:xfrm>
          <a:prstGeom prst="ellipse">
            <a:avLst/>
          </a:prstGeom>
          <a:solidFill>
            <a:srgbClr val="211B42"/>
          </a:solidFill>
          <a:ln/>
        </p:spPr>
      </p:sp>
      <p:pic>
        <p:nvPicPr>
          <p:cNvPr id="33" name="Image 5" descr="/tmp/claude-0/-home-claude/cf1b82dd-723a-5c0d-b3ee-f6062e85aabe/scratchpad/nd/ic/FaTrophy_w.png">    </p:cNvPr>
          <p:cNvPicPr>
            <a:picLocks noChangeAspect="1"/>
          </p:cNvPicPr>
          <p:nvPr/>
        </p:nvPicPr>
        <p:blipFill>
          <a:blip r:embed="rId11"/>
          <a:stretch>
            <a:fillRect/>
          </a:stretch>
        </p:blipFill>
        <p:spPr>
          <a:xfrm>
            <a:off x="10234879" y="2325319"/>
            <a:ext cx="378562" cy="378562"/>
          </a:xfrm>
          <a:prstGeom prst="rect">
            <a:avLst/>
          </a:prstGeom>
        </p:spPr>
      </p:pic>
      <p:sp>
        <p:nvSpPr>
          <p:cNvPr id="34" name="Shape 26"/>
          <p:cNvSpPr/>
          <p:nvPr/>
        </p:nvSpPr>
        <p:spPr>
          <a:xfrm>
            <a:off x="9052560" y="3200400"/>
            <a:ext cx="2651760" cy="2240280"/>
          </a:xfrm>
          <a:prstGeom prst="roundRect">
            <a:avLst>
              <a:gd name="adj" fmla="val 5714"/>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35" name="Text 27"/>
          <p:cNvSpPr txBox="1"/>
          <p:nvPr/>
        </p:nvSpPr>
        <p:spPr>
          <a:xfrm>
            <a:off x="9299448" y="3383280"/>
            <a:ext cx="2194560" cy="256032"/>
          </a:xfrm>
          <a:prstGeom prst="rect">
            <a:avLst/>
          </a:prstGeom>
          <a:noFill/>
          <a:ln/>
        </p:spPr>
        <p:txBody>
          <a:bodyPr wrap="square" lIns="0" tIns="0" rIns="0" bIns="0" rtlCol="0" anchor="t"/>
          <a:lstStyle/>
          <a:p>
            <a:pPr indent="0" marL="0">
              <a:buNone/>
            </a:pPr>
            <a:r>
              <a:rPr lang="en-US" sz="1100" b="1" spc="200" kern="0" dirty="0">
                <a:solidFill>
                  <a:srgbClr val="9B8CFF"/>
                </a:solidFill>
                <a:latin typeface="Consolas" pitchFamily="34" charset="0"/>
                <a:ea typeface="Consolas" pitchFamily="34" charset="-122"/>
                <a:cs typeface="Consolas" pitchFamily="34" charset="-120"/>
              </a:rPr>
              <a:t>VISION</a:t>
            </a:r>
            <a:endParaRPr lang="en-US" sz="1100" dirty="0"/>
          </a:p>
        </p:txBody>
      </p:sp>
      <p:sp>
        <p:nvSpPr>
          <p:cNvPr id="36" name="Text 28"/>
          <p:cNvSpPr txBox="1"/>
          <p:nvPr/>
        </p:nvSpPr>
        <p:spPr>
          <a:xfrm>
            <a:off x="9299448" y="3703320"/>
            <a:ext cx="2240280" cy="365760"/>
          </a:xfrm>
          <a:prstGeom prst="rect">
            <a:avLst/>
          </a:prstGeom>
          <a:noFill/>
          <a:ln/>
        </p:spPr>
        <p:txBody>
          <a:bodyPr wrap="square" lIns="0" tIns="0" rIns="0" bIns="0" rtlCol="0" anchor="t"/>
          <a:lstStyle/>
          <a:p>
            <a:pPr indent="0" marL="0">
              <a:buNone/>
            </a:pPr>
            <a:r>
              <a:rPr lang="en-US" sz="1600" b="1" dirty="0">
                <a:solidFill>
                  <a:srgbClr val="F2EFFF"/>
                </a:solidFill>
                <a:latin typeface="Segoe UI" pitchFamily="34" charset="0"/>
                <a:ea typeface="Segoe UI" pitchFamily="34" charset="-122"/>
                <a:cs typeface="Segoe UI" pitchFamily="34" charset="-120"/>
              </a:rPr>
              <a:t>Public leaderboard</a:t>
            </a:r>
            <a:endParaRPr lang="en-US" sz="1600" dirty="0"/>
          </a:p>
        </p:txBody>
      </p:sp>
      <p:sp>
        <p:nvSpPr>
          <p:cNvPr id="37" name="Text 29"/>
          <p:cNvSpPr txBox="1"/>
          <p:nvPr/>
        </p:nvSpPr>
        <p:spPr>
          <a:xfrm>
            <a:off x="9299448" y="4114800"/>
            <a:ext cx="2240280" cy="1234440"/>
          </a:xfrm>
          <a:prstGeom prst="rect">
            <a:avLst/>
          </a:prstGeom>
          <a:noFill/>
          <a:ln/>
        </p:spPr>
        <p:txBody>
          <a:bodyPr wrap="square" lIns="0" tIns="0" rIns="0" bIns="0" rtlCol="0" anchor="t"/>
          <a:lstStyle/>
          <a:p>
            <a:pPr indent="0" marL="0">
              <a:buNone/>
            </a:pPr>
            <a:r>
              <a:rPr lang="en-US" sz="1200" dirty="0">
                <a:solidFill>
                  <a:srgbClr val="A9A3CF"/>
                </a:solidFill>
                <a:latin typeface="Segoe UI" pitchFamily="34" charset="0"/>
                <a:ea typeface="Segoe UI" pitchFamily="34" charset="-122"/>
                <a:cs typeface="Segoe UI" pitchFamily="34" charset="-120"/>
              </a:rPr>
              <a:t>Re-run MixCheck on every model update and publish the results.</a:t>
            </a:r>
            <a:endParaRPr lang="en-US" sz="1200" dirty="0"/>
          </a:p>
        </p:txBody>
      </p:sp>
      <p:sp>
        <p:nvSpPr>
          <p:cNvPr id="38" name="Shape 30"/>
          <p:cNvSpPr/>
          <p:nvPr/>
        </p:nvSpPr>
        <p:spPr>
          <a:xfrm>
            <a:off x="548640" y="5623560"/>
            <a:ext cx="11183112" cy="621792"/>
          </a:xfrm>
          <a:prstGeom prst="roundRect">
            <a:avLst>
              <a:gd name="adj" fmla="val 20588"/>
            </a:avLst>
          </a:prstGeom>
          <a:solidFill>
            <a:srgbClr val="211B42"/>
          </a:solidFill>
          <a:ln w="12700">
            <a:solidFill>
              <a:srgbClr val="FF9F1C"/>
            </a:solidFill>
            <a:prstDash val="solid"/>
          </a:ln>
        </p:spPr>
      </p:sp>
      <p:sp>
        <p:nvSpPr>
          <p:cNvPr id="39" name="Text 31"/>
          <p:cNvSpPr txBox="1"/>
          <p:nvPr/>
        </p:nvSpPr>
        <p:spPr>
          <a:xfrm>
            <a:off x="777240" y="5623560"/>
            <a:ext cx="10789920" cy="621792"/>
          </a:xfrm>
          <a:prstGeom prst="rect">
            <a:avLst/>
          </a:prstGeom>
          <a:noFill/>
          <a:ln/>
        </p:spPr>
        <p:txBody>
          <a:bodyPr wrap="square" lIns="0" tIns="0" rIns="0" bIns="0" rtlCol="0" anchor="ctr"/>
          <a:lstStyle/>
          <a:p>
            <a:pPr algn="ctr" indent="0" marL="0">
              <a:buNone/>
            </a:pPr>
            <a:r>
              <a:rPr lang="en-US" sz="1500" b="1" dirty="0">
                <a:solidFill>
                  <a:srgbClr val="FF9F1C"/>
                </a:solidFill>
                <a:latin typeface="Segoe UI" pitchFamily="34" charset="0"/>
                <a:ea typeface="Segoe UI" pitchFamily="34" charset="-122"/>
                <a:cs typeface="Segoe UI" pitchFamily="34" charset="-120"/>
              </a:rPr>
              <a:t>Goal: </a:t>
            </a:r>
            <a:pPr algn="ctr" indent="0" marL="0">
              <a:buNone/>
            </a:pPr>
            <a:r>
              <a:rPr lang="en-US" sz="1500" b="1" dirty="0">
                <a:solidFill>
                  <a:srgbClr val="F2EFFF"/>
                </a:solidFill>
                <a:latin typeface="Segoe UI" pitchFamily="34" charset="0"/>
                <a:ea typeface="Segoe UI" pitchFamily="34" charset="-122"/>
                <a:cs typeface="Segoe UI" pitchFamily="34" charset="-120"/>
              </a:rPr>
              <a:t>AI coding tools that work as well in Kanglish as they do in English.</a:t>
            </a:r>
            <a:endParaRPr lang="en-US" sz="15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title.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foot"/>
          <p:cNvSpPr txBox="1"/>
          <p:nvPr/>
        </p:nvSpPr>
        <p:spPr>
          <a:xfrm>
            <a:off x="457200" y="6492240"/>
            <a:ext cx="5486400" cy="201168"/>
          </a:xfrm>
          <a:prstGeom prst="rect">
            <a:avLst/>
          </a:prstGeom>
          <a:noFill/>
          <a:ln/>
        </p:spPr>
        <p:txBody>
          <a:bodyPr wrap="square" lIns="0" tIns="0" rIns="0" bIns="0" rtlCol="0" anchor="t"/>
          <a:lstStyle/>
          <a:p>
            <a:pPr indent="0" marL="0">
              <a:buNone/>
            </a:pPr>
            <a:r>
              <a:rPr lang="en-US" sz="900" dirty="0">
                <a:solidFill>
                  <a:srgbClr val="6F6A99"/>
                </a:solidFill>
                <a:latin typeface="Segoe UI" pitchFamily="34" charset="0"/>
                <a:ea typeface="Segoe UI" pitchFamily="34" charset="-122"/>
                <a:cs typeface="Segoe UI" pitchFamily="34" charset="-120"/>
              </a:rPr>
              <a:t>MixCheck  ·  Team El Rata Alada  ·  AVISHKAR 2026</a:t>
            </a:r>
            <a:endParaRPr lang="en-US" sz="900" dirty="0"/>
          </a:p>
        </p:txBody>
      </p:sp>
      <p:sp>
        <p:nvSpPr>
          <p:cNvPr id="10" name="!!pg"/>
          <p:cNvSpPr txBox="1"/>
          <p:nvPr/>
        </p:nvSpPr>
        <p:spPr>
          <a:xfrm>
            <a:off x="10789920" y="6492240"/>
            <a:ext cx="941832" cy="201168"/>
          </a:xfrm>
          <a:prstGeom prst="rect">
            <a:avLst/>
          </a:prstGeom>
          <a:noFill/>
          <a:ln/>
        </p:spPr>
        <p:txBody>
          <a:bodyPr wrap="square" lIns="0" tIns="0" rIns="0" bIns="0" rtlCol="0" anchor="t"/>
          <a:lstStyle/>
          <a:p>
            <a:pPr algn="r" indent="0" marL="0">
              <a:buNone/>
            </a:pPr>
            <a:r>
              <a:rPr lang="en-US" sz="900" dirty="0">
                <a:solidFill>
                  <a:srgbClr val="6F6A99"/>
                </a:solidFill>
                <a:latin typeface="Consolas" pitchFamily="34" charset="0"/>
                <a:ea typeface="Consolas" pitchFamily="34" charset="-122"/>
                <a:cs typeface="Consolas" pitchFamily="34" charset="-120"/>
              </a:rPr>
              <a:t>19 / 19</a:t>
            </a:r>
            <a:endParaRPr lang="en-US" sz="900" dirty="0"/>
          </a:p>
        </p:txBody>
      </p:sp>
      <p:pic>
        <p:nvPicPr>
          <p:cNvPr id="11" name="!!wordmark" descr="/tmp/claude-0/-home-claude/cf1b82dd-723a-5c0d-b3ee-f6062e85aabe/scratchpad/nd/wm.png">    </p:cNvPr>
          <p:cNvPicPr>
            <a:picLocks noChangeAspect="1"/>
          </p:cNvPicPr>
          <p:nvPr/>
        </p:nvPicPr>
        <p:blipFill>
          <a:blip r:embed="rId8"/>
          <a:stretch>
            <a:fillRect/>
          </a:stretch>
        </p:blipFill>
        <p:spPr>
          <a:xfrm>
            <a:off x="457200" y="1051560"/>
            <a:ext cx="3474720" cy="1029867"/>
          </a:xfrm>
          <a:prstGeom prst="rect">
            <a:avLst/>
          </a:prstGeom>
        </p:spPr>
      </p:pic>
      <p:sp>
        <p:nvSpPr>
          <p:cNvPr id="12" name="Text 7"/>
          <p:cNvSpPr txBox="1"/>
          <p:nvPr/>
        </p:nvSpPr>
        <p:spPr>
          <a:xfrm>
            <a:off x="548640" y="2240280"/>
            <a:ext cx="6400800" cy="914400"/>
          </a:xfrm>
          <a:prstGeom prst="rect">
            <a:avLst/>
          </a:prstGeom>
          <a:noFill/>
          <a:ln/>
        </p:spPr>
        <p:txBody>
          <a:bodyPr wrap="square" lIns="0" tIns="0" rIns="0" bIns="0" rtlCol="0" anchor="t"/>
          <a:lstStyle/>
          <a:p>
            <a:pPr indent="0" marL="0">
              <a:buNone/>
            </a:pPr>
            <a:r>
              <a:rPr lang="en-US" sz="5400" b="1" dirty="0">
                <a:solidFill>
                  <a:srgbClr val="F2EFFF"/>
                </a:solidFill>
                <a:latin typeface="Segoe UI" pitchFamily="34" charset="0"/>
                <a:ea typeface="Segoe UI" pitchFamily="34" charset="-122"/>
                <a:cs typeface="Segoe UI" pitchFamily="34" charset="-120"/>
              </a:rPr>
              <a:t>Thank you.</a:t>
            </a:r>
            <a:endParaRPr lang="en-US" sz="5400" dirty="0"/>
          </a:p>
        </p:txBody>
      </p:sp>
      <p:sp>
        <p:nvSpPr>
          <p:cNvPr id="13" name="Text 8"/>
          <p:cNvSpPr txBox="1"/>
          <p:nvPr/>
        </p:nvSpPr>
        <p:spPr>
          <a:xfrm>
            <a:off x="548640" y="3108960"/>
            <a:ext cx="6400800" cy="640080"/>
          </a:xfrm>
          <a:prstGeom prst="rect">
            <a:avLst/>
          </a:prstGeom>
          <a:noFill/>
          <a:ln/>
        </p:spPr>
        <p:txBody>
          <a:bodyPr wrap="square" lIns="0" tIns="0" rIns="0" bIns="0" rtlCol="0" anchor="t"/>
          <a:lstStyle/>
          <a:p>
            <a:pPr indent="0" marL="0">
              <a:buNone/>
            </a:pPr>
            <a:r>
              <a:rPr lang="en-US" sz="3200" b="1" dirty="0">
                <a:solidFill>
                  <a:srgbClr val="FF9F1C"/>
                </a:solidFill>
                <a:latin typeface="Segoe UI" pitchFamily="34" charset="0"/>
                <a:ea typeface="Segoe UI" pitchFamily="34" charset="-122"/>
                <a:cs typeface="Segoe UI" pitchFamily="34" charset="-120"/>
              </a:rPr>
              <a:t>Questions?</a:t>
            </a:r>
            <a:endParaRPr lang="en-US" sz="3200" dirty="0"/>
          </a:p>
        </p:txBody>
      </p:sp>
      <p:sp>
        <p:nvSpPr>
          <p:cNvPr id="14" name="btn-limits">
            <a:hlinkClick r:id="rId9" action="ppaction://hlinksldjump"/>
          </p:cNvPr>
          <p:cNvSpPr/>
          <p:nvPr/>
        </p:nvSpPr>
        <p:spPr>
          <a:xfrm>
            <a:off x="8366760" y="3154680"/>
            <a:ext cx="3364992" cy="548640"/>
          </a:xfrm>
          <a:prstGeom prst="roundRect">
            <a:avLst>
              <a:gd name="adj" fmla="val 50000"/>
            </a:avLst>
          </a:prstGeom>
          <a:solidFill>
            <a:srgbClr val="211B42"/>
          </a:solidFill>
          <a:ln w="15875">
            <a:solidFill>
              <a:srgbClr val="2E2759"/>
            </a:solidFill>
          </a:ln>
        </p:spPr>
        <p:txBody>
          <a:bodyPr wrap="square" lIns="0" tIns="0" rIns="0" bIns="0" rtlCol="0" anchor="ctr"/>
          <a:lstStyle/>
          <a:p>
            <a:pPr algn="ctr" indent="0" marL="0">
              <a:buNone/>
            </a:pPr>
            <a:r>
              <a:rPr lang="en-US" sz="1200" b="1" dirty="0">
                <a:solidFill>
                  <a:srgbClr val="A9A3CF"/>
                </a:solidFill>
                <a:latin typeface="Segoe UI" pitchFamily="34" charset="0"/>
                <a:ea typeface="Segoe UI" pitchFamily="34" charset="-122"/>
                <a:cs typeface="Segoe UI" pitchFamily="34" charset="-120"/>
              </a:rPr>
              <a:t>Limits we know about  →</a:t>
            </a:r>
            <a:endParaRPr lang="en-US" sz="1200" dirty="0"/>
          </a:p>
        </p:txBody>
      </p:sp>
      <p:sp>
        <p:nvSpPr>
          <p:cNvPr id="15" name="Shape 10"/>
          <p:cNvSpPr/>
          <p:nvPr/>
        </p:nvSpPr>
        <p:spPr>
          <a:xfrm>
            <a:off x="548640" y="4114800"/>
            <a:ext cx="2651760" cy="1783080"/>
          </a:xfrm>
          <a:prstGeom prst="roundRect">
            <a:avLst>
              <a:gd name="adj" fmla="val 7179"/>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6" name="Shape 11"/>
          <p:cNvSpPr/>
          <p:nvPr/>
        </p:nvSpPr>
        <p:spPr>
          <a:xfrm>
            <a:off x="795528" y="4343400"/>
            <a:ext cx="566928" cy="566928"/>
          </a:xfrm>
          <a:prstGeom prst="ellipse">
            <a:avLst/>
          </a:prstGeom>
          <a:solidFill>
            <a:srgbClr val="9B8CFF"/>
          </a:solidFill>
          <a:ln/>
        </p:spPr>
      </p:sp>
      <p:sp>
        <p:nvSpPr>
          <p:cNvPr id="17" name="Text 12"/>
          <p:cNvSpPr txBox="1"/>
          <p:nvPr/>
        </p:nvSpPr>
        <p:spPr>
          <a:xfrm>
            <a:off x="795528" y="4343400"/>
            <a:ext cx="566928" cy="566928"/>
          </a:xfrm>
          <a:prstGeom prst="rect">
            <a:avLst/>
          </a:prstGeom>
          <a:noFill/>
          <a:ln/>
        </p:spPr>
        <p:txBody>
          <a:bodyPr wrap="square" lIns="0" tIns="0" rIns="0" bIns="0" rtlCol="0" anchor="ctr"/>
          <a:lstStyle/>
          <a:p>
            <a:pPr algn="ctr" indent="0" marL="0">
              <a:buNone/>
            </a:pPr>
            <a:r>
              <a:rPr lang="en-US" sz="2000" b="1" dirty="0">
                <a:solidFill>
                  <a:srgbClr val="0E0B1F"/>
                </a:solidFill>
                <a:latin typeface="Segoe UI" pitchFamily="34" charset="0"/>
                <a:ea typeface="Segoe UI" pitchFamily="34" charset="-122"/>
                <a:cs typeface="Segoe UI" pitchFamily="34" charset="-120"/>
              </a:rPr>
              <a:t>T</a:t>
            </a:r>
            <a:endParaRPr lang="en-US" sz="2000" dirty="0"/>
          </a:p>
        </p:txBody>
      </p:sp>
      <p:sp>
        <p:nvSpPr>
          <p:cNvPr id="18" name="Text 13"/>
          <p:cNvSpPr txBox="1"/>
          <p:nvPr/>
        </p:nvSpPr>
        <p:spPr>
          <a:xfrm>
            <a:off x="1508760" y="4352544"/>
            <a:ext cx="1645920" cy="292608"/>
          </a:xfrm>
          <a:prstGeom prst="rect">
            <a:avLst/>
          </a:prstGeom>
          <a:noFill/>
          <a:ln/>
        </p:spPr>
        <p:txBody>
          <a:bodyPr wrap="square" lIns="0" tIns="0" rIns="0" bIns="0" rtlCol="0" anchor="t"/>
          <a:lstStyle/>
          <a:p>
            <a:pPr indent="0" marL="0">
              <a:buNone/>
            </a:pPr>
            <a:r>
              <a:rPr lang="en-US" sz="1600" b="1" dirty="0">
                <a:solidFill>
                  <a:srgbClr val="F2EFFF"/>
                </a:solidFill>
                <a:latin typeface="Segoe UI" pitchFamily="34" charset="0"/>
                <a:ea typeface="Segoe UI" pitchFamily="34" charset="-122"/>
                <a:cs typeface="Segoe UI" pitchFamily="34" charset="-120"/>
              </a:rPr>
              <a:t>Tanmay</a:t>
            </a:r>
            <a:endParaRPr lang="en-US" sz="1600" dirty="0"/>
          </a:p>
        </p:txBody>
      </p:sp>
      <p:sp>
        <p:nvSpPr>
          <p:cNvPr id="19" name="Text 14"/>
          <p:cNvSpPr txBox="1"/>
          <p:nvPr/>
        </p:nvSpPr>
        <p:spPr>
          <a:xfrm>
            <a:off x="1508760" y="4645152"/>
            <a:ext cx="1664208" cy="274320"/>
          </a:xfrm>
          <a:prstGeom prst="rect">
            <a:avLst/>
          </a:prstGeom>
          <a:noFill/>
          <a:ln/>
        </p:spPr>
        <p:txBody>
          <a:bodyPr wrap="square" lIns="0" tIns="0" rIns="0" bIns="0" rtlCol="0" anchor="t"/>
          <a:lstStyle/>
          <a:p>
            <a:pPr indent="0" marL="0">
              <a:buNone/>
            </a:pPr>
            <a:r>
              <a:rPr lang="en-US" sz="900" b="1" dirty="0">
                <a:solidFill>
                  <a:srgbClr val="9B8CFF"/>
                </a:solidFill>
                <a:latin typeface="Segoe UI" pitchFamily="34" charset="0"/>
                <a:ea typeface="Segoe UI" pitchFamily="34" charset="-122"/>
                <a:cs typeface="Segoe UI" pitchFamily="34" charset="-120"/>
              </a:rPr>
              <a:t>Team lead &amp; developer</a:t>
            </a:r>
            <a:endParaRPr lang="en-US" sz="900" dirty="0"/>
          </a:p>
        </p:txBody>
      </p:sp>
      <p:sp>
        <p:nvSpPr>
          <p:cNvPr id="20" name="Text 15"/>
          <p:cNvSpPr txBox="1"/>
          <p:nvPr/>
        </p:nvSpPr>
        <p:spPr>
          <a:xfrm>
            <a:off x="795528" y="5074920"/>
            <a:ext cx="2240280" cy="1005840"/>
          </a:xfrm>
          <a:prstGeom prst="rect">
            <a:avLst/>
          </a:prstGeom>
          <a:noFill/>
          <a:ln/>
        </p:spPr>
        <p:txBody>
          <a:bodyPr wrap="square" lIns="0" tIns="0" rIns="0" bIns="0" rtlCol="0" anchor="t"/>
          <a:lstStyle/>
          <a:p>
            <a:pPr indent="0" marL="0">
              <a:buNone/>
            </a:pPr>
            <a:r>
              <a:rPr lang="en-US" sz="1100" dirty="0">
                <a:solidFill>
                  <a:srgbClr val="A9A3CF"/>
                </a:solidFill>
                <a:latin typeface="Segoe UI" pitchFamily="34" charset="0"/>
                <a:ea typeface="Segoe UI" pitchFamily="34" charset="-122"/>
                <a:cs typeface="Segoe UI" pitchFamily="34" charset="-120"/>
              </a:rPr>
              <a:t>Built the app with Claude. Runs the live demo. Tanglish prompts.</a:t>
            </a:r>
            <a:endParaRPr lang="en-US" sz="1100" dirty="0"/>
          </a:p>
        </p:txBody>
      </p:sp>
      <p:sp>
        <p:nvSpPr>
          <p:cNvPr id="21" name="Shape 16"/>
          <p:cNvSpPr/>
          <p:nvPr/>
        </p:nvSpPr>
        <p:spPr>
          <a:xfrm>
            <a:off x="3383280" y="4114800"/>
            <a:ext cx="2651760" cy="1783080"/>
          </a:xfrm>
          <a:prstGeom prst="roundRect">
            <a:avLst>
              <a:gd name="adj" fmla="val 7179"/>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2" name="Shape 17"/>
          <p:cNvSpPr/>
          <p:nvPr/>
        </p:nvSpPr>
        <p:spPr>
          <a:xfrm>
            <a:off x="3630168" y="4343400"/>
            <a:ext cx="566928" cy="566928"/>
          </a:xfrm>
          <a:prstGeom prst="ellipse">
            <a:avLst/>
          </a:prstGeom>
          <a:solidFill>
            <a:srgbClr val="4CC9F0"/>
          </a:solidFill>
          <a:ln/>
        </p:spPr>
      </p:sp>
      <p:sp>
        <p:nvSpPr>
          <p:cNvPr id="23" name="Text 18"/>
          <p:cNvSpPr txBox="1"/>
          <p:nvPr/>
        </p:nvSpPr>
        <p:spPr>
          <a:xfrm>
            <a:off x="3630168" y="4343400"/>
            <a:ext cx="566928" cy="566928"/>
          </a:xfrm>
          <a:prstGeom prst="rect">
            <a:avLst/>
          </a:prstGeom>
          <a:noFill/>
          <a:ln/>
        </p:spPr>
        <p:txBody>
          <a:bodyPr wrap="square" lIns="0" tIns="0" rIns="0" bIns="0" rtlCol="0" anchor="ctr"/>
          <a:lstStyle/>
          <a:p>
            <a:pPr algn="ctr" indent="0" marL="0">
              <a:buNone/>
            </a:pPr>
            <a:r>
              <a:rPr lang="en-US" sz="2000" b="1" dirty="0">
                <a:solidFill>
                  <a:srgbClr val="0E0B1F"/>
                </a:solidFill>
                <a:latin typeface="Segoe UI" pitchFamily="34" charset="0"/>
                <a:ea typeface="Segoe UI" pitchFamily="34" charset="-122"/>
                <a:cs typeface="Segoe UI" pitchFamily="34" charset="-120"/>
              </a:rPr>
              <a:t>R</a:t>
            </a:r>
            <a:endParaRPr lang="en-US" sz="2000" dirty="0"/>
          </a:p>
        </p:txBody>
      </p:sp>
      <p:sp>
        <p:nvSpPr>
          <p:cNvPr id="24" name="Text 19"/>
          <p:cNvSpPr txBox="1"/>
          <p:nvPr/>
        </p:nvSpPr>
        <p:spPr>
          <a:xfrm>
            <a:off x="4343400" y="4352544"/>
            <a:ext cx="1645920" cy="292608"/>
          </a:xfrm>
          <a:prstGeom prst="rect">
            <a:avLst/>
          </a:prstGeom>
          <a:noFill/>
          <a:ln/>
        </p:spPr>
        <p:txBody>
          <a:bodyPr wrap="square" lIns="0" tIns="0" rIns="0" bIns="0" rtlCol="0" anchor="t"/>
          <a:lstStyle/>
          <a:p>
            <a:pPr indent="0" marL="0">
              <a:buNone/>
            </a:pPr>
            <a:r>
              <a:rPr lang="en-US" sz="1600" b="1" dirty="0">
                <a:solidFill>
                  <a:srgbClr val="F2EFFF"/>
                </a:solidFill>
                <a:latin typeface="Segoe UI" pitchFamily="34" charset="0"/>
                <a:ea typeface="Segoe UI" pitchFamily="34" charset="-122"/>
                <a:cs typeface="Segoe UI" pitchFamily="34" charset="-120"/>
              </a:rPr>
              <a:t>Ritobroto</a:t>
            </a:r>
            <a:endParaRPr lang="en-US" sz="1600" dirty="0"/>
          </a:p>
        </p:txBody>
      </p:sp>
      <p:sp>
        <p:nvSpPr>
          <p:cNvPr id="25" name="Text 20"/>
          <p:cNvSpPr txBox="1"/>
          <p:nvPr/>
        </p:nvSpPr>
        <p:spPr>
          <a:xfrm>
            <a:off x="4343400" y="4645152"/>
            <a:ext cx="1664208" cy="274320"/>
          </a:xfrm>
          <a:prstGeom prst="rect">
            <a:avLst/>
          </a:prstGeom>
          <a:noFill/>
          <a:ln/>
        </p:spPr>
        <p:txBody>
          <a:bodyPr wrap="square" lIns="0" tIns="0" rIns="0" bIns="0" rtlCol="0" anchor="t"/>
          <a:lstStyle/>
          <a:p>
            <a:pPr indent="0" marL="0">
              <a:buNone/>
            </a:pPr>
            <a:r>
              <a:rPr lang="en-US" sz="900" b="1" dirty="0">
                <a:solidFill>
                  <a:srgbClr val="4CC9F0"/>
                </a:solidFill>
                <a:latin typeface="Segoe UI" pitchFamily="34" charset="0"/>
                <a:ea typeface="Segoe UI" pitchFamily="34" charset="-122"/>
                <a:cs typeface="Segoe UI" pitchFamily="34" charset="-120"/>
              </a:rPr>
              <a:t>Testing &amp; evaluation</a:t>
            </a:r>
            <a:endParaRPr lang="en-US" sz="900" dirty="0"/>
          </a:p>
        </p:txBody>
      </p:sp>
      <p:sp>
        <p:nvSpPr>
          <p:cNvPr id="26" name="Text 21"/>
          <p:cNvSpPr txBox="1"/>
          <p:nvPr/>
        </p:nvSpPr>
        <p:spPr>
          <a:xfrm>
            <a:off x="3630168" y="5074920"/>
            <a:ext cx="2240280" cy="1005840"/>
          </a:xfrm>
          <a:prstGeom prst="rect">
            <a:avLst/>
          </a:prstGeom>
          <a:noFill/>
          <a:ln/>
        </p:spPr>
        <p:txBody>
          <a:bodyPr wrap="square" lIns="0" tIns="0" rIns="0" bIns="0" rtlCol="0" anchor="t"/>
          <a:lstStyle/>
          <a:p>
            <a:pPr indent="0" marL="0">
              <a:buNone/>
            </a:pPr>
            <a:r>
              <a:rPr lang="en-US" sz="1100" dirty="0">
                <a:solidFill>
                  <a:srgbClr val="A9A3CF"/>
                </a:solidFill>
                <a:latin typeface="Segoe UI" pitchFamily="34" charset="0"/>
                <a:ea typeface="Segoe UI" pitchFamily="34" charset="-122"/>
                <a:cs typeface="Segoe UI" pitchFamily="34" charset="-120"/>
              </a:rPr>
              <a:t>Ran the models, wrote test cases, results tables. Benglish prompts.</a:t>
            </a:r>
            <a:endParaRPr lang="en-US" sz="1100" dirty="0"/>
          </a:p>
        </p:txBody>
      </p:sp>
      <p:sp>
        <p:nvSpPr>
          <p:cNvPr id="27" name="Shape 22"/>
          <p:cNvSpPr/>
          <p:nvPr/>
        </p:nvSpPr>
        <p:spPr>
          <a:xfrm>
            <a:off x="6217920" y="4114800"/>
            <a:ext cx="2651760" cy="1783080"/>
          </a:xfrm>
          <a:prstGeom prst="roundRect">
            <a:avLst>
              <a:gd name="adj" fmla="val 7179"/>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8" name="Shape 23"/>
          <p:cNvSpPr/>
          <p:nvPr/>
        </p:nvSpPr>
        <p:spPr>
          <a:xfrm>
            <a:off x="6464808" y="4343400"/>
            <a:ext cx="566928" cy="566928"/>
          </a:xfrm>
          <a:prstGeom prst="ellipse">
            <a:avLst/>
          </a:prstGeom>
          <a:solidFill>
            <a:srgbClr val="FF9F1C"/>
          </a:solidFill>
          <a:ln/>
        </p:spPr>
      </p:sp>
      <p:sp>
        <p:nvSpPr>
          <p:cNvPr id="29" name="Text 24"/>
          <p:cNvSpPr txBox="1"/>
          <p:nvPr/>
        </p:nvSpPr>
        <p:spPr>
          <a:xfrm>
            <a:off x="6464808" y="4343400"/>
            <a:ext cx="566928" cy="566928"/>
          </a:xfrm>
          <a:prstGeom prst="rect">
            <a:avLst/>
          </a:prstGeom>
          <a:noFill/>
          <a:ln/>
        </p:spPr>
        <p:txBody>
          <a:bodyPr wrap="square" lIns="0" tIns="0" rIns="0" bIns="0" rtlCol="0" anchor="ctr"/>
          <a:lstStyle/>
          <a:p>
            <a:pPr algn="ctr" indent="0" marL="0">
              <a:buNone/>
            </a:pPr>
            <a:r>
              <a:rPr lang="en-US" sz="2000" b="1" dirty="0">
                <a:solidFill>
                  <a:srgbClr val="0E0B1F"/>
                </a:solidFill>
                <a:latin typeface="Segoe UI" pitchFamily="34" charset="0"/>
                <a:ea typeface="Segoe UI" pitchFamily="34" charset="-122"/>
                <a:cs typeface="Segoe UI" pitchFamily="34" charset="-120"/>
              </a:rPr>
              <a:t>A</a:t>
            </a:r>
            <a:endParaRPr lang="en-US" sz="2000" dirty="0"/>
          </a:p>
        </p:txBody>
      </p:sp>
      <p:sp>
        <p:nvSpPr>
          <p:cNvPr id="30" name="Text 25"/>
          <p:cNvSpPr txBox="1"/>
          <p:nvPr/>
        </p:nvSpPr>
        <p:spPr>
          <a:xfrm>
            <a:off x="7178040" y="4352544"/>
            <a:ext cx="1645920" cy="292608"/>
          </a:xfrm>
          <a:prstGeom prst="rect">
            <a:avLst/>
          </a:prstGeom>
          <a:noFill/>
          <a:ln/>
        </p:spPr>
        <p:txBody>
          <a:bodyPr wrap="square" lIns="0" tIns="0" rIns="0" bIns="0" rtlCol="0" anchor="t"/>
          <a:lstStyle/>
          <a:p>
            <a:pPr indent="0" marL="0">
              <a:buNone/>
            </a:pPr>
            <a:r>
              <a:rPr lang="en-US" sz="1600" b="1" dirty="0">
                <a:solidFill>
                  <a:srgbClr val="F2EFFF"/>
                </a:solidFill>
                <a:latin typeface="Segoe UI" pitchFamily="34" charset="0"/>
                <a:ea typeface="Segoe UI" pitchFamily="34" charset="-122"/>
                <a:cs typeface="Segoe UI" pitchFamily="34" charset="-120"/>
              </a:rPr>
              <a:t>Aaditya</a:t>
            </a:r>
            <a:endParaRPr lang="en-US" sz="1600" dirty="0"/>
          </a:p>
        </p:txBody>
      </p:sp>
      <p:sp>
        <p:nvSpPr>
          <p:cNvPr id="31" name="Text 26"/>
          <p:cNvSpPr txBox="1"/>
          <p:nvPr/>
        </p:nvSpPr>
        <p:spPr>
          <a:xfrm>
            <a:off x="7178040" y="4645152"/>
            <a:ext cx="1664208" cy="274320"/>
          </a:xfrm>
          <a:prstGeom prst="rect">
            <a:avLst/>
          </a:prstGeom>
          <a:noFill/>
          <a:ln/>
        </p:spPr>
        <p:txBody>
          <a:bodyPr wrap="square" lIns="0" tIns="0" rIns="0" bIns="0" rtlCol="0" anchor="t"/>
          <a:lstStyle/>
          <a:p>
            <a:pPr indent="0" marL="0">
              <a:buNone/>
            </a:pPr>
            <a:r>
              <a:rPr lang="en-US" sz="900" b="1" dirty="0">
                <a:solidFill>
                  <a:srgbClr val="FF9F1C"/>
                </a:solidFill>
                <a:latin typeface="Segoe UI" pitchFamily="34" charset="0"/>
                <a:ea typeface="Segoe UI" pitchFamily="34" charset="-122"/>
                <a:cs typeface="Segoe UI" pitchFamily="34" charset="-120"/>
              </a:rPr>
              <a:t>Dataset &amp; design</a:t>
            </a:r>
            <a:endParaRPr lang="en-US" sz="900" dirty="0"/>
          </a:p>
        </p:txBody>
      </p:sp>
      <p:sp>
        <p:nvSpPr>
          <p:cNvPr id="32" name="Text 27"/>
          <p:cNvSpPr txBox="1"/>
          <p:nvPr/>
        </p:nvSpPr>
        <p:spPr>
          <a:xfrm>
            <a:off x="6464808" y="5074920"/>
            <a:ext cx="2240280" cy="1005840"/>
          </a:xfrm>
          <a:prstGeom prst="rect">
            <a:avLst/>
          </a:prstGeom>
          <a:noFill/>
          <a:ln/>
        </p:spPr>
        <p:txBody>
          <a:bodyPr wrap="square" lIns="0" tIns="0" rIns="0" bIns="0" rtlCol="0" anchor="t"/>
          <a:lstStyle/>
          <a:p>
            <a:pPr indent="0" marL="0">
              <a:buNone/>
            </a:pPr>
            <a:r>
              <a:rPr lang="en-US" sz="1100" dirty="0">
                <a:solidFill>
                  <a:srgbClr val="A9A3CF"/>
                </a:solidFill>
                <a:latin typeface="Segoe UI" pitchFamily="34" charset="0"/>
                <a:ea typeface="Segoe UI" pitchFamily="34" charset="-122"/>
                <a:cs typeface="Segoe UI" pitchFamily="34" charset="-120"/>
              </a:rPr>
              <a:t>Coding tasks, Hinglish prompts, deck and dashboard design.</a:t>
            </a:r>
            <a:endParaRPr lang="en-US" sz="1100" dirty="0"/>
          </a:p>
        </p:txBody>
      </p:sp>
      <p:sp>
        <p:nvSpPr>
          <p:cNvPr id="33" name="Shape 28"/>
          <p:cNvSpPr/>
          <p:nvPr/>
        </p:nvSpPr>
        <p:spPr>
          <a:xfrm>
            <a:off x="9052560" y="4114800"/>
            <a:ext cx="2651760" cy="1783080"/>
          </a:xfrm>
          <a:prstGeom prst="roundRect">
            <a:avLst>
              <a:gd name="adj" fmla="val 7179"/>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34" name="Shape 29"/>
          <p:cNvSpPr/>
          <p:nvPr/>
        </p:nvSpPr>
        <p:spPr>
          <a:xfrm>
            <a:off x="9299448" y="4343400"/>
            <a:ext cx="566928" cy="566928"/>
          </a:xfrm>
          <a:prstGeom prst="ellipse">
            <a:avLst/>
          </a:prstGeom>
          <a:solidFill>
            <a:srgbClr val="E87BA4"/>
          </a:solidFill>
          <a:ln/>
        </p:spPr>
      </p:sp>
      <p:sp>
        <p:nvSpPr>
          <p:cNvPr id="35" name="Text 30"/>
          <p:cNvSpPr txBox="1"/>
          <p:nvPr/>
        </p:nvSpPr>
        <p:spPr>
          <a:xfrm>
            <a:off x="9299448" y="4343400"/>
            <a:ext cx="566928" cy="566928"/>
          </a:xfrm>
          <a:prstGeom prst="rect">
            <a:avLst/>
          </a:prstGeom>
          <a:noFill/>
          <a:ln/>
        </p:spPr>
        <p:txBody>
          <a:bodyPr wrap="square" lIns="0" tIns="0" rIns="0" bIns="0" rtlCol="0" anchor="ctr"/>
          <a:lstStyle/>
          <a:p>
            <a:pPr algn="ctr" indent="0" marL="0">
              <a:buNone/>
            </a:pPr>
            <a:r>
              <a:rPr lang="en-US" sz="2000" b="1" dirty="0">
                <a:solidFill>
                  <a:srgbClr val="0E0B1F"/>
                </a:solidFill>
                <a:latin typeface="Segoe UI" pitchFamily="34" charset="0"/>
                <a:ea typeface="Segoe UI" pitchFamily="34" charset="-122"/>
                <a:cs typeface="Segoe UI" pitchFamily="34" charset="-120"/>
              </a:rPr>
              <a:t>A</a:t>
            </a:r>
            <a:endParaRPr lang="en-US" sz="2000" dirty="0"/>
          </a:p>
        </p:txBody>
      </p:sp>
      <p:sp>
        <p:nvSpPr>
          <p:cNvPr id="36" name="Text 31"/>
          <p:cNvSpPr txBox="1"/>
          <p:nvPr/>
        </p:nvSpPr>
        <p:spPr>
          <a:xfrm>
            <a:off x="10012680" y="4352544"/>
            <a:ext cx="1645920" cy="292608"/>
          </a:xfrm>
          <a:prstGeom prst="rect">
            <a:avLst/>
          </a:prstGeom>
          <a:noFill/>
          <a:ln/>
        </p:spPr>
        <p:txBody>
          <a:bodyPr wrap="square" lIns="0" tIns="0" rIns="0" bIns="0" rtlCol="0" anchor="t"/>
          <a:lstStyle/>
          <a:p>
            <a:pPr indent="0" marL="0">
              <a:buNone/>
            </a:pPr>
            <a:r>
              <a:rPr lang="en-US" sz="1600" b="1" dirty="0">
                <a:solidFill>
                  <a:srgbClr val="F2EFFF"/>
                </a:solidFill>
                <a:latin typeface="Segoe UI" pitchFamily="34" charset="0"/>
                <a:ea typeface="Segoe UI" pitchFamily="34" charset="-122"/>
                <a:cs typeface="Segoe UI" pitchFamily="34" charset="-120"/>
              </a:rPr>
              <a:t>Aaliya</a:t>
            </a:r>
            <a:endParaRPr lang="en-US" sz="1600" dirty="0"/>
          </a:p>
        </p:txBody>
      </p:sp>
      <p:sp>
        <p:nvSpPr>
          <p:cNvPr id="37" name="Text 32"/>
          <p:cNvSpPr txBox="1"/>
          <p:nvPr/>
        </p:nvSpPr>
        <p:spPr>
          <a:xfrm>
            <a:off x="10012680" y="4645152"/>
            <a:ext cx="1664208" cy="274320"/>
          </a:xfrm>
          <a:prstGeom prst="rect">
            <a:avLst/>
          </a:prstGeom>
          <a:noFill/>
          <a:ln/>
        </p:spPr>
        <p:txBody>
          <a:bodyPr wrap="square" lIns="0" tIns="0" rIns="0" bIns="0" rtlCol="0" anchor="t"/>
          <a:lstStyle/>
          <a:p>
            <a:pPr indent="0" marL="0">
              <a:buNone/>
            </a:pPr>
            <a:r>
              <a:rPr lang="en-US" sz="900" b="1" dirty="0">
                <a:solidFill>
                  <a:srgbClr val="E87BA4"/>
                </a:solidFill>
                <a:latin typeface="Segoe UI" pitchFamily="34" charset="0"/>
                <a:ea typeface="Segoe UI" pitchFamily="34" charset="-122"/>
                <a:cs typeface="Segoe UI" pitchFamily="34" charset="-120"/>
              </a:rPr>
              <a:t>Research &amp; presentation</a:t>
            </a:r>
            <a:endParaRPr lang="en-US" sz="900" dirty="0"/>
          </a:p>
        </p:txBody>
      </p:sp>
      <p:sp>
        <p:nvSpPr>
          <p:cNvPr id="38" name="Text 33"/>
          <p:cNvSpPr txBox="1"/>
          <p:nvPr/>
        </p:nvSpPr>
        <p:spPr>
          <a:xfrm>
            <a:off x="9299448" y="5074920"/>
            <a:ext cx="2240280" cy="1005840"/>
          </a:xfrm>
          <a:prstGeom prst="rect">
            <a:avLst/>
          </a:prstGeom>
          <a:noFill/>
          <a:ln/>
        </p:spPr>
        <p:txBody>
          <a:bodyPr wrap="square" lIns="0" tIns="0" rIns="0" bIns="0" rtlCol="0" anchor="t"/>
          <a:lstStyle/>
          <a:p>
            <a:pPr indent="0" marL="0">
              <a:buNone/>
            </a:pPr>
            <a:r>
              <a:rPr lang="en-US" sz="1100" dirty="0">
                <a:solidFill>
                  <a:srgbClr val="A9A3CF"/>
                </a:solidFill>
                <a:latin typeface="Segoe UI" pitchFamily="34" charset="0"/>
                <a:ea typeface="Segoe UI" pitchFamily="34" charset="-122"/>
                <a:cs typeface="Segoe UI" pitchFamily="34" charset="-120"/>
              </a:rPr>
              <a:t>Problem research, the pitch, judge Q&amp;A. Odia prompts.</a:t>
            </a:r>
            <a:endParaRPr lang="en-US" sz="11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name="Slide 20">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05 · YOUR TURN, JUDGES</a:t>
            </a:r>
            <a:endParaRPr lang="en-US" sz="1100" dirty="0"/>
          </a:p>
        </p:txBody>
      </p:sp>
      <p:sp>
        <p:nvSpPr>
          <p:cNvPr id="10"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Correct: it fails.</a:t>
            </a:r>
            <a:endParaRPr lang="en-US" sz="3000" dirty="0"/>
          </a:p>
        </p:txBody>
      </p:sp>
      <p:pic>
        <p:nvPicPr>
          <p:cNvPr id="11" name="Image 2" descr="/tmp/claude-0/-home-claude/cf1b82dd-723a-5c0d-b3ee-f6062e85aabe/scratchpad/nd/ic/FaCheckCircle_g.png">    </p:cNvPr>
          <p:cNvPicPr>
            <a:picLocks noChangeAspect="1"/>
          </p:cNvPicPr>
          <p:nvPr/>
        </p:nvPicPr>
        <p:blipFill>
          <a:blip r:embed="rId8"/>
          <a:stretch>
            <a:fillRect/>
          </a:stretch>
        </p:blipFill>
        <p:spPr>
          <a:xfrm>
            <a:off x="548640" y="2057400"/>
            <a:ext cx="685800" cy="685800"/>
          </a:xfrm>
          <a:prstGeom prst="rect">
            <a:avLst/>
          </a:prstGeom>
        </p:spPr>
      </p:pic>
      <p:sp>
        <p:nvSpPr>
          <p:cNvPr id="12" name="Text 7"/>
          <p:cNvSpPr txBox="1"/>
          <p:nvPr/>
        </p:nvSpPr>
        <p:spPr>
          <a:xfrm>
            <a:off x="1463040" y="2011680"/>
            <a:ext cx="4434840" cy="822960"/>
          </a:xfrm>
          <a:prstGeom prst="rect">
            <a:avLst/>
          </a:prstGeom>
          <a:noFill/>
          <a:ln/>
        </p:spPr>
        <p:txBody>
          <a:bodyPr wrap="square" lIns="0" tIns="0" rIns="0" bIns="0" rtlCol="0" anchor="t"/>
          <a:lstStyle/>
          <a:p>
            <a:pPr indent="0" marL="0">
              <a:buNone/>
            </a:pPr>
            <a:r>
              <a:rPr lang="en-US" sz="1400" b="1" dirty="0">
                <a:solidFill>
                  <a:srgbClr val="F2EFFF"/>
                </a:solidFill>
                <a:latin typeface="Segoe UI" pitchFamily="34" charset="0"/>
                <a:ea typeface="Segoe UI" pitchFamily="34" charset="-122"/>
                <a:cs typeface="Segoe UI" pitchFamily="34" charset="-120"/>
              </a:rPr>
              <a:t>The prompt said “capital small er tofat korbi na”: don't treat capital and small letters differently.</a:t>
            </a:r>
            <a:endParaRPr lang="en-US" sz="1400" dirty="0"/>
          </a:p>
        </p:txBody>
      </p:sp>
      <p:sp>
        <p:nvSpPr>
          <p:cNvPr id="13" name="Text 8"/>
          <p:cNvSpPr txBox="1"/>
          <p:nvPr/>
        </p:nvSpPr>
        <p:spPr>
          <a:xfrm>
            <a:off x="548640" y="3017520"/>
            <a:ext cx="5349240" cy="1005840"/>
          </a:xfrm>
          <a:prstGeom prst="rect">
            <a:avLst/>
          </a:prstGeom>
          <a:noFill/>
          <a:ln/>
        </p:spPr>
        <p:txBody>
          <a:bodyPr wrap="square" lIns="0" tIns="0" rIns="0" bIns="0" rtlCol="0" anchor="t"/>
          <a:lstStyle/>
          <a:p>
            <a:pPr indent="0" marL="0">
              <a:buNone/>
            </a:pPr>
            <a:r>
              <a:rPr lang="en-US" sz="1300" dirty="0">
                <a:solidFill>
                  <a:srgbClr val="A9A3CF"/>
                </a:solidFill>
                <a:latin typeface="Segoe UI" pitchFamily="34" charset="0"/>
                <a:ea typeface="Segoe UI" pitchFamily="34" charset="-122"/>
                <a:cs typeface="Segoe UI" pitchFamily="34" charset="-120"/>
              </a:rPr>
              <a:t>The code compares the text exactly, so a capital R is not the same as a small r. Asked in English, the same model got this right.</a:t>
            </a:r>
            <a:endParaRPr lang="en-US" sz="1300" dirty="0"/>
          </a:p>
        </p:txBody>
      </p:sp>
      <p:sp>
        <p:nvSpPr>
          <p:cNvPr id="14" name="Shape 9"/>
          <p:cNvSpPr/>
          <p:nvPr/>
        </p:nvSpPr>
        <p:spPr>
          <a:xfrm>
            <a:off x="548640" y="4069080"/>
            <a:ext cx="5349240" cy="1325880"/>
          </a:xfrm>
          <a:prstGeom prst="roundRect">
            <a:avLst>
              <a:gd name="adj" fmla="val 9655"/>
            </a:avLst>
          </a:prstGeom>
          <a:solidFill>
            <a:srgbClr val="0B0918"/>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5" name="Text 10"/>
          <p:cNvSpPr txBox="1"/>
          <p:nvPr/>
        </p:nvSpPr>
        <p:spPr>
          <a:xfrm>
            <a:off x="777240" y="4187952"/>
            <a:ext cx="2743200" cy="201168"/>
          </a:xfrm>
          <a:prstGeom prst="rect">
            <a:avLst/>
          </a:prstGeom>
          <a:noFill/>
          <a:ln/>
        </p:spPr>
        <p:txBody>
          <a:bodyPr wrap="square" lIns="0" tIns="0" rIns="0" bIns="0" rtlCol="0" anchor="t"/>
          <a:lstStyle/>
          <a:p>
            <a:pPr indent="0" marL="0">
              <a:buNone/>
            </a:pPr>
            <a:r>
              <a:rPr lang="en-US" sz="950" dirty="0">
                <a:solidFill>
                  <a:srgbClr val="6F6A99"/>
                </a:solidFill>
                <a:latin typeface="Consolas" pitchFamily="34" charset="0"/>
                <a:ea typeface="Consolas" pitchFamily="34" charset="-122"/>
                <a:cs typeface="Consolas" pitchFamily="34" charset="-120"/>
              </a:rPr>
              <a:t>the AI's reply</a:t>
            </a:r>
            <a:endParaRPr lang="en-US" sz="950" dirty="0"/>
          </a:p>
        </p:txBody>
      </p:sp>
      <p:sp>
        <p:nvSpPr>
          <p:cNvPr id="16" name="Text 11"/>
          <p:cNvSpPr txBox="1"/>
          <p:nvPr/>
        </p:nvSpPr>
        <p:spPr>
          <a:xfrm>
            <a:off x="777240" y="4526280"/>
            <a:ext cx="4937760" cy="731520"/>
          </a:xfrm>
          <a:prstGeom prst="rect">
            <a:avLst/>
          </a:prstGeom>
          <a:noFill/>
          <a:ln/>
        </p:spPr>
        <p:txBody>
          <a:bodyPr wrap="square" lIns="0" tIns="0" rIns="0" bIns="0" rtlCol="0" anchor="t"/>
          <a:lstStyle/>
          <a:p>
            <a:pPr indent="0" marL="0">
              <a:buNone/>
            </a:pPr>
            <a:r>
              <a:rPr lang="en-US" sz="1400" dirty="0">
                <a:solidFill>
                  <a:srgbClr val="FF9F1C"/>
                </a:solidFill>
                <a:latin typeface="Consolas" pitchFamily="34" charset="0"/>
                <a:ea typeface="Consolas" pitchFamily="34" charset="-122"/>
                <a:cs typeface="Consolas" pitchFamily="34" charset="-120"/>
              </a:rPr>
              <a:t>def </a:t>
            </a:r>
            <a:pPr indent="0" marL="0">
              <a:buNone/>
            </a:pPr>
            <a:r>
              <a:rPr lang="en-US" sz="1400" dirty="0">
                <a:solidFill>
                  <a:srgbClr val="9B8CFF"/>
                </a:solidFill>
                <a:latin typeface="Consolas" pitchFamily="34" charset="0"/>
                <a:ea typeface="Consolas" pitchFamily="34" charset="-122"/>
                <a:cs typeface="Consolas" pitchFamily="34" charset="-120"/>
              </a:rPr>
              <a:t>is_palindrome</a:t>
            </a:r>
            <a:pPr indent="0" marL="0">
              <a:buNone/>
            </a:pPr>
            <a:r>
              <a:rPr lang="en-US" sz="1400" dirty="0">
                <a:solidFill>
                  <a:srgbClr val="F2EFFF"/>
                </a:solidFill>
                <a:latin typeface="Consolas" pitchFamily="34" charset="0"/>
                <a:ea typeface="Consolas" pitchFamily="34" charset="-122"/>
                <a:cs typeface="Consolas" pitchFamily="34" charset="-120"/>
              </a:rPr>
              <a:t>(s: str) -&gt; bool:</a:t>
            </a:r>
            <a:endParaRPr lang="en-US" sz="1400" dirty="0"/>
          </a:p>
          <a:p>
            <a:pPr indent="0" marL="0">
              <a:buNone/>
            </a:pPr>
            <a:r>
              <a:rPr lang="en-US" sz="1400" dirty="0">
                <a:solidFill>
                  <a:srgbClr val="FF9F1C"/>
                </a:solidFill>
                <a:latin typeface="Consolas" pitchFamily="34" charset="0"/>
                <a:ea typeface="Consolas" pitchFamily="34" charset="-122"/>
                <a:cs typeface="Consolas" pitchFamily="34" charset="-120"/>
              </a:rPr>
              <a:t>    return </a:t>
            </a:r>
            <a:pPr indent="0" marL="0">
              <a:buNone/>
            </a:pPr>
            <a:r>
              <a:rPr lang="en-US" sz="1400" dirty="0">
                <a:solidFill>
                  <a:srgbClr val="F2EFFF"/>
                </a:solidFill>
                <a:latin typeface="Consolas" pitchFamily="34" charset="0"/>
                <a:ea typeface="Consolas" pitchFamily="34" charset="-122"/>
                <a:cs typeface="Consolas" pitchFamily="34" charset="-120"/>
              </a:rPr>
              <a:t>s == s[::-1]</a:t>
            </a:r>
            <a:endParaRPr lang="en-US" sz="1400" dirty="0"/>
          </a:p>
        </p:txBody>
      </p:sp>
      <p:sp>
        <p:nvSpPr>
          <p:cNvPr id="17" name="Shape 12"/>
          <p:cNvSpPr/>
          <p:nvPr/>
        </p:nvSpPr>
        <p:spPr>
          <a:xfrm>
            <a:off x="6126480" y="2011680"/>
            <a:ext cx="5605272" cy="4206240"/>
          </a:xfrm>
          <a:prstGeom prst="roundRect">
            <a:avLst>
              <a:gd name="adj" fmla="val 3043"/>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8" name="Text 13"/>
          <p:cNvSpPr txBox="1"/>
          <p:nvPr/>
        </p:nvSpPr>
        <p:spPr>
          <a:xfrm>
            <a:off x="6382512" y="2194560"/>
            <a:ext cx="2743200" cy="201168"/>
          </a:xfrm>
          <a:prstGeom prst="rect">
            <a:avLst/>
          </a:prstGeom>
          <a:noFill/>
          <a:ln/>
        </p:spPr>
        <p:txBody>
          <a:bodyPr wrap="square" lIns="0" tIns="0" rIns="0" bIns="0" rtlCol="0" anchor="t"/>
          <a:lstStyle/>
          <a:p>
            <a:pPr indent="0" marL="0">
              <a:buNone/>
            </a:pPr>
            <a:r>
              <a:rPr lang="en-US" sz="950" b="1" spc="100" kern="0" dirty="0">
                <a:solidFill>
                  <a:srgbClr val="6F6A99"/>
                </a:solidFill>
                <a:latin typeface="Consolas" pitchFamily="34" charset="0"/>
                <a:ea typeface="Consolas" pitchFamily="34" charset="-122"/>
                <a:cs typeface="Consolas" pitchFamily="34" charset="-120"/>
              </a:rPr>
              <a:t>THE 5 TESTS</a:t>
            </a:r>
            <a:endParaRPr lang="en-US" sz="950" dirty="0"/>
          </a:p>
        </p:txBody>
      </p:sp>
      <p:sp>
        <p:nvSpPr>
          <p:cNvPr id="19" name="Text 14"/>
          <p:cNvSpPr txBox="1"/>
          <p:nvPr/>
        </p:nvSpPr>
        <p:spPr>
          <a:xfrm>
            <a:off x="6382512" y="2542032"/>
            <a:ext cx="1188720" cy="237744"/>
          </a:xfrm>
          <a:prstGeom prst="rect">
            <a:avLst/>
          </a:prstGeom>
          <a:noFill/>
          <a:ln/>
        </p:spPr>
        <p:txBody>
          <a:bodyPr wrap="square" lIns="0" tIns="0" rIns="0" bIns="0" rtlCol="0" anchor="t"/>
          <a:lstStyle/>
          <a:p>
            <a:pPr indent="0" marL="0">
              <a:buNone/>
            </a:pPr>
            <a:r>
              <a:rPr lang="en-US" sz="1050" b="1" dirty="0">
                <a:solidFill>
                  <a:srgbClr val="6F6A99"/>
                </a:solidFill>
                <a:latin typeface="Segoe UI" pitchFamily="34" charset="0"/>
                <a:ea typeface="Segoe UI" pitchFamily="34" charset="-122"/>
                <a:cs typeface="Segoe UI" pitchFamily="34" charset="-120"/>
              </a:rPr>
              <a:t>input</a:t>
            </a:r>
            <a:endParaRPr lang="en-US" sz="1050" dirty="0"/>
          </a:p>
        </p:txBody>
      </p:sp>
      <p:sp>
        <p:nvSpPr>
          <p:cNvPr id="20" name="Text 15"/>
          <p:cNvSpPr txBox="1"/>
          <p:nvPr/>
        </p:nvSpPr>
        <p:spPr>
          <a:xfrm>
            <a:off x="8321040" y="2542032"/>
            <a:ext cx="1188720" cy="237744"/>
          </a:xfrm>
          <a:prstGeom prst="rect">
            <a:avLst/>
          </a:prstGeom>
          <a:noFill/>
          <a:ln/>
        </p:spPr>
        <p:txBody>
          <a:bodyPr wrap="square" lIns="0" tIns="0" rIns="0" bIns="0" rtlCol="0" anchor="t"/>
          <a:lstStyle/>
          <a:p>
            <a:pPr indent="0" marL="0">
              <a:buNone/>
            </a:pPr>
            <a:r>
              <a:rPr lang="en-US" sz="1050" b="1" dirty="0">
                <a:solidFill>
                  <a:srgbClr val="6F6A99"/>
                </a:solidFill>
                <a:latin typeface="Segoe UI" pitchFamily="34" charset="0"/>
                <a:ea typeface="Segoe UI" pitchFamily="34" charset="-122"/>
                <a:cs typeface="Segoe UI" pitchFamily="34" charset="-120"/>
              </a:rPr>
              <a:t>expected</a:t>
            </a:r>
            <a:endParaRPr lang="en-US" sz="1050" dirty="0"/>
          </a:p>
        </p:txBody>
      </p:sp>
      <p:sp>
        <p:nvSpPr>
          <p:cNvPr id="21" name="Text 16"/>
          <p:cNvSpPr txBox="1"/>
          <p:nvPr/>
        </p:nvSpPr>
        <p:spPr>
          <a:xfrm>
            <a:off x="9646920" y="2542032"/>
            <a:ext cx="1188720" cy="237744"/>
          </a:xfrm>
          <a:prstGeom prst="rect">
            <a:avLst/>
          </a:prstGeom>
          <a:noFill/>
          <a:ln/>
        </p:spPr>
        <p:txBody>
          <a:bodyPr wrap="square" lIns="0" tIns="0" rIns="0" bIns="0" rtlCol="0" anchor="t"/>
          <a:lstStyle/>
          <a:p>
            <a:pPr indent="0" marL="0">
              <a:buNone/>
            </a:pPr>
            <a:r>
              <a:rPr lang="en-US" sz="1050" b="1" dirty="0">
                <a:solidFill>
                  <a:srgbClr val="6F6A99"/>
                </a:solidFill>
                <a:latin typeface="Segoe UI" pitchFamily="34" charset="0"/>
                <a:ea typeface="Segoe UI" pitchFamily="34" charset="-122"/>
                <a:cs typeface="Segoe UI" pitchFamily="34" charset="-120"/>
              </a:rPr>
              <a:t>got</a:t>
            </a:r>
            <a:endParaRPr lang="en-US" sz="1050" dirty="0"/>
          </a:p>
        </p:txBody>
      </p:sp>
      <p:sp>
        <p:nvSpPr>
          <p:cNvPr id="22" name="Text 17"/>
          <p:cNvSpPr txBox="1"/>
          <p:nvPr/>
        </p:nvSpPr>
        <p:spPr>
          <a:xfrm>
            <a:off x="10927080" y="2542032"/>
            <a:ext cx="1188720" cy="237744"/>
          </a:xfrm>
          <a:prstGeom prst="rect">
            <a:avLst/>
          </a:prstGeom>
          <a:noFill/>
          <a:ln/>
        </p:spPr>
        <p:txBody>
          <a:bodyPr wrap="square" lIns="0" tIns="0" rIns="0" bIns="0" rtlCol="0" anchor="t"/>
          <a:lstStyle/>
          <a:p>
            <a:pPr indent="0" marL="0">
              <a:buNone/>
            </a:pPr>
            <a:endParaRPr lang="en-US" sz="1050" dirty="0"/>
          </a:p>
        </p:txBody>
      </p:sp>
      <p:sp>
        <p:nvSpPr>
          <p:cNvPr id="23" name="Shape 18"/>
          <p:cNvSpPr/>
          <p:nvPr/>
        </p:nvSpPr>
        <p:spPr>
          <a:xfrm>
            <a:off x="6291072" y="2825496"/>
            <a:ext cx="5303520" cy="493776"/>
          </a:xfrm>
          <a:prstGeom prst="roundRect">
            <a:avLst>
              <a:gd name="adj" fmla="val 14815"/>
            </a:avLst>
          </a:prstGeom>
          <a:solidFill>
            <a:srgbClr val="FF5C7A">
              <a:alpha val="15000"/>
            </a:srgbClr>
          </a:solidFill>
          <a:ln w="9525">
            <a:solidFill>
              <a:srgbClr val="FF5C7A"/>
            </a:solidFill>
            <a:prstDash val="solid"/>
          </a:ln>
        </p:spPr>
      </p:sp>
      <p:sp>
        <p:nvSpPr>
          <p:cNvPr id="24" name="Text 19"/>
          <p:cNvSpPr txBox="1"/>
          <p:nvPr/>
        </p:nvSpPr>
        <p:spPr>
          <a:xfrm>
            <a:off x="6382512" y="2880360"/>
            <a:ext cx="1828800" cy="384048"/>
          </a:xfrm>
          <a:prstGeom prst="rect">
            <a:avLst/>
          </a:prstGeom>
          <a:noFill/>
          <a:ln/>
        </p:spPr>
        <p:txBody>
          <a:bodyPr wrap="square" lIns="0" tIns="0" rIns="0" bIns="0" rtlCol="0" anchor="ctr"/>
          <a:lstStyle/>
          <a:p>
            <a:pPr indent="0" marL="0">
              <a:buNone/>
            </a:pPr>
            <a:r>
              <a:rPr lang="en-US" sz="1400" dirty="0">
                <a:solidFill>
                  <a:srgbClr val="F2EFFF"/>
                </a:solidFill>
                <a:latin typeface="Consolas" pitchFamily="34" charset="0"/>
                <a:ea typeface="Consolas" pitchFamily="34" charset="-122"/>
                <a:cs typeface="Consolas" pitchFamily="34" charset="-120"/>
              </a:rPr>
              <a:t>"Racecar"</a:t>
            </a:r>
            <a:endParaRPr lang="en-US" sz="1400" dirty="0"/>
          </a:p>
        </p:txBody>
      </p:sp>
      <p:sp>
        <p:nvSpPr>
          <p:cNvPr id="25" name="Text 20"/>
          <p:cNvSpPr txBox="1"/>
          <p:nvPr/>
        </p:nvSpPr>
        <p:spPr>
          <a:xfrm>
            <a:off x="8321040" y="2880360"/>
            <a:ext cx="1188720" cy="384048"/>
          </a:xfrm>
          <a:prstGeom prst="rect">
            <a:avLst/>
          </a:prstGeom>
          <a:noFill/>
          <a:ln/>
        </p:spPr>
        <p:txBody>
          <a:bodyPr wrap="square" lIns="0" tIns="0" rIns="0" bIns="0" rtlCol="0" anchor="ctr"/>
          <a:lstStyle/>
          <a:p>
            <a:pPr indent="0" marL="0">
              <a:buNone/>
            </a:pPr>
            <a:r>
              <a:rPr lang="en-US" sz="1400" dirty="0">
                <a:solidFill>
                  <a:srgbClr val="A9A3CF"/>
                </a:solidFill>
                <a:latin typeface="Consolas" pitchFamily="34" charset="0"/>
                <a:ea typeface="Consolas" pitchFamily="34" charset="-122"/>
                <a:cs typeface="Consolas" pitchFamily="34" charset="-120"/>
              </a:rPr>
              <a:t>True</a:t>
            </a:r>
            <a:endParaRPr lang="en-US" sz="1400" dirty="0"/>
          </a:p>
        </p:txBody>
      </p:sp>
      <p:sp>
        <p:nvSpPr>
          <p:cNvPr id="26" name="Text 21"/>
          <p:cNvSpPr txBox="1"/>
          <p:nvPr/>
        </p:nvSpPr>
        <p:spPr>
          <a:xfrm>
            <a:off x="9646920" y="2880360"/>
            <a:ext cx="1188720" cy="384048"/>
          </a:xfrm>
          <a:prstGeom prst="rect">
            <a:avLst/>
          </a:prstGeom>
          <a:noFill/>
          <a:ln/>
        </p:spPr>
        <p:txBody>
          <a:bodyPr wrap="square" lIns="0" tIns="0" rIns="0" bIns="0" rtlCol="0" anchor="ctr"/>
          <a:lstStyle/>
          <a:p>
            <a:pPr indent="0" marL="0">
              <a:buNone/>
            </a:pPr>
            <a:r>
              <a:rPr lang="en-US" sz="1400" b="1" dirty="0">
                <a:solidFill>
                  <a:srgbClr val="FF5C7A"/>
                </a:solidFill>
                <a:latin typeface="Consolas" pitchFamily="34" charset="0"/>
                <a:ea typeface="Consolas" pitchFamily="34" charset="-122"/>
                <a:cs typeface="Consolas" pitchFamily="34" charset="-120"/>
              </a:rPr>
              <a:t>False</a:t>
            </a:r>
            <a:endParaRPr lang="en-US" sz="1400" dirty="0"/>
          </a:p>
        </p:txBody>
      </p:sp>
      <p:pic>
        <p:nvPicPr>
          <p:cNvPr id="27" name="Image 3" descr="/tmp/claude-0/-home-claude/cf1b82dd-723a-5c0d-b3ee-f6062e85aabe/scratchpad/nd/ic/FaTimes_r.png">    </p:cNvPr>
          <p:cNvPicPr>
            <a:picLocks noChangeAspect="1"/>
          </p:cNvPicPr>
          <p:nvPr/>
        </p:nvPicPr>
        <p:blipFill>
          <a:blip r:embed="rId9"/>
          <a:stretch>
            <a:fillRect/>
          </a:stretch>
        </p:blipFill>
        <p:spPr>
          <a:xfrm>
            <a:off x="11064240" y="2953512"/>
            <a:ext cx="237744" cy="237744"/>
          </a:xfrm>
          <a:prstGeom prst="rect">
            <a:avLst/>
          </a:prstGeom>
        </p:spPr>
      </p:pic>
      <p:sp>
        <p:nvSpPr>
          <p:cNvPr id="28" name="Shape 22"/>
          <p:cNvSpPr/>
          <p:nvPr/>
        </p:nvSpPr>
        <p:spPr>
          <a:xfrm>
            <a:off x="6291072" y="3392424"/>
            <a:ext cx="5303520" cy="493776"/>
          </a:xfrm>
          <a:prstGeom prst="roundRect">
            <a:avLst>
              <a:gd name="adj" fmla="val 14815"/>
            </a:avLst>
          </a:prstGeom>
          <a:solidFill>
            <a:srgbClr val="FF5C7A">
              <a:alpha val="15000"/>
            </a:srgbClr>
          </a:solidFill>
          <a:ln w="9525">
            <a:solidFill>
              <a:srgbClr val="FF5C7A"/>
            </a:solidFill>
            <a:prstDash val="solid"/>
          </a:ln>
        </p:spPr>
      </p:sp>
      <p:sp>
        <p:nvSpPr>
          <p:cNvPr id="29" name="Text 23"/>
          <p:cNvSpPr txBox="1"/>
          <p:nvPr/>
        </p:nvSpPr>
        <p:spPr>
          <a:xfrm>
            <a:off x="6382512" y="3447288"/>
            <a:ext cx="1828800" cy="384048"/>
          </a:xfrm>
          <a:prstGeom prst="rect">
            <a:avLst/>
          </a:prstGeom>
          <a:noFill/>
          <a:ln/>
        </p:spPr>
        <p:txBody>
          <a:bodyPr wrap="square" lIns="0" tIns="0" rIns="0" bIns="0" rtlCol="0" anchor="ctr"/>
          <a:lstStyle/>
          <a:p>
            <a:pPr indent="0" marL="0">
              <a:buNone/>
            </a:pPr>
            <a:r>
              <a:rPr lang="en-US" sz="1400" dirty="0">
                <a:solidFill>
                  <a:srgbClr val="F2EFFF"/>
                </a:solidFill>
                <a:latin typeface="Consolas" pitchFamily="34" charset="0"/>
                <a:ea typeface="Consolas" pitchFamily="34" charset="-122"/>
                <a:cs typeface="Consolas" pitchFamily="34" charset="-120"/>
              </a:rPr>
              <a:t>"Aa"</a:t>
            </a:r>
            <a:endParaRPr lang="en-US" sz="1400" dirty="0"/>
          </a:p>
        </p:txBody>
      </p:sp>
      <p:sp>
        <p:nvSpPr>
          <p:cNvPr id="30" name="Text 24"/>
          <p:cNvSpPr txBox="1"/>
          <p:nvPr/>
        </p:nvSpPr>
        <p:spPr>
          <a:xfrm>
            <a:off x="8321040" y="3447288"/>
            <a:ext cx="1188720" cy="384048"/>
          </a:xfrm>
          <a:prstGeom prst="rect">
            <a:avLst/>
          </a:prstGeom>
          <a:noFill/>
          <a:ln/>
        </p:spPr>
        <p:txBody>
          <a:bodyPr wrap="square" lIns="0" tIns="0" rIns="0" bIns="0" rtlCol="0" anchor="ctr"/>
          <a:lstStyle/>
          <a:p>
            <a:pPr indent="0" marL="0">
              <a:buNone/>
            </a:pPr>
            <a:r>
              <a:rPr lang="en-US" sz="1400" dirty="0">
                <a:solidFill>
                  <a:srgbClr val="A9A3CF"/>
                </a:solidFill>
                <a:latin typeface="Consolas" pitchFamily="34" charset="0"/>
                <a:ea typeface="Consolas" pitchFamily="34" charset="-122"/>
                <a:cs typeface="Consolas" pitchFamily="34" charset="-120"/>
              </a:rPr>
              <a:t>True</a:t>
            </a:r>
            <a:endParaRPr lang="en-US" sz="1400" dirty="0"/>
          </a:p>
        </p:txBody>
      </p:sp>
      <p:sp>
        <p:nvSpPr>
          <p:cNvPr id="31" name="Text 25"/>
          <p:cNvSpPr txBox="1"/>
          <p:nvPr/>
        </p:nvSpPr>
        <p:spPr>
          <a:xfrm>
            <a:off x="9646920" y="3447288"/>
            <a:ext cx="1188720" cy="384048"/>
          </a:xfrm>
          <a:prstGeom prst="rect">
            <a:avLst/>
          </a:prstGeom>
          <a:noFill/>
          <a:ln/>
        </p:spPr>
        <p:txBody>
          <a:bodyPr wrap="square" lIns="0" tIns="0" rIns="0" bIns="0" rtlCol="0" anchor="ctr"/>
          <a:lstStyle/>
          <a:p>
            <a:pPr indent="0" marL="0">
              <a:buNone/>
            </a:pPr>
            <a:r>
              <a:rPr lang="en-US" sz="1400" b="1" dirty="0">
                <a:solidFill>
                  <a:srgbClr val="FF5C7A"/>
                </a:solidFill>
                <a:latin typeface="Consolas" pitchFamily="34" charset="0"/>
                <a:ea typeface="Consolas" pitchFamily="34" charset="-122"/>
                <a:cs typeface="Consolas" pitchFamily="34" charset="-120"/>
              </a:rPr>
              <a:t>False</a:t>
            </a:r>
            <a:endParaRPr lang="en-US" sz="1400" dirty="0"/>
          </a:p>
        </p:txBody>
      </p:sp>
      <p:pic>
        <p:nvPicPr>
          <p:cNvPr id="32" name="Image 4" descr="/tmp/claude-0/-home-claude/cf1b82dd-723a-5c0d-b3ee-f6062e85aabe/scratchpad/nd/ic/FaTimes_r.png">    </p:cNvPr>
          <p:cNvPicPr>
            <a:picLocks noChangeAspect="1"/>
          </p:cNvPicPr>
          <p:nvPr/>
        </p:nvPicPr>
        <p:blipFill>
          <a:blip r:embed="rId10"/>
          <a:stretch>
            <a:fillRect/>
          </a:stretch>
        </p:blipFill>
        <p:spPr>
          <a:xfrm>
            <a:off x="11064240" y="3520440"/>
            <a:ext cx="237744" cy="237744"/>
          </a:xfrm>
          <a:prstGeom prst="rect">
            <a:avLst/>
          </a:prstGeom>
        </p:spPr>
      </p:pic>
      <p:sp>
        <p:nvSpPr>
          <p:cNvPr id="33" name="Text 26"/>
          <p:cNvSpPr txBox="1"/>
          <p:nvPr/>
        </p:nvSpPr>
        <p:spPr>
          <a:xfrm>
            <a:off x="6382512" y="4014216"/>
            <a:ext cx="1828800" cy="384048"/>
          </a:xfrm>
          <a:prstGeom prst="rect">
            <a:avLst/>
          </a:prstGeom>
          <a:noFill/>
          <a:ln/>
        </p:spPr>
        <p:txBody>
          <a:bodyPr wrap="square" lIns="0" tIns="0" rIns="0" bIns="0" rtlCol="0" anchor="ctr"/>
          <a:lstStyle/>
          <a:p>
            <a:pPr indent="0" marL="0">
              <a:buNone/>
            </a:pPr>
            <a:r>
              <a:rPr lang="en-US" sz="1400" dirty="0">
                <a:solidFill>
                  <a:srgbClr val="F2EFFF"/>
                </a:solidFill>
                <a:latin typeface="Consolas" pitchFamily="34" charset="0"/>
                <a:ea typeface="Consolas" pitchFamily="34" charset="-122"/>
                <a:cs typeface="Consolas" pitchFamily="34" charset="-120"/>
              </a:rPr>
              <a:t>"hello"</a:t>
            </a:r>
            <a:endParaRPr lang="en-US" sz="1400" dirty="0"/>
          </a:p>
        </p:txBody>
      </p:sp>
      <p:sp>
        <p:nvSpPr>
          <p:cNvPr id="34" name="Text 27"/>
          <p:cNvSpPr txBox="1"/>
          <p:nvPr/>
        </p:nvSpPr>
        <p:spPr>
          <a:xfrm>
            <a:off x="8321040" y="4014216"/>
            <a:ext cx="1188720" cy="384048"/>
          </a:xfrm>
          <a:prstGeom prst="rect">
            <a:avLst/>
          </a:prstGeom>
          <a:noFill/>
          <a:ln/>
        </p:spPr>
        <p:txBody>
          <a:bodyPr wrap="square" lIns="0" tIns="0" rIns="0" bIns="0" rtlCol="0" anchor="ctr"/>
          <a:lstStyle/>
          <a:p>
            <a:pPr indent="0" marL="0">
              <a:buNone/>
            </a:pPr>
            <a:r>
              <a:rPr lang="en-US" sz="1400" dirty="0">
                <a:solidFill>
                  <a:srgbClr val="A9A3CF"/>
                </a:solidFill>
                <a:latin typeface="Consolas" pitchFamily="34" charset="0"/>
                <a:ea typeface="Consolas" pitchFamily="34" charset="-122"/>
                <a:cs typeface="Consolas" pitchFamily="34" charset="-120"/>
              </a:rPr>
              <a:t>False</a:t>
            </a:r>
            <a:endParaRPr lang="en-US" sz="1400" dirty="0"/>
          </a:p>
        </p:txBody>
      </p:sp>
      <p:sp>
        <p:nvSpPr>
          <p:cNvPr id="35" name="Text 28"/>
          <p:cNvSpPr txBox="1"/>
          <p:nvPr/>
        </p:nvSpPr>
        <p:spPr>
          <a:xfrm>
            <a:off x="9646920" y="4014216"/>
            <a:ext cx="1188720" cy="384048"/>
          </a:xfrm>
          <a:prstGeom prst="rect">
            <a:avLst/>
          </a:prstGeom>
          <a:noFill/>
          <a:ln/>
        </p:spPr>
        <p:txBody>
          <a:bodyPr wrap="square" lIns="0" tIns="0" rIns="0" bIns="0" rtlCol="0" anchor="ctr"/>
          <a:lstStyle/>
          <a:p>
            <a:pPr indent="0" marL="0">
              <a:buNone/>
            </a:pPr>
            <a:r>
              <a:rPr lang="en-US" sz="1400" b="1" dirty="0">
                <a:solidFill>
                  <a:srgbClr val="F2EFFF"/>
                </a:solidFill>
                <a:latin typeface="Consolas" pitchFamily="34" charset="0"/>
                <a:ea typeface="Consolas" pitchFamily="34" charset="-122"/>
                <a:cs typeface="Consolas" pitchFamily="34" charset="-120"/>
              </a:rPr>
              <a:t>False</a:t>
            </a:r>
            <a:endParaRPr lang="en-US" sz="1400" dirty="0"/>
          </a:p>
        </p:txBody>
      </p:sp>
      <p:pic>
        <p:nvPicPr>
          <p:cNvPr id="36" name="Image 5" descr="/tmp/claude-0/-home-claude/cf1b82dd-723a-5c0d-b3ee-f6062e85aabe/scratchpad/nd/ic/FaCheck_g.png">    </p:cNvPr>
          <p:cNvPicPr>
            <a:picLocks noChangeAspect="1"/>
          </p:cNvPicPr>
          <p:nvPr/>
        </p:nvPicPr>
        <p:blipFill>
          <a:blip r:embed="rId11"/>
          <a:stretch>
            <a:fillRect/>
          </a:stretch>
        </p:blipFill>
        <p:spPr>
          <a:xfrm>
            <a:off x="11064240" y="4087368"/>
            <a:ext cx="237744" cy="237744"/>
          </a:xfrm>
          <a:prstGeom prst="rect">
            <a:avLst/>
          </a:prstGeom>
        </p:spPr>
      </p:pic>
      <p:sp>
        <p:nvSpPr>
          <p:cNvPr id="37" name="Text 29"/>
          <p:cNvSpPr txBox="1"/>
          <p:nvPr/>
        </p:nvSpPr>
        <p:spPr>
          <a:xfrm>
            <a:off x="6382512" y="4581144"/>
            <a:ext cx="1828800" cy="384048"/>
          </a:xfrm>
          <a:prstGeom prst="rect">
            <a:avLst/>
          </a:prstGeom>
          <a:noFill/>
          <a:ln/>
        </p:spPr>
        <p:txBody>
          <a:bodyPr wrap="square" lIns="0" tIns="0" rIns="0" bIns="0" rtlCol="0" anchor="ctr"/>
          <a:lstStyle/>
          <a:p>
            <a:pPr indent="0" marL="0">
              <a:buNone/>
            </a:pPr>
            <a:r>
              <a:rPr lang="en-US" sz="1400" dirty="0">
                <a:solidFill>
                  <a:srgbClr val="F2EFFF"/>
                </a:solidFill>
                <a:latin typeface="Consolas" pitchFamily="34" charset="0"/>
                <a:ea typeface="Consolas" pitchFamily="34" charset="-122"/>
                <a:cs typeface="Consolas" pitchFamily="34" charset="-120"/>
              </a:rPr>
              <a:t>"a"</a:t>
            </a:r>
            <a:endParaRPr lang="en-US" sz="1400" dirty="0"/>
          </a:p>
        </p:txBody>
      </p:sp>
      <p:sp>
        <p:nvSpPr>
          <p:cNvPr id="38" name="Text 30"/>
          <p:cNvSpPr txBox="1"/>
          <p:nvPr/>
        </p:nvSpPr>
        <p:spPr>
          <a:xfrm>
            <a:off x="8321040" y="4581144"/>
            <a:ext cx="1188720" cy="384048"/>
          </a:xfrm>
          <a:prstGeom prst="rect">
            <a:avLst/>
          </a:prstGeom>
          <a:noFill/>
          <a:ln/>
        </p:spPr>
        <p:txBody>
          <a:bodyPr wrap="square" lIns="0" tIns="0" rIns="0" bIns="0" rtlCol="0" anchor="ctr"/>
          <a:lstStyle/>
          <a:p>
            <a:pPr indent="0" marL="0">
              <a:buNone/>
            </a:pPr>
            <a:r>
              <a:rPr lang="en-US" sz="1400" dirty="0">
                <a:solidFill>
                  <a:srgbClr val="A9A3CF"/>
                </a:solidFill>
                <a:latin typeface="Consolas" pitchFamily="34" charset="0"/>
                <a:ea typeface="Consolas" pitchFamily="34" charset="-122"/>
                <a:cs typeface="Consolas" pitchFamily="34" charset="-120"/>
              </a:rPr>
              <a:t>True</a:t>
            </a:r>
            <a:endParaRPr lang="en-US" sz="1400" dirty="0"/>
          </a:p>
        </p:txBody>
      </p:sp>
      <p:sp>
        <p:nvSpPr>
          <p:cNvPr id="39" name="Text 31"/>
          <p:cNvSpPr txBox="1"/>
          <p:nvPr/>
        </p:nvSpPr>
        <p:spPr>
          <a:xfrm>
            <a:off x="9646920" y="4581144"/>
            <a:ext cx="1188720" cy="384048"/>
          </a:xfrm>
          <a:prstGeom prst="rect">
            <a:avLst/>
          </a:prstGeom>
          <a:noFill/>
          <a:ln/>
        </p:spPr>
        <p:txBody>
          <a:bodyPr wrap="square" lIns="0" tIns="0" rIns="0" bIns="0" rtlCol="0" anchor="ctr"/>
          <a:lstStyle/>
          <a:p>
            <a:pPr indent="0" marL="0">
              <a:buNone/>
            </a:pPr>
            <a:r>
              <a:rPr lang="en-US" sz="1400" b="1" dirty="0">
                <a:solidFill>
                  <a:srgbClr val="F2EFFF"/>
                </a:solidFill>
                <a:latin typeface="Consolas" pitchFamily="34" charset="0"/>
                <a:ea typeface="Consolas" pitchFamily="34" charset="-122"/>
                <a:cs typeface="Consolas" pitchFamily="34" charset="-120"/>
              </a:rPr>
              <a:t>True</a:t>
            </a:r>
            <a:endParaRPr lang="en-US" sz="1400" dirty="0"/>
          </a:p>
        </p:txBody>
      </p:sp>
      <p:pic>
        <p:nvPicPr>
          <p:cNvPr id="40" name="Image 6" descr="/tmp/claude-0/-home-claude/cf1b82dd-723a-5c0d-b3ee-f6062e85aabe/scratchpad/nd/ic/FaCheck_g.png">    </p:cNvPr>
          <p:cNvPicPr>
            <a:picLocks noChangeAspect="1"/>
          </p:cNvPicPr>
          <p:nvPr/>
        </p:nvPicPr>
        <p:blipFill>
          <a:blip r:embed="rId12"/>
          <a:stretch>
            <a:fillRect/>
          </a:stretch>
        </p:blipFill>
        <p:spPr>
          <a:xfrm>
            <a:off x="11064240" y="4654296"/>
            <a:ext cx="237744" cy="237744"/>
          </a:xfrm>
          <a:prstGeom prst="rect">
            <a:avLst/>
          </a:prstGeom>
        </p:spPr>
      </p:pic>
      <p:sp>
        <p:nvSpPr>
          <p:cNvPr id="41" name="Text 32"/>
          <p:cNvSpPr txBox="1"/>
          <p:nvPr/>
        </p:nvSpPr>
        <p:spPr>
          <a:xfrm>
            <a:off x="6382512" y="5148072"/>
            <a:ext cx="1828800" cy="384048"/>
          </a:xfrm>
          <a:prstGeom prst="rect">
            <a:avLst/>
          </a:prstGeom>
          <a:noFill/>
          <a:ln/>
        </p:spPr>
        <p:txBody>
          <a:bodyPr wrap="square" lIns="0" tIns="0" rIns="0" bIns="0" rtlCol="0" anchor="ctr"/>
          <a:lstStyle/>
          <a:p>
            <a:pPr indent="0" marL="0">
              <a:buNone/>
            </a:pPr>
            <a:r>
              <a:rPr lang="en-US" sz="1400" dirty="0">
                <a:solidFill>
                  <a:srgbClr val="F2EFFF"/>
                </a:solidFill>
                <a:latin typeface="Consolas" pitchFamily="34" charset="0"/>
                <a:ea typeface="Consolas" pitchFamily="34" charset="-122"/>
                <a:cs typeface="Consolas" pitchFamily="34" charset="-120"/>
              </a:rPr>
              <a:t>"ab"</a:t>
            </a:r>
            <a:endParaRPr lang="en-US" sz="1400" dirty="0"/>
          </a:p>
        </p:txBody>
      </p:sp>
      <p:sp>
        <p:nvSpPr>
          <p:cNvPr id="42" name="Text 33"/>
          <p:cNvSpPr txBox="1"/>
          <p:nvPr/>
        </p:nvSpPr>
        <p:spPr>
          <a:xfrm>
            <a:off x="8321040" y="5148072"/>
            <a:ext cx="1188720" cy="384048"/>
          </a:xfrm>
          <a:prstGeom prst="rect">
            <a:avLst/>
          </a:prstGeom>
          <a:noFill/>
          <a:ln/>
        </p:spPr>
        <p:txBody>
          <a:bodyPr wrap="square" lIns="0" tIns="0" rIns="0" bIns="0" rtlCol="0" anchor="ctr"/>
          <a:lstStyle/>
          <a:p>
            <a:pPr indent="0" marL="0">
              <a:buNone/>
            </a:pPr>
            <a:r>
              <a:rPr lang="en-US" sz="1400" dirty="0">
                <a:solidFill>
                  <a:srgbClr val="A9A3CF"/>
                </a:solidFill>
                <a:latin typeface="Consolas" pitchFamily="34" charset="0"/>
                <a:ea typeface="Consolas" pitchFamily="34" charset="-122"/>
                <a:cs typeface="Consolas" pitchFamily="34" charset="-120"/>
              </a:rPr>
              <a:t>False</a:t>
            </a:r>
            <a:endParaRPr lang="en-US" sz="1400" dirty="0"/>
          </a:p>
        </p:txBody>
      </p:sp>
      <p:sp>
        <p:nvSpPr>
          <p:cNvPr id="43" name="Text 34"/>
          <p:cNvSpPr txBox="1"/>
          <p:nvPr/>
        </p:nvSpPr>
        <p:spPr>
          <a:xfrm>
            <a:off x="9646920" y="5148072"/>
            <a:ext cx="1188720" cy="384048"/>
          </a:xfrm>
          <a:prstGeom prst="rect">
            <a:avLst/>
          </a:prstGeom>
          <a:noFill/>
          <a:ln/>
        </p:spPr>
        <p:txBody>
          <a:bodyPr wrap="square" lIns="0" tIns="0" rIns="0" bIns="0" rtlCol="0" anchor="ctr"/>
          <a:lstStyle/>
          <a:p>
            <a:pPr indent="0" marL="0">
              <a:buNone/>
            </a:pPr>
            <a:r>
              <a:rPr lang="en-US" sz="1400" b="1" dirty="0">
                <a:solidFill>
                  <a:srgbClr val="F2EFFF"/>
                </a:solidFill>
                <a:latin typeface="Consolas" pitchFamily="34" charset="0"/>
                <a:ea typeface="Consolas" pitchFamily="34" charset="-122"/>
                <a:cs typeface="Consolas" pitchFamily="34" charset="-120"/>
              </a:rPr>
              <a:t>False</a:t>
            </a:r>
            <a:endParaRPr lang="en-US" sz="1400" dirty="0"/>
          </a:p>
        </p:txBody>
      </p:sp>
      <p:pic>
        <p:nvPicPr>
          <p:cNvPr id="44" name="Image 7" descr="/tmp/claude-0/-home-claude/cf1b82dd-723a-5c0d-b3ee-f6062e85aabe/scratchpad/nd/ic/FaCheck_g.png">    </p:cNvPr>
          <p:cNvPicPr>
            <a:picLocks noChangeAspect="1"/>
          </p:cNvPicPr>
          <p:nvPr/>
        </p:nvPicPr>
        <p:blipFill>
          <a:blip r:embed="rId13"/>
          <a:stretch>
            <a:fillRect/>
          </a:stretch>
        </p:blipFill>
        <p:spPr>
          <a:xfrm>
            <a:off x="11064240" y="5221224"/>
            <a:ext cx="237744" cy="237744"/>
          </a:xfrm>
          <a:prstGeom prst="rect">
            <a:avLst/>
          </a:prstGeom>
        </p:spPr>
      </p:pic>
      <p:sp>
        <p:nvSpPr>
          <p:cNvPr id="45" name="Text 35"/>
          <p:cNvSpPr txBox="1"/>
          <p:nvPr/>
        </p:nvSpPr>
        <p:spPr>
          <a:xfrm>
            <a:off x="6382512" y="5733288"/>
            <a:ext cx="3657600" cy="347472"/>
          </a:xfrm>
          <a:prstGeom prst="rect">
            <a:avLst/>
          </a:prstGeom>
          <a:noFill/>
          <a:ln/>
        </p:spPr>
        <p:txBody>
          <a:bodyPr wrap="square" lIns="0" tIns="0" rIns="0" bIns="0" rtlCol="0" anchor="t"/>
          <a:lstStyle/>
          <a:p>
            <a:pPr indent="0" marL="0">
              <a:buNone/>
            </a:pPr>
            <a:r>
              <a:rPr lang="en-US" sz="1500" b="1" dirty="0">
                <a:solidFill>
                  <a:srgbClr val="FF5C7A"/>
                </a:solidFill>
                <a:latin typeface="Segoe UI" pitchFamily="34" charset="0"/>
                <a:ea typeface="Segoe UI" pitchFamily="34" charset="-122"/>
                <a:cs typeface="Segoe UI" pitchFamily="34" charset="-120"/>
              </a:rPr>
              <a:t>3 of 5 passed  →  FAIL</a:t>
            </a:r>
            <a:endParaRPr lang="en-US" sz="1500" dirty="0"/>
          </a:p>
        </p:txBody>
      </p:sp>
      <p:sp>
        <p:nvSpPr>
          <p:cNvPr id="46" name="btn-cont20">
            <a:hlinkClick r:id="rId14" action="ppaction://hlinksldjump"/>
          </p:cNvPr>
          <p:cNvSpPr/>
          <p:nvPr/>
        </p:nvSpPr>
        <p:spPr>
          <a:xfrm>
            <a:off x="548640" y="5623560"/>
            <a:ext cx="2377440" cy="566928"/>
          </a:xfrm>
          <a:prstGeom prst="roundRect">
            <a:avLst>
              <a:gd name="adj" fmla="val 50000"/>
            </a:avLst>
          </a:prstGeom>
          <a:solidFill>
            <a:srgbClr val="FF9F1C"/>
          </a:solidFill>
          <a:ln w="15875">
            <a:solidFill>
              <a:srgbClr val="FF9F1C"/>
            </a:solidFill>
          </a:ln>
        </p:spPr>
        <p:txBody>
          <a:bodyPr wrap="square" lIns="0" tIns="0" rIns="0" bIns="0" rtlCol="0" anchor="ctr"/>
          <a:lstStyle/>
          <a:p>
            <a:pPr algn="ctr" indent="0" marL="0">
              <a:buNone/>
            </a:pPr>
            <a:r>
              <a:rPr lang="en-US" sz="1400" b="1" dirty="0">
                <a:solidFill>
                  <a:srgbClr val="0E0B1F"/>
                </a:solidFill>
                <a:latin typeface="Segoe UI" pitchFamily="34" charset="0"/>
                <a:ea typeface="Segoe UI" pitchFamily="34" charset="-122"/>
                <a:cs typeface="Segoe UI" pitchFamily="34" charset="-120"/>
              </a:rPr>
              <a:t>Continue  →</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name="Slide 21">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05 · YOUR TURN, JUDGES</a:t>
            </a:r>
            <a:endParaRPr lang="en-US" sz="1100" dirty="0"/>
          </a:p>
        </p:txBody>
      </p:sp>
      <p:sp>
        <p:nvSpPr>
          <p:cNvPr id="10"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Not quite: it fails.</a:t>
            </a:r>
            <a:endParaRPr lang="en-US" sz="3000" dirty="0"/>
          </a:p>
        </p:txBody>
      </p:sp>
      <p:pic>
        <p:nvPicPr>
          <p:cNvPr id="11" name="Image 2" descr="/tmp/claude-0/-home-claude/cf1b82dd-723a-5c0d-b3ee-f6062e85aabe/scratchpad/nd/ic/FaTimesCircle_r.png">    </p:cNvPr>
          <p:cNvPicPr>
            <a:picLocks noChangeAspect="1"/>
          </p:cNvPicPr>
          <p:nvPr/>
        </p:nvPicPr>
        <p:blipFill>
          <a:blip r:embed="rId8"/>
          <a:stretch>
            <a:fillRect/>
          </a:stretch>
        </p:blipFill>
        <p:spPr>
          <a:xfrm>
            <a:off x="548640" y="2057400"/>
            <a:ext cx="685800" cy="685800"/>
          </a:xfrm>
          <a:prstGeom prst="rect">
            <a:avLst/>
          </a:prstGeom>
        </p:spPr>
      </p:pic>
      <p:sp>
        <p:nvSpPr>
          <p:cNvPr id="12" name="Text 7"/>
          <p:cNvSpPr txBox="1"/>
          <p:nvPr/>
        </p:nvSpPr>
        <p:spPr>
          <a:xfrm>
            <a:off x="1463040" y="2011680"/>
            <a:ext cx="4434840" cy="822960"/>
          </a:xfrm>
          <a:prstGeom prst="rect">
            <a:avLst/>
          </a:prstGeom>
          <a:noFill/>
          <a:ln/>
        </p:spPr>
        <p:txBody>
          <a:bodyPr wrap="square" lIns="0" tIns="0" rIns="0" bIns="0" rtlCol="0" anchor="t"/>
          <a:lstStyle/>
          <a:p>
            <a:pPr indent="0" marL="0">
              <a:buNone/>
            </a:pPr>
            <a:r>
              <a:rPr lang="en-US" sz="1400" b="1" dirty="0">
                <a:solidFill>
                  <a:srgbClr val="F2EFFF"/>
                </a:solidFill>
                <a:latin typeface="Segoe UI" pitchFamily="34" charset="0"/>
                <a:ea typeface="Segoe UI" pitchFamily="34" charset="-122"/>
                <a:cs typeface="Segoe UI" pitchFamily="34" charset="-120"/>
              </a:rPr>
              <a:t>The prompt said “capital small er tofat korbi na”: don't treat capital and small letters differently.</a:t>
            </a:r>
            <a:endParaRPr lang="en-US" sz="1400" dirty="0"/>
          </a:p>
        </p:txBody>
      </p:sp>
      <p:sp>
        <p:nvSpPr>
          <p:cNvPr id="13" name="Text 8"/>
          <p:cNvSpPr txBox="1"/>
          <p:nvPr/>
        </p:nvSpPr>
        <p:spPr>
          <a:xfrm>
            <a:off x="548640" y="3017520"/>
            <a:ext cx="5349240" cy="1005840"/>
          </a:xfrm>
          <a:prstGeom prst="rect">
            <a:avLst/>
          </a:prstGeom>
          <a:noFill/>
          <a:ln/>
        </p:spPr>
        <p:txBody>
          <a:bodyPr wrap="square" lIns="0" tIns="0" rIns="0" bIns="0" rtlCol="0" anchor="t"/>
          <a:lstStyle/>
          <a:p>
            <a:pPr indent="0" marL="0">
              <a:buNone/>
            </a:pPr>
            <a:r>
              <a:rPr lang="en-US" sz="1300" dirty="0">
                <a:solidFill>
                  <a:srgbClr val="A9A3CF"/>
                </a:solidFill>
                <a:latin typeface="Segoe UI" pitchFamily="34" charset="0"/>
                <a:ea typeface="Segoe UI" pitchFamily="34" charset="-122"/>
                <a:cs typeface="Segoe UI" pitchFamily="34" charset="-120"/>
              </a:rPr>
              <a:t>The code compares the text exactly, so a capital R is not the same as a small r. Asked in English, the same model got this right.</a:t>
            </a:r>
            <a:endParaRPr lang="en-US" sz="1300" dirty="0"/>
          </a:p>
        </p:txBody>
      </p:sp>
      <p:sp>
        <p:nvSpPr>
          <p:cNvPr id="14" name="Shape 9"/>
          <p:cNvSpPr/>
          <p:nvPr/>
        </p:nvSpPr>
        <p:spPr>
          <a:xfrm>
            <a:off x="548640" y="4069080"/>
            <a:ext cx="5349240" cy="1325880"/>
          </a:xfrm>
          <a:prstGeom prst="roundRect">
            <a:avLst>
              <a:gd name="adj" fmla="val 9655"/>
            </a:avLst>
          </a:prstGeom>
          <a:solidFill>
            <a:srgbClr val="0B0918"/>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5" name="Text 10"/>
          <p:cNvSpPr txBox="1"/>
          <p:nvPr/>
        </p:nvSpPr>
        <p:spPr>
          <a:xfrm>
            <a:off x="777240" y="4187952"/>
            <a:ext cx="2743200" cy="201168"/>
          </a:xfrm>
          <a:prstGeom prst="rect">
            <a:avLst/>
          </a:prstGeom>
          <a:noFill/>
          <a:ln/>
        </p:spPr>
        <p:txBody>
          <a:bodyPr wrap="square" lIns="0" tIns="0" rIns="0" bIns="0" rtlCol="0" anchor="t"/>
          <a:lstStyle/>
          <a:p>
            <a:pPr indent="0" marL="0">
              <a:buNone/>
            </a:pPr>
            <a:r>
              <a:rPr lang="en-US" sz="950" dirty="0">
                <a:solidFill>
                  <a:srgbClr val="6F6A99"/>
                </a:solidFill>
                <a:latin typeface="Consolas" pitchFamily="34" charset="0"/>
                <a:ea typeface="Consolas" pitchFamily="34" charset="-122"/>
                <a:cs typeface="Consolas" pitchFamily="34" charset="-120"/>
              </a:rPr>
              <a:t>the AI's reply</a:t>
            </a:r>
            <a:endParaRPr lang="en-US" sz="950" dirty="0"/>
          </a:p>
        </p:txBody>
      </p:sp>
      <p:sp>
        <p:nvSpPr>
          <p:cNvPr id="16" name="Text 11"/>
          <p:cNvSpPr txBox="1"/>
          <p:nvPr/>
        </p:nvSpPr>
        <p:spPr>
          <a:xfrm>
            <a:off x="777240" y="4526280"/>
            <a:ext cx="4937760" cy="731520"/>
          </a:xfrm>
          <a:prstGeom prst="rect">
            <a:avLst/>
          </a:prstGeom>
          <a:noFill/>
          <a:ln/>
        </p:spPr>
        <p:txBody>
          <a:bodyPr wrap="square" lIns="0" tIns="0" rIns="0" bIns="0" rtlCol="0" anchor="t"/>
          <a:lstStyle/>
          <a:p>
            <a:pPr indent="0" marL="0">
              <a:buNone/>
            </a:pPr>
            <a:r>
              <a:rPr lang="en-US" sz="1400" dirty="0">
                <a:solidFill>
                  <a:srgbClr val="FF9F1C"/>
                </a:solidFill>
                <a:latin typeface="Consolas" pitchFamily="34" charset="0"/>
                <a:ea typeface="Consolas" pitchFamily="34" charset="-122"/>
                <a:cs typeface="Consolas" pitchFamily="34" charset="-120"/>
              </a:rPr>
              <a:t>def </a:t>
            </a:r>
            <a:pPr indent="0" marL="0">
              <a:buNone/>
            </a:pPr>
            <a:r>
              <a:rPr lang="en-US" sz="1400" dirty="0">
                <a:solidFill>
                  <a:srgbClr val="9B8CFF"/>
                </a:solidFill>
                <a:latin typeface="Consolas" pitchFamily="34" charset="0"/>
                <a:ea typeface="Consolas" pitchFamily="34" charset="-122"/>
                <a:cs typeface="Consolas" pitchFamily="34" charset="-120"/>
              </a:rPr>
              <a:t>is_palindrome</a:t>
            </a:r>
            <a:pPr indent="0" marL="0">
              <a:buNone/>
            </a:pPr>
            <a:r>
              <a:rPr lang="en-US" sz="1400" dirty="0">
                <a:solidFill>
                  <a:srgbClr val="F2EFFF"/>
                </a:solidFill>
                <a:latin typeface="Consolas" pitchFamily="34" charset="0"/>
                <a:ea typeface="Consolas" pitchFamily="34" charset="-122"/>
                <a:cs typeface="Consolas" pitchFamily="34" charset="-120"/>
              </a:rPr>
              <a:t>(s: str) -&gt; bool:</a:t>
            </a:r>
            <a:endParaRPr lang="en-US" sz="1400" dirty="0"/>
          </a:p>
          <a:p>
            <a:pPr indent="0" marL="0">
              <a:buNone/>
            </a:pPr>
            <a:r>
              <a:rPr lang="en-US" sz="1400" dirty="0">
                <a:solidFill>
                  <a:srgbClr val="FF9F1C"/>
                </a:solidFill>
                <a:latin typeface="Consolas" pitchFamily="34" charset="0"/>
                <a:ea typeface="Consolas" pitchFamily="34" charset="-122"/>
                <a:cs typeface="Consolas" pitchFamily="34" charset="-120"/>
              </a:rPr>
              <a:t>    return </a:t>
            </a:r>
            <a:pPr indent="0" marL="0">
              <a:buNone/>
            </a:pPr>
            <a:r>
              <a:rPr lang="en-US" sz="1400" dirty="0">
                <a:solidFill>
                  <a:srgbClr val="F2EFFF"/>
                </a:solidFill>
                <a:latin typeface="Consolas" pitchFamily="34" charset="0"/>
                <a:ea typeface="Consolas" pitchFamily="34" charset="-122"/>
                <a:cs typeface="Consolas" pitchFamily="34" charset="-120"/>
              </a:rPr>
              <a:t>s == s[::-1]</a:t>
            </a:r>
            <a:endParaRPr lang="en-US" sz="1400" dirty="0"/>
          </a:p>
        </p:txBody>
      </p:sp>
      <p:sp>
        <p:nvSpPr>
          <p:cNvPr id="17" name="Shape 12"/>
          <p:cNvSpPr/>
          <p:nvPr/>
        </p:nvSpPr>
        <p:spPr>
          <a:xfrm>
            <a:off x="6126480" y="2011680"/>
            <a:ext cx="5605272" cy="4206240"/>
          </a:xfrm>
          <a:prstGeom prst="roundRect">
            <a:avLst>
              <a:gd name="adj" fmla="val 3043"/>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8" name="Text 13"/>
          <p:cNvSpPr txBox="1"/>
          <p:nvPr/>
        </p:nvSpPr>
        <p:spPr>
          <a:xfrm>
            <a:off x="6382512" y="2194560"/>
            <a:ext cx="2743200" cy="201168"/>
          </a:xfrm>
          <a:prstGeom prst="rect">
            <a:avLst/>
          </a:prstGeom>
          <a:noFill/>
          <a:ln/>
        </p:spPr>
        <p:txBody>
          <a:bodyPr wrap="square" lIns="0" tIns="0" rIns="0" bIns="0" rtlCol="0" anchor="t"/>
          <a:lstStyle/>
          <a:p>
            <a:pPr indent="0" marL="0">
              <a:buNone/>
            </a:pPr>
            <a:r>
              <a:rPr lang="en-US" sz="950" b="1" spc="100" kern="0" dirty="0">
                <a:solidFill>
                  <a:srgbClr val="6F6A99"/>
                </a:solidFill>
                <a:latin typeface="Consolas" pitchFamily="34" charset="0"/>
                <a:ea typeface="Consolas" pitchFamily="34" charset="-122"/>
                <a:cs typeface="Consolas" pitchFamily="34" charset="-120"/>
              </a:rPr>
              <a:t>THE 5 TESTS</a:t>
            </a:r>
            <a:endParaRPr lang="en-US" sz="950" dirty="0"/>
          </a:p>
        </p:txBody>
      </p:sp>
      <p:sp>
        <p:nvSpPr>
          <p:cNvPr id="19" name="Text 14"/>
          <p:cNvSpPr txBox="1"/>
          <p:nvPr/>
        </p:nvSpPr>
        <p:spPr>
          <a:xfrm>
            <a:off x="6382512" y="2542032"/>
            <a:ext cx="1188720" cy="237744"/>
          </a:xfrm>
          <a:prstGeom prst="rect">
            <a:avLst/>
          </a:prstGeom>
          <a:noFill/>
          <a:ln/>
        </p:spPr>
        <p:txBody>
          <a:bodyPr wrap="square" lIns="0" tIns="0" rIns="0" bIns="0" rtlCol="0" anchor="t"/>
          <a:lstStyle/>
          <a:p>
            <a:pPr indent="0" marL="0">
              <a:buNone/>
            </a:pPr>
            <a:r>
              <a:rPr lang="en-US" sz="1050" b="1" dirty="0">
                <a:solidFill>
                  <a:srgbClr val="6F6A99"/>
                </a:solidFill>
                <a:latin typeface="Segoe UI" pitchFamily="34" charset="0"/>
                <a:ea typeface="Segoe UI" pitchFamily="34" charset="-122"/>
                <a:cs typeface="Segoe UI" pitchFamily="34" charset="-120"/>
              </a:rPr>
              <a:t>input</a:t>
            </a:r>
            <a:endParaRPr lang="en-US" sz="1050" dirty="0"/>
          </a:p>
        </p:txBody>
      </p:sp>
      <p:sp>
        <p:nvSpPr>
          <p:cNvPr id="20" name="Text 15"/>
          <p:cNvSpPr txBox="1"/>
          <p:nvPr/>
        </p:nvSpPr>
        <p:spPr>
          <a:xfrm>
            <a:off x="8321040" y="2542032"/>
            <a:ext cx="1188720" cy="237744"/>
          </a:xfrm>
          <a:prstGeom prst="rect">
            <a:avLst/>
          </a:prstGeom>
          <a:noFill/>
          <a:ln/>
        </p:spPr>
        <p:txBody>
          <a:bodyPr wrap="square" lIns="0" tIns="0" rIns="0" bIns="0" rtlCol="0" anchor="t"/>
          <a:lstStyle/>
          <a:p>
            <a:pPr indent="0" marL="0">
              <a:buNone/>
            </a:pPr>
            <a:r>
              <a:rPr lang="en-US" sz="1050" b="1" dirty="0">
                <a:solidFill>
                  <a:srgbClr val="6F6A99"/>
                </a:solidFill>
                <a:latin typeface="Segoe UI" pitchFamily="34" charset="0"/>
                <a:ea typeface="Segoe UI" pitchFamily="34" charset="-122"/>
                <a:cs typeface="Segoe UI" pitchFamily="34" charset="-120"/>
              </a:rPr>
              <a:t>expected</a:t>
            </a:r>
            <a:endParaRPr lang="en-US" sz="1050" dirty="0"/>
          </a:p>
        </p:txBody>
      </p:sp>
      <p:sp>
        <p:nvSpPr>
          <p:cNvPr id="21" name="Text 16"/>
          <p:cNvSpPr txBox="1"/>
          <p:nvPr/>
        </p:nvSpPr>
        <p:spPr>
          <a:xfrm>
            <a:off x="9646920" y="2542032"/>
            <a:ext cx="1188720" cy="237744"/>
          </a:xfrm>
          <a:prstGeom prst="rect">
            <a:avLst/>
          </a:prstGeom>
          <a:noFill/>
          <a:ln/>
        </p:spPr>
        <p:txBody>
          <a:bodyPr wrap="square" lIns="0" tIns="0" rIns="0" bIns="0" rtlCol="0" anchor="t"/>
          <a:lstStyle/>
          <a:p>
            <a:pPr indent="0" marL="0">
              <a:buNone/>
            </a:pPr>
            <a:r>
              <a:rPr lang="en-US" sz="1050" b="1" dirty="0">
                <a:solidFill>
                  <a:srgbClr val="6F6A99"/>
                </a:solidFill>
                <a:latin typeface="Segoe UI" pitchFamily="34" charset="0"/>
                <a:ea typeface="Segoe UI" pitchFamily="34" charset="-122"/>
                <a:cs typeface="Segoe UI" pitchFamily="34" charset="-120"/>
              </a:rPr>
              <a:t>got</a:t>
            </a:r>
            <a:endParaRPr lang="en-US" sz="1050" dirty="0"/>
          </a:p>
        </p:txBody>
      </p:sp>
      <p:sp>
        <p:nvSpPr>
          <p:cNvPr id="22" name="Text 17"/>
          <p:cNvSpPr txBox="1"/>
          <p:nvPr/>
        </p:nvSpPr>
        <p:spPr>
          <a:xfrm>
            <a:off x="10927080" y="2542032"/>
            <a:ext cx="1188720" cy="237744"/>
          </a:xfrm>
          <a:prstGeom prst="rect">
            <a:avLst/>
          </a:prstGeom>
          <a:noFill/>
          <a:ln/>
        </p:spPr>
        <p:txBody>
          <a:bodyPr wrap="square" lIns="0" tIns="0" rIns="0" bIns="0" rtlCol="0" anchor="t"/>
          <a:lstStyle/>
          <a:p>
            <a:pPr indent="0" marL="0">
              <a:buNone/>
            </a:pPr>
            <a:endParaRPr lang="en-US" sz="1050" dirty="0"/>
          </a:p>
        </p:txBody>
      </p:sp>
      <p:sp>
        <p:nvSpPr>
          <p:cNvPr id="23" name="Shape 18"/>
          <p:cNvSpPr/>
          <p:nvPr/>
        </p:nvSpPr>
        <p:spPr>
          <a:xfrm>
            <a:off x="6291072" y="2825496"/>
            <a:ext cx="5303520" cy="493776"/>
          </a:xfrm>
          <a:prstGeom prst="roundRect">
            <a:avLst>
              <a:gd name="adj" fmla="val 14815"/>
            </a:avLst>
          </a:prstGeom>
          <a:solidFill>
            <a:srgbClr val="FF5C7A">
              <a:alpha val="15000"/>
            </a:srgbClr>
          </a:solidFill>
          <a:ln w="9525">
            <a:solidFill>
              <a:srgbClr val="FF5C7A"/>
            </a:solidFill>
            <a:prstDash val="solid"/>
          </a:ln>
        </p:spPr>
      </p:sp>
      <p:sp>
        <p:nvSpPr>
          <p:cNvPr id="24" name="Text 19"/>
          <p:cNvSpPr txBox="1"/>
          <p:nvPr/>
        </p:nvSpPr>
        <p:spPr>
          <a:xfrm>
            <a:off x="6382512" y="2880360"/>
            <a:ext cx="1828800" cy="384048"/>
          </a:xfrm>
          <a:prstGeom prst="rect">
            <a:avLst/>
          </a:prstGeom>
          <a:noFill/>
          <a:ln/>
        </p:spPr>
        <p:txBody>
          <a:bodyPr wrap="square" lIns="0" tIns="0" rIns="0" bIns="0" rtlCol="0" anchor="ctr"/>
          <a:lstStyle/>
          <a:p>
            <a:pPr indent="0" marL="0">
              <a:buNone/>
            </a:pPr>
            <a:r>
              <a:rPr lang="en-US" sz="1400" dirty="0">
                <a:solidFill>
                  <a:srgbClr val="F2EFFF"/>
                </a:solidFill>
                <a:latin typeface="Consolas" pitchFamily="34" charset="0"/>
                <a:ea typeface="Consolas" pitchFamily="34" charset="-122"/>
                <a:cs typeface="Consolas" pitchFamily="34" charset="-120"/>
              </a:rPr>
              <a:t>"Racecar"</a:t>
            </a:r>
            <a:endParaRPr lang="en-US" sz="1400" dirty="0"/>
          </a:p>
        </p:txBody>
      </p:sp>
      <p:sp>
        <p:nvSpPr>
          <p:cNvPr id="25" name="Text 20"/>
          <p:cNvSpPr txBox="1"/>
          <p:nvPr/>
        </p:nvSpPr>
        <p:spPr>
          <a:xfrm>
            <a:off x="8321040" y="2880360"/>
            <a:ext cx="1188720" cy="384048"/>
          </a:xfrm>
          <a:prstGeom prst="rect">
            <a:avLst/>
          </a:prstGeom>
          <a:noFill/>
          <a:ln/>
        </p:spPr>
        <p:txBody>
          <a:bodyPr wrap="square" lIns="0" tIns="0" rIns="0" bIns="0" rtlCol="0" anchor="ctr"/>
          <a:lstStyle/>
          <a:p>
            <a:pPr indent="0" marL="0">
              <a:buNone/>
            </a:pPr>
            <a:r>
              <a:rPr lang="en-US" sz="1400" dirty="0">
                <a:solidFill>
                  <a:srgbClr val="A9A3CF"/>
                </a:solidFill>
                <a:latin typeface="Consolas" pitchFamily="34" charset="0"/>
                <a:ea typeface="Consolas" pitchFamily="34" charset="-122"/>
                <a:cs typeface="Consolas" pitchFamily="34" charset="-120"/>
              </a:rPr>
              <a:t>True</a:t>
            </a:r>
            <a:endParaRPr lang="en-US" sz="1400" dirty="0"/>
          </a:p>
        </p:txBody>
      </p:sp>
      <p:sp>
        <p:nvSpPr>
          <p:cNvPr id="26" name="Text 21"/>
          <p:cNvSpPr txBox="1"/>
          <p:nvPr/>
        </p:nvSpPr>
        <p:spPr>
          <a:xfrm>
            <a:off x="9646920" y="2880360"/>
            <a:ext cx="1188720" cy="384048"/>
          </a:xfrm>
          <a:prstGeom prst="rect">
            <a:avLst/>
          </a:prstGeom>
          <a:noFill/>
          <a:ln/>
        </p:spPr>
        <p:txBody>
          <a:bodyPr wrap="square" lIns="0" tIns="0" rIns="0" bIns="0" rtlCol="0" anchor="ctr"/>
          <a:lstStyle/>
          <a:p>
            <a:pPr indent="0" marL="0">
              <a:buNone/>
            </a:pPr>
            <a:r>
              <a:rPr lang="en-US" sz="1400" b="1" dirty="0">
                <a:solidFill>
                  <a:srgbClr val="FF5C7A"/>
                </a:solidFill>
                <a:latin typeface="Consolas" pitchFamily="34" charset="0"/>
                <a:ea typeface="Consolas" pitchFamily="34" charset="-122"/>
                <a:cs typeface="Consolas" pitchFamily="34" charset="-120"/>
              </a:rPr>
              <a:t>False</a:t>
            </a:r>
            <a:endParaRPr lang="en-US" sz="1400" dirty="0"/>
          </a:p>
        </p:txBody>
      </p:sp>
      <p:pic>
        <p:nvPicPr>
          <p:cNvPr id="27" name="Image 3" descr="/tmp/claude-0/-home-claude/cf1b82dd-723a-5c0d-b3ee-f6062e85aabe/scratchpad/nd/ic/FaTimes_r.png">    </p:cNvPr>
          <p:cNvPicPr>
            <a:picLocks noChangeAspect="1"/>
          </p:cNvPicPr>
          <p:nvPr/>
        </p:nvPicPr>
        <p:blipFill>
          <a:blip r:embed="rId9"/>
          <a:stretch>
            <a:fillRect/>
          </a:stretch>
        </p:blipFill>
        <p:spPr>
          <a:xfrm>
            <a:off x="11064240" y="2953512"/>
            <a:ext cx="237744" cy="237744"/>
          </a:xfrm>
          <a:prstGeom prst="rect">
            <a:avLst/>
          </a:prstGeom>
        </p:spPr>
      </p:pic>
      <p:sp>
        <p:nvSpPr>
          <p:cNvPr id="28" name="Shape 22"/>
          <p:cNvSpPr/>
          <p:nvPr/>
        </p:nvSpPr>
        <p:spPr>
          <a:xfrm>
            <a:off x="6291072" y="3392424"/>
            <a:ext cx="5303520" cy="493776"/>
          </a:xfrm>
          <a:prstGeom prst="roundRect">
            <a:avLst>
              <a:gd name="adj" fmla="val 14815"/>
            </a:avLst>
          </a:prstGeom>
          <a:solidFill>
            <a:srgbClr val="FF5C7A">
              <a:alpha val="15000"/>
            </a:srgbClr>
          </a:solidFill>
          <a:ln w="9525">
            <a:solidFill>
              <a:srgbClr val="FF5C7A"/>
            </a:solidFill>
            <a:prstDash val="solid"/>
          </a:ln>
        </p:spPr>
      </p:sp>
      <p:sp>
        <p:nvSpPr>
          <p:cNvPr id="29" name="Text 23"/>
          <p:cNvSpPr txBox="1"/>
          <p:nvPr/>
        </p:nvSpPr>
        <p:spPr>
          <a:xfrm>
            <a:off x="6382512" y="3447288"/>
            <a:ext cx="1828800" cy="384048"/>
          </a:xfrm>
          <a:prstGeom prst="rect">
            <a:avLst/>
          </a:prstGeom>
          <a:noFill/>
          <a:ln/>
        </p:spPr>
        <p:txBody>
          <a:bodyPr wrap="square" lIns="0" tIns="0" rIns="0" bIns="0" rtlCol="0" anchor="ctr"/>
          <a:lstStyle/>
          <a:p>
            <a:pPr indent="0" marL="0">
              <a:buNone/>
            </a:pPr>
            <a:r>
              <a:rPr lang="en-US" sz="1400" dirty="0">
                <a:solidFill>
                  <a:srgbClr val="F2EFFF"/>
                </a:solidFill>
                <a:latin typeface="Consolas" pitchFamily="34" charset="0"/>
                <a:ea typeface="Consolas" pitchFamily="34" charset="-122"/>
                <a:cs typeface="Consolas" pitchFamily="34" charset="-120"/>
              </a:rPr>
              <a:t>"Aa"</a:t>
            </a:r>
            <a:endParaRPr lang="en-US" sz="1400" dirty="0"/>
          </a:p>
        </p:txBody>
      </p:sp>
      <p:sp>
        <p:nvSpPr>
          <p:cNvPr id="30" name="Text 24"/>
          <p:cNvSpPr txBox="1"/>
          <p:nvPr/>
        </p:nvSpPr>
        <p:spPr>
          <a:xfrm>
            <a:off x="8321040" y="3447288"/>
            <a:ext cx="1188720" cy="384048"/>
          </a:xfrm>
          <a:prstGeom prst="rect">
            <a:avLst/>
          </a:prstGeom>
          <a:noFill/>
          <a:ln/>
        </p:spPr>
        <p:txBody>
          <a:bodyPr wrap="square" lIns="0" tIns="0" rIns="0" bIns="0" rtlCol="0" anchor="ctr"/>
          <a:lstStyle/>
          <a:p>
            <a:pPr indent="0" marL="0">
              <a:buNone/>
            </a:pPr>
            <a:r>
              <a:rPr lang="en-US" sz="1400" dirty="0">
                <a:solidFill>
                  <a:srgbClr val="A9A3CF"/>
                </a:solidFill>
                <a:latin typeface="Consolas" pitchFamily="34" charset="0"/>
                <a:ea typeface="Consolas" pitchFamily="34" charset="-122"/>
                <a:cs typeface="Consolas" pitchFamily="34" charset="-120"/>
              </a:rPr>
              <a:t>True</a:t>
            </a:r>
            <a:endParaRPr lang="en-US" sz="1400" dirty="0"/>
          </a:p>
        </p:txBody>
      </p:sp>
      <p:sp>
        <p:nvSpPr>
          <p:cNvPr id="31" name="Text 25"/>
          <p:cNvSpPr txBox="1"/>
          <p:nvPr/>
        </p:nvSpPr>
        <p:spPr>
          <a:xfrm>
            <a:off x="9646920" y="3447288"/>
            <a:ext cx="1188720" cy="384048"/>
          </a:xfrm>
          <a:prstGeom prst="rect">
            <a:avLst/>
          </a:prstGeom>
          <a:noFill/>
          <a:ln/>
        </p:spPr>
        <p:txBody>
          <a:bodyPr wrap="square" lIns="0" tIns="0" rIns="0" bIns="0" rtlCol="0" anchor="ctr"/>
          <a:lstStyle/>
          <a:p>
            <a:pPr indent="0" marL="0">
              <a:buNone/>
            </a:pPr>
            <a:r>
              <a:rPr lang="en-US" sz="1400" b="1" dirty="0">
                <a:solidFill>
                  <a:srgbClr val="FF5C7A"/>
                </a:solidFill>
                <a:latin typeface="Consolas" pitchFamily="34" charset="0"/>
                <a:ea typeface="Consolas" pitchFamily="34" charset="-122"/>
                <a:cs typeface="Consolas" pitchFamily="34" charset="-120"/>
              </a:rPr>
              <a:t>False</a:t>
            </a:r>
            <a:endParaRPr lang="en-US" sz="1400" dirty="0"/>
          </a:p>
        </p:txBody>
      </p:sp>
      <p:pic>
        <p:nvPicPr>
          <p:cNvPr id="32" name="Image 4" descr="/tmp/claude-0/-home-claude/cf1b82dd-723a-5c0d-b3ee-f6062e85aabe/scratchpad/nd/ic/FaTimes_r.png">    </p:cNvPr>
          <p:cNvPicPr>
            <a:picLocks noChangeAspect="1"/>
          </p:cNvPicPr>
          <p:nvPr/>
        </p:nvPicPr>
        <p:blipFill>
          <a:blip r:embed="rId10"/>
          <a:stretch>
            <a:fillRect/>
          </a:stretch>
        </p:blipFill>
        <p:spPr>
          <a:xfrm>
            <a:off x="11064240" y="3520440"/>
            <a:ext cx="237744" cy="237744"/>
          </a:xfrm>
          <a:prstGeom prst="rect">
            <a:avLst/>
          </a:prstGeom>
        </p:spPr>
      </p:pic>
      <p:sp>
        <p:nvSpPr>
          <p:cNvPr id="33" name="Text 26"/>
          <p:cNvSpPr txBox="1"/>
          <p:nvPr/>
        </p:nvSpPr>
        <p:spPr>
          <a:xfrm>
            <a:off x="6382512" y="4014216"/>
            <a:ext cx="1828800" cy="384048"/>
          </a:xfrm>
          <a:prstGeom prst="rect">
            <a:avLst/>
          </a:prstGeom>
          <a:noFill/>
          <a:ln/>
        </p:spPr>
        <p:txBody>
          <a:bodyPr wrap="square" lIns="0" tIns="0" rIns="0" bIns="0" rtlCol="0" anchor="ctr"/>
          <a:lstStyle/>
          <a:p>
            <a:pPr indent="0" marL="0">
              <a:buNone/>
            </a:pPr>
            <a:r>
              <a:rPr lang="en-US" sz="1400" dirty="0">
                <a:solidFill>
                  <a:srgbClr val="F2EFFF"/>
                </a:solidFill>
                <a:latin typeface="Consolas" pitchFamily="34" charset="0"/>
                <a:ea typeface="Consolas" pitchFamily="34" charset="-122"/>
                <a:cs typeface="Consolas" pitchFamily="34" charset="-120"/>
              </a:rPr>
              <a:t>"hello"</a:t>
            </a:r>
            <a:endParaRPr lang="en-US" sz="1400" dirty="0"/>
          </a:p>
        </p:txBody>
      </p:sp>
      <p:sp>
        <p:nvSpPr>
          <p:cNvPr id="34" name="Text 27"/>
          <p:cNvSpPr txBox="1"/>
          <p:nvPr/>
        </p:nvSpPr>
        <p:spPr>
          <a:xfrm>
            <a:off x="8321040" y="4014216"/>
            <a:ext cx="1188720" cy="384048"/>
          </a:xfrm>
          <a:prstGeom prst="rect">
            <a:avLst/>
          </a:prstGeom>
          <a:noFill/>
          <a:ln/>
        </p:spPr>
        <p:txBody>
          <a:bodyPr wrap="square" lIns="0" tIns="0" rIns="0" bIns="0" rtlCol="0" anchor="ctr"/>
          <a:lstStyle/>
          <a:p>
            <a:pPr indent="0" marL="0">
              <a:buNone/>
            </a:pPr>
            <a:r>
              <a:rPr lang="en-US" sz="1400" dirty="0">
                <a:solidFill>
                  <a:srgbClr val="A9A3CF"/>
                </a:solidFill>
                <a:latin typeface="Consolas" pitchFamily="34" charset="0"/>
                <a:ea typeface="Consolas" pitchFamily="34" charset="-122"/>
                <a:cs typeface="Consolas" pitchFamily="34" charset="-120"/>
              </a:rPr>
              <a:t>False</a:t>
            </a:r>
            <a:endParaRPr lang="en-US" sz="1400" dirty="0"/>
          </a:p>
        </p:txBody>
      </p:sp>
      <p:sp>
        <p:nvSpPr>
          <p:cNvPr id="35" name="Text 28"/>
          <p:cNvSpPr txBox="1"/>
          <p:nvPr/>
        </p:nvSpPr>
        <p:spPr>
          <a:xfrm>
            <a:off x="9646920" y="4014216"/>
            <a:ext cx="1188720" cy="384048"/>
          </a:xfrm>
          <a:prstGeom prst="rect">
            <a:avLst/>
          </a:prstGeom>
          <a:noFill/>
          <a:ln/>
        </p:spPr>
        <p:txBody>
          <a:bodyPr wrap="square" lIns="0" tIns="0" rIns="0" bIns="0" rtlCol="0" anchor="ctr"/>
          <a:lstStyle/>
          <a:p>
            <a:pPr indent="0" marL="0">
              <a:buNone/>
            </a:pPr>
            <a:r>
              <a:rPr lang="en-US" sz="1400" b="1" dirty="0">
                <a:solidFill>
                  <a:srgbClr val="F2EFFF"/>
                </a:solidFill>
                <a:latin typeface="Consolas" pitchFamily="34" charset="0"/>
                <a:ea typeface="Consolas" pitchFamily="34" charset="-122"/>
                <a:cs typeface="Consolas" pitchFamily="34" charset="-120"/>
              </a:rPr>
              <a:t>False</a:t>
            </a:r>
            <a:endParaRPr lang="en-US" sz="1400" dirty="0"/>
          </a:p>
        </p:txBody>
      </p:sp>
      <p:pic>
        <p:nvPicPr>
          <p:cNvPr id="36" name="Image 5" descr="/tmp/claude-0/-home-claude/cf1b82dd-723a-5c0d-b3ee-f6062e85aabe/scratchpad/nd/ic/FaCheck_g.png">    </p:cNvPr>
          <p:cNvPicPr>
            <a:picLocks noChangeAspect="1"/>
          </p:cNvPicPr>
          <p:nvPr/>
        </p:nvPicPr>
        <p:blipFill>
          <a:blip r:embed="rId11"/>
          <a:stretch>
            <a:fillRect/>
          </a:stretch>
        </p:blipFill>
        <p:spPr>
          <a:xfrm>
            <a:off x="11064240" y="4087368"/>
            <a:ext cx="237744" cy="237744"/>
          </a:xfrm>
          <a:prstGeom prst="rect">
            <a:avLst/>
          </a:prstGeom>
        </p:spPr>
      </p:pic>
      <p:sp>
        <p:nvSpPr>
          <p:cNvPr id="37" name="Text 29"/>
          <p:cNvSpPr txBox="1"/>
          <p:nvPr/>
        </p:nvSpPr>
        <p:spPr>
          <a:xfrm>
            <a:off x="6382512" y="4581144"/>
            <a:ext cx="1828800" cy="384048"/>
          </a:xfrm>
          <a:prstGeom prst="rect">
            <a:avLst/>
          </a:prstGeom>
          <a:noFill/>
          <a:ln/>
        </p:spPr>
        <p:txBody>
          <a:bodyPr wrap="square" lIns="0" tIns="0" rIns="0" bIns="0" rtlCol="0" anchor="ctr"/>
          <a:lstStyle/>
          <a:p>
            <a:pPr indent="0" marL="0">
              <a:buNone/>
            </a:pPr>
            <a:r>
              <a:rPr lang="en-US" sz="1400" dirty="0">
                <a:solidFill>
                  <a:srgbClr val="F2EFFF"/>
                </a:solidFill>
                <a:latin typeface="Consolas" pitchFamily="34" charset="0"/>
                <a:ea typeface="Consolas" pitchFamily="34" charset="-122"/>
                <a:cs typeface="Consolas" pitchFamily="34" charset="-120"/>
              </a:rPr>
              <a:t>"a"</a:t>
            </a:r>
            <a:endParaRPr lang="en-US" sz="1400" dirty="0"/>
          </a:p>
        </p:txBody>
      </p:sp>
      <p:sp>
        <p:nvSpPr>
          <p:cNvPr id="38" name="Text 30"/>
          <p:cNvSpPr txBox="1"/>
          <p:nvPr/>
        </p:nvSpPr>
        <p:spPr>
          <a:xfrm>
            <a:off x="8321040" y="4581144"/>
            <a:ext cx="1188720" cy="384048"/>
          </a:xfrm>
          <a:prstGeom prst="rect">
            <a:avLst/>
          </a:prstGeom>
          <a:noFill/>
          <a:ln/>
        </p:spPr>
        <p:txBody>
          <a:bodyPr wrap="square" lIns="0" tIns="0" rIns="0" bIns="0" rtlCol="0" anchor="ctr"/>
          <a:lstStyle/>
          <a:p>
            <a:pPr indent="0" marL="0">
              <a:buNone/>
            </a:pPr>
            <a:r>
              <a:rPr lang="en-US" sz="1400" dirty="0">
                <a:solidFill>
                  <a:srgbClr val="A9A3CF"/>
                </a:solidFill>
                <a:latin typeface="Consolas" pitchFamily="34" charset="0"/>
                <a:ea typeface="Consolas" pitchFamily="34" charset="-122"/>
                <a:cs typeface="Consolas" pitchFamily="34" charset="-120"/>
              </a:rPr>
              <a:t>True</a:t>
            </a:r>
            <a:endParaRPr lang="en-US" sz="1400" dirty="0"/>
          </a:p>
        </p:txBody>
      </p:sp>
      <p:sp>
        <p:nvSpPr>
          <p:cNvPr id="39" name="Text 31"/>
          <p:cNvSpPr txBox="1"/>
          <p:nvPr/>
        </p:nvSpPr>
        <p:spPr>
          <a:xfrm>
            <a:off x="9646920" y="4581144"/>
            <a:ext cx="1188720" cy="384048"/>
          </a:xfrm>
          <a:prstGeom prst="rect">
            <a:avLst/>
          </a:prstGeom>
          <a:noFill/>
          <a:ln/>
        </p:spPr>
        <p:txBody>
          <a:bodyPr wrap="square" lIns="0" tIns="0" rIns="0" bIns="0" rtlCol="0" anchor="ctr"/>
          <a:lstStyle/>
          <a:p>
            <a:pPr indent="0" marL="0">
              <a:buNone/>
            </a:pPr>
            <a:r>
              <a:rPr lang="en-US" sz="1400" b="1" dirty="0">
                <a:solidFill>
                  <a:srgbClr val="F2EFFF"/>
                </a:solidFill>
                <a:latin typeface="Consolas" pitchFamily="34" charset="0"/>
                <a:ea typeface="Consolas" pitchFamily="34" charset="-122"/>
                <a:cs typeface="Consolas" pitchFamily="34" charset="-120"/>
              </a:rPr>
              <a:t>True</a:t>
            </a:r>
            <a:endParaRPr lang="en-US" sz="1400" dirty="0"/>
          </a:p>
        </p:txBody>
      </p:sp>
      <p:pic>
        <p:nvPicPr>
          <p:cNvPr id="40" name="Image 6" descr="/tmp/claude-0/-home-claude/cf1b82dd-723a-5c0d-b3ee-f6062e85aabe/scratchpad/nd/ic/FaCheck_g.png">    </p:cNvPr>
          <p:cNvPicPr>
            <a:picLocks noChangeAspect="1"/>
          </p:cNvPicPr>
          <p:nvPr/>
        </p:nvPicPr>
        <p:blipFill>
          <a:blip r:embed="rId12"/>
          <a:stretch>
            <a:fillRect/>
          </a:stretch>
        </p:blipFill>
        <p:spPr>
          <a:xfrm>
            <a:off x="11064240" y="4654296"/>
            <a:ext cx="237744" cy="237744"/>
          </a:xfrm>
          <a:prstGeom prst="rect">
            <a:avLst/>
          </a:prstGeom>
        </p:spPr>
      </p:pic>
      <p:sp>
        <p:nvSpPr>
          <p:cNvPr id="41" name="Text 32"/>
          <p:cNvSpPr txBox="1"/>
          <p:nvPr/>
        </p:nvSpPr>
        <p:spPr>
          <a:xfrm>
            <a:off x="6382512" y="5148072"/>
            <a:ext cx="1828800" cy="384048"/>
          </a:xfrm>
          <a:prstGeom prst="rect">
            <a:avLst/>
          </a:prstGeom>
          <a:noFill/>
          <a:ln/>
        </p:spPr>
        <p:txBody>
          <a:bodyPr wrap="square" lIns="0" tIns="0" rIns="0" bIns="0" rtlCol="0" anchor="ctr"/>
          <a:lstStyle/>
          <a:p>
            <a:pPr indent="0" marL="0">
              <a:buNone/>
            </a:pPr>
            <a:r>
              <a:rPr lang="en-US" sz="1400" dirty="0">
                <a:solidFill>
                  <a:srgbClr val="F2EFFF"/>
                </a:solidFill>
                <a:latin typeface="Consolas" pitchFamily="34" charset="0"/>
                <a:ea typeface="Consolas" pitchFamily="34" charset="-122"/>
                <a:cs typeface="Consolas" pitchFamily="34" charset="-120"/>
              </a:rPr>
              <a:t>"ab"</a:t>
            </a:r>
            <a:endParaRPr lang="en-US" sz="1400" dirty="0"/>
          </a:p>
        </p:txBody>
      </p:sp>
      <p:sp>
        <p:nvSpPr>
          <p:cNvPr id="42" name="Text 33"/>
          <p:cNvSpPr txBox="1"/>
          <p:nvPr/>
        </p:nvSpPr>
        <p:spPr>
          <a:xfrm>
            <a:off x="8321040" y="5148072"/>
            <a:ext cx="1188720" cy="384048"/>
          </a:xfrm>
          <a:prstGeom prst="rect">
            <a:avLst/>
          </a:prstGeom>
          <a:noFill/>
          <a:ln/>
        </p:spPr>
        <p:txBody>
          <a:bodyPr wrap="square" lIns="0" tIns="0" rIns="0" bIns="0" rtlCol="0" anchor="ctr"/>
          <a:lstStyle/>
          <a:p>
            <a:pPr indent="0" marL="0">
              <a:buNone/>
            </a:pPr>
            <a:r>
              <a:rPr lang="en-US" sz="1400" dirty="0">
                <a:solidFill>
                  <a:srgbClr val="A9A3CF"/>
                </a:solidFill>
                <a:latin typeface="Consolas" pitchFamily="34" charset="0"/>
                <a:ea typeface="Consolas" pitchFamily="34" charset="-122"/>
                <a:cs typeface="Consolas" pitchFamily="34" charset="-120"/>
              </a:rPr>
              <a:t>False</a:t>
            </a:r>
            <a:endParaRPr lang="en-US" sz="1400" dirty="0"/>
          </a:p>
        </p:txBody>
      </p:sp>
      <p:sp>
        <p:nvSpPr>
          <p:cNvPr id="43" name="Text 34"/>
          <p:cNvSpPr txBox="1"/>
          <p:nvPr/>
        </p:nvSpPr>
        <p:spPr>
          <a:xfrm>
            <a:off x="9646920" y="5148072"/>
            <a:ext cx="1188720" cy="384048"/>
          </a:xfrm>
          <a:prstGeom prst="rect">
            <a:avLst/>
          </a:prstGeom>
          <a:noFill/>
          <a:ln/>
        </p:spPr>
        <p:txBody>
          <a:bodyPr wrap="square" lIns="0" tIns="0" rIns="0" bIns="0" rtlCol="0" anchor="ctr"/>
          <a:lstStyle/>
          <a:p>
            <a:pPr indent="0" marL="0">
              <a:buNone/>
            </a:pPr>
            <a:r>
              <a:rPr lang="en-US" sz="1400" b="1" dirty="0">
                <a:solidFill>
                  <a:srgbClr val="F2EFFF"/>
                </a:solidFill>
                <a:latin typeface="Consolas" pitchFamily="34" charset="0"/>
                <a:ea typeface="Consolas" pitchFamily="34" charset="-122"/>
                <a:cs typeface="Consolas" pitchFamily="34" charset="-120"/>
              </a:rPr>
              <a:t>False</a:t>
            </a:r>
            <a:endParaRPr lang="en-US" sz="1400" dirty="0"/>
          </a:p>
        </p:txBody>
      </p:sp>
      <p:pic>
        <p:nvPicPr>
          <p:cNvPr id="44" name="Image 7" descr="/tmp/claude-0/-home-claude/cf1b82dd-723a-5c0d-b3ee-f6062e85aabe/scratchpad/nd/ic/FaCheck_g.png">    </p:cNvPr>
          <p:cNvPicPr>
            <a:picLocks noChangeAspect="1"/>
          </p:cNvPicPr>
          <p:nvPr/>
        </p:nvPicPr>
        <p:blipFill>
          <a:blip r:embed="rId13"/>
          <a:stretch>
            <a:fillRect/>
          </a:stretch>
        </p:blipFill>
        <p:spPr>
          <a:xfrm>
            <a:off x="11064240" y="5221224"/>
            <a:ext cx="237744" cy="237744"/>
          </a:xfrm>
          <a:prstGeom prst="rect">
            <a:avLst/>
          </a:prstGeom>
        </p:spPr>
      </p:pic>
      <p:sp>
        <p:nvSpPr>
          <p:cNvPr id="45" name="Text 35"/>
          <p:cNvSpPr txBox="1"/>
          <p:nvPr/>
        </p:nvSpPr>
        <p:spPr>
          <a:xfrm>
            <a:off x="6382512" y="5733288"/>
            <a:ext cx="3657600" cy="347472"/>
          </a:xfrm>
          <a:prstGeom prst="rect">
            <a:avLst/>
          </a:prstGeom>
          <a:noFill/>
          <a:ln/>
        </p:spPr>
        <p:txBody>
          <a:bodyPr wrap="square" lIns="0" tIns="0" rIns="0" bIns="0" rtlCol="0" anchor="t"/>
          <a:lstStyle/>
          <a:p>
            <a:pPr indent="0" marL="0">
              <a:buNone/>
            </a:pPr>
            <a:r>
              <a:rPr lang="en-US" sz="1500" b="1" dirty="0">
                <a:solidFill>
                  <a:srgbClr val="FF5C7A"/>
                </a:solidFill>
                <a:latin typeface="Segoe UI" pitchFamily="34" charset="0"/>
                <a:ea typeface="Segoe UI" pitchFamily="34" charset="-122"/>
                <a:cs typeface="Segoe UI" pitchFamily="34" charset="-120"/>
              </a:rPr>
              <a:t>3 of 5 passed  →  FAIL</a:t>
            </a:r>
            <a:endParaRPr lang="en-US" sz="1500" dirty="0"/>
          </a:p>
        </p:txBody>
      </p:sp>
      <p:sp>
        <p:nvSpPr>
          <p:cNvPr id="46" name="btn-cont21">
            <a:hlinkClick r:id="rId14" action="ppaction://hlinksldjump"/>
          </p:cNvPr>
          <p:cNvSpPr/>
          <p:nvPr/>
        </p:nvSpPr>
        <p:spPr>
          <a:xfrm>
            <a:off x="548640" y="5623560"/>
            <a:ext cx="2377440" cy="566928"/>
          </a:xfrm>
          <a:prstGeom prst="roundRect">
            <a:avLst>
              <a:gd name="adj" fmla="val 50000"/>
            </a:avLst>
          </a:prstGeom>
          <a:solidFill>
            <a:srgbClr val="FF9F1C"/>
          </a:solidFill>
          <a:ln w="15875">
            <a:solidFill>
              <a:srgbClr val="FF9F1C"/>
            </a:solidFill>
          </a:ln>
        </p:spPr>
        <p:txBody>
          <a:bodyPr wrap="square" lIns="0" tIns="0" rIns="0" bIns="0" rtlCol="0" anchor="ctr"/>
          <a:lstStyle/>
          <a:p>
            <a:pPr algn="ctr" indent="0" marL="0">
              <a:buNone/>
            </a:pPr>
            <a:r>
              <a:rPr lang="en-US" sz="1400" b="1" dirty="0">
                <a:solidFill>
                  <a:srgbClr val="0E0B1F"/>
                </a:solidFill>
                <a:latin typeface="Segoe UI" pitchFamily="34" charset="0"/>
                <a:ea typeface="Segoe UI" pitchFamily="34" charset="-122"/>
                <a:cs typeface="Segoe UI" pitchFamily="34" charset="-120"/>
              </a:rPr>
              <a:t>Continue  →</a:t>
            </a:r>
            <a:endParaRPr lang="en-US" sz="14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name="Slide 22">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BACKUP TOUR · 1 / 4</a:t>
            </a:r>
            <a:endParaRPr lang="en-US" sz="1100" dirty="0"/>
          </a:p>
        </p:txBody>
      </p:sp>
      <p:sp>
        <p:nvSpPr>
          <p:cNvPr id="10"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The Mix Dial</a:t>
            </a:r>
            <a:endParaRPr lang="en-US" sz="3000" dirty="0"/>
          </a:p>
        </p:txBody>
      </p:sp>
      <p:sp>
        <p:nvSpPr>
          <p:cNvPr id="11" name="Shape 7"/>
          <p:cNvSpPr/>
          <p:nvPr/>
        </p:nvSpPr>
        <p:spPr>
          <a:xfrm>
            <a:off x="2660568" y="1965960"/>
            <a:ext cx="6870559" cy="4032504"/>
          </a:xfrm>
          <a:prstGeom prst="roundRect">
            <a:avLst>
              <a:gd name="adj" fmla="val 3175"/>
            </a:avLst>
          </a:prstGeom>
          <a:solidFill>
            <a:srgbClr val="17132E"/>
          </a:solidFill>
          <a:ln w="12700">
            <a:solidFill>
              <a:srgbClr val="9B8CFF"/>
            </a:solidFill>
            <a:prstDash val="solid"/>
          </a:ln>
          <a:effectLst>
            <a:outerShdw sx="100000" sy="100000" kx="0" ky="0" algn="bl" rotWithShape="0" blurRad="177800" dist="50800" dir="5400000">
              <a:srgbClr val="000000">
                <a:alpha val="45000"/>
              </a:srgbClr>
            </a:outerShdw>
          </a:effectLst>
        </p:spPr>
      </p:sp>
      <p:pic>
        <p:nvPicPr>
          <p:cNvPr id="12" name="Image 2" descr="/tmp/claude-0/-home-claude/cf1b82dd-723a-5c0d-b3ee-f6062e85aabe/scratchpad/nd/hero_crop.png">    </p:cNvPr>
          <p:cNvPicPr>
            <a:picLocks noChangeAspect="1"/>
          </p:cNvPicPr>
          <p:nvPr/>
        </p:nvPicPr>
        <p:blipFill>
          <a:blip r:embed="rId8"/>
          <a:stretch>
            <a:fillRect/>
          </a:stretch>
        </p:blipFill>
        <p:spPr>
          <a:xfrm>
            <a:off x="2733720" y="2039112"/>
            <a:ext cx="6724255" cy="3886200"/>
          </a:xfrm>
          <a:prstGeom prst="rect">
            <a:avLst/>
          </a:prstGeom>
        </p:spPr>
      </p:pic>
      <p:sp>
        <p:nvSpPr>
          <p:cNvPr id="13" name="btn-back22">
            <a:hlinkClick r:id="rId9" action="ppaction://hlinksldjump"/>
          </p:cNvPr>
          <p:cNvSpPr/>
          <p:nvPr/>
        </p:nvSpPr>
        <p:spPr>
          <a:xfrm>
            <a:off x="548640" y="6035040"/>
            <a:ext cx="2377440" cy="457200"/>
          </a:xfrm>
          <a:prstGeom prst="roundRect">
            <a:avLst>
              <a:gd name="adj" fmla="val 50000"/>
            </a:avLst>
          </a:prstGeom>
          <a:solidFill>
            <a:srgbClr val="211B42"/>
          </a:solidFill>
          <a:ln w="15875">
            <a:solidFill>
              <a:srgbClr val="2E2759"/>
            </a:solidFill>
          </a:ln>
        </p:spPr>
        <p:txBody>
          <a:bodyPr wrap="square" lIns="0" tIns="0" rIns="0" bIns="0" rtlCol="0" anchor="ctr"/>
          <a:lstStyle/>
          <a:p>
            <a:pPr algn="ctr" indent="0" marL="0">
              <a:buNone/>
            </a:pPr>
            <a:r>
              <a:rPr lang="en-US" sz="1200" b="1" dirty="0">
                <a:solidFill>
                  <a:srgbClr val="F2EFFF"/>
                </a:solidFill>
                <a:latin typeface="Segoe UI" pitchFamily="34" charset="0"/>
                <a:ea typeface="Segoe UI" pitchFamily="34" charset="-122"/>
                <a:cs typeface="Segoe UI" pitchFamily="34" charset="-120"/>
              </a:rPr>
              <a:t>←  Back to slides</a:t>
            </a:r>
            <a:endParaRPr lang="en-US" sz="1200" dirty="0"/>
          </a:p>
        </p:txBody>
      </p:sp>
      <p:sp>
        <p:nvSpPr>
          <p:cNvPr id="14" name="btn-next22">
            <a:hlinkClick r:id="rId10" action="ppaction://hlinksldjump"/>
          </p:cNvPr>
          <p:cNvSpPr/>
          <p:nvPr/>
        </p:nvSpPr>
        <p:spPr>
          <a:xfrm>
            <a:off x="9354312" y="6035040"/>
            <a:ext cx="2377440" cy="457200"/>
          </a:xfrm>
          <a:prstGeom prst="roundRect">
            <a:avLst>
              <a:gd name="adj" fmla="val 50000"/>
            </a:avLst>
          </a:prstGeom>
          <a:solidFill>
            <a:srgbClr val="FF9F1C"/>
          </a:solidFill>
          <a:ln w="15875">
            <a:solidFill>
              <a:srgbClr val="FF9F1C"/>
            </a:solidFill>
          </a:ln>
        </p:spPr>
        <p:txBody>
          <a:bodyPr wrap="square" lIns="0" tIns="0" rIns="0" bIns="0" rtlCol="0" anchor="ctr"/>
          <a:lstStyle/>
          <a:p>
            <a:pPr algn="ctr" indent="0" marL="0">
              <a:buNone/>
            </a:pPr>
            <a:r>
              <a:rPr lang="en-US" sz="1200" b="1" dirty="0">
                <a:solidFill>
                  <a:srgbClr val="0E0B1F"/>
                </a:solidFill>
                <a:latin typeface="Segoe UI" pitchFamily="34" charset="0"/>
                <a:ea typeface="Segoe UI" pitchFamily="34" charset="-122"/>
                <a:cs typeface="Segoe UI" pitchFamily="34" charset="-120"/>
              </a:rPr>
              <a:t>Next screen  →</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name="Slide 23">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BACKUP TOUR · 2 / 4</a:t>
            </a:r>
            <a:endParaRPr lang="en-US" sz="1100" dirty="0"/>
          </a:p>
        </p:txBody>
      </p:sp>
      <p:sp>
        <p:nvSpPr>
          <p:cNvPr id="10"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Where the models fail</a:t>
            </a:r>
            <a:endParaRPr lang="en-US" sz="3000" dirty="0"/>
          </a:p>
        </p:txBody>
      </p:sp>
      <p:sp>
        <p:nvSpPr>
          <p:cNvPr id="11" name="Shape 7"/>
          <p:cNvSpPr/>
          <p:nvPr/>
        </p:nvSpPr>
        <p:spPr>
          <a:xfrm>
            <a:off x="1076623" y="1965960"/>
            <a:ext cx="10038449" cy="4032504"/>
          </a:xfrm>
          <a:prstGeom prst="roundRect">
            <a:avLst>
              <a:gd name="adj" fmla="val 3175"/>
            </a:avLst>
          </a:prstGeom>
          <a:solidFill>
            <a:srgbClr val="17132E"/>
          </a:solidFill>
          <a:ln w="12700">
            <a:solidFill>
              <a:srgbClr val="9B8CFF"/>
            </a:solidFill>
            <a:prstDash val="solid"/>
          </a:ln>
          <a:effectLst>
            <a:outerShdw sx="100000" sy="100000" kx="0" ky="0" algn="bl" rotWithShape="0" blurRad="177800" dist="50800" dir="5400000">
              <a:srgbClr val="000000">
                <a:alpha val="45000"/>
              </a:srgbClr>
            </a:outerShdw>
          </a:effectLst>
        </p:spPr>
      </p:sp>
      <p:pic>
        <p:nvPicPr>
          <p:cNvPr id="12" name="Image 2" descr="/tmp/claude-0/-home-claude/cf1b82dd-723a-5c0d-b3ee-f6062e85aabe/scratchpad/nd/sc_grid.png">    </p:cNvPr>
          <p:cNvPicPr>
            <a:picLocks noChangeAspect="1"/>
          </p:cNvPicPr>
          <p:nvPr/>
        </p:nvPicPr>
        <p:blipFill>
          <a:blip r:embed="rId8"/>
          <a:stretch>
            <a:fillRect/>
          </a:stretch>
        </p:blipFill>
        <p:spPr>
          <a:xfrm>
            <a:off x="1149775" y="2039112"/>
            <a:ext cx="9892145" cy="3886200"/>
          </a:xfrm>
          <a:prstGeom prst="rect">
            <a:avLst/>
          </a:prstGeom>
        </p:spPr>
      </p:pic>
      <p:sp>
        <p:nvSpPr>
          <p:cNvPr id="13" name="btn-back23">
            <a:hlinkClick r:id="rId9" action="ppaction://hlinksldjump"/>
          </p:cNvPr>
          <p:cNvSpPr/>
          <p:nvPr/>
        </p:nvSpPr>
        <p:spPr>
          <a:xfrm>
            <a:off x="548640" y="6035040"/>
            <a:ext cx="2377440" cy="457200"/>
          </a:xfrm>
          <a:prstGeom prst="roundRect">
            <a:avLst>
              <a:gd name="adj" fmla="val 50000"/>
            </a:avLst>
          </a:prstGeom>
          <a:solidFill>
            <a:srgbClr val="211B42"/>
          </a:solidFill>
          <a:ln w="15875">
            <a:solidFill>
              <a:srgbClr val="2E2759"/>
            </a:solidFill>
          </a:ln>
        </p:spPr>
        <p:txBody>
          <a:bodyPr wrap="square" lIns="0" tIns="0" rIns="0" bIns="0" rtlCol="0" anchor="ctr"/>
          <a:lstStyle/>
          <a:p>
            <a:pPr algn="ctr" indent="0" marL="0">
              <a:buNone/>
            </a:pPr>
            <a:r>
              <a:rPr lang="en-US" sz="1200" b="1" dirty="0">
                <a:solidFill>
                  <a:srgbClr val="F2EFFF"/>
                </a:solidFill>
                <a:latin typeface="Segoe UI" pitchFamily="34" charset="0"/>
                <a:ea typeface="Segoe UI" pitchFamily="34" charset="-122"/>
                <a:cs typeface="Segoe UI" pitchFamily="34" charset="-120"/>
              </a:rPr>
              <a:t>←  Back to slides</a:t>
            </a:r>
            <a:endParaRPr lang="en-US" sz="1200" dirty="0"/>
          </a:p>
        </p:txBody>
      </p:sp>
      <p:sp>
        <p:nvSpPr>
          <p:cNvPr id="14" name="btn-next23">
            <a:hlinkClick r:id="rId10" action="ppaction://hlinksldjump"/>
          </p:cNvPr>
          <p:cNvSpPr/>
          <p:nvPr/>
        </p:nvSpPr>
        <p:spPr>
          <a:xfrm>
            <a:off x="9354312" y="6035040"/>
            <a:ext cx="2377440" cy="457200"/>
          </a:xfrm>
          <a:prstGeom prst="roundRect">
            <a:avLst>
              <a:gd name="adj" fmla="val 50000"/>
            </a:avLst>
          </a:prstGeom>
          <a:solidFill>
            <a:srgbClr val="FF9F1C"/>
          </a:solidFill>
          <a:ln w="15875">
            <a:solidFill>
              <a:srgbClr val="FF9F1C"/>
            </a:solidFill>
          </a:ln>
        </p:spPr>
        <p:txBody>
          <a:bodyPr wrap="square" lIns="0" tIns="0" rIns="0" bIns="0" rtlCol="0" anchor="ctr"/>
          <a:lstStyle/>
          <a:p>
            <a:pPr algn="ctr" indent="0" marL="0">
              <a:buNone/>
            </a:pPr>
            <a:r>
              <a:rPr lang="en-US" sz="1200" b="1" dirty="0">
                <a:solidFill>
                  <a:srgbClr val="0E0B1F"/>
                </a:solidFill>
                <a:latin typeface="Segoe UI" pitchFamily="34" charset="0"/>
                <a:ea typeface="Segoe UI" pitchFamily="34" charset="-122"/>
                <a:cs typeface="Segoe UI" pitchFamily="34" charset="-120"/>
              </a:rPr>
              <a:t>Next screen  →</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name="Slide 24">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BACKUP TOUR · 3 / 4</a:t>
            </a:r>
            <a:endParaRPr lang="en-US" sz="1100" dirty="0"/>
          </a:p>
        </p:txBody>
      </p:sp>
      <p:sp>
        <p:nvSpPr>
          <p:cNvPr id="10"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Guess the verdict game</a:t>
            </a:r>
            <a:endParaRPr lang="en-US" sz="3000" dirty="0"/>
          </a:p>
        </p:txBody>
      </p:sp>
      <p:sp>
        <p:nvSpPr>
          <p:cNvPr id="11" name="Shape 7"/>
          <p:cNvSpPr/>
          <p:nvPr/>
        </p:nvSpPr>
        <p:spPr>
          <a:xfrm>
            <a:off x="1837557" y="1965960"/>
            <a:ext cx="8516581" cy="4032504"/>
          </a:xfrm>
          <a:prstGeom prst="roundRect">
            <a:avLst>
              <a:gd name="adj" fmla="val 3175"/>
            </a:avLst>
          </a:prstGeom>
          <a:solidFill>
            <a:srgbClr val="17132E"/>
          </a:solidFill>
          <a:ln w="12700">
            <a:solidFill>
              <a:srgbClr val="9B8CFF"/>
            </a:solidFill>
            <a:prstDash val="solid"/>
          </a:ln>
          <a:effectLst>
            <a:outerShdw sx="100000" sy="100000" kx="0" ky="0" algn="bl" rotWithShape="0" blurRad="177800" dist="50800" dir="5400000">
              <a:srgbClr val="000000">
                <a:alpha val="45000"/>
              </a:srgbClr>
            </a:outerShdw>
          </a:effectLst>
        </p:spPr>
      </p:sp>
      <p:pic>
        <p:nvPicPr>
          <p:cNvPr id="12" name="Image 2" descr="/tmp/claude-0/-home-claude/cf1b82dd-723a-5c0d-b3ee-f6062e85aabe/scratchpad/nd/sc_game.png">    </p:cNvPr>
          <p:cNvPicPr>
            <a:picLocks noChangeAspect="1"/>
          </p:cNvPicPr>
          <p:nvPr/>
        </p:nvPicPr>
        <p:blipFill>
          <a:blip r:embed="rId8"/>
          <a:stretch>
            <a:fillRect/>
          </a:stretch>
        </p:blipFill>
        <p:spPr>
          <a:xfrm>
            <a:off x="1910709" y="2039112"/>
            <a:ext cx="8370277" cy="3886200"/>
          </a:xfrm>
          <a:prstGeom prst="rect">
            <a:avLst/>
          </a:prstGeom>
        </p:spPr>
      </p:pic>
      <p:sp>
        <p:nvSpPr>
          <p:cNvPr id="13" name="btn-back24">
            <a:hlinkClick r:id="rId9" action="ppaction://hlinksldjump"/>
          </p:cNvPr>
          <p:cNvSpPr/>
          <p:nvPr/>
        </p:nvSpPr>
        <p:spPr>
          <a:xfrm>
            <a:off x="548640" y="6035040"/>
            <a:ext cx="2377440" cy="457200"/>
          </a:xfrm>
          <a:prstGeom prst="roundRect">
            <a:avLst>
              <a:gd name="adj" fmla="val 50000"/>
            </a:avLst>
          </a:prstGeom>
          <a:solidFill>
            <a:srgbClr val="211B42"/>
          </a:solidFill>
          <a:ln w="15875">
            <a:solidFill>
              <a:srgbClr val="2E2759"/>
            </a:solidFill>
          </a:ln>
        </p:spPr>
        <p:txBody>
          <a:bodyPr wrap="square" lIns="0" tIns="0" rIns="0" bIns="0" rtlCol="0" anchor="ctr"/>
          <a:lstStyle/>
          <a:p>
            <a:pPr algn="ctr" indent="0" marL="0">
              <a:buNone/>
            </a:pPr>
            <a:r>
              <a:rPr lang="en-US" sz="1200" b="1" dirty="0">
                <a:solidFill>
                  <a:srgbClr val="F2EFFF"/>
                </a:solidFill>
                <a:latin typeface="Segoe UI" pitchFamily="34" charset="0"/>
                <a:ea typeface="Segoe UI" pitchFamily="34" charset="-122"/>
                <a:cs typeface="Segoe UI" pitchFamily="34" charset="-120"/>
              </a:rPr>
              <a:t>←  Back to slides</a:t>
            </a:r>
            <a:endParaRPr lang="en-US" sz="1200" dirty="0"/>
          </a:p>
        </p:txBody>
      </p:sp>
      <p:sp>
        <p:nvSpPr>
          <p:cNvPr id="14" name="btn-next24">
            <a:hlinkClick r:id="rId10" action="ppaction://hlinksldjump"/>
          </p:cNvPr>
          <p:cNvSpPr/>
          <p:nvPr/>
        </p:nvSpPr>
        <p:spPr>
          <a:xfrm>
            <a:off x="9354312" y="6035040"/>
            <a:ext cx="2377440" cy="457200"/>
          </a:xfrm>
          <a:prstGeom prst="roundRect">
            <a:avLst>
              <a:gd name="adj" fmla="val 50000"/>
            </a:avLst>
          </a:prstGeom>
          <a:solidFill>
            <a:srgbClr val="FF9F1C"/>
          </a:solidFill>
          <a:ln w="15875">
            <a:solidFill>
              <a:srgbClr val="FF9F1C"/>
            </a:solidFill>
          </a:ln>
        </p:spPr>
        <p:txBody>
          <a:bodyPr wrap="square" lIns="0" tIns="0" rIns="0" bIns="0" rtlCol="0" anchor="ctr"/>
          <a:lstStyle/>
          <a:p>
            <a:pPr algn="ctr" indent="0" marL="0">
              <a:buNone/>
            </a:pPr>
            <a:r>
              <a:rPr lang="en-US" sz="1200" b="1" dirty="0">
                <a:solidFill>
                  <a:srgbClr val="0E0B1F"/>
                </a:solidFill>
                <a:latin typeface="Segoe UI" pitchFamily="34" charset="0"/>
                <a:ea typeface="Segoe UI" pitchFamily="34" charset="-122"/>
                <a:cs typeface="Segoe UI" pitchFamily="34" charset="-120"/>
              </a:rPr>
              <a:t>Next screen  →</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name="Slide 25">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BACKUP TOUR · 4 / 4</a:t>
            </a:r>
            <a:endParaRPr lang="en-US" sz="1100" dirty="0"/>
          </a:p>
        </p:txBody>
      </p:sp>
      <p:sp>
        <p:nvSpPr>
          <p:cNvPr id="10"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Every failed answer</a:t>
            </a:r>
            <a:endParaRPr lang="en-US" sz="3000" dirty="0"/>
          </a:p>
        </p:txBody>
      </p:sp>
      <p:sp>
        <p:nvSpPr>
          <p:cNvPr id="11" name="Shape 7"/>
          <p:cNvSpPr/>
          <p:nvPr/>
        </p:nvSpPr>
        <p:spPr>
          <a:xfrm>
            <a:off x="3055052" y="1965960"/>
            <a:ext cx="6081591" cy="4032504"/>
          </a:xfrm>
          <a:prstGeom prst="roundRect">
            <a:avLst>
              <a:gd name="adj" fmla="val 3175"/>
            </a:avLst>
          </a:prstGeom>
          <a:solidFill>
            <a:srgbClr val="17132E"/>
          </a:solidFill>
          <a:ln w="12700">
            <a:solidFill>
              <a:srgbClr val="9B8CFF"/>
            </a:solidFill>
            <a:prstDash val="solid"/>
          </a:ln>
          <a:effectLst>
            <a:outerShdw sx="100000" sy="100000" kx="0" ky="0" algn="bl" rotWithShape="0" blurRad="177800" dist="50800" dir="5400000">
              <a:srgbClr val="000000">
                <a:alpha val="45000"/>
              </a:srgbClr>
            </a:outerShdw>
          </a:effectLst>
        </p:spPr>
      </p:sp>
      <p:pic>
        <p:nvPicPr>
          <p:cNvPr id="12" name="Image 2" descr="/tmp/claude-0/-home-claude/cf1b82dd-723a-5c0d-b3ee-f6062e85aabe/scratchpad/nd/sc_fail.png">    </p:cNvPr>
          <p:cNvPicPr>
            <a:picLocks noChangeAspect="1"/>
          </p:cNvPicPr>
          <p:nvPr/>
        </p:nvPicPr>
        <p:blipFill>
          <a:blip r:embed="rId8"/>
          <a:stretch>
            <a:fillRect/>
          </a:stretch>
        </p:blipFill>
        <p:spPr>
          <a:xfrm>
            <a:off x="3128204" y="2039112"/>
            <a:ext cx="5935287" cy="3886200"/>
          </a:xfrm>
          <a:prstGeom prst="rect">
            <a:avLst/>
          </a:prstGeom>
        </p:spPr>
      </p:pic>
      <p:sp>
        <p:nvSpPr>
          <p:cNvPr id="13" name="btn-back25">
            <a:hlinkClick r:id="rId9" action="ppaction://hlinksldjump"/>
          </p:cNvPr>
          <p:cNvSpPr/>
          <p:nvPr/>
        </p:nvSpPr>
        <p:spPr>
          <a:xfrm>
            <a:off x="548640" y="6035040"/>
            <a:ext cx="2377440" cy="457200"/>
          </a:xfrm>
          <a:prstGeom prst="roundRect">
            <a:avLst>
              <a:gd name="adj" fmla="val 50000"/>
            </a:avLst>
          </a:prstGeom>
          <a:solidFill>
            <a:srgbClr val="211B42"/>
          </a:solidFill>
          <a:ln w="15875">
            <a:solidFill>
              <a:srgbClr val="2E2759"/>
            </a:solidFill>
          </a:ln>
        </p:spPr>
        <p:txBody>
          <a:bodyPr wrap="square" lIns="0" tIns="0" rIns="0" bIns="0" rtlCol="0" anchor="ctr"/>
          <a:lstStyle/>
          <a:p>
            <a:pPr algn="ctr" indent="0" marL="0">
              <a:buNone/>
            </a:pPr>
            <a:r>
              <a:rPr lang="en-US" sz="1200" b="1" dirty="0">
                <a:solidFill>
                  <a:srgbClr val="F2EFFF"/>
                </a:solidFill>
                <a:latin typeface="Segoe UI" pitchFamily="34" charset="0"/>
                <a:ea typeface="Segoe UI" pitchFamily="34" charset="-122"/>
                <a:cs typeface="Segoe UI" pitchFamily="34" charset="-120"/>
              </a:rPr>
              <a:t>←  Back to slides</a:t>
            </a:r>
            <a:endParaRPr lang="en-US" sz="1200" dirty="0"/>
          </a:p>
        </p:txBody>
      </p:sp>
      <p:sp>
        <p:nvSpPr>
          <p:cNvPr id="14" name="btn-next25">
            <a:hlinkClick r:id="rId10" action="ppaction://hlinksldjump"/>
          </p:cNvPr>
          <p:cNvSpPr/>
          <p:nvPr/>
        </p:nvSpPr>
        <p:spPr>
          <a:xfrm>
            <a:off x="9354312" y="6035040"/>
            <a:ext cx="2377440" cy="457200"/>
          </a:xfrm>
          <a:prstGeom prst="roundRect">
            <a:avLst>
              <a:gd name="adj" fmla="val 50000"/>
            </a:avLst>
          </a:prstGeom>
          <a:solidFill>
            <a:srgbClr val="FF9F1C"/>
          </a:solidFill>
          <a:ln w="15875">
            <a:solidFill>
              <a:srgbClr val="FF9F1C"/>
            </a:solidFill>
          </a:ln>
        </p:spPr>
        <p:txBody>
          <a:bodyPr wrap="square" lIns="0" tIns="0" rIns="0" bIns="0" rtlCol="0" anchor="ctr"/>
          <a:lstStyle/>
          <a:p>
            <a:pPr algn="ctr" indent="0" marL="0">
              <a:buNone/>
            </a:pPr>
            <a:r>
              <a:rPr lang="en-US" sz="1200" b="1" dirty="0">
                <a:solidFill>
                  <a:srgbClr val="0E0B1F"/>
                </a:solidFill>
                <a:latin typeface="Segoe UI" pitchFamily="34" charset="0"/>
                <a:ea typeface="Segoe UI" pitchFamily="34" charset="-122"/>
                <a:cs typeface="Segoe UI" pitchFamily="34" charset="-120"/>
              </a:rPr>
              <a:t>Continue talk  →</a:t>
            </a:r>
            <a:endParaRPr lang="en-US" sz="12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name="Slide 26">
    <p:bg>
      <p:bgPr>
        <a:solidFill>
          <a:srgbClr val="0E0B1F"/>
        </a:solidFill>
      </p:bgPr>
    </p:bg>
    <p:spTree>
      <p:nvGrpSpPr>
        <p:cNvPr id="1" name=""/>
        <p:cNvGrpSpPr/>
        <p:nvPr/>
      </p:nvGrpSpPr>
      <p:grpSpPr>
        <a:xfrm>
          <a:off x="0" y="0"/>
          <a:ext cx="0" cy="0"/>
          <a:chOff x="0" y="0"/>
          <a:chExt cx="0" cy="0"/>
        </a:xfrm>
      </p:grpSpPr>
      <p:pic>
        <p:nvPicPr>
          <p:cNvPr id="2" name="!!bg" descr="/tmp/claude-0/-home-claude/cf1b82dd-723a-5c0d-b3ee-f6062e85aabe/scratchpad/nd/bgmain.jpg">    </p:cNvPr>
          <p:cNvPicPr>
            <a:picLocks noChangeAspect="1"/>
          </p:cNvPicPr>
          <p:nvPr/>
        </p:nvPicPr>
        <p:blipFill>
          <a:blip r:embed="rId1"/>
          <a:stretch>
            <a:fillRect/>
          </a:stretch>
        </p:blipFill>
        <p:spPr>
          <a:xfrm>
            <a:off x="0" y="0"/>
            <a:ext cx="12191695" cy="6858000"/>
          </a:xfrm>
          <a:prstGeom prst="rect">
            <a:avLst/>
          </a:prstGeom>
        </p:spPr>
      </p:pic>
      <p:pic>
        <p:nvPicPr>
          <p:cNvPr id="3" name="!!logos" descr="/tmp/claude-0/-home-claude/cf1b82dd-723a-5c0d-b3ee-f6062e85aabe/scratchpad/nd/logostrip.png">    </p:cNvPr>
          <p:cNvPicPr>
            <a:picLocks noChangeAspect="1"/>
          </p:cNvPicPr>
          <p:nvPr/>
        </p:nvPicPr>
        <p:blipFill>
          <a:blip r:embed="rId2"/>
          <a:stretch>
            <a:fillRect/>
          </a:stretch>
        </p:blipFill>
        <p:spPr>
          <a:xfrm>
            <a:off x="457200" y="292608"/>
            <a:ext cx="2971800" cy="365385"/>
          </a:xfrm>
          <a:prstGeom prst="rect">
            <a:avLst/>
          </a:prstGeom>
        </p:spPr>
      </p:pic>
      <p:sp>
        <p:nvSpPr>
          <p:cNvPr id="4" name="!!btn-nav-4">
            <a:hlinkClick r:id="rId3" action="ppaction://hlinksldjump"/>
          </p:cNvPr>
          <p:cNvSpPr/>
          <p:nvPr/>
        </p:nvSpPr>
        <p:spPr>
          <a:xfrm>
            <a:off x="10835640" y="329184"/>
            <a:ext cx="896112" cy="310896"/>
          </a:xfrm>
          <a:prstGeom prst="roundRect">
            <a:avLst>
              <a:gd name="adj" fmla="val 50000"/>
            </a:avLst>
          </a:prstGeom>
          <a:solidFill>
            <a:srgbClr val="211B42"/>
          </a:solidFill>
          <a:ln w="12700">
            <a:solidFill>
              <a:srgbClr val="FF9F1C"/>
            </a:solidFill>
          </a:ln>
        </p:spPr>
        <p:txBody>
          <a:bodyPr wrap="square" lIns="0" tIns="0" rIns="0" bIns="0" rtlCol="0" anchor="ctr"/>
          <a:lstStyle/>
          <a:p>
            <a:pPr algn="ctr" indent="0" marL="0">
              <a:buNone/>
            </a:pPr>
            <a:r>
              <a:rPr lang="en-US" sz="1050" b="1" dirty="0">
                <a:solidFill>
                  <a:srgbClr val="FF9F1C"/>
                </a:solidFill>
                <a:latin typeface="Segoe UI" pitchFamily="34" charset="0"/>
                <a:ea typeface="Segoe UI" pitchFamily="34" charset="-122"/>
                <a:cs typeface="Segoe UI" pitchFamily="34" charset="-120"/>
              </a:rPr>
              <a:t>Future</a:t>
            </a:r>
            <a:endParaRPr lang="en-US" sz="1050" dirty="0"/>
          </a:p>
        </p:txBody>
      </p:sp>
      <p:sp>
        <p:nvSpPr>
          <p:cNvPr id="5" name="!!btn-nav-3">
            <a:hlinkClick r:id="rId4" action="ppaction://hlinksldjump"/>
          </p:cNvPr>
          <p:cNvSpPr/>
          <p:nvPr/>
        </p:nvSpPr>
        <p:spPr>
          <a:xfrm>
            <a:off x="9884664"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Build</a:t>
            </a:r>
            <a:endParaRPr lang="en-US" sz="1050" dirty="0"/>
          </a:p>
        </p:txBody>
      </p:sp>
      <p:sp>
        <p:nvSpPr>
          <p:cNvPr id="6" name="!!btn-nav-2">
            <a:hlinkClick r:id="rId5" action="ppaction://hlinksldjump"/>
          </p:cNvPr>
          <p:cNvSpPr/>
          <p:nvPr/>
        </p:nvSpPr>
        <p:spPr>
          <a:xfrm>
            <a:off x="8933688"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Results</a:t>
            </a:r>
            <a:endParaRPr lang="en-US" sz="1050" dirty="0"/>
          </a:p>
        </p:txBody>
      </p:sp>
      <p:sp>
        <p:nvSpPr>
          <p:cNvPr id="7" name="!!btn-nav-1">
            <a:hlinkClick r:id="rId6" action="ppaction://hlinksldjump"/>
          </p:cNvPr>
          <p:cNvSpPr/>
          <p:nvPr/>
        </p:nvSpPr>
        <p:spPr>
          <a:xfrm>
            <a:off x="7982712"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Idea</a:t>
            </a:r>
            <a:endParaRPr lang="en-US" sz="1050" dirty="0"/>
          </a:p>
        </p:txBody>
      </p:sp>
      <p:sp>
        <p:nvSpPr>
          <p:cNvPr id="8" name="!!btn-nav-0">
            <a:hlinkClick r:id="rId7" action="ppaction://hlinksldjump"/>
          </p:cNvPr>
          <p:cNvSpPr/>
          <p:nvPr/>
        </p:nvSpPr>
        <p:spPr>
          <a:xfrm>
            <a:off x="7031736" y="329184"/>
            <a:ext cx="896112" cy="310896"/>
          </a:xfrm>
          <a:prstGeom prst="roundRect">
            <a:avLst>
              <a:gd name="adj" fmla="val 50000"/>
            </a:avLst>
          </a:prstGeom>
          <a:solidFill>
            <a:srgbClr val="0E0B1F">
              <a:alpha val="0"/>
            </a:srgbClr>
          </a:solidFill>
          <a:ln/>
        </p:spPr>
        <p:txBody>
          <a:bodyPr wrap="square" lIns="0" tIns="0" rIns="0" bIns="0" rtlCol="0" anchor="ctr"/>
          <a:lstStyle/>
          <a:p>
            <a:pPr algn="ctr" indent="0" marL="0">
              <a:buNone/>
            </a:pPr>
            <a:r>
              <a:rPr lang="en-US" sz="1050" dirty="0">
                <a:solidFill>
                  <a:srgbClr val="A9A3CF"/>
                </a:solidFill>
                <a:latin typeface="Segoe UI" pitchFamily="34" charset="0"/>
                <a:ea typeface="Segoe UI" pitchFamily="34" charset="-122"/>
                <a:cs typeface="Segoe UI" pitchFamily="34" charset="-120"/>
              </a:rPr>
              <a:t>Problem</a:t>
            </a:r>
            <a:endParaRPr lang="en-US" sz="1050" dirty="0"/>
          </a:p>
        </p:txBody>
      </p:sp>
      <p:sp>
        <p:nvSpPr>
          <p:cNvPr id="9" name="!!kicker"/>
          <p:cNvSpPr txBox="1"/>
          <p:nvPr/>
        </p:nvSpPr>
        <p:spPr>
          <a:xfrm>
            <a:off x="548640" y="932688"/>
            <a:ext cx="8229600" cy="237744"/>
          </a:xfrm>
          <a:prstGeom prst="rect">
            <a:avLst/>
          </a:prstGeom>
          <a:noFill/>
          <a:ln/>
        </p:spPr>
        <p:txBody>
          <a:bodyPr wrap="square" lIns="0" tIns="0" rIns="0" bIns="0" rtlCol="0" anchor="t"/>
          <a:lstStyle/>
          <a:p>
            <a:pPr indent="0" marL="0">
              <a:buNone/>
            </a:pPr>
            <a:r>
              <a:rPr lang="en-US" sz="1100" b="1" spc="200" kern="0" dirty="0">
                <a:solidFill>
                  <a:srgbClr val="FF9F1C"/>
                </a:solidFill>
                <a:latin typeface="Consolas" pitchFamily="34" charset="0"/>
                <a:ea typeface="Consolas" pitchFamily="34" charset="-122"/>
                <a:cs typeface="Consolas" pitchFamily="34" charset="-120"/>
              </a:rPr>
              <a:t>FOR THE JUDGES</a:t>
            </a:r>
            <a:endParaRPr lang="en-US" sz="1100" dirty="0"/>
          </a:p>
        </p:txBody>
      </p:sp>
      <p:sp>
        <p:nvSpPr>
          <p:cNvPr id="10" name="!!title"/>
          <p:cNvSpPr txBox="1"/>
          <p:nvPr/>
        </p:nvSpPr>
        <p:spPr>
          <a:xfrm>
            <a:off x="548640" y="1188720"/>
            <a:ext cx="11155680" cy="640080"/>
          </a:xfrm>
          <a:prstGeom prst="rect">
            <a:avLst/>
          </a:prstGeom>
          <a:noFill/>
          <a:ln/>
        </p:spPr>
        <p:txBody>
          <a:bodyPr wrap="square" lIns="0" tIns="0" rIns="0" bIns="0" rtlCol="0" anchor="t"/>
          <a:lstStyle/>
          <a:p>
            <a:pPr indent="0" marL="0">
              <a:buNone/>
            </a:pPr>
            <a:r>
              <a:rPr lang="en-US" sz="3000" b="1" dirty="0">
                <a:solidFill>
                  <a:srgbClr val="F2EFFF"/>
                </a:solidFill>
                <a:latin typeface="Segoe UI" pitchFamily="34" charset="0"/>
                <a:ea typeface="Segoe UI" pitchFamily="34" charset="-122"/>
                <a:cs typeface="Segoe UI" pitchFamily="34" charset="-120"/>
              </a:rPr>
              <a:t>Limits we know about</a:t>
            </a:r>
            <a:endParaRPr lang="en-US" sz="3000" dirty="0"/>
          </a:p>
        </p:txBody>
      </p:sp>
      <p:sp>
        <p:nvSpPr>
          <p:cNvPr id="11" name="Shape 7"/>
          <p:cNvSpPr/>
          <p:nvPr/>
        </p:nvSpPr>
        <p:spPr>
          <a:xfrm>
            <a:off x="548640" y="2011680"/>
            <a:ext cx="5486400" cy="1188720"/>
          </a:xfrm>
          <a:prstGeom prst="roundRect">
            <a:avLst>
              <a:gd name="adj" fmla="val 10769"/>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2" name="Text 8"/>
          <p:cNvSpPr txBox="1"/>
          <p:nvPr/>
        </p:nvSpPr>
        <p:spPr>
          <a:xfrm>
            <a:off x="777240" y="2194560"/>
            <a:ext cx="548640" cy="365760"/>
          </a:xfrm>
          <a:prstGeom prst="rect">
            <a:avLst/>
          </a:prstGeom>
          <a:noFill/>
          <a:ln/>
        </p:spPr>
        <p:txBody>
          <a:bodyPr wrap="square" lIns="0" tIns="0" rIns="0" bIns="0" rtlCol="0" anchor="t"/>
          <a:lstStyle/>
          <a:p>
            <a:pPr indent="0" marL="0">
              <a:buNone/>
            </a:pPr>
            <a:r>
              <a:rPr lang="en-US" sz="1600" b="1" dirty="0">
                <a:solidFill>
                  <a:srgbClr val="FF9F1C"/>
                </a:solidFill>
                <a:latin typeface="Consolas" pitchFamily="34" charset="0"/>
                <a:ea typeface="Consolas" pitchFamily="34" charset="-122"/>
                <a:cs typeface="Consolas" pitchFamily="34" charset="-120"/>
              </a:rPr>
              <a:t>01</a:t>
            </a:r>
            <a:endParaRPr lang="en-US" sz="1600" dirty="0"/>
          </a:p>
        </p:txBody>
      </p:sp>
      <p:sp>
        <p:nvSpPr>
          <p:cNvPr id="13" name="Text 9"/>
          <p:cNvSpPr txBox="1"/>
          <p:nvPr/>
        </p:nvSpPr>
        <p:spPr>
          <a:xfrm>
            <a:off x="1371600" y="2176272"/>
            <a:ext cx="4480560" cy="329184"/>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Small sample</a:t>
            </a:r>
            <a:endParaRPr lang="en-US" sz="1500" dirty="0"/>
          </a:p>
        </p:txBody>
      </p:sp>
      <p:sp>
        <p:nvSpPr>
          <p:cNvPr id="14" name="Text 10"/>
          <p:cNvSpPr txBox="1"/>
          <p:nvPr/>
        </p:nvSpPr>
        <p:spPr>
          <a:xfrm>
            <a:off x="1371600" y="2514600"/>
            <a:ext cx="4526280" cy="640080"/>
          </a:xfrm>
          <a:prstGeom prst="rect">
            <a:avLst/>
          </a:prstGeom>
          <a:noFill/>
          <a:ln/>
        </p:spPr>
        <p:txBody>
          <a:bodyPr wrap="square" lIns="0" tIns="0" rIns="0" bIns="0" rtlCol="0" anchor="t"/>
          <a:lstStyle/>
          <a:p>
            <a:pPr indent="0" marL="0">
              <a:buNone/>
            </a:pPr>
            <a:r>
              <a:rPr lang="en-US" sz="1100" dirty="0">
                <a:solidFill>
                  <a:srgbClr val="A9A3CF"/>
                </a:solidFill>
                <a:latin typeface="Segoe UI" pitchFamily="34" charset="0"/>
                <a:ea typeface="Segoe UI" pitchFamily="34" charset="-122"/>
                <a:cs typeface="Segoe UI" pitchFamily="34" charset="-120"/>
              </a:rPr>
              <a:t>25 tasks, one run each at temperature 0. Gaps of a few tasks are signals, not proof. The Kanglish instruction gap (35% vs 100%) is large.</a:t>
            </a:r>
            <a:endParaRPr lang="en-US" sz="1100" dirty="0"/>
          </a:p>
        </p:txBody>
      </p:sp>
      <p:sp>
        <p:nvSpPr>
          <p:cNvPr id="15" name="Shape 11"/>
          <p:cNvSpPr/>
          <p:nvPr/>
        </p:nvSpPr>
        <p:spPr>
          <a:xfrm>
            <a:off x="6217920" y="2011680"/>
            <a:ext cx="5486400" cy="1188720"/>
          </a:xfrm>
          <a:prstGeom prst="roundRect">
            <a:avLst>
              <a:gd name="adj" fmla="val 10769"/>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16" name="Text 12"/>
          <p:cNvSpPr txBox="1"/>
          <p:nvPr/>
        </p:nvSpPr>
        <p:spPr>
          <a:xfrm>
            <a:off x="6446520" y="2194560"/>
            <a:ext cx="548640" cy="365760"/>
          </a:xfrm>
          <a:prstGeom prst="rect">
            <a:avLst/>
          </a:prstGeom>
          <a:noFill/>
          <a:ln/>
        </p:spPr>
        <p:txBody>
          <a:bodyPr wrap="square" lIns="0" tIns="0" rIns="0" bIns="0" rtlCol="0" anchor="t"/>
          <a:lstStyle/>
          <a:p>
            <a:pPr indent="0" marL="0">
              <a:buNone/>
            </a:pPr>
            <a:r>
              <a:rPr lang="en-US" sz="1600" b="1" dirty="0">
                <a:solidFill>
                  <a:srgbClr val="FF9F1C"/>
                </a:solidFill>
                <a:latin typeface="Consolas" pitchFamily="34" charset="0"/>
                <a:ea typeface="Consolas" pitchFamily="34" charset="-122"/>
                <a:cs typeface="Consolas" pitchFamily="34" charset="-120"/>
              </a:rPr>
              <a:t>02</a:t>
            </a:r>
            <a:endParaRPr lang="en-US" sz="1600" dirty="0"/>
          </a:p>
        </p:txBody>
      </p:sp>
      <p:sp>
        <p:nvSpPr>
          <p:cNvPr id="17" name="Text 13"/>
          <p:cNvSpPr txBox="1"/>
          <p:nvPr/>
        </p:nvSpPr>
        <p:spPr>
          <a:xfrm>
            <a:off x="7040880" y="2176272"/>
            <a:ext cx="4480560" cy="329184"/>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Prompts drafted with AI help</a:t>
            </a:r>
            <a:endParaRPr lang="en-US" sz="1500" dirty="0"/>
          </a:p>
        </p:txBody>
      </p:sp>
      <p:sp>
        <p:nvSpPr>
          <p:cNvPr id="18" name="Text 14"/>
          <p:cNvSpPr txBox="1"/>
          <p:nvPr/>
        </p:nvSpPr>
        <p:spPr>
          <a:xfrm>
            <a:off x="7040880" y="2514600"/>
            <a:ext cx="4526280" cy="640080"/>
          </a:xfrm>
          <a:prstGeom prst="rect">
            <a:avLst/>
          </a:prstGeom>
          <a:noFill/>
          <a:ln/>
        </p:spPr>
        <p:txBody>
          <a:bodyPr wrap="square" lIns="0" tIns="0" rIns="0" bIns="0" rtlCol="0" anchor="t"/>
          <a:lstStyle/>
          <a:p>
            <a:pPr indent="0" marL="0">
              <a:buNone/>
            </a:pPr>
            <a:r>
              <a:rPr lang="en-US" sz="1100" dirty="0">
                <a:solidFill>
                  <a:srgbClr val="A9A3CF"/>
                </a:solidFill>
                <a:latin typeface="Segoe UI" pitchFamily="34" charset="0"/>
                <a:ea typeface="Segoe UI" pitchFamily="34" charset="-122"/>
                <a:cs typeface="Segoe UI" pitchFamily="34" charset="-120"/>
              </a:rPr>
              <a:t>Our team wrote Hinglish and Benglish. The other mixes are being checked by native speakers.</a:t>
            </a:r>
            <a:endParaRPr lang="en-US" sz="1100" dirty="0"/>
          </a:p>
        </p:txBody>
      </p:sp>
      <p:sp>
        <p:nvSpPr>
          <p:cNvPr id="19" name="Shape 15"/>
          <p:cNvSpPr/>
          <p:nvPr/>
        </p:nvSpPr>
        <p:spPr>
          <a:xfrm>
            <a:off x="548640" y="3337560"/>
            <a:ext cx="5486400" cy="1188720"/>
          </a:xfrm>
          <a:prstGeom prst="roundRect">
            <a:avLst>
              <a:gd name="adj" fmla="val 10769"/>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0" name="Text 16"/>
          <p:cNvSpPr txBox="1"/>
          <p:nvPr/>
        </p:nvSpPr>
        <p:spPr>
          <a:xfrm>
            <a:off x="777240" y="3520440"/>
            <a:ext cx="548640" cy="365760"/>
          </a:xfrm>
          <a:prstGeom prst="rect">
            <a:avLst/>
          </a:prstGeom>
          <a:noFill/>
          <a:ln/>
        </p:spPr>
        <p:txBody>
          <a:bodyPr wrap="square" lIns="0" tIns="0" rIns="0" bIns="0" rtlCol="0" anchor="t"/>
          <a:lstStyle/>
          <a:p>
            <a:pPr indent="0" marL="0">
              <a:buNone/>
            </a:pPr>
            <a:r>
              <a:rPr lang="en-US" sz="1600" b="1" dirty="0">
                <a:solidFill>
                  <a:srgbClr val="FF9F1C"/>
                </a:solidFill>
                <a:latin typeface="Consolas" pitchFamily="34" charset="0"/>
                <a:ea typeface="Consolas" pitchFamily="34" charset="-122"/>
                <a:cs typeface="Consolas" pitchFamily="34" charset="-120"/>
              </a:rPr>
              <a:t>03</a:t>
            </a:r>
            <a:endParaRPr lang="en-US" sz="1600" dirty="0"/>
          </a:p>
        </p:txBody>
      </p:sp>
      <p:sp>
        <p:nvSpPr>
          <p:cNvPr id="21" name="Text 17"/>
          <p:cNvSpPr txBox="1"/>
          <p:nvPr/>
        </p:nvSpPr>
        <p:spPr>
          <a:xfrm>
            <a:off x="1371600" y="3502152"/>
            <a:ext cx="4480560" cy="329184"/>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Strict format check</a:t>
            </a:r>
            <a:endParaRPr lang="en-US" sz="1500" dirty="0"/>
          </a:p>
        </p:txBody>
      </p:sp>
      <p:sp>
        <p:nvSpPr>
          <p:cNvPr id="22" name="Text 18"/>
          <p:cNvSpPr txBox="1"/>
          <p:nvPr/>
        </p:nvSpPr>
        <p:spPr>
          <a:xfrm>
            <a:off x="1371600" y="3840480"/>
            <a:ext cx="4526280" cy="640080"/>
          </a:xfrm>
          <a:prstGeom prst="rect">
            <a:avLst/>
          </a:prstGeom>
          <a:noFill/>
          <a:ln/>
        </p:spPr>
        <p:txBody>
          <a:bodyPr wrap="square" lIns="0" tIns="0" rIns="0" bIns="0" rtlCol="0" anchor="t"/>
          <a:lstStyle/>
          <a:p>
            <a:pPr indent="0" marL="0">
              <a:buNone/>
            </a:pPr>
            <a:r>
              <a:rPr lang="en-US" sz="1100" dirty="0">
                <a:solidFill>
                  <a:srgbClr val="A9A3CF"/>
                </a:solidFill>
                <a:latin typeface="Segoe UI" pitchFamily="34" charset="0"/>
                <a:ea typeface="Segoe UI" pitchFamily="34" charset="-122"/>
                <a:cs typeface="Segoe UI" pitchFamily="34" charset="-120"/>
              </a:rPr>
              <a:t>One sentence of explanation counts as a fail, on purpose: tools paste AI output straight into code.</a:t>
            </a:r>
            <a:endParaRPr lang="en-US" sz="1100" dirty="0"/>
          </a:p>
        </p:txBody>
      </p:sp>
      <p:sp>
        <p:nvSpPr>
          <p:cNvPr id="23" name="Shape 19"/>
          <p:cNvSpPr/>
          <p:nvPr/>
        </p:nvSpPr>
        <p:spPr>
          <a:xfrm>
            <a:off x="6217920" y="3337560"/>
            <a:ext cx="5486400" cy="1188720"/>
          </a:xfrm>
          <a:prstGeom prst="roundRect">
            <a:avLst>
              <a:gd name="adj" fmla="val 10769"/>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4" name="Text 20"/>
          <p:cNvSpPr txBox="1"/>
          <p:nvPr/>
        </p:nvSpPr>
        <p:spPr>
          <a:xfrm>
            <a:off x="6446520" y="3520440"/>
            <a:ext cx="548640" cy="365760"/>
          </a:xfrm>
          <a:prstGeom prst="rect">
            <a:avLst/>
          </a:prstGeom>
          <a:noFill/>
          <a:ln/>
        </p:spPr>
        <p:txBody>
          <a:bodyPr wrap="square" lIns="0" tIns="0" rIns="0" bIns="0" rtlCol="0" anchor="t"/>
          <a:lstStyle/>
          <a:p>
            <a:pPr indent="0" marL="0">
              <a:buNone/>
            </a:pPr>
            <a:r>
              <a:rPr lang="en-US" sz="1600" b="1" dirty="0">
                <a:solidFill>
                  <a:srgbClr val="FF9F1C"/>
                </a:solidFill>
                <a:latin typeface="Consolas" pitchFamily="34" charset="0"/>
                <a:ea typeface="Consolas" pitchFamily="34" charset="-122"/>
                <a:cs typeface="Consolas" pitchFamily="34" charset="-120"/>
              </a:rPr>
              <a:t>04</a:t>
            </a:r>
            <a:endParaRPr lang="en-US" sz="1600" dirty="0"/>
          </a:p>
        </p:txBody>
      </p:sp>
      <p:sp>
        <p:nvSpPr>
          <p:cNvPr id="25" name="Text 21"/>
          <p:cNvSpPr txBox="1"/>
          <p:nvPr/>
        </p:nvSpPr>
        <p:spPr>
          <a:xfrm>
            <a:off x="7040880" y="3502152"/>
            <a:ext cx="4480560" cy="329184"/>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Models change</a:t>
            </a:r>
            <a:endParaRPr lang="en-US" sz="1500" dirty="0"/>
          </a:p>
        </p:txBody>
      </p:sp>
      <p:sp>
        <p:nvSpPr>
          <p:cNvPr id="26" name="Text 22"/>
          <p:cNvSpPr txBox="1"/>
          <p:nvPr/>
        </p:nvSpPr>
        <p:spPr>
          <a:xfrm>
            <a:off x="7040880" y="3840480"/>
            <a:ext cx="4526280" cy="640080"/>
          </a:xfrm>
          <a:prstGeom prst="rect">
            <a:avLst/>
          </a:prstGeom>
          <a:noFill/>
          <a:ln/>
        </p:spPr>
        <p:txBody>
          <a:bodyPr wrap="square" lIns="0" tIns="0" rIns="0" bIns="0" rtlCol="0" anchor="t"/>
          <a:lstStyle/>
          <a:p>
            <a:pPr indent="0" marL="0">
              <a:buNone/>
            </a:pPr>
            <a:r>
              <a:rPr lang="en-US" sz="1100" dirty="0">
                <a:solidFill>
                  <a:srgbClr val="A9A3CF"/>
                </a:solidFill>
                <a:latin typeface="Segoe UI" pitchFamily="34" charset="0"/>
                <a:ea typeface="Segoe UI" pitchFamily="34" charset="-122"/>
                <a:cs typeface="Segoe UI" pitchFamily="34" charset="-120"/>
              </a:rPr>
              <a:t>We save the exact model ID with every run, so results can be checked again later.</a:t>
            </a:r>
            <a:endParaRPr lang="en-US" sz="1100" dirty="0"/>
          </a:p>
        </p:txBody>
      </p:sp>
      <p:sp>
        <p:nvSpPr>
          <p:cNvPr id="27" name="Shape 23"/>
          <p:cNvSpPr/>
          <p:nvPr/>
        </p:nvSpPr>
        <p:spPr>
          <a:xfrm>
            <a:off x="548640" y="4663440"/>
            <a:ext cx="5486400" cy="1188720"/>
          </a:xfrm>
          <a:prstGeom prst="roundRect">
            <a:avLst>
              <a:gd name="adj" fmla="val 10769"/>
            </a:avLst>
          </a:prstGeom>
          <a:solidFill>
            <a:srgbClr val="17132E"/>
          </a:solidFill>
          <a:ln w="12700">
            <a:solidFill>
              <a:srgbClr val="2E2759"/>
            </a:solidFill>
            <a:prstDash val="solid"/>
          </a:ln>
          <a:effectLst>
            <a:outerShdw sx="100000" sy="100000" kx="0" ky="0" algn="bl" rotWithShape="0" blurRad="177800" dist="50800" dir="5400000">
              <a:srgbClr val="000000">
                <a:alpha val="45000"/>
              </a:srgbClr>
            </a:outerShdw>
          </a:effectLst>
        </p:spPr>
      </p:sp>
      <p:sp>
        <p:nvSpPr>
          <p:cNvPr id="28" name="Text 24"/>
          <p:cNvSpPr txBox="1"/>
          <p:nvPr/>
        </p:nvSpPr>
        <p:spPr>
          <a:xfrm>
            <a:off x="777240" y="4846320"/>
            <a:ext cx="548640" cy="365760"/>
          </a:xfrm>
          <a:prstGeom prst="rect">
            <a:avLst/>
          </a:prstGeom>
          <a:noFill/>
          <a:ln/>
        </p:spPr>
        <p:txBody>
          <a:bodyPr wrap="square" lIns="0" tIns="0" rIns="0" bIns="0" rtlCol="0" anchor="t"/>
          <a:lstStyle/>
          <a:p>
            <a:pPr indent="0" marL="0">
              <a:buNone/>
            </a:pPr>
            <a:r>
              <a:rPr lang="en-US" sz="1600" b="1" dirty="0">
                <a:solidFill>
                  <a:srgbClr val="FF9F1C"/>
                </a:solidFill>
                <a:latin typeface="Consolas" pitchFamily="34" charset="0"/>
                <a:ea typeface="Consolas" pitchFamily="34" charset="-122"/>
                <a:cs typeface="Consolas" pitchFamily="34" charset="-120"/>
              </a:rPr>
              <a:t>05</a:t>
            </a:r>
            <a:endParaRPr lang="en-US" sz="1600" dirty="0"/>
          </a:p>
        </p:txBody>
      </p:sp>
      <p:sp>
        <p:nvSpPr>
          <p:cNvPr id="29" name="Text 25"/>
          <p:cNvSpPr txBox="1"/>
          <p:nvPr/>
        </p:nvSpPr>
        <p:spPr>
          <a:xfrm>
            <a:off x="1371600" y="4828032"/>
            <a:ext cx="4480560" cy="329184"/>
          </a:xfrm>
          <a:prstGeom prst="rect">
            <a:avLst/>
          </a:prstGeom>
          <a:noFill/>
          <a:ln/>
        </p:spPr>
        <p:txBody>
          <a:bodyPr wrap="square" lIns="0" tIns="0" rIns="0" bIns="0" rtlCol="0" anchor="t"/>
          <a:lstStyle/>
          <a:p>
            <a:pPr indent="0" marL="0">
              <a:buNone/>
            </a:pPr>
            <a:r>
              <a:rPr lang="en-US" sz="1500" b="1" dirty="0">
                <a:solidFill>
                  <a:srgbClr val="F2EFFF"/>
                </a:solidFill>
                <a:latin typeface="Segoe UI" pitchFamily="34" charset="0"/>
                <a:ea typeface="Segoe UI" pitchFamily="34" charset="-122"/>
                <a:cs typeface="Segoe UI" pitchFamily="34" charset="-120"/>
              </a:rPr>
              <a:t>Not every miss is language</a:t>
            </a:r>
            <a:endParaRPr lang="en-US" sz="1500" dirty="0"/>
          </a:p>
        </p:txBody>
      </p:sp>
      <p:sp>
        <p:nvSpPr>
          <p:cNvPr id="30" name="Text 26"/>
          <p:cNvSpPr txBox="1"/>
          <p:nvPr/>
        </p:nvSpPr>
        <p:spPr>
          <a:xfrm>
            <a:off x="1371600" y="5166360"/>
            <a:ext cx="4526280" cy="640080"/>
          </a:xfrm>
          <a:prstGeom prst="rect">
            <a:avLst/>
          </a:prstGeom>
          <a:noFill/>
          <a:ln/>
        </p:spPr>
        <p:txBody>
          <a:bodyPr wrap="square" lIns="0" tIns="0" rIns="0" bIns="0" rtlCol="0" anchor="t"/>
          <a:lstStyle/>
          <a:p>
            <a:pPr indent="0" marL="0">
              <a:buNone/>
            </a:pPr>
            <a:r>
              <a:rPr lang="en-US" sz="1100" dirty="0">
                <a:solidFill>
                  <a:srgbClr val="A9A3CF"/>
                </a:solidFill>
                <a:latin typeface="Segoe UI" pitchFamily="34" charset="0"/>
                <a:ea typeface="Segoe UI" pitchFamily="34" charset="-122"/>
                <a:cs typeface="Segoe UI" pitchFamily="34" charset="-120"/>
              </a:rPr>
              <a:t>An equal-times edge case tripped models in English too. We count those honestly instead of hiding them.</a:t>
            </a:r>
            <a:endParaRPr lang="en-US" sz="1100" dirty="0"/>
          </a:p>
        </p:txBody>
      </p:sp>
      <p:sp>
        <p:nvSpPr>
          <p:cNvPr id="31" name="btn-limback">
            <a:hlinkClick r:id="rId8" action="ppaction://hlinksldjump"/>
          </p:cNvPr>
          <p:cNvSpPr/>
          <p:nvPr/>
        </p:nvSpPr>
        <p:spPr>
          <a:xfrm>
            <a:off x="6217920" y="5029200"/>
            <a:ext cx="2377440" cy="548640"/>
          </a:xfrm>
          <a:prstGeom prst="roundRect">
            <a:avLst>
              <a:gd name="adj" fmla="val 50000"/>
            </a:avLst>
          </a:prstGeom>
          <a:solidFill>
            <a:srgbClr val="211B42"/>
          </a:solidFill>
          <a:ln w="15875">
            <a:solidFill>
              <a:srgbClr val="2E2759"/>
            </a:solidFill>
          </a:ln>
        </p:spPr>
        <p:txBody>
          <a:bodyPr wrap="square" lIns="0" tIns="0" rIns="0" bIns="0" rtlCol="0" anchor="ctr"/>
          <a:lstStyle/>
          <a:p>
            <a:pPr algn="ctr" indent="0" marL="0">
              <a:buNone/>
            </a:pPr>
            <a:r>
              <a:rPr lang="en-US" sz="1300" b="1" dirty="0">
                <a:solidFill>
                  <a:srgbClr val="F2EFFF"/>
                </a:solidFill>
                <a:latin typeface="Segoe UI" pitchFamily="34" charset="0"/>
                <a:ea typeface="Segoe UI" pitchFamily="34" charset="-122"/>
                <a:cs typeface="Segoe UI" pitchFamily="34" charset="-120"/>
              </a:rPr>
              <a:t>←  Back</a:t>
            </a:r>
            <a:endParaRPr lang="en-US" sz="1300"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MixCheck - AVISHKAR 2026</dc:title>
  <dc:subject>PptxGenJS Presentation</dc:subject>
  <dc:creator>Team El Rata Alada</dc:creator>
  <cp:lastModifiedBy>Team El Rata Alada</cp:lastModifiedBy>
  <cp:revision>1</cp:revision>
  <dcterms:created xsi:type="dcterms:W3CDTF">2026-10-25T09:51:43Z</dcterms:created>
  <dcterms:modified xsi:type="dcterms:W3CDTF">2026-10-25T09:51:43Z</dcterms:modified>
</cp:coreProperties>
</file>