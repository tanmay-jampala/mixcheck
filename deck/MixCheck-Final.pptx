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9" r:id="rId18"/>
    <p:sldId id="257" r:id="rId3"/>
    <p:sldId id="258" r:id="rId4"/>
    <p:sldId id="270" r:id="rId17"/>
    <p:sldId id="260" r:id="rId6"/>
    <p:sldId id="268" r:id="rId26"/>
    <p:sldId id="267" r:id="rId25"/>
    <p:sldId id="266" r:id="rId24"/>
    <p:sldId id="271" r:id="rId27"/>
    <p:sldId id="272" r:id="rId28"/>
    <p:sldId id="273" r:id="rId29"/>
    <p:sldId id="274" r:id="rId30"/>
    <p:sldId id="275" r:id="rId31"/>
  </p:sldIdLst>
  <p:sldSz cx="12192000" cy="6858000"/>
  <p:notesSz cx="6858000" cy="12192000"/>
  <p:embeddedFontLst>
    <p:embeddedFont>
      <p:font typeface="Spectral Medium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7vsQim4u0tfBkudEy+BCuVBEA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slide" Target="slides/slide15.xml"/><Relationship Id="rId18" Type="http://schemas.openxmlformats.org/officeDocument/2006/relationships/slide" Target="slides/slide14.xml"/><Relationship Id="rId19" Type="http://customschemas.google.com/relationships/presentationmetadata" Target="meta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8.xml"/><Relationship Id="rId25" Type="http://schemas.openxmlformats.org/officeDocument/2006/relationships/slide" Target="slides/slide7.xml"/><Relationship Id="rId26" Type="http://schemas.openxmlformats.org/officeDocument/2006/relationships/slide" Target="slides/slide6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Correct code</c:v>
                </c:pt>
              </c:strCache>
            </c:strRef>
          </c:tx>
          <c:spPr>
            <a:solidFill>
              <a:srgbClr val="2F2B6E"/>
            </a:solidFill>
          </c:spPr>
          <c:cat>
            <c:strRef>
              <c:f>Sheet1!$A$2:$A$7</c:f>
              <c:strCache>
                <c:ptCount val="6"/>
                <c:pt idx="0">
                  <c:v>English</c:v>
                </c:pt>
                <c:pt idx="1">
                  <c:v>Hinglish</c:v>
                </c:pt>
                <c:pt idx="2">
                  <c:v>Benglish</c:v>
                </c:pt>
                <c:pt idx="3">
                  <c:v>Tanglish</c:v>
                </c:pt>
                <c:pt idx="4">
                  <c:v>Odia-English</c:v>
                </c:pt>
                <c:pt idx="5">
                  <c:v>Kanglish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0.973</c:v>
                </c:pt>
                <c:pt idx="1">
                  <c:v>0.96</c:v>
                </c:pt>
                <c:pt idx="2">
                  <c:v>0.933</c:v>
                </c:pt>
                <c:pt idx="3">
                  <c:v>0.947</c:v>
                </c:pt>
                <c:pt idx="4">
                  <c:v>0.947</c:v>
                </c:pt>
                <c:pt idx="5">
                  <c:v>0.907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Followed “only code”</c:v>
                </c:pt>
              </c:strCache>
            </c:strRef>
          </c:tx>
          <c:spPr>
            <a:solidFill>
              <a:srgbClr val="D9731A"/>
            </a:solidFill>
          </c:spPr>
          <c:cat>
            <c:strRef>
              <c:f>Sheet1!$A$2:$A$7</c:f>
              <c:strCache>
                <c:ptCount val="6"/>
                <c:pt idx="0">
                  <c:v>English</c:v>
                </c:pt>
                <c:pt idx="1">
                  <c:v>Hinglish</c:v>
                </c:pt>
                <c:pt idx="2">
                  <c:v>Benglish</c:v>
                </c:pt>
                <c:pt idx="3">
                  <c:v>Tanglish</c:v>
                </c:pt>
                <c:pt idx="4">
                  <c:v>Odia-English</c:v>
                </c:pt>
                <c:pt idx="5">
                  <c:v>Kanglish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</c:v>
                </c:pt>
                <c:pt idx="1">
                  <c:v>0.933</c:v>
                </c:pt>
                <c:pt idx="2">
                  <c:v>1.0</c:v>
                </c:pt>
                <c:pt idx="3">
                  <c:v>0.987</c:v>
                </c:pt>
                <c:pt idx="4">
                  <c:v>1.0</c:v>
                </c:pt>
                <c:pt idx="5">
                  <c:v>0.347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solidFill>
                    <a:srgbClr val="2A293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6E0"/>
            </a:solidFill>
          </a:ln>
        </c:spPr>
        <c:txPr>
          <a:bodyPr/>
          <a:lstStyle/>
          <a:p>
            <a:pPr>
              <a:defRPr sz="1200">
                <a:solidFill>
                  <a:srgbClr val="2A293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8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2A293D"/>
              </a:solidFill>
            </a:defRPr>
          </a:pPr>
        </a:p>
      </c:txPr>
    </c:legend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Ask the judges: how often do you type fully in English on WhatsApp? AI is tested on clean English, but India talks in mixed language, and nobody measures that gap.</a:t>
            </a:r>
          </a:p>
        </p:txBody>
      </p:sp>
      <p:sp>
        <p:nvSpPr>
          <p:cNvPr id="25" name="Google Shape;2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Three steps: build paired sentences, run real models, and show exactly where they break. The key idea is the pairing: same meaning, only the language mixing changes.</a:t>
            </a:r>
          </a:p>
        </p:txBody>
      </p:sp>
      <p:sp>
        <p:nvSpPr>
          <p:cNvPr id="35" name="Google Shape;3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Existing benchmarks give one score. MixCheck shows why and where a model fails: by mixing level, by script and by language, including Odia.</a:t>
            </a:r>
          </a:p>
        </p:txBody>
      </p:sp>
      <p:sp>
        <p:nvSpPr>
          <p:cNvPr id="55" name="Google Shape;5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casual style, only the language changes. Correct code stays in the 90s for every language, a small drop for Kanglish. The big gap is instruction-following: every prompt says reply with only the code. Casual English did that 100% of the time, Kanglish 35%. And 9 answers renamed the function we asked for, all in mixed prompts, none in English.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kinds of slip. One: the AI renames the function - here it read the slang word 'bhai' as part of the name. Code that calls indian_format would crash. Two: it ignores 'only code' and writes an essay, sometimes in Kannada script. Three: it skips a detail, like ignoring upper and lower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Hand over to Tanmay for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8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notesSlide" Target="../notesSlides/notesSlide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notesSlide" Target="../notesSlides/notesSlide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jp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182880" y="182880"/>
            <a:ext cx="11826240" cy="6492240"/>
          </a:xfrm>
          <a:prstGeom prst="roundRect">
            <a:avLst>
              <a:gd name="adj" fmla="val 3000"/>
            </a:avLst>
          </a:prstGeom>
          <a:noFill/>
          <a:ln w="28575" cap="flat" cmpd="sng">
            <a:solidFill>
              <a:srgbClr val="7F7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09590" y="914400"/>
            <a:ext cx="10972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2B6E"/>
              </a:buClr>
              <a:buSzPts val="3200"/>
              <a:buFont typeface="Arial"/>
              <a:buNone/>
            </a:pPr>
            <a:r>
              <a:rPr lang="en-US" sz="3600">
                <a:solidFill>
                  <a:srgbClr val="2F2B6E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Problem Statement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2"/>
          <p:cNvPicPr preferRelativeResize="0"/>
          <p:nvPr/>
        </p:nvPicPr>
        <p:blipFill rotWithShape="1">
          <a:blip r:embed="rId3">
            <a:alphaModFix/>
          </a:blip>
          <a:srcRect t="29450" b="24230"/>
          <a:stretch/>
        </p:blipFill>
        <p:spPr>
          <a:xfrm>
            <a:off x="248600" y="182875"/>
            <a:ext cx="1697300" cy="7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350" y="182874"/>
            <a:ext cx="1697299" cy="571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2921" y="182872"/>
            <a:ext cx="1264551" cy="7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Rounded Rectangle 31"/>
          <p:cNvSpPr/>
          <p:nvPr/>
        </p:nvSpPr>
        <p:spPr>
          <a:xfrm>
            <a:off x="612648" y="178308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7F7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86968" y="201168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D96A0B"/>
                </a:solidFill>
                <a:latin typeface="Arial"/>
              </a:rPr>
              <a:t>314.9M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29260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F2B6E"/>
                </a:solidFill>
                <a:latin typeface="Arial"/>
              </a:rPr>
              <a:t>Indians are bilingual</a:t>
            </a:r>
          </a:p>
          <a:p>
            <a:pPr algn="l"/>
            <a:r>
              <a:rPr sz="1200" b="0" i="0">
                <a:solidFill>
                  <a:srgbClr val="5B597A"/>
                </a:solidFill>
                <a:latin typeface="Arial"/>
              </a:rPr>
              <a:t>Census of India, 2011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" y="3749039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A293D"/>
                </a:solidFill>
                <a:latin typeface="Arial"/>
              </a:rPr>
              <a:t>Many think and type in mixed languages, including when they ask AI to write code.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968" y="5074920"/>
            <a:ext cx="3017520" cy="1005840"/>
          </a:xfrm>
          <a:prstGeom prst="roundRect">
            <a:avLst>
              <a:gd name="adj" fmla="val 15000"/>
            </a:avLst>
          </a:prstGeom>
          <a:solidFill>
            <a:srgbClr val="E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51560" y="5074920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1">
                <a:solidFill>
                  <a:srgbClr val="2F2B6E"/>
                </a:solidFill>
                <a:latin typeface="Arial"/>
              </a:rPr>
              <a:t>“yeh function crash kyu ho raha hai?”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53128" y="178308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D96A0B"/>
                </a:solidFill>
                <a:latin typeface="Arial"/>
              </a:rPr>
              <a:t>THE PROBLEM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53128" y="2057400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F2B6E"/>
                </a:solidFill>
                <a:latin typeface="Arial"/>
              </a:rPr>
              <a:t>AI coding assistants are tested in clean English, but Indian developers ask in Hinglish, Benglish, Kanglish, Tanglish and Odia-English.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53128" y="2834640"/>
            <a:ext cx="7132320" cy="169164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7F7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4681727" y="3127248"/>
            <a:ext cx="731520" cy="731520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FaExchangeA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1923" y="3317443"/>
            <a:ext cx="351129" cy="35112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669280" y="310896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2B6E"/>
                </a:solidFill>
                <a:latin typeface="Arial"/>
              </a:rPr>
              <a:t>Tested in English, used in Hinglish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3547872"/>
            <a:ext cx="5669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A293D"/>
                </a:solidFill>
                <a:latin typeface="Arial"/>
              </a:rPr>
              <a:t>Code-generation benchmarks like HumanEval-XL use single-language prompts, and none of its 23 languages is Indian.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53128" y="4663440"/>
            <a:ext cx="7132320" cy="169164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7F7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4681727" y="4956047"/>
            <a:ext cx="731520" cy="731520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7" name="Picture 46" descr="FaEyeSlash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1923" y="5146243"/>
            <a:ext cx="351129" cy="35112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669280" y="4937759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2B6E"/>
                </a:solidFill>
                <a:latin typeface="Arial"/>
              </a:rPr>
              <a:t>Nobody measures the gap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0" y="5376672"/>
            <a:ext cx="5669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A293D"/>
                </a:solidFill>
                <a:latin typeface="Arial"/>
              </a:rPr>
              <a:t>No one knows how much worse the generated code gets when the prompt is mixed, so students and developers get broken code without knowing why.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/>
          <p:nvPr/>
        </p:nvSpPr>
        <p:spPr>
          <a:xfrm>
            <a:off x="182880" y="182880"/>
            <a:ext cx="11826240" cy="6492240"/>
          </a:xfrm>
          <a:prstGeom prst="roundRect">
            <a:avLst>
              <a:gd name="adj" fmla="val 3000"/>
            </a:avLst>
          </a:prstGeom>
          <a:noFill/>
          <a:ln w="28575" cap="flat" cmpd="sng">
            <a:solidFill>
              <a:srgbClr val="7F7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609590" y="914400"/>
            <a:ext cx="10972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2B6E"/>
              </a:buClr>
              <a:buSzPts val="3200"/>
              <a:buFont typeface="Arial"/>
              <a:buNone/>
            </a:pPr>
            <a:r>
              <a:rPr lang="en-US" sz="3600">
                <a:solidFill>
                  <a:srgbClr val="2F2B6E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Solution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3"/>
          <p:cNvPicPr preferRelativeResize="0"/>
          <p:nvPr/>
        </p:nvPicPr>
        <p:blipFill rotWithShape="1">
          <a:blip r:embed="rId3">
            <a:alphaModFix/>
          </a:blip>
          <a:srcRect t="29450" b="24230"/>
          <a:stretch/>
        </p:blipFill>
        <p:spPr>
          <a:xfrm>
            <a:off x="248600" y="182875"/>
            <a:ext cx="1697300" cy="7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350" y="182874"/>
            <a:ext cx="1697299" cy="571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2921" y="182872"/>
            <a:ext cx="1264551" cy="7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/>
          <p:cNvSpPr txBox="1"/>
          <p:nvPr/>
        </p:nvSpPr>
        <p:spPr>
          <a:xfrm>
            <a:off x="612648" y="1783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2F2B6E"/>
                </a:solidFill>
                <a:latin typeface="Arial"/>
              </a:rPr>
              <a:t>MixCheck</a:t>
            </a:r>
            <a:r>
              <a:rPr sz="1800" b="0" i="0">
                <a:solidFill>
                  <a:srgbClr val="2F2B6E"/>
                </a:solidFill>
                <a:latin typeface="Arial"/>
              </a:rPr>
              <a:t> gives an AI the same coding task in English and in mixed Indian languages, runs the code it writes, and shows how much the pass rate drops.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648" y="2651760"/>
            <a:ext cx="3291840" cy="338328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7F7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886968" y="2926080"/>
            <a:ext cx="731520" cy="731520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5" name="Picture 44" descr="FaLanguag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163" y="3116275"/>
            <a:ext cx="351129" cy="35112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801368" y="3154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D96A0B"/>
                </a:solidFill>
                <a:latin typeface="Arial"/>
              </a:rPr>
              <a:t>STEP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" y="393192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F2B6E"/>
                </a:solidFill>
                <a:latin typeface="Arial"/>
              </a:rPr>
              <a:t>Paired prompts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" y="4434840"/>
            <a:ext cx="274320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A293D"/>
                </a:solidFill>
                <a:latin typeface="Arial"/>
              </a:rPr>
              <a:t>25 coding tasks, each written in English and in Hinglish, Benglish, Kanglish, Tanglish and Odia-English: 10 versions of every task.</a:t>
            </a:r>
          </a:p>
        </p:txBody>
      </p:sp>
      <p:sp>
        <p:nvSpPr>
          <p:cNvPr id="49" name="Chevron 48"/>
          <p:cNvSpPr/>
          <p:nvPr/>
        </p:nvSpPr>
        <p:spPr>
          <a:xfrm>
            <a:off x="4014216" y="4151376"/>
            <a:ext cx="329184" cy="384048"/>
          </a:xfrm>
          <a:prstGeom prst="chevron">
            <a:avLst/>
          </a:prstGeom>
          <a:solidFill>
            <a:srgbClr val="7F7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453128" y="2651760"/>
            <a:ext cx="3291840" cy="338328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7F7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4727448" y="2926080"/>
            <a:ext cx="731520" cy="731520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2" name="Picture 51" descr="FaRobo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7643" y="3116275"/>
            <a:ext cx="351129" cy="35112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641848" y="3154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D96A0B"/>
                </a:solidFill>
                <a:latin typeface="Arial"/>
              </a:rPr>
              <a:t>STEP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27448" y="393192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F2B6E"/>
                </a:solidFill>
                <a:latin typeface="Arial"/>
              </a:rPr>
              <a:t>Run and grade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27448" y="4434840"/>
            <a:ext cx="274320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A293D"/>
                </a:solidFill>
                <a:latin typeface="Arial"/>
              </a:rPr>
              <a:t>Every version goes to 3 AI models (Gemini, GPT-OSS 120B and 20B). Their code is run against the same test cases.</a:t>
            </a:r>
          </a:p>
        </p:txBody>
      </p:sp>
      <p:sp>
        <p:nvSpPr>
          <p:cNvPr id="56" name="Chevron 55"/>
          <p:cNvSpPr/>
          <p:nvPr/>
        </p:nvSpPr>
        <p:spPr>
          <a:xfrm>
            <a:off x="7854696" y="4151376"/>
            <a:ext cx="329184" cy="384048"/>
          </a:xfrm>
          <a:prstGeom prst="chevron">
            <a:avLst/>
          </a:prstGeom>
          <a:solidFill>
            <a:srgbClr val="7F7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293608" y="2651760"/>
            <a:ext cx="3291840" cy="338328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7F7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8567928" y="2926080"/>
            <a:ext cx="731520" cy="731520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9" name="Picture 58" descr="FaChartBar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8123" y="3116275"/>
            <a:ext cx="351129" cy="35112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482328" y="3154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D96A0B"/>
                </a:solidFill>
                <a:latin typeface="Arial"/>
              </a:rPr>
              <a:t>STEP 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67928" y="393192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F2B6E"/>
                </a:solidFill>
                <a:latin typeface="Arial"/>
              </a:rPr>
              <a:t>See the drop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67928" y="4434840"/>
            <a:ext cx="274320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A293D"/>
                </a:solidFill>
                <a:latin typeface="Arial"/>
              </a:rPr>
              <a:t>A Streamlit dashboard compares English with each mix, opens every failure, and runs a live face-off between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/>
          <p:nvPr/>
        </p:nvSpPr>
        <p:spPr>
          <a:xfrm>
            <a:off x="182880" y="182880"/>
            <a:ext cx="11826240" cy="6492240"/>
          </a:xfrm>
          <a:prstGeom prst="roundRect">
            <a:avLst>
              <a:gd name="adj" fmla="val 3000"/>
            </a:avLst>
          </a:prstGeom>
          <a:noFill/>
          <a:ln w="28575" cap="flat" cmpd="sng">
            <a:solidFill>
              <a:srgbClr val="7F7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609590" y="914400"/>
            <a:ext cx="10972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2B6E"/>
              </a:buClr>
              <a:buSzPts val="3200"/>
              <a:buFont typeface="Arial"/>
              <a:buNone/>
            </a:pPr>
            <a:r>
              <a:rPr lang="en-US" sz="3600">
                <a:solidFill>
                  <a:srgbClr val="2F2B6E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Innovation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6"/>
          <p:cNvPicPr preferRelativeResize="0"/>
          <p:nvPr/>
        </p:nvPicPr>
        <p:blipFill rotWithShape="1">
          <a:blip r:embed="rId3">
            <a:alphaModFix/>
          </a:blip>
          <a:srcRect t="29450" b="24230"/>
          <a:stretch/>
        </p:blipFill>
        <p:spPr>
          <a:xfrm>
            <a:off x="248600" y="182875"/>
            <a:ext cx="1697300" cy="7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350" y="182874"/>
            <a:ext cx="1697299" cy="571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2921" y="182872"/>
            <a:ext cx="1264551" cy="7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Rounded Rectangle 61"/>
          <p:cNvSpPr/>
          <p:nvPr/>
        </p:nvSpPr>
        <p:spPr>
          <a:xfrm>
            <a:off x="612648" y="1783080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7F7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868680" y="2039112"/>
            <a:ext cx="731520" cy="731520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4" name="Picture 63" descr="FaExchangeA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875" y="2229307"/>
            <a:ext cx="351129" cy="351129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801368" y="2057400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2B6E"/>
                </a:solidFill>
                <a:latin typeface="Arial"/>
              </a:rPr>
              <a:t>Paired prompts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01368" y="2468880"/>
            <a:ext cx="3977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A293D"/>
                </a:solidFill>
                <a:latin typeface="Arial"/>
              </a:rPr>
              <a:t>Same task, only the language changes, so any drop in pass rate comes from the mixing.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90488" y="1783080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7F7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6446519" y="2039112"/>
            <a:ext cx="731520" cy="731520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379208" y="2057400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2B6E"/>
                </a:solidFill>
                <a:latin typeface="Arial"/>
              </a:rPr>
              <a:t>Two scores, both automatic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79208" y="2468880"/>
            <a:ext cx="3977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A293D"/>
                </a:solidFill>
                <a:latin typeface="Arial"/>
              </a:rPr>
              <a:t>Test cases decide if the code works. A second check asks: did the AI follow the instructions?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2648" y="3611880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7F7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Oval 72"/>
          <p:cNvSpPr/>
          <p:nvPr/>
        </p:nvSpPr>
        <p:spPr>
          <a:xfrm>
            <a:off x="868680" y="3867911"/>
            <a:ext cx="731520" cy="731520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1801368" y="3886200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2B6E"/>
                </a:solidFill>
                <a:latin typeface="Arial"/>
              </a:rPr>
              <a:t>Indian languages first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801368" y="4297680"/>
            <a:ext cx="3977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A293D"/>
                </a:solidFill>
                <a:latin typeface="Arial"/>
              </a:rPr>
              <a:t>Covers Kanglish and Odia-English, low-resource mixes, alongside Hinglish, Benglish and Tanglish.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190488" y="3611880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7F7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6446519" y="3867911"/>
            <a:ext cx="731520" cy="731520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7379208" y="3886200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2B6E"/>
                </a:solidFill>
                <a:latin typeface="Arial"/>
              </a:rPr>
              <a:t>Fills a real gap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79208" y="4297680"/>
            <a:ext cx="3977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A293D"/>
                </a:solidFill>
                <a:latin typeface="Arial"/>
              </a:rPr>
              <a:t>HumanEval-XL covers 23 languages, none Indian and none mixed. LinCE and GLUECoS don't test code generation.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12648" y="5440680"/>
            <a:ext cx="10972800" cy="914400"/>
          </a:xfrm>
          <a:prstGeom prst="roundRect">
            <a:avLst>
              <a:gd name="adj" fmla="val 6000"/>
            </a:avLst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886968" y="544068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Every prompt is written or checked by a native speaker.</a:t>
            </a:r>
          </a:p>
        </p:txBody>
      </p:sp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6715" y="2229307"/>
            <a:ext cx="351129" cy="351129"/>
          </a:xfrm>
          <a:prstGeom prst="rect">
            <a:avLst/>
          </a:prstGeom>
        </p:spPr>
      </p:pic>
      <p:pic>
        <p:nvPicPr>
          <p:cNvPr id="85" name="Picture 84" descr="FaHandshake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8875" y="4058107"/>
            <a:ext cx="351129" cy="351129"/>
          </a:xfrm>
          <a:prstGeom prst="rect">
            <a:avLst/>
          </a:prstGeom>
        </p:spPr>
      </p:pic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36715" y="4058107"/>
            <a:ext cx="351129" cy="3511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/>
          <p:nvPr/>
        </p:nvSpPr>
        <p:spPr>
          <a:xfrm>
            <a:off x="182880" y="182880"/>
            <a:ext cx="11826240" cy="6492240"/>
          </a:xfrm>
          <a:prstGeom prst="roundRect">
            <a:avLst>
              <a:gd name="adj" fmla="val 3000"/>
            </a:avLst>
          </a:prstGeom>
          <a:noFill/>
          <a:ln w="28575" cap="flat" cmpd="sng">
            <a:solidFill>
              <a:srgbClr val="7F7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609590" y="914400"/>
            <a:ext cx="10972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2B6E"/>
              </a:buClr>
              <a:buSzPts val="3200"/>
              <a:buFont typeface="Arial"/>
              <a:buNone/>
            </a:pPr>
            <a:r>
              <a:rPr lang="en-US" sz="3600">
                <a:solidFill>
                  <a:srgbClr val="2F2B6E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Results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6"/>
          <p:cNvPicPr preferRelativeResize="0"/>
          <p:nvPr/>
        </p:nvPicPr>
        <p:blipFill rotWithShape="1">
          <a:blip r:embed="rId3">
            <a:alphaModFix/>
          </a:blip>
          <a:srcRect t="29450" b="24230"/>
          <a:stretch/>
        </p:blipFill>
        <p:spPr>
          <a:xfrm>
            <a:off x="248600" y="182875"/>
            <a:ext cx="1697300" cy="7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350" y="182874"/>
            <a:ext cx="1697299" cy="571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2921" y="182872"/>
            <a:ext cx="1264551" cy="7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Rounded Rectangle 61"/>
          <p:cNvSpPr/>
          <p:nvPr/>
        </p:nvSpPr>
        <p:spPr>
          <a:xfrm>
            <a:off x="612648" y="1737360"/>
            <a:ext cx="6903720" cy="443484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7F7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886968" y="190195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F2B6E"/>
                </a:solidFill>
                <a:latin typeface="Arial"/>
              </a:rPr>
              <a:t>Same casual style, only the language changes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6968" y="22219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587A"/>
                </a:solidFill>
                <a:latin typeface="Arial"/>
              </a:rPr>
              <a:t>Share of answers, across 3 AI models and 25 tasks</a:t>
            </a:r>
          </a:p>
        </p:txBody>
      </p:sp>
      <p:graphicFrame>
        <p:nvGraphicFramePr>
          <p:cNvPr id="65" name="Chart 64"/>
          <p:cNvGraphicFramePr>
            <a:graphicFrameLocks noGrp="1"/>
          </p:cNvGraphicFramePr>
          <p:nvPr/>
        </p:nvGraphicFramePr>
        <p:xfrm>
          <a:off x="777240" y="2560320"/>
          <a:ext cx="65836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2" name="Rounded Rectangle 61"/>
          <p:cNvSpPr/>
          <p:nvPr/>
        </p:nvSpPr>
        <p:spPr>
          <a:xfrm>
            <a:off x="7699248" y="1737360"/>
            <a:ext cx="3886200" cy="1362456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7F7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973568" y="192024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9731A"/>
                </a:solidFill>
                <a:latin typeface="Arial"/>
              </a:rPr>
              <a:t>35%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73568" y="2450591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A293D"/>
                </a:solidFill>
                <a:latin typeface="Arial"/>
              </a:rPr>
              <a:t>of Kanglish answers replied with only the code, as asked. Casual English: 100%.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699248" y="3273552"/>
            <a:ext cx="3886200" cy="1362456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7F7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973568" y="3456432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F2B6E"/>
                </a:solidFill>
                <a:latin typeface="Arial"/>
              </a:rPr>
              <a:t>9 vs 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73568" y="3986784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A293D"/>
                </a:solidFill>
                <a:latin typeface="Arial"/>
              </a:rPr>
              <a:t>wrong function names in 600 mixed prompts vs 150 English ones.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699248" y="4809744"/>
            <a:ext cx="3886200" cy="1362456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7F7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973568" y="4992624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F2B6E"/>
                </a:solidFill>
                <a:latin typeface="Arial"/>
              </a:rPr>
              <a:t>750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73568" y="5522976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A293D"/>
                </a:solidFill>
                <a:latin typeface="Arial"/>
              </a:rPr>
              <a:t>answers graded by running the code: 25 tasks × 10 versions × 3 models.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2648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587A"/>
                </a:solidFill>
                <a:latin typeface="Arial"/>
              </a:rPr>
              <a:t>One run per prompt at temperature 0. The small gaps in correct code are signals; the Kanglish instruction gap is large.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/>
          <p:nvPr/>
        </p:nvSpPr>
        <p:spPr>
          <a:xfrm>
            <a:off x="182880" y="182880"/>
            <a:ext cx="11826240" cy="6492240"/>
          </a:xfrm>
          <a:prstGeom prst="roundRect">
            <a:avLst>
              <a:gd name="adj" fmla="val 3000"/>
            </a:avLst>
          </a:prstGeom>
          <a:noFill/>
          <a:ln w="28575" cap="flat" cmpd="sng">
            <a:solidFill>
              <a:srgbClr val="7F7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609590" y="914400"/>
            <a:ext cx="10972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2B6E"/>
              </a:buClr>
              <a:buSzPts val="3200"/>
              <a:buFont typeface="Arial"/>
              <a:buNone/>
            </a:pPr>
            <a:r>
              <a:rPr lang="en-US" sz="3600">
                <a:solidFill>
                  <a:srgbClr val="2F2B6E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Where the AI Slips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6"/>
          <p:cNvPicPr preferRelativeResize="0"/>
          <p:nvPr/>
        </p:nvPicPr>
        <p:blipFill rotWithShape="1">
          <a:blip r:embed="rId3">
            <a:alphaModFix/>
          </a:blip>
          <a:srcRect t="29450" b="24230"/>
          <a:stretch/>
        </p:blipFill>
        <p:spPr>
          <a:xfrm>
            <a:off x="248600" y="182875"/>
            <a:ext cx="1697300" cy="7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350" y="182874"/>
            <a:ext cx="1697299" cy="571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2921" y="182872"/>
            <a:ext cx="1264551" cy="7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Rounded Rectangle 61"/>
          <p:cNvSpPr/>
          <p:nvPr/>
        </p:nvSpPr>
        <p:spPr>
          <a:xfrm>
            <a:off x="612648" y="1737360"/>
            <a:ext cx="3538728" cy="361188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7F7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886968" y="1965960"/>
            <a:ext cx="658368" cy="65836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4" name="Picture 63" descr="FaTag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143" y="2137135"/>
            <a:ext cx="316016" cy="31601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709928" y="21762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31A"/>
                </a:solidFill>
                <a:latin typeface="Arial"/>
              </a:rPr>
              <a:t>FAILURE 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6968" y="27889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F2B6E"/>
                </a:solidFill>
                <a:latin typeface="Arial"/>
              </a:rPr>
              <a:t>Renames your function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6968" y="320040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A293D"/>
                </a:solidFill>
                <a:latin typeface="Arial"/>
              </a:rPr>
              <a:t>9 of 600 mixed prompts, 0 of 150 English. The name was in every prompt.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86968" y="4069080"/>
            <a:ext cx="2990088" cy="1051560"/>
          </a:xfrm>
          <a:prstGeom prst="roundRect">
            <a:avLst>
              <a:gd name="adj" fmla="val 8000"/>
            </a:avLst>
          </a:prstGeom>
          <a:solidFill>
            <a:srgbClr val="1C1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51560" y="4197096"/>
            <a:ext cx="2660904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9C4F2"/>
                </a:solidFill>
                <a:latin typeface="Consolas"/>
              </a:rPr>
              <a:t>bhai indian_format naam 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9C4F2"/>
                </a:solidFill>
                <a:latin typeface="Consolas"/>
              </a:rPr>
              <a:t>python fn bana…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9F1C"/>
                </a:solidFill>
                <a:latin typeface="Consolas"/>
              </a:rPr>
              <a:t>def </a:t>
            </a:r>
            <a:r>
              <a:rPr sz="1200" b="1">
                <a:solidFill>
                  <a:srgbClr val="FF5C7A"/>
                </a:solidFill>
                <a:latin typeface="Consolas"/>
              </a:rPr>
              <a:t>bhai_indian_format</a:t>
            </a:r>
            <a:r>
              <a:rPr sz="1200" b="0">
                <a:solidFill>
                  <a:srgbClr val="F2EFFF"/>
                </a:solidFill>
                <a:latin typeface="Consolas"/>
              </a:rPr>
              <a:t>(n):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329684" y="1737360"/>
            <a:ext cx="3538728" cy="361188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7F7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4604004" y="1965960"/>
            <a:ext cx="658368" cy="65836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0" name="Picture 69" descr="FaCommentSlash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5179" y="2137135"/>
            <a:ext cx="316016" cy="316016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426964" y="21762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31A"/>
                </a:solidFill>
                <a:latin typeface="Arial"/>
              </a:rPr>
              <a:t>FAILURE 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04004" y="27889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F2B6E"/>
                </a:solidFill>
                <a:latin typeface="Arial"/>
              </a:rPr>
              <a:t>Ignores “only code”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04004" y="320040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A293D"/>
                </a:solidFill>
                <a:latin typeface="Arial"/>
              </a:rPr>
              <a:t>Kanglish: GPT-OSS 120B obeyed 0 of 25 times. 10 answers drifted into Kannada script.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604004" y="4069080"/>
            <a:ext cx="2990088" cy="1051560"/>
          </a:xfrm>
          <a:prstGeom prst="roundRect">
            <a:avLst>
              <a:gd name="adj" fmla="val 8000"/>
            </a:avLst>
          </a:prstGeom>
          <a:solidFill>
            <a:srgbClr val="1C1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68596" y="4197096"/>
            <a:ext cx="2660904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9C4F2"/>
                </a:solidFill>
                <a:latin typeface="Consolas"/>
              </a:rPr>
              <a:t>…bari code</a:t>
            </a:r>
            <a:r>
              <a:rPr sz="1200" b="0">
                <a:solidFill>
                  <a:srgbClr val="8C87B8"/>
                </a:solidFill>
                <a:latin typeface="Consolas"/>
              </a:rPr>
              <a:t>  (only code)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C7A"/>
                </a:solidFill>
                <a:latin typeface="Consolas"/>
              </a:rPr>
              <a:t>→ ~2,000 characters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C7A"/>
                </a:solidFill>
                <a:latin typeface="Consolas"/>
              </a:rPr>
              <a:t>→ 2 code blocks + notes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46720" y="1737360"/>
            <a:ext cx="3538728" cy="361188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7F7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8321040" y="1965960"/>
            <a:ext cx="658368" cy="65836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6" name="Picture 75" descr="FaSearch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2215" y="2137135"/>
            <a:ext cx="316016" cy="316016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9144000" y="21762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31A"/>
                </a:solidFill>
                <a:latin typeface="Arial"/>
              </a:rPr>
              <a:t>FAILURE 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21040" y="27889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F2B6E"/>
                </a:solidFill>
                <a:latin typeface="Arial"/>
              </a:rPr>
              <a:t>Skips a detail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21040" y="320040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A293D"/>
                </a:solidFill>
                <a:latin typeface="Arial"/>
              </a:rPr>
              <a:t>The “ignore upper and lower case” rule was dropped in casual Benglish and Odia.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321040" y="4069080"/>
            <a:ext cx="2990088" cy="1051560"/>
          </a:xfrm>
          <a:prstGeom prst="roundRect">
            <a:avLst>
              <a:gd name="adj" fmla="val 8000"/>
            </a:avLst>
          </a:prstGeom>
          <a:solidFill>
            <a:srgbClr val="1C1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85632" y="4197096"/>
            <a:ext cx="2660904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2EFFF"/>
                </a:solidFill>
                <a:latin typeface="Consolas"/>
              </a:rPr>
              <a:t>is_palindrome("Racecar")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C87B8"/>
                </a:solidFill>
                <a:latin typeface="Consolas"/>
              </a:rPr>
              <a:t>expected  </a:t>
            </a:r>
            <a:r>
              <a:rPr sz="1200" b="1">
                <a:solidFill>
                  <a:srgbClr val="2BD9A0"/>
                </a:solidFill>
                <a:latin typeface="Consolas"/>
              </a:rPr>
              <a:t>True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C87B8"/>
                </a:solidFill>
                <a:latin typeface="Consolas"/>
              </a:rPr>
              <a:t>got       </a:t>
            </a:r>
            <a:r>
              <a:rPr sz="1200" b="1">
                <a:solidFill>
                  <a:srgbClr val="FF5C7A"/>
                </a:solidFill>
                <a:latin typeface="Consolas"/>
              </a:rPr>
              <a:t>False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12648" y="5532120"/>
            <a:ext cx="10972800" cy="777240"/>
          </a:xfrm>
          <a:prstGeom prst="roundRect">
            <a:avLst>
              <a:gd name="adj" fmla="val 6000"/>
            </a:avLst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886968" y="5532120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The code mostly still works. The instructions break: Kanglish 35% vs English 100%.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/>
          <p:nvPr/>
        </p:nvSpPr>
        <p:spPr>
          <a:xfrm>
            <a:off x="182880" y="182880"/>
            <a:ext cx="11826240" cy="6492240"/>
          </a:xfrm>
          <a:prstGeom prst="roundRect">
            <a:avLst>
              <a:gd name="adj" fmla="val 3000"/>
            </a:avLst>
          </a:prstGeom>
          <a:noFill/>
          <a:ln w="28575" cap="flat" cmpd="sng">
            <a:solidFill>
              <a:srgbClr val="7F7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609590" y="914400"/>
            <a:ext cx="10972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2B6E"/>
              </a:buClr>
              <a:buSzPts val="3200"/>
              <a:buFont typeface="Arial"/>
              <a:buNone/>
            </a:pPr>
            <a:r>
              <a:rPr lang="en-US" sz="3600">
                <a:solidFill>
                  <a:srgbClr val="2F2B6E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Live Demo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6"/>
          <p:cNvPicPr preferRelativeResize="0"/>
          <p:nvPr/>
        </p:nvPicPr>
        <p:blipFill rotWithShape="1">
          <a:blip r:embed="rId3">
            <a:alphaModFix/>
          </a:blip>
          <a:srcRect t="29450" b="24230"/>
          <a:stretch/>
        </p:blipFill>
        <p:spPr>
          <a:xfrm>
            <a:off x="248600" y="182875"/>
            <a:ext cx="1697300" cy="7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350" y="182874"/>
            <a:ext cx="1697299" cy="571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2921" y="182872"/>
            <a:ext cx="1264551" cy="7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Rounded Rectangle 61"/>
          <p:cNvSpPr/>
          <p:nvPr/>
        </p:nvSpPr>
        <p:spPr>
          <a:xfrm>
            <a:off x="612648" y="1737360"/>
            <a:ext cx="7040880" cy="420624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7F7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3" name="Picture 62" descr="her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74519"/>
            <a:ext cx="6766560" cy="391064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12648" y="6053328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587A"/>
                </a:solidFill>
                <a:latin typeface="Arial"/>
              </a:rPr>
              <a:t>The MixCheck dashboard, built with Streamlit and Plotly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36408" y="1737360"/>
            <a:ext cx="3749039" cy="128016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7F7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8046720" y="2029967"/>
            <a:ext cx="658368" cy="65836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7895" y="2201143"/>
            <a:ext cx="316016" cy="316016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887968" y="19202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F2B6E"/>
                </a:solidFill>
                <a:latin typeface="Arial"/>
              </a:rPr>
              <a:t>Turn the Mix Dial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87968" y="22402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A293D"/>
                </a:solidFill>
                <a:latin typeface="Arial"/>
              </a:rPr>
              <a:t>One prompt rewritten from English to Kanglish. Lights show which AI still passed.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36408" y="3200400"/>
            <a:ext cx="3749039" cy="128016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7F7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8046720" y="3493008"/>
            <a:ext cx="658368" cy="65836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8" name="Picture 67" descr="FaMousePointer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7895" y="3664183"/>
            <a:ext cx="316016" cy="316016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887968" y="338328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F2B6E"/>
                </a:solidFill>
                <a:latin typeface="Arial"/>
              </a:rPr>
              <a:t>Open any failure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87968" y="370332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A293D"/>
                </a:solidFill>
                <a:latin typeface="Arial"/>
              </a:rPr>
              <a:t>Click a cell to read the AI's exact answer and the test it failed.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36408" y="4663440"/>
            <a:ext cx="3749039" cy="128016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7F7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8046720" y="4956048"/>
            <a:ext cx="658368" cy="65836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1" name="Picture 70" descr="FaBolt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7895" y="5127223"/>
            <a:ext cx="316016" cy="316016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887968" y="484632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F2B6E"/>
                </a:solidFill>
                <a:latin typeface="Arial"/>
              </a:rPr>
              <a:t>Face-off, live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87968" y="5166359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A293D"/>
                </a:solidFill>
                <a:latin typeface="Arial"/>
              </a:rPr>
              <a:t>Send a mixed prompt to two models right now and grade both answers.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x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Widescreen</PresentationFormat>
  <Paragraphs>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Spectral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Arnab Mazumder</cp:lastModifiedBy>
  <cp:revision>1</cp:revision>
  <dcterms:created xsi:type="dcterms:W3CDTF">2026-08-03T16:38:33Z</dcterms:created>
  <dcterms:modified xsi:type="dcterms:W3CDTF">2026-08-04T15:12:02Z</dcterms:modified>
</cp:coreProperties>
</file>